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4610"/>
  </p:normalViewPr>
  <p:slideViewPr>
    <p:cSldViewPr snapToGrid="0" snapToObjects="1">
      <p:cViewPr varScale="1">
        <p:scale>
          <a:sx n="132" d="100"/>
          <a:sy n="132" d="100"/>
        </p:scale>
        <p:origin x="176" y="7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0860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warm greeting to LEAF organizers and audience. Then say the title aloud — emphasize 'experiment' and 'management'. The audience will immediately be intrigued because the combination is unusual.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slowly with genuine humility. The contrast 'not in a laboratory, but in the system that governs laboratories' is the entire conceptual hook. Pause after 'laboratories' for emphasis. This positions you not as a competitor to Nobel laureates in science, but as an experimentalist in a different domain — one they may not have considered.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conceptual bridge. Pause briefly before the question. Say: 'Today, I want to walk you through such an experiment — one we ran at FMIPA UGM over four years, not in a laboratory, but in the management system that shapes how science gets done.'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core of the experiment. Walk through both columns. Emphasize: 'We did not remove conventional metrics. We added a new one — and we made it the primary one for the Vice Dean role. Everything else was left to flow naturally.'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on the final predicted clause. Say: 'The most important part is the last line. If scientific quality degrades, the experiment fails. We must preserve — or strengthen — the science itself. Let me now show you what happened.'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stakeholder briefly. Emphasize: 'In the conventional system, these four actors are measured on different KPIs and rewarded for different things. They rarely speak the same language. The experiment asks: what happens if even ONE of them — in this case, the university — adopts a different KPI?'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this like a methods section of a paper. Emphasize: 'The intervention is simple. The Vice Dean's KPI was redefined. Everything else — incentive structures, partnership policies, downstreaming pipelines — followed from that one change.' This makes the experiment crisp and reproducible in concept.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numbers as observation, not boast: 'These are the observed outcomes. Not a forecast, not a projection — a count, project by project, over four years.'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number land. Then say: 'This single-field validation matters because it answers a question we always face: was the overall number just a one-off, or is the scale achievable? Eighty-nine billion from one field, in one year, suggests the latter.'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Wave at the grid: 'These are the material outputs of the experiment. Six tangible products — software, hardware, digital systems. Each walked the same path: publication → IP → prototype → pilot → adoption. The path is reproducible.'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of the talk. Slow down. Say: 'The critical control variable in this experiment was publication output. If it had declined, the experiment would have failed — we would have traded science for commerce. But the data shows the opposite. The hypothesis is confirmed.' Make eye contact with the academic audience as you say this.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sub-experiment context. Say: 'In parallel with the main experiment, we ran a sub-experiment on partnership duration. The data is clear — multi-year trust compounds. A decade of partnership with one Japanese institute produced more depth than ten separate one-year projects ever could.'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discussion. Read each message slowly, ideally making eye contact with people in those roles if you can identify them. The phrase 'the KPI you pursue shapes the research you do' is worth pausing on — it's the takeaway every scientist should leave with.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the imagination. Say: 'FMIPA's experiment was small — one faculty, four years. But Indonesia has thousands of higher education institutions and hundreds of thousands of lecturers. The bigger experiment hasn't been run. Yet.'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reinforces the experimental framing — every good experiment has limitations. By being explicit about them, you appear more rigorous, not less. Read each item slowly. The phrase 'modesty in claims, confidence in the question' should land at the very end.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Sincere invitation. Look around the room. Say: 'I will be in this hall. I will be at the coffee breaks. I will be at the dinner. If any of you carries a question, a challenge, an idea about how this experiment could be extended — please find me.' Make it real, not ceremonial.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slowly. This is the closing meditation. Let it land. Then move to the final thank you slide.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slide stays up during Q&amp;A. Stand to the side so people can read the contact details and reach out afterwards.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F3F"/>
        </a:solidFill>
        <a:effectLst/>
      </p:bgPr>
    </p:bg>
    <p:spTree>
      <p:nvGrpSpPr>
        <p:cNvPr id="1" name=""/>
        <p:cNvGrpSpPr/>
        <p:nvPr/>
      </p:nvGrpSpPr>
      <p:grpSpPr>
        <a:xfrm>
          <a:off x="0" y="0"/>
          <a:ext cx="0" cy="0"/>
          <a:chOff x="0" y="0"/>
          <a:chExt cx="0" cy="0"/>
        </a:xfrm>
      </p:grpSpPr>
      <p:sp>
        <p:nvSpPr>
          <p:cNvPr id="2" name="Shape 0"/>
          <p:cNvSpPr/>
          <p:nvPr/>
        </p:nvSpPr>
        <p:spPr>
          <a:xfrm>
            <a:off x="548640" y="640080"/>
            <a:ext cx="1280160" cy="0"/>
          </a:xfrm>
          <a:prstGeom prst="line">
            <a:avLst/>
          </a:prstGeom>
          <a:noFill/>
          <a:ln w="19050">
            <a:solidFill>
              <a:srgbClr val="C9A961"/>
            </a:solidFill>
            <a:prstDash val="solid"/>
          </a:ln>
        </p:spPr>
        <p:txBody>
          <a:bodyPr/>
          <a:lstStyle/>
          <a:p>
            <a:endParaRPr lang="en-US"/>
          </a:p>
        </p:txBody>
      </p:sp>
      <p:sp>
        <p:nvSpPr>
          <p:cNvPr id="3" name="Text 1"/>
          <p:cNvSpPr/>
          <p:nvPr/>
        </p:nvSpPr>
        <p:spPr>
          <a:xfrm>
            <a:off x="548640" y="777240"/>
            <a:ext cx="8046720" cy="274320"/>
          </a:xfrm>
          <a:prstGeom prst="rect">
            <a:avLst/>
          </a:prstGeom>
          <a:noFill/>
          <a:ln/>
        </p:spPr>
        <p:txBody>
          <a:bodyPr wrap="square" lIns="0" tIns="0" rIns="0" bIns="0" rtlCol="0" anchor="ctr"/>
          <a:lstStyle/>
          <a:p>
            <a:pPr marL="0" indent="0">
              <a:buNone/>
            </a:pPr>
            <a:r>
              <a:rPr lang="en-US" sz="1100" b="1" kern="0" spc="600" dirty="0">
                <a:solidFill>
                  <a:srgbClr val="C9A961"/>
                </a:solidFill>
                <a:latin typeface="Calibri" pitchFamily="34" charset="0"/>
                <a:ea typeface="Calibri" pitchFamily="34" charset="-122"/>
                <a:cs typeface="Calibri" pitchFamily="34" charset="-120"/>
              </a:rPr>
              <a:t>LEAF 2026  ·  UNIVERSITAS INDONESIA  ·  8–9 JULY 2026</a:t>
            </a:r>
            <a:endParaRPr lang="en-US" sz="1100" dirty="0"/>
          </a:p>
        </p:txBody>
      </p:sp>
      <p:pic>
        <p:nvPicPr>
          <p:cNvPr id="4" name="Image 0" descr="preencoded.png"/>
          <p:cNvPicPr>
            <a:picLocks noChangeAspect="1"/>
          </p:cNvPicPr>
          <p:nvPr/>
        </p:nvPicPr>
        <p:blipFill>
          <a:blip r:embed="rId3"/>
          <a:stretch>
            <a:fillRect/>
          </a:stretch>
        </p:blipFill>
        <p:spPr>
          <a:xfrm>
            <a:off x="548640" y="1417320"/>
            <a:ext cx="502920" cy="502920"/>
          </a:xfrm>
          <a:prstGeom prst="rect">
            <a:avLst/>
          </a:prstGeom>
        </p:spPr>
      </p:pic>
      <p:sp>
        <p:nvSpPr>
          <p:cNvPr id="5" name="Text 2"/>
          <p:cNvSpPr/>
          <p:nvPr/>
        </p:nvSpPr>
        <p:spPr>
          <a:xfrm>
            <a:off x="548640" y="2057400"/>
            <a:ext cx="8229600" cy="77724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An Experiment in Research Management</a:t>
            </a:r>
            <a:endParaRPr lang="en-US" sz="4000" dirty="0"/>
          </a:p>
        </p:txBody>
      </p:sp>
      <p:sp>
        <p:nvSpPr>
          <p:cNvPr id="6" name="Text 3"/>
          <p:cNvSpPr/>
          <p:nvPr/>
        </p:nvSpPr>
        <p:spPr>
          <a:xfrm>
            <a:off x="548640" y="2971800"/>
            <a:ext cx="8229600" cy="365760"/>
          </a:xfrm>
          <a:prstGeom prst="rect">
            <a:avLst/>
          </a:prstGeom>
          <a:noFill/>
          <a:ln/>
        </p:spPr>
        <p:txBody>
          <a:bodyPr wrap="square" lIns="0" tIns="0" rIns="0" bIns="0" rtlCol="0" anchor="ctr"/>
          <a:lstStyle/>
          <a:p>
            <a:pPr marL="0" indent="0">
              <a:buNone/>
            </a:pPr>
            <a:r>
              <a:rPr lang="en-US" sz="2000" i="1" dirty="0">
                <a:solidFill>
                  <a:srgbClr val="C9A961"/>
                </a:solidFill>
                <a:latin typeface="Cambria" pitchFamily="34" charset="0"/>
                <a:ea typeface="Cambria" pitchFamily="34" charset="-122"/>
                <a:cs typeface="Cambria" pitchFamily="34" charset="-120"/>
              </a:rPr>
              <a:t>From the Faculty Floor — </a:t>
            </a:r>
            <a:r>
              <a:rPr lang="en-US" sz="2000" i="1" dirty="0">
                <a:solidFill>
                  <a:srgbClr val="94A3B8"/>
                </a:solidFill>
                <a:latin typeface="Cambria" pitchFamily="34" charset="0"/>
                <a:ea typeface="Cambria" pitchFamily="34" charset="-122"/>
                <a:cs typeface="Cambria" pitchFamily="34" charset="-120"/>
              </a:rPr>
              <a:t>Notes from FMIPA UGM</a:t>
            </a:r>
            <a:endParaRPr lang="en-US" sz="2000" dirty="0"/>
          </a:p>
        </p:txBody>
      </p:sp>
      <p:sp>
        <p:nvSpPr>
          <p:cNvPr id="7" name="Shape 4"/>
          <p:cNvSpPr/>
          <p:nvPr/>
        </p:nvSpPr>
        <p:spPr>
          <a:xfrm>
            <a:off x="548640" y="3977640"/>
            <a:ext cx="1280160" cy="0"/>
          </a:xfrm>
          <a:prstGeom prst="line">
            <a:avLst/>
          </a:prstGeom>
          <a:noFill/>
          <a:ln w="19050">
            <a:solidFill>
              <a:srgbClr val="C9A961"/>
            </a:solidFill>
            <a:prstDash val="solid"/>
          </a:ln>
        </p:spPr>
        <p:txBody>
          <a:bodyPr/>
          <a:lstStyle/>
          <a:p>
            <a:endParaRPr lang="en-US"/>
          </a:p>
        </p:txBody>
      </p:sp>
      <p:sp>
        <p:nvSpPr>
          <p:cNvPr id="8" name="Text 5"/>
          <p:cNvSpPr/>
          <p:nvPr/>
        </p:nvSpPr>
        <p:spPr>
          <a:xfrm>
            <a:off x="548640" y="4114800"/>
            <a:ext cx="804672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WIWIT SURYANTO</a:t>
            </a:r>
            <a:endParaRPr lang="en-US" sz="1500" dirty="0"/>
          </a:p>
        </p:txBody>
      </p:sp>
      <p:sp>
        <p:nvSpPr>
          <p:cNvPr id="9" name="Text 6"/>
          <p:cNvSpPr/>
          <p:nvPr/>
        </p:nvSpPr>
        <p:spPr>
          <a:xfrm>
            <a:off x="548640" y="4434840"/>
            <a:ext cx="8046720" cy="274320"/>
          </a:xfrm>
          <a:prstGeom prst="rect">
            <a:avLst/>
          </a:prstGeom>
          <a:noFill/>
          <a:ln/>
        </p:spPr>
        <p:txBody>
          <a:bodyPr wrap="square" lIns="0" tIns="0" rIns="0" bIns="0" rtlCol="0" anchor="ctr"/>
          <a:lstStyle/>
          <a:p>
            <a:pPr marL="0" indent="0">
              <a:buNone/>
            </a:pPr>
            <a:r>
              <a:rPr lang="en-US" sz="1200" i="1" dirty="0">
                <a:solidFill>
                  <a:srgbClr val="E8D9A8"/>
                </a:solidFill>
                <a:latin typeface="Calibri" pitchFamily="34" charset="0"/>
                <a:ea typeface="Calibri" pitchFamily="34" charset="-122"/>
                <a:cs typeface="Calibri" pitchFamily="34" charset="-120"/>
              </a:rPr>
              <a:t>Vice Dean for Research and Community Services</a:t>
            </a:r>
            <a:endParaRPr lang="en-US" sz="1200" dirty="0"/>
          </a:p>
        </p:txBody>
      </p:sp>
      <p:sp>
        <p:nvSpPr>
          <p:cNvPr id="10" name="Text 7"/>
          <p:cNvSpPr/>
          <p:nvPr/>
        </p:nvSpPr>
        <p:spPr>
          <a:xfrm>
            <a:off x="548640" y="4709160"/>
            <a:ext cx="8046720" cy="27432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Faculty of Mathematics and Natural Sciences, Universitas Gadjah Mada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F3F"/>
        </a:solidFill>
        <a:effectLst/>
      </p:bgPr>
    </p:bg>
    <p:spTree>
      <p:nvGrpSpPr>
        <p:cNvPr id="1" name=""/>
        <p:cNvGrpSpPr/>
        <p:nvPr/>
      </p:nvGrpSpPr>
      <p:grpSpPr>
        <a:xfrm>
          <a:off x="0" y="0"/>
          <a:ext cx="0" cy="0"/>
          <a:chOff x="0" y="0"/>
          <a:chExt cx="0" cy="0"/>
        </a:xfrm>
      </p:grpSpPr>
      <p:sp>
        <p:nvSpPr>
          <p:cNvPr id="2" name="Shape 0"/>
          <p:cNvSpPr/>
          <p:nvPr/>
        </p:nvSpPr>
        <p:spPr>
          <a:xfrm>
            <a:off x="548640" y="640080"/>
            <a:ext cx="1280160" cy="0"/>
          </a:xfrm>
          <a:prstGeom prst="line">
            <a:avLst/>
          </a:prstGeom>
          <a:noFill/>
          <a:ln w="19050">
            <a:solidFill>
              <a:srgbClr val="C9A961"/>
            </a:solidFill>
            <a:prstDash val="solid"/>
          </a:ln>
        </p:spPr>
        <p:txBody>
          <a:bodyPr/>
          <a:lstStyle/>
          <a:p>
            <a:endParaRPr lang="en-US"/>
          </a:p>
        </p:txBody>
      </p:sp>
      <p:sp>
        <p:nvSpPr>
          <p:cNvPr id="3" name="Text 1"/>
          <p:cNvSpPr/>
          <p:nvPr/>
        </p:nvSpPr>
        <p:spPr>
          <a:xfrm>
            <a:off x="548640" y="777240"/>
            <a:ext cx="8046720" cy="274320"/>
          </a:xfrm>
          <a:prstGeom prst="rect">
            <a:avLst/>
          </a:prstGeom>
          <a:noFill/>
          <a:ln/>
        </p:spPr>
        <p:txBody>
          <a:bodyPr wrap="square" lIns="0" tIns="0" rIns="0" bIns="0" rtlCol="0" anchor="ctr"/>
          <a:lstStyle/>
          <a:p>
            <a:pPr marL="0" indent="0">
              <a:buNone/>
            </a:pPr>
            <a:r>
              <a:rPr lang="en-US" sz="1000" b="1" kern="0" spc="500" dirty="0">
                <a:solidFill>
                  <a:srgbClr val="C9A961"/>
                </a:solidFill>
                <a:latin typeface="Calibri" pitchFamily="34" charset="0"/>
                <a:ea typeface="Calibri" pitchFamily="34" charset="-122"/>
                <a:cs typeface="Calibri" pitchFamily="34" charset="-120"/>
              </a:rPr>
              <a:t>INTRODUCTION</a:t>
            </a:r>
            <a:endParaRPr lang="en-US" sz="1000" dirty="0"/>
          </a:p>
        </p:txBody>
      </p:sp>
      <p:pic>
        <p:nvPicPr>
          <p:cNvPr id="4" name="Image 0" descr="preencoded.png"/>
          <p:cNvPicPr>
            <a:picLocks noChangeAspect="1"/>
          </p:cNvPicPr>
          <p:nvPr/>
        </p:nvPicPr>
        <p:blipFill>
          <a:blip r:embed="rId3"/>
          <a:stretch>
            <a:fillRect/>
          </a:stretch>
        </p:blipFill>
        <p:spPr>
          <a:xfrm>
            <a:off x="914400" y="1463040"/>
            <a:ext cx="502920" cy="502920"/>
          </a:xfrm>
          <a:prstGeom prst="rect">
            <a:avLst/>
          </a:prstGeom>
        </p:spPr>
      </p:pic>
      <p:sp>
        <p:nvSpPr>
          <p:cNvPr id="5" name="Text 2"/>
          <p:cNvSpPr/>
          <p:nvPr/>
        </p:nvSpPr>
        <p:spPr>
          <a:xfrm>
            <a:off x="1554480" y="1463040"/>
            <a:ext cx="7040880" cy="2834640"/>
          </a:xfrm>
          <a:prstGeom prst="rect">
            <a:avLst/>
          </a:prstGeom>
          <a:noFill/>
          <a:ln/>
        </p:spPr>
        <p:txBody>
          <a:bodyPr wrap="square" lIns="0" tIns="0" rIns="0" bIns="0" rtlCol="0" anchor="ctr"/>
          <a:lstStyle/>
          <a:p>
            <a:pPr marL="0" indent="0">
              <a:spcAft>
                <a:spcPts val="800"/>
              </a:spcAft>
              <a:buNone/>
            </a:pPr>
            <a:r>
              <a:rPr lang="en-US" sz="2500" dirty="0">
                <a:solidFill>
                  <a:srgbClr val="FFFFFF"/>
                </a:solidFill>
                <a:latin typeface="Cambria" pitchFamily="34" charset="0"/>
                <a:ea typeface="Cambria" pitchFamily="34" charset="-122"/>
                <a:cs typeface="Cambria" pitchFamily="34" charset="-120"/>
              </a:rPr>
              <a:t>I do not come with a discovery from the lab.</a:t>
            </a:r>
            <a:endParaRPr lang="en-US" sz="2500" dirty="0"/>
          </a:p>
          <a:p>
            <a:pPr marL="0" indent="0">
              <a:spcAft>
                <a:spcPts val="800"/>
              </a:spcAft>
              <a:buNone/>
            </a:pPr>
            <a:r>
              <a:rPr lang="en-US" sz="2500" dirty="0">
                <a:solidFill>
                  <a:srgbClr val="FFFFFF"/>
                </a:solidFill>
                <a:latin typeface="Cambria" pitchFamily="34" charset="0"/>
                <a:ea typeface="Cambria" pitchFamily="34" charset="-122"/>
                <a:cs typeface="Cambria" pitchFamily="34" charset="-120"/>
              </a:rPr>
              <a:t>I come with the report of an experiment —</a:t>
            </a:r>
            <a:endParaRPr lang="en-US" sz="2500" dirty="0"/>
          </a:p>
          <a:p>
            <a:pPr marL="0" indent="0">
              <a:spcAft>
                <a:spcPts val="800"/>
              </a:spcAft>
              <a:buNone/>
            </a:pPr>
            <a:r>
              <a:rPr lang="en-US" sz="2500" dirty="0">
                <a:solidFill>
                  <a:srgbClr val="FFFFFF"/>
                </a:solidFill>
                <a:latin typeface="Cambria" pitchFamily="34" charset="0"/>
                <a:ea typeface="Cambria" pitchFamily="34" charset="-122"/>
                <a:cs typeface="Cambria" pitchFamily="34" charset="-120"/>
              </a:rPr>
              <a:t>conducted not in a laboratory,</a:t>
            </a:r>
            <a:endParaRPr lang="en-US" sz="2500" dirty="0"/>
          </a:p>
          <a:p>
            <a:pPr marL="0" indent="0">
              <a:spcAft>
                <a:spcPts val="800"/>
              </a:spcAft>
              <a:buNone/>
            </a:pPr>
            <a:r>
              <a:rPr lang="en-US" sz="2500" dirty="0">
                <a:solidFill>
                  <a:srgbClr val="FFFFFF"/>
                </a:solidFill>
                <a:latin typeface="Cambria" pitchFamily="34" charset="0"/>
                <a:ea typeface="Cambria" pitchFamily="34" charset="-122"/>
                <a:cs typeface="Cambria" pitchFamily="34" charset="-120"/>
              </a:rPr>
              <a:t>but in the system</a:t>
            </a:r>
            <a:r>
              <a:rPr lang="en-US" sz="2500" b="1" i="1" dirty="0">
                <a:solidFill>
                  <a:srgbClr val="C9A961"/>
                </a:solidFill>
                <a:latin typeface="Cambria" pitchFamily="34" charset="0"/>
                <a:ea typeface="Cambria" pitchFamily="34" charset="-122"/>
                <a:cs typeface="Cambria" pitchFamily="34" charset="-120"/>
              </a:rPr>
              <a:t> that governs laboratories.</a:t>
            </a:r>
            <a:endParaRPr lang="en-US" sz="2500" dirty="0"/>
          </a:p>
        </p:txBody>
      </p:sp>
      <p:sp>
        <p:nvSpPr>
          <p:cNvPr id="6" name="Shape 3"/>
          <p:cNvSpPr/>
          <p:nvPr/>
        </p:nvSpPr>
        <p:spPr>
          <a:xfrm>
            <a:off x="3657600" y="4526280"/>
            <a:ext cx="1828800" cy="0"/>
          </a:xfrm>
          <a:prstGeom prst="line">
            <a:avLst/>
          </a:prstGeom>
          <a:noFill/>
          <a:ln w="9525">
            <a:solidFill>
              <a:srgbClr val="C9A961"/>
            </a:solidFill>
            <a:prstDash val="solid"/>
          </a:ln>
        </p:spPr>
        <p:txBody>
          <a:bodyPr/>
          <a:lstStyle/>
          <a:p>
            <a:endParaRPr lang="en-US"/>
          </a:p>
        </p:txBody>
      </p:sp>
      <p:sp>
        <p:nvSpPr>
          <p:cNvPr id="7" name="Text 4"/>
          <p:cNvSpPr/>
          <p:nvPr/>
        </p:nvSpPr>
        <p:spPr>
          <a:xfrm>
            <a:off x="548640" y="4663440"/>
            <a:ext cx="8046720" cy="274320"/>
          </a:xfrm>
          <a:prstGeom prst="rect">
            <a:avLst/>
          </a:prstGeom>
          <a:noFill/>
          <a:ln/>
        </p:spPr>
        <p:txBody>
          <a:bodyPr wrap="square" lIns="0" tIns="0" rIns="0" bIns="0" rtlCol="0" anchor="ctr"/>
          <a:lstStyle/>
          <a:p>
            <a:pPr marL="0" indent="0" algn="ctr">
              <a:buNone/>
            </a:pPr>
            <a:r>
              <a:rPr lang="en-US" sz="1100" i="1" dirty="0">
                <a:solidFill>
                  <a:srgbClr val="94A3B8"/>
                </a:solidFill>
                <a:latin typeface="Calibri" pitchFamily="34" charset="0"/>
                <a:ea typeface="Calibri" pitchFamily="34" charset="-122"/>
                <a:cs typeface="Calibri" pitchFamily="34" charset="-120"/>
              </a:rPr>
              <a:t>— Standing among esteemed colleagues at LEAF 2026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548640" y="502920"/>
            <a:ext cx="320040" cy="0"/>
          </a:xfrm>
          <a:prstGeom prst="line">
            <a:avLst/>
          </a:prstGeom>
          <a:noFill/>
          <a:ln w="19050">
            <a:solidFill>
              <a:srgbClr val="C9A961"/>
            </a:solidFill>
            <a:prstDash val="solid"/>
          </a:ln>
        </p:spPr>
        <p:txBody>
          <a:bodyPr/>
          <a:lstStyle/>
          <a:p>
            <a:endParaRPr lang="en-US"/>
          </a:p>
        </p:txBody>
      </p:sp>
      <p:sp>
        <p:nvSpPr>
          <p:cNvPr id="3" name="Shape 1"/>
          <p:cNvSpPr/>
          <p:nvPr/>
        </p:nvSpPr>
        <p:spPr>
          <a:xfrm>
            <a:off x="548640" y="502920"/>
            <a:ext cx="0" cy="164592"/>
          </a:xfrm>
          <a:prstGeom prst="line">
            <a:avLst/>
          </a:prstGeom>
          <a:noFill/>
          <a:ln w="19050">
            <a:solidFill>
              <a:srgbClr val="C9A961"/>
            </a:solidFill>
            <a:prstDash val="solid"/>
          </a:ln>
        </p:spPr>
        <p:txBody>
          <a:bodyPr/>
          <a:lstStyle/>
          <a:p>
            <a:endParaRPr lang="en-US"/>
          </a:p>
        </p:txBody>
      </p:sp>
      <p:sp>
        <p:nvSpPr>
          <p:cNvPr id="4" name="Text 2"/>
          <p:cNvSpPr/>
          <p:nvPr/>
        </p:nvSpPr>
        <p:spPr>
          <a:xfrm>
            <a:off x="548640" y="4800600"/>
            <a:ext cx="4572000" cy="274320"/>
          </a:xfrm>
          <a:prstGeom prst="rect">
            <a:avLst/>
          </a:prstGeom>
          <a:noFill/>
          <a:ln/>
        </p:spPr>
        <p:txBody>
          <a:bodyPr wrap="square" rtlCol="0" anchor="ctr"/>
          <a:lstStyle/>
          <a:p>
            <a:pPr marL="0" indent="0">
              <a:buNone/>
            </a:pPr>
            <a:r>
              <a:rPr lang="en-US" sz="900" kern="0" spc="200" dirty="0">
                <a:solidFill>
                  <a:srgbClr val="94A3B8"/>
                </a:solidFill>
                <a:latin typeface="Calibri" pitchFamily="34" charset="0"/>
                <a:ea typeface="Calibri" pitchFamily="34" charset="-122"/>
                <a:cs typeface="Calibri" pitchFamily="34" charset="-120"/>
              </a:rPr>
              <a:t>LEAF 2026  ·  INTRODUCTION · THE PREMISE</a:t>
            </a:r>
            <a:endParaRPr lang="en-US" sz="900" dirty="0"/>
          </a:p>
        </p:txBody>
      </p:sp>
      <p:sp>
        <p:nvSpPr>
          <p:cNvPr id="5" name="Text 3"/>
          <p:cNvSpPr/>
          <p:nvPr/>
        </p:nvSpPr>
        <p:spPr>
          <a:xfrm>
            <a:off x="8229600" y="4800600"/>
            <a:ext cx="64008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3 / 18</a:t>
            </a:r>
            <a:endParaRPr lang="en-US" sz="900" dirty="0"/>
          </a:p>
        </p:txBody>
      </p:sp>
      <p:sp>
        <p:nvSpPr>
          <p:cNvPr id="6" name="Text 4"/>
          <p:cNvSpPr/>
          <p:nvPr/>
        </p:nvSpPr>
        <p:spPr>
          <a:xfrm>
            <a:off x="548640" y="777240"/>
            <a:ext cx="8046720" cy="274320"/>
          </a:xfrm>
          <a:prstGeom prst="rect">
            <a:avLst/>
          </a:prstGeom>
          <a:noFill/>
          <a:ln/>
        </p:spPr>
        <p:txBody>
          <a:bodyPr wrap="square" lIns="0" tIns="0" rIns="0" bIns="0" rtlCol="0" anchor="ctr"/>
          <a:lstStyle/>
          <a:p>
            <a:pPr marL="0" indent="0">
              <a:buNone/>
            </a:pPr>
            <a:r>
              <a:rPr lang="en-US" sz="1000" b="1" kern="0" spc="500" dirty="0">
                <a:solidFill>
                  <a:srgbClr val="C9A961"/>
                </a:solidFill>
                <a:latin typeface="Calibri" pitchFamily="34" charset="0"/>
                <a:ea typeface="Calibri" pitchFamily="34" charset="-122"/>
                <a:cs typeface="Calibri" pitchFamily="34" charset="-120"/>
              </a:rPr>
              <a:t>01  ·  A METAPHOR</a:t>
            </a:r>
            <a:endParaRPr lang="en-US" sz="1000" dirty="0"/>
          </a:p>
        </p:txBody>
      </p:sp>
      <p:sp>
        <p:nvSpPr>
          <p:cNvPr id="7" name="Text 5"/>
          <p:cNvSpPr/>
          <p:nvPr/>
        </p:nvSpPr>
        <p:spPr>
          <a:xfrm>
            <a:off x="548640" y="1371600"/>
            <a:ext cx="8046720" cy="640080"/>
          </a:xfrm>
          <a:prstGeom prst="rect">
            <a:avLst/>
          </a:prstGeom>
          <a:noFill/>
          <a:ln/>
        </p:spPr>
        <p:txBody>
          <a:bodyPr wrap="square" lIns="0" tIns="0" rIns="0" bIns="0" rtlCol="0" anchor="ctr"/>
          <a:lstStyle/>
          <a:p>
            <a:pPr marL="0" indent="0" algn="ctr">
              <a:buNone/>
            </a:pPr>
            <a:r>
              <a:rPr lang="en-US" sz="3200" dirty="0">
                <a:solidFill>
                  <a:srgbClr val="1F2937"/>
                </a:solidFill>
                <a:latin typeface="Cambria" pitchFamily="34" charset="0"/>
                <a:ea typeface="Cambria" pitchFamily="34" charset="-122"/>
                <a:cs typeface="Cambria" pitchFamily="34" charset="-120"/>
              </a:rPr>
              <a:t>Scientists know experiments.</a:t>
            </a:r>
            <a:endParaRPr lang="en-US" sz="3200" dirty="0"/>
          </a:p>
        </p:txBody>
      </p:sp>
      <p:sp>
        <p:nvSpPr>
          <p:cNvPr id="8" name="Text 6"/>
          <p:cNvSpPr/>
          <p:nvPr/>
        </p:nvSpPr>
        <p:spPr>
          <a:xfrm>
            <a:off x="548640" y="1965960"/>
            <a:ext cx="8046720" cy="457200"/>
          </a:xfrm>
          <a:prstGeom prst="rect">
            <a:avLst/>
          </a:prstGeom>
          <a:noFill/>
          <a:ln/>
        </p:spPr>
        <p:txBody>
          <a:bodyPr wrap="square" lIns="0" tIns="0" rIns="0" bIns="0" rtlCol="0" anchor="ctr"/>
          <a:lstStyle/>
          <a:p>
            <a:pPr marL="0" indent="0" algn="ctr">
              <a:buNone/>
            </a:pPr>
            <a:r>
              <a:rPr lang="en-US" sz="2200" i="1" dirty="0">
                <a:solidFill>
                  <a:srgbClr val="64748B"/>
                </a:solidFill>
                <a:latin typeface="Cambria" pitchFamily="34" charset="0"/>
                <a:ea typeface="Cambria" pitchFamily="34" charset="-122"/>
                <a:cs typeface="Cambria" pitchFamily="34" charset="-120"/>
              </a:rPr>
              <a:t>They happen in the lab.</a:t>
            </a:r>
            <a:endParaRPr lang="en-US" sz="2200" dirty="0"/>
          </a:p>
        </p:txBody>
      </p:sp>
      <p:sp>
        <p:nvSpPr>
          <p:cNvPr id="9" name="Shape 7"/>
          <p:cNvSpPr/>
          <p:nvPr/>
        </p:nvSpPr>
        <p:spPr>
          <a:xfrm>
            <a:off x="3931920" y="2743200"/>
            <a:ext cx="1280160" cy="0"/>
          </a:xfrm>
          <a:prstGeom prst="line">
            <a:avLst/>
          </a:prstGeom>
          <a:noFill/>
          <a:ln w="9525">
            <a:solidFill>
              <a:srgbClr val="C9A961"/>
            </a:solidFill>
            <a:prstDash val="solid"/>
          </a:ln>
        </p:spPr>
        <p:txBody>
          <a:bodyPr/>
          <a:lstStyle/>
          <a:p>
            <a:endParaRPr lang="en-US"/>
          </a:p>
        </p:txBody>
      </p:sp>
      <p:sp>
        <p:nvSpPr>
          <p:cNvPr id="10" name="Text 8"/>
          <p:cNvSpPr/>
          <p:nvPr/>
        </p:nvSpPr>
        <p:spPr>
          <a:xfrm>
            <a:off x="548640" y="2926080"/>
            <a:ext cx="8046720" cy="1645920"/>
          </a:xfrm>
          <a:prstGeom prst="rect">
            <a:avLst/>
          </a:prstGeom>
          <a:noFill/>
          <a:ln/>
        </p:spPr>
        <p:txBody>
          <a:bodyPr wrap="square" lIns="0" tIns="0" rIns="0" bIns="0" rtlCol="0" anchor="ctr"/>
          <a:lstStyle/>
          <a:p>
            <a:pPr marL="0" indent="0" algn="ctr">
              <a:spcAft>
                <a:spcPts val="400"/>
              </a:spcAft>
              <a:buNone/>
            </a:pPr>
            <a:r>
              <a:rPr lang="en-US" sz="2600" dirty="0">
                <a:solidFill>
                  <a:srgbClr val="1F2937"/>
                </a:solidFill>
                <a:latin typeface="Cambria" pitchFamily="34" charset="0"/>
                <a:ea typeface="Cambria" pitchFamily="34" charset="-122"/>
                <a:cs typeface="Cambria" pitchFamily="34" charset="-120"/>
              </a:rPr>
              <a:t>But what happens</a:t>
            </a:r>
            <a:endParaRPr lang="en-US" sz="2600" dirty="0"/>
          </a:p>
          <a:p>
            <a:pPr marL="0" indent="0" algn="ctr">
              <a:spcAft>
                <a:spcPts val="400"/>
              </a:spcAft>
              <a:buNone/>
            </a:pPr>
            <a:r>
              <a:rPr lang="en-US" sz="2600" dirty="0">
                <a:solidFill>
                  <a:srgbClr val="1F2937"/>
                </a:solidFill>
                <a:latin typeface="Cambria" pitchFamily="34" charset="0"/>
                <a:ea typeface="Cambria" pitchFamily="34" charset="-122"/>
                <a:cs typeface="Cambria" pitchFamily="34" charset="-120"/>
              </a:rPr>
              <a:t>when we run an experiment</a:t>
            </a:r>
            <a:endParaRPr lang="en-US" sz="2600" dirty="0"/>
          </a:p>
          <a:p>
            <a:pPr marL="0" indent="0" algn="ctr">
              <a:spcAft>
                <a:spcPts val="400"/>
              </a:spcAft>
              <a:buNone/>
            </a:pPr>
            <a:r>
              <a:rPr lang="en-US" sz="2600" b="1" i="1" dirty="0">
                <a:solidFill>
                  <a:srgbClr val="C9A961"/>
                </a:solidFill>
                <a:latin typeface="Cambria" pitchFamily="34" charset="0"/>
                <a:ea typeface="Cambria" pitchFamily="34" charset="-122"/>
                <a:cs typeface="Cambria" pitchFamily="34" charset="-120"/>
              </a:rPr>
              <a:t>on the system itself?</a:t>
            </a:r>
            <a:endParaRPr lang="en-US"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548640" y="502920"/>
            <a:ext cx="320040" cy="0"/>
          </a:xfrm>
          <a:prstGeom prst="line">
            <a:avLst/>
          </a:prstGeom>
          <a:noFill/>
          <a:ln w="19050">
            <a:solidFill>
              <a:srgbClr val="C9A961"/>
            </a:solidFill>
            <a:prstDash val="solid"/>
          </a:ln>
        </p:spPr>
        <p:txBody>
          <a:bodyPr/>
          <a:lstStyle/>
          <a:p>
            <a:endParaRPr lang="en-US"/>
          </a:p>
        </p:txBody>
      </p:sp>
      <p:sp>
        <p:nvSpPr>
          <p:cNvPr id="3" name="Shape 1"/>
          <p:cNvSpPr/>
          <p:nvPr/>
        </p:nvSpPr>
        <p:spPr>
          <a:xfrm>
            <a:off x="548640" y="502920"/>
            <a:ext cx="0" cy="164592"/>
          </a:xfrm>
          <a:prstGeom prst="line">
            <a:avLst/>
          </a:prstGeom>
          <a:noFill/>
          <a:ln w="19050">
            <a:solidFill>
              <a:srgbClr val="C9A961"/>
            </a:solidFill>
            <a:prstDash val="solid"/>
          </a:ln>
        </p:spPr>
        <p:txBody>
          <a:bodyPr/>
          <a:lstStyle/>
          <a:p>
            <a:endParaRPr lang="en-US"/>
          </a:p>
        </p:txBody>
      </p:sp>
      <p:sp>
        <p:nvSpPr>
          <p:cNvPr id="4" name="Text 2"/>
          <p:cNvSpPr/>
          <p:nvPr/>
        </p:nvSpPr>
        <p:spPr>
          <a:xfrm>
            <a:off x="548640" y="4800600"/>
            <a:ext cx="4572000" cy="274320"/>
          </a:xfrm>
          <a:prstGeom prst="rect">
            <a:avLst/>
          </a:prstGeom>
          <a:noFill/>
          <a:ln/>
        </p:spPr>
        <p:txBody>
          <a:bodyPr wrap="square" rtlCol="0" anchor="ctr"/>
          <a:lstStyle/>
          <a:p>
            <a:pPr marL="0" indent="0">
              <a:buNone/>
            </a:pPr>
            <a:r>
              <a:rPr lang="en-US" sz="900" kern="0" spc="200" dirty="0">
                <a:solidFill>
                  <a:srgbClr val="94A3B8"/>
                </a:solidFill>
                <a:latin typeface="Calibri" pitchFamily="34" charset="0"/>
                <a:ea typeface="Calibri" pitchFamily="34" charset="-122"/>
                <a:cs typeface="Calibri" pitchFamily="34" charset="-120"/>
              </a:rPr>
              <a:t>LEAF 2026  ·  METHODS · THE VARIABLE</a:t>
            </a:r>
            <a:endParaRPr lang="en-US" sz="900" dirty="0"/>
          </a:p>
        </p:txBody>
      </p:sp>
      <p:sp>
        <p:nvSpPr>
          <p:cNvPr id="5" name="Text 3"/>
          <p:cNvSpPr/>
          <p:nvPr/>
        </p:nvSpPr>
        <p:spPr>
          <a:xfrm>
            <a:off x="8229600" y="4800600"/>
            <a:ext cx="64008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4 / 18</a:t>
            </a:r>
            <a:endParaRPr lang="en-US" sz="900" dirty="0"/>
          </a:p>
        </p:txBody>
      </p:sp>
      <p:sp>
        <p:nvSpPr>
          <p:cNvPr id="6" name="Text 4"/>
          <p:cNvSpPr/>
          <p:nvPr/>
        </p:nvSpPr>
        <p:spPr>
          <a:xfrm>
            <a:off x="548640" y="777240"/>
            <a:ext cx="8046720" cy="274320"/>
          </a:xfrm>
          <a:prstGeom prst="rect">
            <a:avLst/>
          </a:prstGeom>
          <a:noFill/>
          <a:ln/>
        </p:spPr>
        <p:txBody>
          <a:bodyPr wrap="square" lIns="0" tIns="0" rIns="0" bIns="0" rtlCol="0" anchor="ctr"/>
          <a:lstStyle/>
          <a:p>
            <a:pPr marL="0" indent="0">
              <a:buNone/>
            </a:pPr>
            <a:r>
              <a:rPr lang="en-US" sz="1000" b="1" kern="0" spc="500" dirty="0">
                <a:solidFill>
                  <a:srgbClr val="C9A961"/>
                </a:solidFill>
                <a:latin typeface="Calibri" pitchFamily="34" charset="0"/>
                <a:ea typeface="Calibri" pitchFamily="34" charset="-122"/>
                <a:cs typeface="Calibri" pitchFamily="34" charset="-120"/>
              </a:rPr>
              <a:t>02  ·  THE VARIABLE</a:t>
            </a:r>
            <a:endParaRPr lang="en-US" sz="1000" dirty="0"/>
          </a:p>
        </p:txBody>
      </p:sp>
      <p:sp>
        <p:nvSpPr>
          <p:cNvPr id="7" name="Text 5"/>
          <p:cNvSpPr/>
          <p:nvPr/>
        </p:nvSpPr>
        <p:spPr>
          <a:xfrm>
            <a:off x="548640" y="1097280"/>
            <a:ext cx="8046720" cy="457200"/>
          </a:xfrm>
          <a:prstGeom prst="rect">
            <a:avLst/>
          </a:prstGeom>
          <a:noFill/>
          <a:ln/>
        </p:spPr>
        <p:txBody>
          <a:bodyPr wrap="square" lIns="0" tIns="0" rIns="0" bIns="0" rtlCol="0" anchor="ctr"/>
          <a:lstStyle/>
          <a:p>
            <a:pPr marL="0" indent="0">
              <a:buNone/>
            </a:pPr>
            <a:r>
              <a:rPr lang="en-US" sz="2600" b="1" dirty="0">
                <a:solidFill>
                  <a:srgbClr val="1F2937"/>
                </a:solidFill>
                <a:latin typeface="Cambria" pitchFamily="34" charset="0"/>
                <a:ea typeface="Cambria" pitchFamily="34" charset="-122"/>
                <a:cs typeface="Cambria" pitchFamily="34" charset="-120"/>
              </a:rPr>
              <a:t>The Key Performance Indicator (KPI)</a:t>
            </a:r>
            <a:endParaRPr lang="en-US" sz="2600" dirty="0"/>
          </a:p>
        </p:txBody>
      </p:sp>
      <p:sp>
        <p:nvSpPr>
          <p:cNvPr id="8" name="Text 6"/>
          <p:cNvSpPr/>
          <p:nvPr/>
        </p:nvSpPr>
        <p:spPr>
          <a:xfrm>
            <a:off x="548640" y="1600200"/>
            <a:ext cx="8046720" cy="274320"/>
          </a:xfrm>
          <a:prstGeom prst="rect">
            <a:avLst/>
          </a:prstGeom>
          <a:noFill/>
          <a:ln/>
        </p:spPr>
        <p:txBody>
          <a:bodyPr wrap="square" lIns="0" tIns="0" rIns="0" bIns="0" rtlCol="0" anchor="ctr"/>
          <a:lstStyle/>
          <a:p>
            <a:pPr marL="0" indent="0">
              <a:buNone/>
            </a:pPr>
            <a:r>
              <a:rPr lang="en-US" sz="1400" i="1" dirty="0">
                <a:solidFill>
                  <a:srgbClr val="64748B"/>
                </a:solidFill>
                <a:latin typeface="Cambria" pitchFamily="34" charset="0"/>
                <a:ea typeface="Cambria" pitchFamily="34" charset="-122"/>
                <a:cs typeface="Cambria" pitchFamily="34" charset="-120"/>
              </a:rPr>
              <a:t>What we measure determines what we grow.</a:t>
            </a:r>
            <a:endParaRPr lang="en-US" sz="1400" dirty="0"/>
          </a:p>
        </p:txBody>
      </p:sp>
      <p:sp>
        <p:nvSpPr>
          <p:cNvPr id="9" name="Shape 7"/>
          <p:cNvSpPr/>
          <p:nvPr/>
        </p:nvSpPr>
        <p:spPr>
          <a:xfrm>
            <a:off x="548640" y="2103120"/>
            <a:ext cx="3931920" cy="2468880"/>
          </a:xfrm>
          <a:prstGeom prst="roundRect">
            <a:avLst>
              <a:gd name="adj" fmla="val 2222"/>
            </a:avLst>
          </a:prstGeom>
          <a:solidFill>
            <a:srgbClr val="FFFFFF"/>
          </a:solidFill>
          <a:ln w="6350">
            <a:solidFill>
              <a:srgbClr val="D1C9B0"/>
            </a:solidFill>
            <a:prstDash val="solid"/>
          </a:ln>
        </p:spPr>
        <p:txBody>
          <a:bodyPr/>
          <a:lstStyle/>
          <a:p>
            <a:endParaRPr lang="en-US"/>
          </a:p>
        </p:txBody>
      </p:sp>
      <p:sp>
        <p:nvSpPr>
          <p:cNvPr id="10" name="Text 8"/>
          <p:cNvSpPr/>
          <p:nvPr/>
        </p:nvSpPr>
        <p:spPr>
          <a:xfrm>
            <a:off x="777240" y="2286000"/>
            <a:ext cx="3474720" cy="274320"/>
          </a:xfrm>
          <a:prstGeom prst="rect">
            <a:avLst/>
          </a:prstGeom>
          <a:noFill/>
          <a:ln/>
        </p:spPr>
        <p:txBody>
          <a:bodyPr wrap="square" lIns="0" tIns="0" rIns="0" bIns="0" rtlCol="0" anchor="ctr"/>
          <a:lstStyle/>
          <a:p>
            <a:pPr marL="0" indent="0">
              <a:buNone/>
            </a:pPr>
            <a:r>
              <a:rPr lang="en-US" sz="1100" b="1" kern="0" spc="300" dirty="0">
                <a:solidFill>
                  <a:srgbClr val="64748B"/>
                </a:solidFill>
                <a:latin typeface="Calibri" pitchFamily="34" charset="0"/>
                <a:ea typeface="Calibri" pitchFamily="34" charset="-122"/>
                <a:cs typeface="Calibri" pitchFamily="34" charset="-120"/>
              </a:rPr>
              <a:t>CONVENTIONAL KPI</a:t>
            </a:r>
            <a:endParaRPr lang="en-US" sz="1100" dirty="0"/>
          </a:p>
        </p:txBody>
      </p:sp>
      <p:sp>
        <p:nvSpPr>
          <p:cNvPr id="11" name="Shape 9"/>
          <p:cNvSpPr/>
          <p:nvPr/>
        </p:nvSpPr>
        <p:spPr>
          <a:xfrm>
            <a:off x="777240" y="2606040"/>
            <a:ext cx="457200" cy="0"/>
          </a:xfrm>
          <a:prstGeom prst="line">
            <a:avLst/>
          </a:prstGeom>
          <a:noFill/>
          <a:ln w="12700">
            <a:solidFill>
              <a:srgbClr val="64748B"/>
            </a:solidFill>
            <a:prstDash val="solid"/>
          </a:ln>
        </p:spPr>
        <p:txBody>
          <a:bodyPr/>
          <a:lstStyle/>
          <a:p>
            <a:endParaRPr lang="en-US"/>
          </a:p>
        </p:txBody>
      </p:sp>
      <p:sp>
        <p:nvSpPr>
          <p:cNvPr id="12" name="Text 10"/>
          <p:cNvSpPr/>
          <p:nvPr/>
        </p:nvSpPr>
        <p:spPr>
          <a:xfrm>
            <a:off x="868680" y="2788920"/>
            <a:ext cx="3520440" cy="173736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Number of publications (Q1, Q2)</a:t>
            </a:r>
            <a:endParaRPr lang="en-US" sz="1200" dirty="0"/>
          </a:p>
          <a:p>
            <a:pPr marL="342900" indent="-3429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Number of patents registered</a:t>
            </a:r>
            <a:endParaRPr lang="en-US" sz="1200" dirty="0"/>
          </a:p>
          <a:p>
            <a:pPr marL="342900" indent="-3429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H-index</a:t>
            </a:r>
            <a:endParaRPr lang="en-US" sz="1200" dirty="0"/>
          </a:p>
          <a:p>
            <a:pPr marL="342900" indent="-3429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Citation counts</a:t>
            </a:r>
            <a:endParaRPr lang="en-US" sz="1200" dirty="0"/>
          </a:p>
          <a:p>
            <a:pPr marL="342900" indent="-3429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International rankings</a:t>
            </a:r>
            <a:endParaRPr lang="en-US" sz="1200" dirty="0"/>
          </a:p>
        </p:txBody>
      </p:sp>
      <p:sp>
        <p:nvSpPr>
          <p:cNvPr id="13" name="Shape 11"/>
          <p:cNvSpPr/>
          <p:nvPr/>
        </p:nvSpPr>
        <p:spPr>
          <a:xfrm>
            <a:off x="4617720" y="3154680"/>
            <a:ext cx="457200" cy="320040"/>
          </a:xfrm>
          <a:prstGeom prst="rightArrow">
            <a:avLst/>
          </a:prstGeom>
          <a:solidFill>
            <a:srgbClr val="C9A961"/>
          </a:solidFill>
          <a:ln w="12700">
            <a:solidFill>
              <a:srgbClr val="C9A961"/>
            </a:solidFill>
            <a:prstDash val="solid"/>
          </a:ln>
        </p:spPr>
        <p:txBody>
          <a:bodyPr/>
          <a:lstStyle/>
          <a:p>
            <a:endParaRPr lang="en-US"/>
          </a:p>
        </p:txBody>
      </p:sp>
      <p:sp>
        <p:nvSpPr>
          <p:cNvPr id="14" name="Text 12"/>
          <p:cNvSpPr/>
          <p:nvPr/>
        </p:nvSpPr>
        <p:spPr>
          <a:xfrm>
            <a:off x="4526280" y="3502152"/>
            <a:ext cx="640080" cy="228600"/>
          </a:xfrm>
          <a:prstGeom prst="rect">
            <a:avLst/>
          </a:prstGeom>
          <a:noFill/>
          <a:ln/>
        </p:spPr>
        <p:txBody>
          <a:bodyPr wrap="square" lIns="0" tIns="0" rIns="0" bIns="0" rtlCol="0" anchor="ctr"/>
          <a:lstStyle/>
          <a:p>
            <a:pPr marL="0" indent="0" algn="ctr">
              <a:buNone/>
            </a:pPr>
            <a:r>
              <a:rPr lang="en-US" sz="900" b="1" i="1" kern="0" spc="200" dirty="0">
                <a:solidFill>
                  <a:srgbClr val="C9A961"/>
                </a:solidFill>
                <a:latin typeface="Calibri" pitchFamily="34" charset="0"/>
                <a:ea typeface="Calibri" pitchFamily="34" charset="-122"/>
                <a:cs typeface="Calibri" pitchFamily="34" charset="-120"/>
              </a:rPr>
              <a:t>shift</a:t>
            </a:r>
            <a:endParaRPr lang="en-US" sz="900" dirty="0"/>
          </a:p>
        </p:txBody>
      </p:sp>
      <p:sp>
        <p:nvSpPr>
          <p:cNvPr id="15" name="Shape 13"/>
          <p:cNvSpPr/>
          <p:nvPr/>
        </p:nvSpPr>
        <p:spPr>
          <a:xfrm>
            <a:off x="5212080" y="2103120"/>
            <a:ext cx="3657600" cy="2468880"/>
          </a:xfrm>
          <a:prstGeom prst="roundRect">
            <a:avLst>
              <a:gd name="adj" fmla="val 2222"/>
            </a:avLst>
          </a:prstGeom>
          <a:solidFill>
            <a:srgbClr val="FCFAF4"/>
          </a:solidFill>
          <a:ln w="19050">
            <a:solidFill>
              <a:srgbClr val="C9A961"/>
            </a:solidFill>
            <a:prstDash val="solid"/>
          </a:ln>
          <a:effectLst>
            <a:outerShdw blurRad="101600" dist="25400" dir="5400000" algn="bl" rotWithShape="0">
              <a:srgbClr val="000000">
                <a:alpha val="10000"/>
              </a:srgbClr>
            </a:outerShdw>
          </a:effectLst>
        </p:spPr>
        <p:txBody>
          <a:bodyPr/>
          <a:lstStyle/>
          <a:p>
            <a:endParaRPr lang="en-US"/>
          </a:p>
        </p:txBody>
      </p:sp>
      <p:sp>
        <p:nvSpPr>
          <p:cNvPr id="16" name="Text 14"/>
          <p:cNvSpPr/>
          <p:nvPr/>
        </p:nvSpPr>
        <p:spPr>
          <a:xfrm>
            <a:off x="5440680" y="2286000"/>
            <a:ext cx="3200400" cy="274320"/>
          </a:xfrm>
          <a:prstGeom prst="rect">
            <a:avLst/>
          </a:prstGeom>
          <a:noFill/>
          <a:ln/>
        </p:spPr>
        <p:txBody>
          <a:bodyPr wrap="square" lIns="0" tIns="0" rIns="0" bIns="0" rtlCol="0" anchor="ctr"/>
          <a:lstStyle/>
          <a:p>
            <a:pPr marL="0" indent="0">
              <a:buNone/>
            </a:pPr>
            <a:r>
              <a:rPr lang="en-US" sz="1100" b="1" kern="0" spc="300" dirty="0">
                <a:solidFill>
                  <a:srgbClr val="C9A961"/>
                </a:solidFill>
                <a:latin typeface="Calibri" pitchFamily="34" charset="0"/>
                <a:ea typeface="Calibri" pitchFamily="34" charset="-122"/>
                <a:cs typeface="Calibri" pitchFamily="34" charset="-120"/>
              </a:rPr>
              <a:t>EXPERIMENTAL KPI</a:t>
            </a:r>
            <a:endParaRPr lang="en-US" sz="1100" dirty="0"/>
          </a:p>
        </p:txBody>
      </p:sp>
      <p:sp>
        <p:nvSpPr>
          <p:cNvPr id="17" name="Shape 15"/>
          <p:cNvSpPr/>
          <p:nvPr/>
        </p:nvSpPr>
        <p:spPr>
          <a:xfrm>
            <a:off x="5440680" y="2606040"/>
            <a:ext cx="457200" cy="0"/>
          </a:xfrm>
          <a:prstGeom prst="line">
            <a:avLst/>
          </a:prstGeom>
          <a:noFill/>
          <a:ln w="12700">
            <a:solidFill>
              <a:srgbClr val="C9A961"/>
            </a:solidFill>
            <a:prstDash val="solid"/>
          </a:ln>
        </p:spPr>
        <p:txBody>
          <a:bodyPr/>
          <a:lstStyle/>
          <a:p>
            <a:endParaRPr lang="en-US"/>
          </a:p>
        </p:txBody>
      </p:sp>
      <p:sp>
        <p:nvSpPr>
          <p:cNvPr id="18" name="Text 16"/>
          <p:cNvSpPr/>
          <p:nvPr/>
        </p:nvSpPr>
        <p:spPr>
          <a:xfrm>
            <a:off x="5532120" y="2788920"/>
            <a:ext cx="3246120" cy="1783080"/>
          </a:xfrm>
          <a:prstGeom prst="rect">
            <a:avLst/>
          </a:prstGeom>
          <a:noFill/>
          <a:ln/>
        </p:spPr>
        <p:txBody>
          <a:bodyPr wrap="square" lIns="0" tIns="0" rIns="0" bIns="0" rtlCol="0" anchor="ctr"/>
          <a:lstStyle/>
          <a:p>
            <a:pPr marL="342900" indent="-342900">
              <a:spcAft>
                <a:spcPts val="200"/>
              </a:spcAft>
              <a:buSzPct val="100000"/>
              <a:buChar char="●"/>
            </a:pPr>
            <a:r>
              <a:rPr lang="en-US" sz="1150" b="1" dirty="0">
                <a:solidFill>
                  <a:srgbClr val="1F2937"/>
                </a:solidFill>
                <a:latin typeface="Calibri" pitchFamily="34" charset="0"/>
                <a:ea typeface="Calibri" pitchFamily="34" charset="-122"/>
                <a:cs typeface="Calibri" pitchFamily="34" charset="-120"/>
              </a:rPr>
              <a:t>Industry funding value</a:t>
            </a:r>
            <a:endParaRPr lang="en-US" sz="1150" dirty="0"/>
          </a:p>
          <a:p>
            <a:pPr marL="0" indent="0">
              <a:spcAft>
                <a:spcPts val="200"/>
              </a:spcAft>
              <a:buNone/>
            </a:pPr>
            <a:r>
              <a:rPr lang="en-US" sz="1150" i="1" dirty="0">
                <a:solidFill>
                  <a:srgbClr val="64748B"/>
                </a:solidFill>
                <a:latin typeface="Calibri" pitchFamily="34" charset="0"/>
                <a:ea typeface="Calibri" pitchFamily="34" charset="-122"/>
                <a:cs typeface="Calibri" pitchFamily="34" charset="-120"/>
              </a:rPr>
              <a:t>(industrial collaboration &amp; contract value)</a:t>
            </a:r>
            <a:endParaRPr lang="en-US" sz="1150" dirty="0"/>
          </a:p>
          <a:p>
            <a:pPr marL="342900" indent="-342900">
              <a:spcAft>
                <a:spcPts val="200"/>
              </a:spcAft>
              <a:buSzPct val="100000"/>
              <a:buChar char="●"/>
            </a:pPr>
            <a:r>
              <a:rPr lang="en-US" sz="1150" b="1" dirty="0">
                <a:solidFill>
                  <a:srgbClr val="1F2937"/>
                </a:solidFill>
                <a:latin typeface="Calibri" pitchFamily="34" charset="0"/>
                <a:ea typeface="Calibri" pitchFamily="34" charset="-122"/>
                <a:cs typeface="Calibri" pitchFamily="34" charset="-120"/>
              </a:rPr>
              <a:t>Product adoption</a:t>
            </a:r>
            <a:endParaRPr lang="en-US" sz="1150" dirty="0"/>
          </a:p>
          <a:p>
            <a:pPr marL="0" indent="0">
              <a:spcAft>
                <a:spcPts val="200"/>
              </a:spcAft>
              <a:buNone/>
            </a:pPr>
            <a:r>
              <a:rPr lang="en-US" sz="1150" i="1" dirty="0">
                <a:solidFill>
                  <a:srgbClr val="64748B"/>
                </a:solidFill>
                <a:latin typeface="Calibri" pitchFamily="34" charset="0"/>
                <a:ea typeface="Calibri" pitchFamily="34" charset="-122"/>
                <a:cs typeface="Calibri" pitchFamily="34" charset="-120"/>
              </a:rPr>
              <a:t>(software, hardware, systems in operational use)</a:t>
            </a:r>
            <a:endParaRPr lang="en-US" sz="1150" dirty="0"/>
          </a:p>
          <a:p>
            <a:pPr marL="342900" indent="-342900">
              <a:spcAft>
                <a:spcPts val="200"/>
              </a:spcAft>
              <a:buSzPct val="100000"/>
              <a:buChar char="●"/>
            </a:pPr>
            <a:r>
              <a:rPr lang="en-US" sz="1150" b="1" dirty="0">
                <a:solidFill>
                  <a:srgbClr val="1F2937"/>
                </a:solidFill>
                <a:latin typeface="Calibri" pitchFamily="34" charset="0"/>
                <a:ea typeface="Calibri" pitchFamily="34" charset="-122"/>
                <a:cs typeface="Calibri" pitchFamily="34" charset="-120"/>
              </a:rPr>
              <a:t>Community impact</a:t>
            </a:r>
            <a:endParaRPr lang="en-US" sz="1150" dirty="0"/>
          </a:p>
          <a:p>
            <a:pPr marL="0" indent="0">
              <a:spcAft>
                <a:spcPts val="200"/>
              </a:spcAft>
              <a:buNone/>
            </a:pPr>
            <a:r>
              <a:rPr lang="en-US" sz="1150" i="1" dirty="0">
                <a:solidFill>
                  <a:srgbClr val="64748B"/>
                </a:solidFill>
                <a:latin typeface="Calibri" pitchFamily="34" charset="0"/>
                <a:ea typeface="Calibri" pitchFamily="34" charset="-122"/>
                <a:cs typeface="Calibri" pitchFamily="34" charset="-120"/>
              </a:rPr>
              <a:t>(long-term partnerships, services to society)</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548640" y="502920"/>
            <a:ext cx="320040" cy="0"/>
          </a:xfrm>
          <a:prstGeom prst="line">
            <a:avLst/>
          </a:prstGeom>
          <a:noFill/>
          <a:ln w="19050">
            <a:solidFill>
              <a:srgbClr val="C9A961"/>
            </a:solidFill>
            <a:prstDash val="solid"/>
          </a:ln>
        </p:spPr>
        <p:txBody>
          <a:bodyPr/>
          <a:lstStyle/>
          <a:p>
            <a:endParaRPr lang="en-US"/>
          </a:p>
        </p:txBody>
      </p:sp>
      <p:sp>
        <p:nvSpPr>
          <p:cNvPr id="3" name="Shape 1"/>
          <p:cNvSpPr/>
          <p:nvPr/>
        </p:nvSpPr>
        <p:spPr>
          <a:xfrm>
            <a:off x="548640" y="502920"/>
            <a:ext cx="0" cy="164592"/>
          </a:xfrm>
          <a:prstGeom prst="line">
            <a:avLst/>
          </a:prstGeom>
          <a:noFill/>
          <a:ln w="19050">
            <a:solidFill>
              <a:srgbClr val="C9A961"/>
            </a:solidFill>
            <a:prstDash val="solid"/>
          </a:ln>
        </p:spPr>
        <p:txBody>
          <a:bodyPr/>
          <a:lstStyle/>
          <a:p>
            <a:endParaRPr lang="en-US"/>
          </a:p>
        </p:txBody>
      </p:sp>
      <p:sp>
        <p:nvSpPr>
          <p:cNvPr id="4" name="Text 2"/>
          <p:cNvSpPr/>
          <p:nvPr/>
        </p:nvSpPr>
        <p:spPr>
          <a:xfrm>
            <a:off x="548640" y="4800600"/>
            <a:ext cx="4572000" cy="274320"/>
          </a:xfrm>
          <a:prstGeom prst="rect">
            <a:avLst/>
          </a:prstGeom>
          <a:noFill/>
          <a:ln/>
        </p:spPr>
        <p:txBody>
          <a:bodyPr wrap="square" rtlCol="0" anchor="ctr"/>
          <a:lstStyle/>
          <a:p>
            <a:pPr marL="0" indent="0">
              <a:buNone/>
            </a:pPr>
            <a:r>
              <a:rPr lang="en-US" sz="900" kern="0" spc="200" dirty="0">
                <a:solidFill>
                  <a:srgbClr val="94A3B8"/>
                </a:solidFill>
                <a:latin typeface="Calibri" pitchFamily="34" charset="0"/>
                <a:ea typeface="Calibri" pitchFamily="34" charset="-122"/>
                <a:cs typeface="Calibri" pitchFamily="34" charset="-120"/>
              </a:rPr>
              <a:t>LEAF 2026  ·  METHODS · THE HYPOTHESIS</a:t>
            </a:r>
            <a:endParaRPr lang="en-US" sz="900" dirty="0"/>
          </a:p>
        </p:txBody>
      </p:sp>
      <p:sp>
        <p:nvSpPr>
          <p:cNvPr id="5" name="Text 3"/>
          <p:cNvSpPr/>
          <p:nvPr/>
        </p:nvSpPr>
        <p:spPr>
          <a:xfrm>
            <a:off x="8229600" y="4800600"/>
            <a:ext cx="64008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5 / 18</a:t>
            </a:r>
            <a:endParaRPr lang="en-US" sz="900" dirty="0"/>
          </a:p>
        </p:txBody>
      </p:sp>
      <p:sp>
        <p:nvSpPr>
          <p:cNvPr id="6" name="Text 4"/>
          <p:cNvSpPr/>
          <p:nvPr/>
        </p:nvSpPr>
        <p:spPr>
          <a:xfrm>
            <a:off x="548640" y="777240"/>
            <a:ext cx="8046720" cy="274320"/>
          </a:xfrm>
          <a:prstGeom prst="rect">
            <a:avLst/>
          </a:prstGeom>
          <a:noFill/>
          <a:ln/>
        </p:spPr>
        <p:txBody>
          <a:bodyPr wrap="square" lIns="0" tIns="0" rIns="0" bIns="0" rtlCol="0" anchor="ctr"/>
          <a:lstStyle/>
          <a:p>
            <a:pPr marL="0" indent="0">
              <a:buNone/>
            </a:pPr>
            <a:r>
              <a:rPr lang="en-US" sz="1000" b="1" kern="0" spc="500" dirty="0">
                <a:solidFill>
                  <a:srgbClr val="C9A961"/>
                </a:solidFill>
                <a:latin typeface="Calibri" pitchFamily="34" charset="0"/>
                <a:ea typeface="Calibri" pitchFamily="34" charset="-122"/>
                <a:cs typeface="Calibri" pitchFamily="34" charset="-120"/>
              </a:rPr>
              <a:t>03  ·  THE HYPOTHESIS</a:t>
            </a:r>
            <a:endParaRPr lang="en-US" sz="1000" dirty="0"/>
          </a:p>
        </p:txBody>
      </p:sp>
      <p:sp>
        <p:nvSpPr>
          <p:cNvPr id="7" name="Text 5"/>
          <p:cNvSpPr/>
          <p:nvPr/>
        </p:nvSpPr>
        <p:spPr>
          <a:xfrm>
            <a:off x="548640" y="1097280"/>
            <a:ext cx="8046720" cy="457200"/>
          </a:xfrm>
          <a:prstGeom prst="rect">
            <a:avLst/>
          </a:prstGeom>
          <a:noFill/>
          <a:ln/>
        </p:spPr>
        <p:txBody>
          <a:bodyPr wrap="square" lIns="0" tIns="0" rIns="0" bIns="0" rtlCol="0" anchor="ctr"/>
          <a:lstStyle/>
          <a:p>
            <a:pPr marL="0" indent="0">
              <a:buNone/>
            </a:pPr>
            <a:r>
              <a:rPr lang="en-US" sz="2600" b="1" dirty="0">
                <a:solidFill>
                  <a:srgbClr val="1F2937"/>
                </a:solidFill>
                <a:latin typeface="Cambria" pitchFamily="34" charset="0"/>
                <a:ea typeface="Cambria" pitchFamily="34" charset="-122"/>
                <a:cs typeface="Cambria" pitchFamily="34" charset="-120"/>
              </a:rPr>
              <a:t>What we expected to observe</a:t>
            </a:r>
            <a:endParaRPr lang="en-US" sz="2600" dirty="0"/>
          </a:p>
        </p:txBody>
      </p:sp>
      <p:sp>
        <p:nvSpPr>
          <p:cNvPr id="8" name="Shape 6"/>
          <p:cNvSpPr/>
          <p:nvPr/>
        </p:nvSpPr>
        <p:spPr>
          <a:xfrm>
            <a:off x="548640" y="1828800"/>
            <a:ext cx="8321040" cy="2697480"/>
          </a:xfrm>
          <a:prstGeom prst="roundRect">
            <a:avLst>
              <a:gd name="adj" fmla="val 2034"/>
            </a:avLst>
          </a:prstGeom>
          <a:solidFill>
            <a:srgbClr val="FFFFFF"/>
          </a:solidFill>
          <a:ln w="19050">
            <a:solidFill>
              <a:srgbClr val="C9A961"/>
            </a:solidFill>
            <a:prstDash val="solid"/>
          </a:ln>
          <a:effectLst>
            <a:outerShdw blurRad="101600" dist="25400" dir="5400000" algn="bl" rotWithShape="0">
              <a:srgbClr val="000000">
                <a:alpha val="8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777240" y="2011680"/>
            <a:ext cx="365760" cy="365760"/>
          </a:xfrm>
          <a:prstGeom prst="rect">
            <a:avLst/>
          </a:prstGeom>
        </p:spPr>
      </p:pic>
      <p:sp>
        <p:nvSpPr>
          <p:cNvPr id="10" name="Text 7"/>
          <p:cNvSpPr/>
          <p:nvPr/>
        </p:nvSpPr>
        <p:spPr>
          <a:xfrm>
            <a:off x="1280160" y="2011680"/>
            <a:ext cx="6858000" cy="320040"/>
          </a:xfrm>
          <a:prstGeom prst="rect">
            <a:avLst/>
          </a:prstGeom>
          <a:noFill/>
          <a:ln/>
        </p:spPr>
        <p:txBody>
          <a:bodyPr wrap="square" lIns="0" tIns="0" rIns="0" bIns="0" rtlCol="0" anchor="ctr"/>
          <a:lstStyle/>
          <a:p>
            <a:pPr marL="0" indent="0">
              <a:buNone/>
            </a:pPr>
            <a:r>
              <a:rPr lang="en-US" sz="1100" b="1" kern="0" spc="300" dirty="0">
                <a:solidFill>
                  <a:srgbClr val="C9A961"/>
                </a:solidFill>
                <a:latin typeface="Calibri" pitchFamily="34" charset="0"/>
                <a:ea typeface="Calibri" pitchFamily="34" charset="-122"/>
                <a:cs typeface="Calibri" pitchFamily="34" charset="-120"/>
              </a:rPr>
              <a:t>HYPOTHESIS  ·  H₁</a:t>
            </a:r>
            <a:endParaRPr lang="en-US" sz="1100" dirty="0"/>
          </a:p>
        </p:txBody>
      </p:sp>
      <p:sp>
        <p:nvSpPr>
          <p:cNvPr id="11" name="Shape 8"/>
          <p:cNvSpPr/>
          <p:nvPr/>
        </p:nvSpPr>
        <p:spPr>
          <a:xfrm>
            <a:off x="777240" y="2468880"/>
            <a:ext cx="7863840" cy="0"/>
          </a:xfrm>
          <a:prstGeom prst="line">
            <a:avLst/>
          </a:prstGeom>
          <a:noFill/>
          <a:ln w="6350">
            <a:solidFill>
              <a:srgbClr val="C9A961"/>
            </a:solidFill>
            <a:prstDash val="solid"/>
          </a:ln>
        </p:spPr>
        <p:txBody>
          <a:bodyPr/>
          <a:lstStyle/>
          <a:p>
            <a:endParaRPr lang="en-US"/>
          </a:p>
        </p:txBody>
      </p:sp>
      <p:sp>
        <p:nvSpPr>
          <p:cNvPr id="12" name="Text 9"/>
          <p:cNvSpPr/>
          <p:nvPr/>
        </p:nvSpPr>
        <p:spPr>
          <a:xfrm>
            <a:off x="868680" y="2651760"/>
            <a:ext cx="7772400" cy="1828800"/>
          </a:xfrm>
          <a:prstGeom prst="rect">
            <a:avLst/>
          </a:prstGeom>
          <a:noFill/>
          <a:ln/>
        </p:spPr>
        <p:txBody>
          <a:bodyPr wrap="square" lIns="0" tIns="0" rIns="0" bIns="0" rtlCol="0" anchor="ctr"/>
          <a:lstStyle/>
          <a:p>
            <a:pPr marL="0" indent="0">
              <a:spcAft>
                <a:spcPts val="200"/>
              </a:spcAft>
              <a:buNone/>
            </a:pPr>
            <a:r>
              <a:rPr lang="en-US" sz="1400" b="1" dirty="0">
                <a:solidFill>
                  <a:srgbClr val="C9A961"/>
                </a:solidFill>
                <a:latin typeface="Calibri" pitchFamily="34" charset="0"/>
                <a:ea typeface="Calibri" pitchFamily="34" charset="-122"/>
                <a:cs typeface="Calibri" pitchFamily="34" charset="-120"/>
              </a:rPr>
              <a:t>IF  </a:t>
            </a:r>
            <a:r>
              <a:rPr lang="en-US" sz="1400" dirty="0">
                <a:solidFill>
                  <a:srgbClr val="1F2937"/>
                </a:solidFill>
                <a:latin typeface="Cambria" pitchFamily="34" charset="0"/>
                <a:ea typeface="Cambria" pitchFamily="34" charset="-122"/>
                <a:cs typeface="Cambria" pitchFamily="34" charset="-120"/>
              </a:rPr>
              <a:t>the primary research KPI is shifted from </a:t>
            </a:r>
            <a:r>
              <a:rPr lang="en-US" sz="1400" b="1" i="1" dirty="0">
                <a:solidFill>
                  <a:srgbClr val="1F2937"/>
                </a:solidFill>
                <a:latin typeface="Cambria" pitchFamily="34" charset="0"/>
                <a:ea typeface="Cambria" pitchFamily="34" charset="-122"/>
                <a:cs typeface="Cambria" pitchFamily="34" charset="-120"/>
              </a:rPr>
              <a:t>publication metrics</a:t>
            </a:r>
            <a:r>
              <a:rPr lang="en-US" sz="1400" dirty="0">
                <a:solidFill>
                  <a:srgbClr val="1F2937"/>
                </a:solidFill>
                <a:latin typeface="Cambria" pitchFamily="34" charset="0"/>
                <a:ea typeface="Cambria" pitchFamily="34" charset="-122"/>
                <a:cs typeface="Cambria" pitchFamily="34" charset="-120"/>
              </a:rPr>
              <a:t> (count, citation, H-index) to </a:t>
            </a:r>
            <a:r>
              <a:rPr lang="en-US" sz="1400" b="1" i="1" dirty="0">
                <a:solidFill>
                  <a:srgbClr val="0F1F3F"/>
                </a:solidFill>
                <a:latin typeface="Cambria" pitchFamily="34" charset="0"/>
                <a:ea typeface="Cambria" pitchFamily="34" charset="-122"/>
                <a:cs typeface="Cambria" pitchFamily="34" charset="-120"/>
              </a:rPr>
              <a:t>industry funding + product adoption + community impact,</a:t>
            </a:r>
            <a:endParaRPr lang="en-US" sz="1400" dirty="0"/>
          </a:p>
          <a:p>
            <a:pPr marL="0" indent="0">
              <a:spcBef>
                <a:spcPts val="800"/>
              </a:spcBef>
              <a:spcAft>
                <a:spcPts val="200"/>
              </a:spcAft>
              <a:buNone/>
            </a:pPr>
            <a:r>
              <a:rPr lang="en-US" sz="1400" b="1" dirty="0">
                <a:solidFill>
                  <a:srgbClr val="C9A961"/>
                </a:solidFill>
                <a:latin typeface="Calibri" pitchFamily="34" charset="0"/>
                <a:ea typeface="Calibri" pitchFamily="34" charset="-122"/>
                <a:cs typeface="Calibri" pitchFamily="34" charset="-120"/>
              </a:rPr>
              <a:t>THEN  </a:t>
            </a:r>
            <a:r>
              <a:rPr lang="en-US" sz="1400" dirty="0">
                <a:solidFill>
                  <a:srgbClr val="1F2937"/>
                </a:solidFill>
                <a:latin typeface="Cambria" pitchFamily="34" charset="0"/>
                <a:ea typeface="Cambria" pitchFamily="34" charset="-122"/>
                <a:cs typeface="Cambria" pitchFamily="34" charset="-120"/>
              </a:rPr>
              <a:t>we expect the following observable changes:</a:t>
            </a:r>
            <a:endParaRPr lang="en-US" sz="1400" dirty="0"/>
          </a:p>
          <a:p>
            <a:pPr marL="0" indent="0">
              <a:spcBef>
                <a:spcPts val="600"/>
              </a:spcBef>
              <a:spcAft>
                <a:spcPts val="200"/>
              </a:spcAft>
              <a:buNone/>
            </a:pPr>
            <a:r>
              <a:rPr lang="en-US" sz="1300" dirty="0">
                <a:solidFill>
                  <a:srgbClr val="1F2937"/>
                </a:solidFill>
                <a:latin typeface="Cambria" pitchFamily="34" charset="0"/>
                <a:ea typeface="Cambria" pitchFamily="34" charset="-122"/>
                <a:cs typeface="Cambria" pitchFamily="34" charset="-120"/>
              </a:rPr>
              <a:t>      ·  researcher behavior shifts toward industry-relevant questions</a:t>
            </a:r>
            <a:endParaRPr lang="en-US" sz="1400" dirty="0"/>
          </a:p>
          <a:p>
            <a:pPr marL="0" indent="0">
              <a:spcAft>
                <a:spcPts val="200"/>
              </a:spcAft>
              <a:buNone/>
            </a:pPr>
            <a:r>
              <a:rPr lang="en-US" sz="1300" dirty="0">
                <a:solidFill>
                  <a:srgbClr val="1F2937"/>
                </a:solidFill>
                <a:latin typeface="Cambria" pitchFamily="34" charset="0"/>
                <a:ea typeface="Cambria" pitchFamily="34" charset="-122"/>
                <a:cs typeface="Cambria" pitchFamily="34" charset="-120"/>
              </a:rPr>
              <a:t>      ·  collaboration structures expand across academia–industry boundaries</a:t>
            </a:r>
            <a:endParaRPr lang="en-US" sz="1400" dirty="0"/>
          </a:p>
          <a:p>
            <a:pPr marL="0" indent="0">
              <a:spcAft>
                <a:spcPts val="200"/>
              </a:spcAft>
              <a:buNone/>
            </a:pPr>
            <a:r>
              <a:rPr lang="en-US" sz="1300" dirty="0">
                <a:solidFill>
                  <a:srgbClr val="1F2937"/>
                </a:solidFill>
                <a:latin typeface="Cambria" pitchFamily="34" charset="0"/>
                <a:ea typeface="Cambria" pitchFamily="34" charset="-122"/>
                <a:cs typeface="Cambria" pitchFamily="34" charset="-120"/>
              </a:rPr>
              <a:t>      ·  resource flows multiply through new funding channels</a:t>
            </a:r>
            <a:endParaRPr lang="en-US" sz="1400" dirty="0"/>
          </a:p>
          <a:p>
            <a:pPr marL="0" indent="0">
              <a:spcAft>
                <a:spcPts val="200"/>
              </a:spcAft>
              <a:buNone/>
            </a:pPr>
            <a:r>
              <a:rPr lang="en-US" sz="1300" b="1" i="1" dirty="0">
                <a:solidFill>
                  <a:srgbClr val="0F1F3F"/>
                </a:solidFill>
                <a:latin typeface="Cambria" pitchFamily="34" charset="0"/>
                <a:ea typeface="Cambria" pitchFamily="34" charset="-122"/>
                <a:cs typeface="Cambria" pitchFamily="34" charset="-120"/>
              </a:rPr>
              <a:t>      ·  scientific quality is preserved — and possibly strengthened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548640" y="502920"/>
            <a:ext cx="320040" cy="0"/>
          </a:xfrm>
          <a:prstGeom prst="line">
            <a:avLst/>
          </a:prstGeom>
          <a:noFill/>
          <a:ln w="19050">
            <a:solidFill>
              <a:srgbClr val="C9A961"/>
            </a:solidFill>
            <a:prstDash val="solid"/>
          </a:ln>
        </p:spPr>
        <p:txBody>
          <a:bodyPr/>
          <a:lstStyle/>
          <a:p>
            <a:endParaRPr lang="en-US"/>
          </a:p>
        </p:txBody>
      </p:sp>
      <p:sp>
        <p:nvSpPr>
          <p:cNvPr id="3" name="Shape 1"/>
          <p:cNvSpPr/>
          <p:nvPr/>
        </p:nvSpPr>
        <p:spPr>
          <a:xfrm>
            <a:off x="548640" y="502920"/>
            <a:ext cx="0" cy="164592"/>
          </a:xfrm>
          <a:prstGeom prst="line">
            <a:avLst/>
          </a:prstGeom>
          <a:noFill/>
          <a:ln w="19050">
            <a:solidFill>
              <a:srgbClr val="C9A961"/>
            </a:solidFill>
            <a:prstDash val="solid"/>
          </a:ln>
        </p:spPr>
        <p:txBody>
          <a:bodyPr/>
          <a:lstStyle/>
          <a:p>
            <a:endParaRPr lang="en-US"/>
          </a:p>
        </p:txBody>
      </p:sp>
      <p:sp>
        <p:nvSpPr>
          <p:cNvPr id="4" name="Text 2"/>
          <p:cNvSpPr/>
          <p:nvPr/>
        </p:nvSpPr>
        <p:spPr>
          <a:xfrm>
            <a:off x="548640" y="4800600"/>
            <a:ext cx="4572000" cy="274320"/>
          </a:xfrm>
          <a:prstGeom prst="rect">
            <a:avLst/>
          </a:prstGeom>
          <a:noFill/>
          <a:ln/>
        </p:spPr>
        <p:txBody>
          <a:bodyPr wrap="square" rtlCol="0" anchor="ctr"/>
          <a:lstStyle/>
          <a:p>
            <a:pPr marL="0" indent="0">
              <a:buNone/>
            </a:pPr>
            <a:r>
              <a:rPr lang="en-US" sz="900" kern="0" spc="200" dirty="0">
                <a:solidFill>
                  <a:srgbClr val="94A3B8"/>
                </a:solidFill>
                <a:latin typeface="Calibri" pitchFamily="34" charset="0"/>
                <a:ea typeface="Calibri" pitchFamily="34" charset="-122"/>
                <a:cs typeface="Calibri" pitchFamily="34" charset="-120"/>
              </a:rPr>
              <a:t>LEAF 2026  ·  METHODS · THE SYSTEM</a:t>
            </a:r>
            <a:endParaRPr lang="en-US" sz="900" dirty="0"/>
          </a:p>
        </p:txBody>
      </p:sp>
      <p:sp>
        <p:nvSpPr>
          <p:cNvPr id="5" name="Text 3"/>
          <p:cNvSpPr/>
          <p:nvPr/>
        </p:nvSpPr>
        <p:spPr>
          <a:xfrm>
            <a:off x="8229600" y="4800600"/>
            <a:ext cx="64008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6 / 18</a:t>
            </a:r>
            <a:endParaRPr lang="en-US" sz="900" dirty="0"/>
          </a:p>
        </p:txBody>
      </p:sp>
      <p:sp>
        <p:nvSpPr>
          <p:cNvPr id="6" name="Text 4"/>
          <p:cNvSpPr/>
          <p:nvPr/>
        </p:nvSpPr>
        <p:spPr>
          <a:xfrm>
            <a:off x="548640" y="777240"/>
            <a:ext cx="8046720" cy="274320"/>
          </a:xfrm>
          <a:prstGeom prst="rect">
            <a:avLst/>
          </a:prstGeom>
          <a:noFill/>
          <a:ln/>
        </p:spPr>
        <p:txBody>
          <a:bodyPr wrap="square" lIns="0" tIns="0" rIns="0" bIns="0" rtlCol="0" anchor="ctr"/>
          <a:lstStyle/>
          <a:p>
            <a:pPr marL="0" indent="0">
              <a:buNone/>
            </a:pPr>
            <a:r>
              <a:rPr lang="en-US" sz="1000" b="1" kern="0" spc="500" dirty="0">
                <a:solidFill>
                  <a:srgbClr val="C9A961"/>
                </a:solidFill>
                <a:latin typeface="Calibri" pitchFamily="34" charset="0"/>
                <a:ea typeface="Calibri" pitchFamily="34" charset="-122"/>
                <a:cs typeface="Calibri" pitchFamily="34" charset="-120"/>
              </a:rPr>
              <a:t>04  ·  THE SYSTEM UNDER STUDY</a:t>
            </a:r>
            <a:endParaRPr lang="en-US" sz="1000" dirty="0"/>
          </a:p>
        </p:txBody>
      </p:sp>
      <p:sp>
        <p:nvSpPr>
          <p:cNvPr id="7" name="Text 5"/>
          <p:cNvSpPr/>
          <p:nvPr/>
        </p:nvSpPr>
        <p:spPr>
          <a:xfrm>
            <a:off x="548640" y="1097280"/>
            <a:ext cx="8046720" cy="457200"/>
          </a:xfrm>
          <a:prstGeom prst="rect">
            <a:avLst/>
          </a:prstGeom>
          <a:noFill/>
          <a:ln/>
        </p:spPr>
        <p:txBody>
          <a:bodyPr wrap="square" lIns="0" tIns="0" rIns="0" bIns="0" rtlCol="0" anchor="ctr"/>
          <a:lstStyle/>
          <a:p>
            <a:pPr marL="0" indent="0">
              <a:buNone/>
            </a:pPr>
            <a:r>
              <a:rPr lang="en-US" sz="2600" b="1" dirty="0">
                <a:solidFill>
                  <a:srgbClr val="1F2937"/>
                </a:solidFill>
                <a:latin typeface="Cambria" pitchFamily="34" charset="0"/>
                <a:ea typeface="Cambria" pitchFamily="34" charset="-122"/>
                <a:cs typeface="Cambria" pitchFamily="34" charset="-120"/>
              </a:rPr>
              <a:t>Four stakeholders, four different KPIs</a:t>
            </a:r>
            <a:endParaRPr lang="en-US" sz="2600" dirty="0"/>
          </a:p>
        </p:txBody>
      </p:sp>
      <p:sp>
        <p:nvSpPr>
          <p:cNvPr id="8" name="Shape 6"/>
          <p:cNvSpPr/>
          <p:nvPr/>
        </p:nvSpPr>
        <p:spPr>
          <a:xfrm>
            <a:off x="548640" y="1783080"/>
            <a:ext cx="3931920" cy="1234440"/>
          </a:xfrm>
          <a:prstGeom prst="roundRect">
            <a:avLst>
              <a:gd name="adj" fmla="val 4444"/>
            </a:avLst>
          </a:prstGeom>
          <a:solidFill>
            <a:srgbClr val="FFFFFF"/>
          </a:solidFill>
          <a:ln w="6350">
            <a:solidFill>
              <a:srgbClr val="D1C9B0"/>
            </a:solidFill>
            <a:prstDash val="solid"/>
          </a:ln>
          <a:effectLst>
            <a:outerShdw blurRad="76200" dist="12700" dir="5400000" algn="bl" rotWithShape="0">
              <a:srgbClr val="000000">
                <a:alpha val="6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731520" y="1965960"/>
            <a:ext cx="411480" cy="411480"/>
          </a:xfrm>
          <a:prstGeom prst="rect">
            <a:avLst/>
          </a:prstGeom>
        </p:spPr>
      </p:pic>
      <p:sp>
        <p:nvSpPr>
          <p:cNvPr id="10" name="Text 7"/>
          <p:cNvSpPr/>
          <p:nvPr/>
        </p:nvSpPr>
        <p:spPr>
          <a:xfrm>
            <a:off x="1280160" y="1947672"/>
            <a:ext cx="3063240" cy="274320"/>
          </a:xfrm>
          <a:prstGeom prst="rect">
            <a:avLst/>
          </a:prstGeom>
          <a:noFill/>
          <a:ln/>
        </p:spPr>
        <p:txBody>
          <a:bodyPr wrap="square" lIns="0" tIns="0" rIns="0" bIns="0" rtlCol="0" anchor="ctr"/>
          <a:lstStyle/>
          <a:p>
            <a:pPr marL="0" indent="0">
              <a:buNone/>
            </a:pPr>
            <a:r>
              <a:rPr lang="en-US" sz="1100" b="1" kern="0" spc="250" dirty="0">
                <a:solidFill>
                  <a:srgbClr val="C9A961"/>
                </a:solidFill>
                <a:latin typeface="Calibri" pitchFamily="34" charset="0"/>
                <a:ea typeface="Calibri" pitchFamily="34" charset="-122"/>
                <a:cs typeface="Calibri" pitchFamily="34" charset="-120"/>
              </a:rPr>
              <a:t>SCIENTIST</a:t>
            </a:r>
            <a:endParaRPr lang="en-US" sz="1100" dirty="0"/>
          </a:p>
        </p:txBody>
      </p:sp>
      <p:sp>
        <p:nvSpPr>
          <p:cNvPr id="11" name="Text 8"/>
          <p:cNvSpPr/>
          <p:nvPr/>
        </p:nvSpPr>
        <p:spPr>
          <a:xfrm>
            <a:off x="1280160" y="2176272"/>
            <a:ext cx="3063240" cy="274320"/>
          </a:xfrm>
          <a:prstGeom prst="rect">
            <a:avLst/>
          </a:prstGeom>
          <a:noFill/>
          <a:ln/>
        </p:spPr>
        <p:txBody>
          <a:bodyPr wrap="square" lIns="0" tIns="0" rIns="0" bIns="0" rtlCol="0" anchor="ctr"/>
          <a:lstStyle/>
          <a:p>
            <a:pPr marL="0" indent="0">
              <a:buNone/>
            </a:pPr>
            <a:r>
              <a:rPr lang="en-US" sz="1300" b="1" i="1" dirty="0">
                <a:solidFill>
                  <a:srgbClr val="0F1F3F"/>
                </a:solidFill>
                <a:latin typeface="Cambria" pitchFamily="34" charset="0"/>
                <a:ea typeface="Cambria" pitchFamily="34" charset="-122"/>
                <a:cs typeface="Cambria" pitchFamily="34" charset="-120"/>
              </a:rPr>
              <a:t>The Researcher</a:t>
            </a:r>
            <a:endParaRPr lang="en-US" sz="1300" dirty="0"/>
          </a:p>
        </p:txBody>
      </p:sp>
      <p:sp>
        <p:nvSpPr>
          <p:cNvPr id="12" name="Text 9"/>
          <p:cNvSpPr/>
          <p:nvPr/>
        </p:nvSpPr>
        <p:spPr>
          <a:xfrm>
            <a:off x="731520" y="2496312"/>
            <a:ext cx="3611880" cy="457200"/>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Measured by publications, citations, H-index. Career advancement tied to scholarly output.</a:t>
            </a:r>
            <a:endParaRPr lang="en-US" sz="1050" dirty="0"/>
          </a:p>
        </p:txBody>
      </p:sp>
      <p:sp>
        <p:nvSpPr>
          <p:cNvPr id="13" name="Shape 10"/>
          <p:cNvSpPr/>
          <p:nvPr/>
        </p:nvSpPr>
        <p:spPr>
          <a:xfrm>
            <a:off x="4663440" y="1783080"/>
            <a:ext cx="3931920" cy="1234440"/>
          </a:xfrm>
          <a:prstGeom prst="roundRect">
            <a:avLst>
              <a:gd name="adj" fmla="val 4444"/>
            </a:avLst>
          </a:prstGeom>
          <a:solidFill>
            <a:srgbClr val="FFFFFF"/>
          </a:solidFill>
          <a:ln w="6350">
            <a:solidFill>
              <a:srgbClr val="D1C9B0"/>
            </a:solidFill>
            <a:prstDash val="solid"/>
          </a:ln>
          <a:effectLst>
            <a:outerShdw blurRad="76200" dist="12700" dir="5400000" algn="bl" rotWithShape="0">
              <a:srgbClr val="000000">
                <a:alpha val="6000"/>
              </a:srgbClr>
            </a:outerShdw>
          </a:effectLst>
        </p:spPr>
        <p:txBody>
          <a:bodyPr/>
          <a:lstStyle/>
          <a:p>
            <a:endParaRPr lang="en-US"/>
          </a:p>
        </p:txBody>
      </p:sp>
      <p:pic>
        <p:nvPicPr>
          <p:cNvPr id="14" name="Image 1" descr="preencoded.png"/>
          <p:cNvPicPr>
            <a:picLocks noChangeAspect="1"/>
          </p:cNvPicPr>
          <p:nvPr/>
        </p:nvPicPr>
        <p:blipFill>
          <a:blip r:embed="rId4"/>
          <a:stretch>
            <a:fillRect/>
          </a:stretch>
        </p:blipFill>
        <p:spPr>
          <a:xfrm>
            <a:off x="4846320" y="1965960"/>
            <a:ext cx="411480" cy="411480"/>
          </a:xfrm>
          <a:prstGeom prst="rect">
            <a:avLst/>
          </a:prstGeom>
        </p:spPr>
      </p:pic>
      <p:sp>
        <p:nvSpPr>
          <p:cNvPr id="15" name="Text 11"/>
          <p:cNvSpPr/>
          <p:nvPr/>
        </p:nvSpPr>
        <p:spPr>
          <a:xfrm>
            <a:off x="5394960" y="1947672"/>
            <a:ext cx="3063240" cy="274320"/>
          </a:xfrm>
          <a:prstGeom prst="rect">
            <a:avLst/>
          </a:prstGeom>
          <a:noFill/>
          <a:ln/>
        </p:spPr>
        <p:txBody>
          <a:bodyPr wrap="square" lIns="0" tIns="0" rIns="0" bIns="0" rtlCol="0" anchor="ctr"/>
          <a:lstStyle/>
          <a:p>
            <a:pPr marL="0" indent="0">
              <a:buNone/>
            </a:pPr>
            <a:r>
              <a:rPr lang="en-US" sz="1100" b="1" kern="0" spc="250" dirty="0">
                <a:solidFill>
                  <a:srgbClr val="C9A961"/>
                </a:solidFill>
                <a:latin typeface="Calibri" pitchFamily="34" charset="0"/>
                <a:ea typeface="Calibri" pitchFamily="34" charset="-122"/>
                <a:cs typeface="Calibri" pitchFamily="34" charset="-120"/>
              </a:rPr>
              <a:t>UNIVERSITY</a:t>
            </a:r>
            <a:endParaRPr lang="en-US" sz="1100" dirty="0"/>
          </a:p>
        </p:txBody>
      </p:sp>
      <p:sp>
        <p:nvSpPr>
          <p:cNvPr id="16" name="Text 12"/>
          <p:cNvSpPr/>
          <p:nvPr/>
        </p:nvSpPr>
        <p:spPr>
          <a:xfrm>
            <a:off x="5394960" y="2176272"/>
            <a:ext cx="3063240" cy="274320"/>
          </a:xfrm>
          <a:prstGeom prst="rect">
            <a:avLst/>
          </a:prstGeom>
          <a:noFill/>
          <a:ln/>
        </p:spPr>
        <p:txBody>
          <a:bodyPr wrap="square" lIns="0" tIns="0" rIns="0" bIns="0" rtlCol="0" anchor="ctr"/>
          <a:lstStyle/>
          <a:p>
            <a:pPr marL="0" indent="0">
              <a:buNone/>
            </a:pPr>
            <a:r>
              <a:rPr lang="en-US" sz="1300" b="1" i="1" dirty="0">
                <a:solidFill>
                  <a:srgbClr val="0F1F3F"/>
                </a:solidFill>
                <a:latin typeface="Cambria" pitchFamily="34" charset="0"/>
                <a:ea typeface="Cambria" pitchFamily="34" charset="-122"/>
                <a:cs typeface="Cambria" pitchFamily="34" charset="-120"/>
              </a:rPr>
              <a:t>The Institution</a:t>
            </a:r>
            <a:endParaRPr lang="en-US" sz="1300" dirty="0"/>
          </a:p>
        </p:txBody>
      </p:sp>
      <p:sp>
        <p:nvSpPr>
          <p:cNvPr id="17" name="Text 13"/>
          <p:cNvSpPr/>
          <p:nvPr/>
        </p:nvSpPr>
        <p:spPr>
          <a:xfrm>
            <a:off x="4846320" y="2496312"/>
            <a:ext cx="3611880" cy="457200"/>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Measured by rankings, accreditation, student numbers. Operations sustained largely by tuition (UKT).</a:t>
            </a:r>
            <a:endParaRPr lang="en-US" sz="1050" dirty="0"/>
          </a:p>
        </p:txBody>
      </p:sp>
      <p:sp>
        <p:nvSpPr>
          <p:cNvPr id="18" name="Shape 14"/>
          <p:cNvSpPr/>
          <p:nvPr/>
        </p:nvSpPr>
        <p:spPr>
          <a:xfrm>
            <a:off x="548640" y="3200400"/>
            <a:ext cx="3931920" cy="1234440"/>
          </a:xfrm>
          <a:prstGeom prst="roundRect">
            <a:avLst>
              <a:gd name="adj" fmla="val 4444"/>
            </a:avLst>
          </a:prstGeom>
          <a:solidFill>
            <a:srgbClr val="FFFFFF"/>
          </a:solidFill>
          <a:ln w="6350">
            <a:solidFill>
              <a:srgbClr val="D1C9B0"/>
            </a:solidFill>
            <a:prstDash val="solid"/>
          </a:ln>
          <a:effectLst>
            <a:outerShdw blurRad="76200" dist="12700" dir="5400000" algn="bl" rotWithShape="0">
              <a:srgbClr val="000000">
                <a:alpha val="6000"/>
              </a:srgbClr>
            </a:outerShdw>
          </a:effectLst>
        </p:spPr>
        <p:txBody>
          <a:bodyPr/>
          <a:lstStyle/>
          <a:p>
            <a:endParaRPr lang="en-US"/>
          </a:p>
        </p:txBody>
      </p:sp>
      <p:pic>
        <p:nvPicPr>
          <p:cNvPr id="19" name="Image 2" descr="preencoded.png"/>
          <p:cNvPicPr>
            <a:picLocks noChangeAspect="1"/>
          </p:cNvPicPr>
          <p:nvPr/>
        </p:nvPicPr>
        <p:blipFill>
          <a:blip r:embed="rId5"/>
          <a:stretch>
            <a:fillRect/>
          </a:stretch>
        </p:blipFill>
        <p:spPr>
          <a:xfrm>
            <a:off x="731520" y="3383280"/>
            <a:ext cx="411480" cy="411480"/>
          </a:xfrm>
          <a:prstGeom prst="rect">
            <a:avLst/>
          </a:prstGeom>
        </p:spPr>
      </p:pic>
      <p:sp>
        <p:nvSpPr>
          <p:cNvPr id="20" name="Text 15"/>
          <p:cNvSpPr/>
          <p:nvPr/>
        </p:nvSpPr>
        <p:spPr>
          <a:xfrm>
            <a:off x="1280160" y="3364992"/>
            <a:ext cx="3063240" cy="274320"/>
          </a:xfrm>
          <a:prstGeom prst="rect">
            <a:avLst/>
          </a:prstGeom>
          <a:noFill/>
          <a:ln/>
        </p:spPr>
        <p:txBody>
          <a:bodyPr wrap="square" lIns="0" tIns="0" rIns="0" bIns="0" rtlCol="0" anchor="ctr"/>
          <a:lstStyle/>
          <a:p>
            <a:pPr marL="0" indent="0">
              <a:buNone/>
            </a:pPr>
            <a:r>
              <a:rPr lang="en-US" sz="1100" b="1" kern="0" spc="250" dirty="0">
                <a:solidFill>
                  <a:srgbClr val="C9A961"/>
                </a:solidFill>
                <a:latin typeface="Calibri" pitchFamily="34" charset="0"/>
                <a:ea typeface="Calibri" pitchFamily="34" charset="-122"/>
                <a:cs typeface="Calibri" pitchFamily="34" charset="-120"/>
              </a:rPr>
              <a:t>RESEARCH AGENCY</a:t>
            </a:r>
            <a:endParaRPr lang="en-US" sz="1100" dirty="0"/>
          </a:p>
        </p:txBody>
      </p:sp>
      <p:sp>
        <p:nvSpPr>
          <p:cNvPr id="21" name="Text 16"/>
          <p:cNvSpPr/>
          <p:nvPr/>
        </p:nvSpPr>
        <p:spPr>
          <a:xfrm>
            <a:off x="1280160" y="3593592"/>
            <a:ext cx="3063240" cy="274320"/>
          </a:xfrm>
          <a:prstGeom prst="rect">
            <a:avLst/>
          </a:prstGeom>
          <a:noFill/>
          <a:ln/>
        </p:spPr>
        <p:txBody>
          <a:bodyPr wrap="square" lIns="0" tIns="0" rIns="0" bIns="0" rtlCol="0" anchor="ctr"/>
          <a:lstStyle/>
          <a:p>
            <a:pPr marL="0" indent="0">
              <a:buNone/>
            </a:pPr>
            <a:r>
              <a:rPr lang="en-US" sz="1300" b="1" i="1" dirty="0">
                <a:solidFill>
                  <a:srgbClr val="0F1F3F"/>
                </a:solidFill>
                <a:latin typeface="Cambria" pitchFamily="34" charset="0"/>
                <a:ea typeface="Cambria" pitchFamily="34" charset="-122"/>
                <a:cs typeface="Cambria" pitchFamily="34" charset="-120"/>
              </a:rPr>
              <a:t>The National Body</a:t>
            </a:r>
            <a:endParaRPr lang="en-US" sz="1300" dirty="0"/>
          </a:p>
        </p:txBody>
      </p:sp>
      <p:sp>
        <p:nvSpPr>
          <p:cNvPr id="22" name="Text 17"/>
          <p:cNvSpPr/>
          <p:nvPr/>
        </p:nvSpPr>
        <p:spPr>
          <a:xfrm>
            <a:off x="731520" y="3913632"/>
            <a:ext cx="3611880" cy="457200"/>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Measured by grants disbursed, projects funded, publications attributed to national funding.</a:t>
            </a:r>
            <a:endParaRPr lang="en-US" sz="1050" dirty="0"/>
          </a:p>
        </p:txBody>
      </p:sp>
      <p:sp>
        <p:nvSpPr>
          <p:cNvPr id="23" name="Shape 18"/>
          <p:cNvSpPr/>
          <p:nvPr/>
        </p:nvSpPr>
        <p:spPr>
          <a:xfrm>
            <a:off x="4663440" y="3200400"/>
            <a:ext cx="3931920" cy="1234440"/>
          </a:xfrm>
          <a:prstGeom prst="roundRect">
            <a:avLst>
              <a:gd name="adj" fmla="val 4444"/>
            </a:avLst>
          </a:prstGeom>
          <a:solidFill>
            <a:srgbClr val="FFFFFF"/>
          </a:solidFill>
          <a:ln w="6350">
            <a:solidFill>
              <a:srgbClr val="D1C9B0"/>
            </a:solidFill>
            <a:prstDash val="solid"/>
          </a:ln>
          <a:effectLst>
            <a:outerShdw blurRad="76200" dist="12700" dir="5400000" algn="bl" rotWithShape="0">
              <a:srgbClr val="000000">
                <a:alpha val="6000"/>
              </a:srgbClr>
            </a:outerShdw>
          </a:effectLst>
        </p:spPr>
        <p:txBody>
          <a:bodyPr/>
          <a:lstStyle/>
          <a:p>
            <a:endParaRPr lang="en-US"/>
          </a:p>
        </p:txBody>
      </p:sp>
      <p:pic>
        <p:nvPicPr>
          <p:cNvPr id="24" name="Image 3" descr="preencoded.png"/>
          <p:cNvPicPr>
            <a:picLocks noChangeAspect="1"/>
          </p:cNvPicPr>
          <p:nvPr/>
        </p:nvPicPr>
        <p:blipFill>
          <a:blip r:embed="rId6"/>
          <a:stretch>
            <a:fillRect/>
          </a:stretch>
        </p:blipFill>
        <p:spPr>
          <a:xfrm>
            <a:off x="4846320" y="3383280"/>
            <a:ext cx="411480" cy="411480"/>
          </a:xfrm>
          <a:prstGeom prst="rect">
            <a:avLst/>
          </a:prstGeom>
        </p:spPr>
      </p:pic>
      <p:sp>
        <p:nvSpPr>
          <p:cNvPr id="25" name="Text 19"/>
          <p:cNvSpPr/>
          <p:nvPr/>
        </p:nvSpPr>
        <p:spPr>
          <a:xfrm>
            <a:off x="5394960" y="3364992"/>
            <a:ext cx="3063240" cy="274320"/>
          </a:xfrm>
          <a:prstGeom prst="rect">
            <a:avLst/>
          </a:prstGeom>
          <a:noFill/>
          <a:ln/>
        </p:spPr>
        <p:txBody>
          <a:bodyPr wrap="square" lIns="0" tIns="0" rIns="0" bIns="0" rtlCol="0" anchor="ctr"/>
          <a:lstStyle/>
          <a:p>
            <a:pPr marL="0" indent="0">
              <a:buNone/>
            </a:pPr>
            <a:r>
              <a:rPr lang="en-US" sz="1100" b="1" kern="0" spc="250" dirty="0">
                <a:solidFill>
                  <a:srgbClr val="C9A961"/>
                </a:solidFill>
                <a:latin typeface="Calibri" pitchFamily="34" charset="0"/>
                <a:ea typeface="Calibri" pitchFamily="34" charset="-122"/>
                <a:cs typeface="Calibri" pitchFamily="34" charset="-120"/>
              </a:rPr>
              <a:t>INDUSTRY</a:t>
            </a:r>
            <a:endParaRPr lang="en-US" sz="1100" dirty="0"/>
          </a:p>
        </p:txBody>
      </p:sp>
      <p:sp>
        <p:nvSpPr>
          <p:cNvPr id="26" name="Text 20"/>
          <p:cNvSpPr/>
          <p:nvPr/>
        </p:nvSpPr>
        <p:spPr>
          <a:xfrm>
            <a:off x="5394960" y="3593592"/>
            <a:ext cx="3063240" cy="274320"/>
          </a:xfrm>
          <a:prstGeom prst="rect">
            <a:avLst/>
          </a:prstGeom>
          <a:noFill/>
          <a:ln/>
        </p:spPr>
        <p:txBody>
          <a:bodyPr wrap="square" lIns="0" tIns="0" rIns="0" bIns="0" rtlCol="0" anchor="ctr"/>
          <a:lstStyle/>
          <a:p>
            <a:pPr marL="0" indent="0">
              <a:buNone/>
            </a:pPr>
            <a:r>
              <a:rPr lang="en-US" sz="1300" b="1" i="1" dirty="0">
                <a:solidFill>
                  <a:srgbClr val="0F1F3F"/>
                </a:solidFill>
                <a:latin typeface="Cambria" pitchFamily="34" charset="0"/>
                <a:ea typeface="Cambria" pitchFamily="34" charset="-122"/>
                <a:cs typeface="Cambria" pitchFamily="34" charset="-120"/>
              </a:rPr>
              <a:t>The Implementer</a:t>
            </a:r>
            <a:endParaRPr lang="en-US" sz="1300" dirty="0"/>
          </a:p>
        </p:txBody>
      </p:sp>
      <p:sp>
        <p:nvSpPr>
          <p:cNvPr id="27" name="Text 21"/>
          <p:cNvSpPr/>
          <p:nvPr/>
        </p:nvSpPr>
        <p:spPr>
          <a:xfrm>
            <a:off x="4846320" y="3913632"/>
            <a:ext cx="3611880" cy="457200"/>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Measured by revenue, market share, operational efficiency. Engages academia transactionally, project-by-project.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F3F"/>
        </a:solidFill>
        <a:effectLst/>
      </p:bgPr>
    </p:bg>
    <p:spTree>
      <p:nvGrpSpPr>
        <p:cNvPr id="1" name=""/>
        <p:cNvGrpSpPr/>
        <p:nvPr/>
      </p:nvGrpSpPr>
      <p:grpSpPr>
        <a:xfrm>
          <a:off x="0" y="0"/>
          <a:ext cx="0" cy="0"/>
          <a:chOff x="0" y="0"/>
          <a:chExt cx="0" cy="0"/>
        </a:xfrm>
      </p:grpSpPr>
      <p:sp>
        <p:nvSpPr>
          <p:cNvPr id="2" name="Shape 0"/>
          <p:cNvSpPr/>
          <p:nvPr/>
        </p:nvSpPr>
        <p:spPr>
          <a:xfrm>
            <a:off x="548640" y="640080"/>
            <a:ext cx="1280160" cy="0"/>
          </a:xfrm>
          <a:prstGeom prst="line">
            <a:avLst/>
          </a:prstGeom>
          <a:noFill/>
          <a:ln w="19050">
            <a:solidFill>
              <a:srgbClr val="C9A961"/>
            </a:solidFill>
            <a:prstDash val="solid"/>
          </a:ln>
        </p:spPr>
        <p:txBody>
          <a:bodyPr/>
          <a:lstStyle/>
          <a:p>
            <a:endParaRPr lang="en-US"/>
          </a:p>
        </p:txBody>
      </p:sp>
      <p:sp>
        <p:nvSpPr>
          <p:cNvPr id="3" name="Text 1"/>
          <p:cNvSpPr/>
          <p:nvPr/>
        </p:nvSpPr>
        <p:spPr>
          <a:xfrm>
            <a:off x="548640" y="777240"/>
            <a:ext cx="8046720" cy="274320"/>
          </a:xfrm>
          <a:prstGeom prst="rect">
            <a:avLst/>
          </a:prstGeom>
          <a:noFill/>
          <a:ln/>
        </p:spPr>
        <p:txBody>
          <a:bodyPr wrap="square" lIns="0" tIns="0" rIns="0" bIns="0" rtlCol="0" anchor="ctr"/>
          <a:lstStyle/>
          <a:p>
            <a:pPr marL="0" indent="0">
              <a:buNone/>
            </a:pPr>
            <a:r>
              <a:rPr lang="en-US" sz="1000" b="1" kern="0" spc="500" dirty="0">
                <a:solidFill>
                  <a:srgbClr val="C9A961"/>
                </a:solidFill>
                <a:latin typeface="Calibri" pitchFamily="34" charset="0"/>
                <a:ea typeface="Calibri" pitchFamily="34" charset="-122"/>
                <a:cs typeface="Calibri" pitchFamily="34" charset="-120"/>
              </a:rPr>
              <a:t>05  ·  THE SETUP</a:t>
            </a:r>
            <a:endParaRPr lang="en-US" sz="1000" dirty="0"/>
          </a:p>
        </p:txBody>
      </p:sp>
      <p:sp>
        <p:nvSpPr>
          <p:cNvPr id="4" name="Text 2"/>
          <p:cNvSpPr/>
          <p:nvPr/>
        </p:nvSpPr>
        <p:spPr>
          <a:xfrm>
            <a:off x="548640" y="1097280"/>
            <a:ext cx="8046720" cy="45720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Methodology</a:t>
            </a:r>
            <a:endParaRPr lang="en-US" sz="2600" dirty="0"/>
          </a:p>
        </p:txBody>
      </p:sp>
      <p:sp>
        <p:nvSpPr>
          <p:cNvPr id="5" name="Text 3"/>
          <p:cNvSpPr/>
          <p:nvPr/>
        </p:nvSpPr>
        <p:spPr>
          <a:xfrm>
            <a:off x="548640" y="1828800"/>
            <a:ext cx="2011680" cy="548640"/>
          </a:xfrm>
          <a:prstGeom prst="rect">
            <a:avLst/>
          </a:prstGeom>
          <a:noFill/>
          <a:ln/>
        </p:spPr>
        <p:txBody>
          <a:bodyPr wrap="square" lIns="0" tIns="0" rIns="0" bIns="0" rtlCol="0" anchor="ctr"/>
          <a:lstStyle/>
          <a:p>
            <a:pPr marL="0" indent="0">
              <a:buNone/>
            </a:pPr>
            <a:r>
              <a:rPr lang="en-US" sz="1100" b="1" kern="0" spc="300" dirty="0">
                <a:solidFill>
                  <a:srgbClr val="C9A961"/>
                </a:solidFill>
                <a:latin typeface="Calibri" pitchFamily="34" charset="0"/>
                <a:ea typeface="Calibri" pitchFamily="34" charset="-122"/>
                <a:cs typeface="Calibri" pitchFamily="34" charset="-120"/>
              </a:rPr>
              <a:t>UNIT</a:t>
            </a:r>
            <a:endParaRPr lang="en-US" sz="1100" dirty="0"/>
          </a:p>
        </p:txBody>
      </p:sp>
      <p:sp>
        <p:nvSpPr>
          <p:cNvPr id="6" name="Shape 4"/>
          <p:cNvSpPr/>
          <p:nvPr/>
        </p:nvSpPr>
        <p:spPr>
          <a:xfrm>
            <a:off x="2468880" y="2103120"/>
            <a:ext cx="91440" cy="0"/>
          </a:xfrm>
          <a:prstGeom prst="line">
            <a:avLst/>
          </a:prstGeom>
          <a:noFill/>
          <a:ln w="6350">
            <a:solidFill>
              <a:srgbClr val="C9A961"/>
            </a:solidFill>
            <a:prstDash val="solid"/>
          </a:ln>
        </p:spPr>
        <p:txBody>
          <a:bodyPr/>
          <a:lstStyle/>
          <a:p>
            <a:endParaRPr lang="en-US"/>
          </a:p>
        </p:txBody>
      </p:sp>
      <p:sp>
        <p:nvSpPr>
          <p:cNvPr id="7" name="Text 5"/>
          <p:cNvSpPr/>
          <p:nvPr/>
        </p:nvSpPr>
        <p:spPr>
          <a:xfrm>
            <a:off x="2651760" y="1828800"/>
            <a:ext cx="6126480" cy="5486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FMIPA Universitas Gadjah Mada — one faculty</a:t>
            </a:r>
            <a:endParaRPr lang="en-US" sz="1300" dirty="0"/>
          </a:p>
        </p:txBody>
      </p:sp>
      <p:sp>
        <p:nvSpPr>
          <p:cNvPr id="8" name="Shape 6"/>
          <p:cNvSpPr/>
          <p:nvPr/>
        </p:nvSpPr>
        <p:spPr>
          <a:xfrm>
            <a:off x="548640" y="2377440"/>
            <a:ext cx="8229600" cy="0"/>
          </a:xfrm>
          <a:prstGeom prst="line">
            <a:avLst/>
          </a:prstGeom>
          <a:noFill/>
          <a:ln w="6350">
            <a:solidFill>
              <a:srgbClr val="1A2D52"/>
            </a:solidFill>
            <a:prstDash val="solid"/>
          </a:ln>
        </p:spPr>
        <p:txBody>
          <a:bodyPr/>
          <a:lstStyle/>
          <a:p>
            <a:endParaRPr lang="en-US"/>
          </a:p>
        </p:txBody>
      </p:sp>
      <p:sp>
        <p:nvSpPr>
          <p:cNvPr id="9" name="Text 7"/>
          <p:cNvSpPr/>
          <p:nvPr/>
        </p:nvSpPr>
        <p:spPr>
          <a:xfrm>
            <a:off x="548640" y="2377440"/>
            <a:ext cx="2011680" cy="548640"/>
          </a:xfrm>
          <a:prstGeom prst="rect">
            <a:avLst/>
          </a:prstGeom>
          <a:noFill/>
          <a:ln/>
        </p:spPr>
        <p:txBody>
          <a:bodyPr wrap="square" lIns="0" tIns="0" rIns="0" bIns="0" rtlCol="0" anchor="ctr"/>
          <a:lstStyle/>
          <a:p>
            <a:pPr marL="0" indent="0">
              <a:buNone/>
            </a:pPr>
            <a:r>
              <a:rPr lang="en-US" sz="1100" b="1" kern="0" spc="300" dirty="0">
                <a:solidFill>
                  <a:srgbClr val="C9A961"/>
                </a:solidFill>
                <a:latin typeface="Calibri" pitchFamily="34" charset="0"/>
                <a:ea typeface="Calibri" pitchFamily="34" charset="-122"/>
                <a:cs typeface="Calibri" pitchFamily="34" charset="-120"/>
              </a:rPr>
              <a:t>PERIOD</a:t>
            </a:r>
            <a:endParaRPr lang="en-US" sz="1100" dirty="0"/>
          </a:p>
        </p:txBody>
      </p:sp>
      <p:sp>
        <p:nvSpPr>
          <p:cNvPr id="10" name="Shape 8"/>
          <p:cNvSpPr/>
          <p:nvPr/>
        </p:nvSpPr>
        <p:spPr>
          <a:xfrm>
            <a:off x="2468880" y="2651760"/>
            <a:ext cx="91440" cy="0"/>
          </a:xfrm>
          <a:prstGeom prst="line">
            <a:avLst/>
          </a:prstGeom>
          <a:noFill/>
          <a:ln w="6350">
            <a:solidFill>
              <a:srgbClr val="C9A961"/>
            </a:solidFill>
            <a:prstDash val="solid"/>
          </a:ln>
        </p:spPr>
        <p:txBody>
          <a:bodyPr/>
          <a:lstStyle/>
          <a:p>
            <a:endParaRPr lang="en-US"/>
          </a:p>
        </p:txBody>
      </p:sp>
      <p:sp>
        <p:nvSpPr>
          <p:cNvPr id="11" name="Text 9"/>
          <p:cNvSpPr/>
          <p:nvPr/>
        </p:nvSpPr>
        <p:spPr>
          <a:xfrm>
            <a:off x="2651760" y="2377440"/>
            <a:ext cx="6126480" cy="5486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2022 → 2026  (four-year observation)</a:t>
            </a:r>
            <a:endParaRPr lang="en-US" sz="1300" dirty="0"/>
          </a:p>
        </p:txBody>
      </p:sp>
      <p:sp>
        <p:nvSpPr>
          <p:cNvPr id="12" name="Shape 10"/>
          <p:cNvSpPr/>
          <p:nvPr/>
        </p:nvSpPr>
        <p:spPr>
          <a:xfrm>
            <a:off x="548640" y="2926080"/>
            <a:ext cx="8229600" cy="0"/>
          </a:xfrm>
          <a:prstGeom prst="line">
            <a:avLst/>
          </a:prstGeom>
          <a:noFill/>
          <a:ln w="6350">
            <a:solidFill>
              <a:srgbClr val="1A2D52"/>
            </a:solidFill>
            <a:prstDash val="solid"/>
          </a:ln>
        </p:spPr>
        <p:txBody>
          <a:bodyPr/>
          <a:lstStyle/>
          <a:p>
            <a:endParaRPr lang="en-US"/>
          </a:p>
        </p:txBody>
      </p:sp>
      <p:sp>
        <p:nvSpPr>
          <p:cNvPr id="13" name="Text 11"/>
          <p:cNvSpPr/>
          <p:nvPr/>
        </p:nvSpPr>
        <p:spPr>
          <a:xfrm>
            <a:off x="548640" y="2926080"/>
            <a:ext cx="2011680" cy="548640"/>
          </a:xfrm>
          <a:prstGeom prst="rect">
            <a:avLst/>
          </a:prstGeom>
          <a:noFill/>
          <a:ln/>
        </p:spPr>
        <p:txBody>
          <a:bodyPr wrap="square" lIns="0" tIns="0" rIns="0" bIns="0" rtlCol="0" anchor="ctr"/>
          <a:lstStyle/>
          <a:p>
            <a:pPr marL="0" indent="0">
              <a:buNone/>
            </a:pPr>
            <a:r>
              <a:rPr lang="en-US" sz="1100" b="1" kern="0" spc="300" dirty="0">
                <a:solidFill>
                  <a:srgbClr val="C9A961"/>
                </a:solidFill>
                <a:latin typeface="Calibri" pitchFamily="34" charset="0"/>
                <a:ea typeface="Calibri" pitchFamily="34" charset="-122"/>
                <a:cs typeface="Calibri" pitchFamily="34" charset="-120"/>
              </a:rPr>
              <a:t>INTERVENTION</a:t>
            </a:r>
            <a:endParaRPr lang="en-US" sz="1100" dirty="0"/>
          </a:p>
        </p:txBody>
      </p:sp>
      <p:sp>
        <p:nvSpPr>
          <p:cNvPr id="14" name="Shape 12"/>
          <p:cNvSpPr/>
          <p:nvPr/>
        </p:nvSpPr>
        <p:spPr>
          <a:xfrm>
            <a:off x="2468880" y="3200400"/>
            <a:ext cx="91440" cy="0"/>
          </a:xfrm>
          <a:prstGeom prst="line">
            <a:avLst/>
          </a:prstGeom>
          <a:noFill/>
          <a:ln w="6350">
            <a:solidFill>
              <a:srgbClr val="C9A961"/>
            </a:solidFill>
            <a:prstDash val="solid"/>
          </a:ln>
        </p:spPr>
        <p:txBody>
          <a:bodyPr/>
          <a:lstStyle/>
          <a:p>
            <a:endParaRPr lang="en-US"/>
          </a:p>
        </p:txBody>
      </p:sp>
      <p:sp>
        <p:nvSpPr>
          <p:cNvPr id="15" name="Text 13"/>
          <p:cNvSpPr/>
          <p:nvPr/>
        </p:nvSpPr>
        <p:spPr>
          <a:xfrm>
            <a:off x="2651760" y="2926080"/>
            <a:ext cx="6126480" cy="5486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Vice Dean's primary KPI redefined from publication output to industry funding + product adoption + community impact</a:t>
            </a:r>
            <a:endParaRPr lang="en-US" sz="1300" dirty="0"/>
          </a:p>
        </p:txBody>
      </p:sp>
      <p:sp>
        <p:nvSpPr>
          <p:cNvPr id="16" name="Shape 14"/>
          <p:cNvSpPr/>
          <p:nvPr/>
        </p:nvSpPr>
        <p:spPr>
          <a:xfrm>
            <a:off x="548640" y="3474720"/>
            <a:ext cx="8229600" cy="0"/>
          </a:xfrm>
          <a:prstGeom prst="line">
            <a:avLst/>
          </a:prstGeom>
          <a:noFill/>
          <a:ln w="6350">
            <a:solidFill>
              <a:srgbClr val="1A2D52"/>
            </a:solidFill>
            <a:prstDash val="solid"/>
          </a:ln>
        </p:spPr>
        <p:txBody>
          <a:bodyPr/>
          <a:lstStyle/>
          <a:p>
            <a:endParaRPr lang="en-US"/>
          </a:p>
        </p:txBody>
      </p:sp>
      <p:sp>
        <p:nvSpPr>
          <p:cNvPr id="17" name="Text 15"/>
          <p:cNvSpPr/>
          <p:nvPr/>
        </p:nvSpPr>
        <p:spPr>
          <a:xfrm>
            <a:off x="548640" y="3474720"/>
            <a:ext cx="2011680" cy="548640"/>
          </a:xfrm>
          <a:prstGeom prst="rect">
            <a:avLst/>
          </a:prstGeom>
          <a:noFill/>
          <a:ln/>
        </p:spPr>
        <p:txBody>
          <a:bodyPr wrap="square" lIns="0" tIns="0" rIns="0" bIns="0" rtlCol="0" anchor="ctr"/>
          <a:lstStyle/>
          <a:p>
            <a:pPr marL="0" indent="0">
              <a:buNone/>
            </a:pPr>
            <a:r>
              <a:rPr lang="en-US" sz="1100" b="1" kern="0" spc="300" dirty="0">
                <a:solidFill>
                  <a:srgbClr val="C9A961"/>
                </a:solidFill>
                <a:latin typeface="Calibri" pitchFamily="34" charset="0"/>
                <a:ea typeface="Calibri" pitchFamily="34" charset="-122"/>
                <a:cs typeface="Calibri" pitchFamily="34" charset="-120"/>
              </a:rPr>
              <a:t>MEASURED</a:t>
            </a:r>
            <a:endParaRPr lang="en-US" sz="1100" dirty="0"/>
          </a:p>
        </p:txBody>
      </p:sp>
      <p:sp>
        <p:nvSpPr>
          <p:cNvPr id="18" name="Shape 16"/>
          <p:cNvSpPr/>
          <p:nvPr/>
        </p:nvSpPr>
        <p:spPr>
          <a:xfrm>
            <a:off x="2468880" y="3749040"/>
            <a:ext cx="91440" cy="0"/>
          </a:xfrm>
          <a:prstGeom prst="line">
            <a:avLst/>
          </a:prstGeom>
          <a:noFill/>
          <a:ln w="6350">
            <a:solidFill>
              <a:srgbClr val="C9A961"/>
            </a:solidFill>
            <a:prstDash val="solid"/>
          </a:ln>
        </p:spPr>
        <p:txBody>
          <a:bodyPr/>
          <a:lstStyle/>
          <a:p>
            <a:endParaRPr lang="en-US"/>
          </a:p>
        </p:txBody>
      </p:sp>
      <p:sp>
        <p:nvSpPr>
          <p:cNvPr id="19" name="Text 17"/>
          <p:cNvSpPr/>
          <p:nvPr/>
        </p:nvSpPr>
        <p:spPr>
          <a:xfrm>
            <a:off x="2651760" y="3474720"/>
            <a:ext cx="6126480" cy="5486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Industrial collaboration value, project count, product deployments, publication output (control)</a:t>
            </a:r>
            <a:endParaRPr lang="en-US" sz="1300" dirty="0"/>
          </a:p>
        </p:txBody>
      </p:sp>
      <p:sp>
        <p:nvSpPr>
          <p:cNvPr id="20" name="Shape 18"/>
          <p:cNvSpPr/>
          <p:nvPr/>
        </p:nvSpPr>
        <p:spPr>
          <a:xfrm>
            <a:off x="548640" y="4023360"/>
            <a:ext cx="8229600" cy="0"/>
          </a:xfrm>
          <a:prstGeom prst="line">
            <a:avLst/>
          </a:prstGeom>
          <a:noFill/>
          <a:ln w="6350">
            <a:solidFill>
              <a:srgbClr val="1A2D52"/>
            </a:solidFill>
            <a:prstDash val="solid"/>
          </a:ln>
        </p:spPr>
        <p:txBody>
          <a:bodyPr/>
          <a:lstStyle/>
          <a:p>
            <a:endParaRPr lang="en-US"/>
          </a:p>
        </p:txBody>
      </p:sp>
      <p:sp>
        <p:nvSpPr>
          <p:cNvPr id="21" name="Text 19"/>
          <p:cNvSpPr/>
          <p:nvPr/>
        </p:nvSpPr>
        <p:spPr>
          <a:xfrm>
            <a:off x="548640" y="4023360"/>
            <a:ext cx="2011680" cy="548640"/>
          </a:xfrm>
          <a:prstGeom prst="rect">
            <a:avLst/>
          </a:prstGeom>
          <a:noFill/>
          <a:ln/>
        </p:spPr>
        <p:txBody>
          <a:bodyPr wrap="square" lIns="0" tIns="0" rIns="0" bIns="0" rtlCol="0" anchor="ctr"/>
          <a:lstStyle/>
          <a:p>
            <a:pPr marL="0" indent="0">
              <a:buNone/>
            </a:pPr>
            <a:r>
              <a:rPr lang="en-US" sz="1100" b="1" kern="0" spc="300" dirty="0">
                <a:solidFill>
                  <a:srgbClr val="C9A961"/>
                </a:solidFill>
                <a:latin typeface="Calibri" pitchFamily="34" charset="0"/>
                <a:ea typeface="Calibri" pitchFamily="34" charset="-122"/>
                <a:cs typeface="Calibri" pitchFamily="34" charset="-120"/>
              </a:rPr>
              <a:t>CONTROL</a:t>
            </a:r>
            <a:endParaRPr lang="en-US" sz="1100" dirty="0"/>
          </a:p>
        </p:txBody>
      </p:sp>
      <p:sp>
        <p:nvSpPr>
          <p:cNvPr id="22" name="Shape 20"/>
          <p:cNvSpPr/>
          <p:nvPr/>
        </p:nvSpPr>
        <p:spPr>
          <a:xfrm>
            <a:off x="2468880" y="4297680"/>
            <a:ext cx="91440" cy="0"/>
          </a:xfrm>
          <a:prstGeom prst="line">
            <a:avLst/>
          </a:prstGeom>
          <a:noFill/>
          <a:ln w="6350">
            <a:solidFill>
              <a:srgbClr val="C9A961"/>
            </a:solidFill>
            <a:prstDash val="solid"/>
          </a:ln>
        </p:spPr>
        <p:txBody>
          <a:bodyPr/>
          <a:lstStyle/>
          <a:p>
            <a:endParaRPr lang="en-US"/>
          </a:p>
        </p:txBody>
      </p:sp>
      <p:sp>
        <p:nvSpPr>
          <p:cNvPr id="23" name="Text 21"/>
          <p:cNvSpPr/>
          <p:nvPr/>
        </p:nvSpPr>
        <p:spPr>
          <a:xfrm>
            <a:off x="2651760" y="4023360"/>
            <a:ext cx="6126480" cy="5486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Publication output  —  must not degrade</a:t>
            </a:r>
            <a:endParaRPr lang="en-US" sz="1300" dirty="0"/>
          </a:p>
        </p:txBody>
      </p:sp>
      <p:sp>
        <p:nvSpPr>
          <p:cNvPr id="24" name="Shape 22"/>
          <p:cNvSpPr/>
          <p:nvPr/>
        </p:nvSpPr>
        <p:spPr>
          <a:xfrm>
            <a:off x="3657600" y="4617720"/>
            <a:ext cx="1828800" cy="0"/>
          </a:xfrm>
          <a:prstGeom prst="line">
            <a:avLst/>
          </a:prstGeom>
          <a:noFill/>
          <a:ln w="9525">
            <a:solidFill>
              <a:srgbClr val="C9A961"/>
            </a:solidFill>
            <a:prstDash val="solid"/>
          </a:ln>
        </p:spPr>
        <p:txBody>
          <a:bodyPr/>
          <a:lstStyle/>
          <a:p>
            <a:endParaRPr lang="en-US"/>
          </a:p>
        </p:txBody>
      </p:sp>
      <p:sp>
        <p:nvSpPr>
          <p:cNvPr id="25" name="Text 23"/>
          <p:cNvSpPr/>
          <p:nvPr/>
        </p:nvSpPr>
        <p:spPr>
          <a:xfrm>
            <a:off x="548640" y="4754880"/>
            <a:ext cx="8046720" cy="274320"/>
          </a:xfrm>
          <a:prstGeom prst="rect">
            <a:avLst/>
          </a:prstGeom>
          <a:noFill/>
          <a:ln/>
        </p:spPr>
        <p:txBody>
          <a:bodyPr wrap="square" lIns="0" tIns="0" rIns="0" bIns="0" rtlCol="0" anchor="ctr"/>
          <a:lstStyle/>
          <a:p>
            <a:pPr marL="0" indent="0" algn="ctr">
              <a:buNone/>
            </a:pPr>
            <a:r>
              <a:rPr lang="en-US" sz="1100" i="1" dirty="0">
                <a:solidFill>
                  <a:srgbClr val="94A3B8"/>
                </a:solidFill>
                <a:latin typeface="Calibri" pitchFamily="34" charset="0"/>
                <a:ea typeface="Calibri" pitchFamily="34" charset="-122"/>
                <a:cs typeface="Calibri" pitchFamily="34" charset="-120"/>
              </a:rPr>
              <a:t>One faculty as the experimental site. Four years as the observation window.</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548640" y="502920"/>
            <a:ext cx="320040" cy="0"/>
          </a:xfrm>
          <a:prstGeom prst="line">
            <a:avLst/>
          </a:prstGeom>
          <a:noFill/>
          <a:ln w="19050">
            <a:solidFill>
              <a:srgbClr val="C9A961"/>
            </a:solidFill>
            <a:prstDash val="solid"/>
          </a:ln>
        </p:spPr>
        <p:txBody>
          <a:bodyPr/>
          <a:lstStyle/>
          <a:p>
            <a:endParaRPr lang="en-US"/>
          </a:p>
        </p:txBody>
      </p:sp>
      <p:sp>
        <p:nvSpPr>
          <p:cNvPr id="3" name="Shape 1"/>
          <p:cNvSpPr/>
          <p:nvPr/>
        </p:nvSpPr>
        <p:spPr>
          <a:xfrm>
            <a:off x="548640" y="502920"/>
            <a:ext cx="0" cy="164592"/>
          </a:xfrm>
          <a:prstGeom prst="line">
            <a:avLst/>
          </a:prstGeom>
          <a:noFill/>
          <a:ln w="19050">
            <a:solidFill>
              <a:srgbClr val="C9A961"/>
            </a:solidFill>
            <a:prstDash val="solid"/>
          </a:ln>
        </p:spPr>
        <p:txBody>
          <a:bodyPr/>
          <a:lstStyle/>
          <a:p>
            <a:endParaRPr lang="en-US"/>
          </a:p>
        </p:txBody>
      </p:sp>
      <p:sp>
        <p:nvSpPr>
          <p:cNvPr id="4" name="Text 2"/>
          <p:cNvSpPr/>
          <p:nvPr/>
        </p:nvSpPr>
        <p:spPr>
          <a:xfrm>
            <a:off x="548640" y="4800600"/>
            <a:ext cx="4572000" cy="274320"/>
          </a:xfrm>
          <a:prstGeom prst="rect">
            <a:avLst/>
          </a:prstGeom>
          <a:noFill/>
          <a:ln/>
        </p:spPr>
        <p:txBody>
          <a:bodyPr wrap="square" rtlCol="0" anchor="ctr"/>
          <a:lstStyle/>
          <a:p>
            <a:pPr marL="0" indent="0">
              <a:buNone/>
            </a:pPr>
            <a:r>
              <a:rPr lang="en-US" sz="900" kern="0" spc="200" dirty="0">
                <a:solidFill>
                  <a:srgbClr val="94A3B8"/>
                </a:solidFill>
                <a:latin typeface="Calibri" pitchFamily="34" charset="0"/>
                <a:ea typeface="Calibri" pitchFamily="34" charset="-122"/>
                <a:cs typeface="Calibri" pitchFamily="34" charset="-120"/>
              </a:rPr>
              <a:t>LEAF 2026  ·  RESULTS · PRIMARY OBSERVATION</a:t>
            </a:r>
            <a:endParaRPr lang="en-US" sz="900" dirty="0"/>
          </a:p>
        </p:txBody>
      </p:sp>
      <p:sp>
        <p:nvSpPr>
          <p:cNvPr id="5" name="Text 3"/>
          <p:cNvSpPr/>
          <p:nvPr/>
        </p:nvSpPr>
        <p:spPr>
          <a:xfrm>
            <a:off x="8229600" y="4800600"/>
            <a:ext cx="64008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8 / 18</a:t>
            </a:r>
            <a:endParaRPr lang="en-US" sz="900" dirty="0"/>
          </a:p>
        </p:txBody>
      </p:sp>
      <p:sp>
        <p:nvSpPr>
          <p:cNvPr id="6" name="Text 4"/>
          <p:cNvSpPr/>
          <p:nvPr/>
        </p:nvSpPr>
        <p:spPr>
          <a:xfrm>
            <a:off x="548640" y="777240"/>
            <a:ext cx="8046720" cy="274320"/>
          </a:xfrm>
          <a:prstGeom prst="rect">
            <a:avLst/>
          </a:prstGeom>
          <a:noFill/>
          <a:ln/>
        </p:spPr>
        <p:txBody>
          <a:bodyPr wrap="square" lIns="0" tIns="0" rIns="0" bIns="0" rtlCol="0" anchor="ctr"/>
          <a:lstStyle/>
          <a:p>
            <a:pPr marL="0" indent="0">
              <a:buNone/>
            </a:pPr>
            <a:r>
              <a:rPr lang="en-US" sz="1000" b="1" kern="0" spc="500" dirty="0">
                <a:solidFill>
                  <a:srgbClr val="C9A961"/>
                </a:solidFill>
                <a:latin typeface="Calibri" pitchFamily="34" charset="0"/>
                <a:ea typeface="Calibri" pitchFamily="34" charset="-122"/>
                <a:cs typeface="Calibri" pitchFamily="34" charset="-120"/>
              </a:rPr>
              <a:t>06  ·  RESULTS  ·  PRIMARY OBSERVATION</a:t>
            </a:r>
            <a:endParaRPr lang="en-US" sz="1000" dirty="0"/>
          </a:p>
        </p:txBody>
      </p:sp>
      <p:sp>
        <p:nvSpPr>
          <p:cNvPr id="7" name="Text 5"/>
          <p:cNvSpPr/>
          <p:nvPr/>
        </p:nvSpPr>
        <p:spPr>
          <a:xfrm>
            <a:off x="548640" y="1097280"/>
            <a:ext cx="8046720" cy="457200"/>
          </a:xfrm>
          <a:prstGeom prst="rect">
            <a:avLst/>
          </a:prstGeom>
          <a:noFill/>
          <a:ln/>
        </p:spPr>
        <p:txBody>
          <a:bodyPr wrap="square" lIns="0" tIns="0" rIns="0" bIns="0" rtlCol="0" anchor="ctr"/>
          <a:lstStyle/>
          <a:p>
            <a:pPr marL="0" indent="0">
              <a:buNone/>
            </a:pPr>
            <a:r>
              <a:rPr lang="en-US" sz="2600" b="1" dirty="0">
                <a:solidFill>
                  <a:srgbClr val="1F2937"/>
                </a:solidFill>
                <a:latin typeface="Cambria" pitchFamily="34" charset="0"/>
                <a:ea typeface="Cambria" pitchFamily="34" charset="-122"/>
                <a:cs typeface="Cambria" pitchFamily="34" charset="-120"/>
              </a:rPr>
              <a:t>Industrial engagement after four years</a:t>
            </a:r>
            <a:endParaRPr lang="en-US" sz="2600" dirty="0"/>
          </a:p>
        </p:txBody>
      </p:sp>
      <p:sp>
        <p:nvSpPr>
          <p:cNvPr id="8" name="Text 6"/>
          <p:cNvSpPr/>
          <p:nvPr/>
        </p:nvSpPr>
        <p:spPr>
          <a:xfrm>
            <a:off x="548640" y="1600200"/>
            <a:ext cx="8046720" cy="27432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Observation period: 2022–2026  ·  Unit: FMIPA UGM</a:t>
            </a:r>
            <a:endParaRPr lang="en-US" sz="1200" dirty="0"/>
          </a:p>
        </p:txBody>
      </p:sp>
      <p:sp>
        <p:nvSpPr>
          <p:cNvPr id="9" name="Text 7"/>
          <p:cNvSpPr/>
          <p:nvPr/>
        </p:nvSpPr>
        <p:spPr>
          <a:xfrm>
            <a:off x="548640" y="2103120"/>
            <a:ext cx="2377440" cy="914400"/>
          </a:xfrm>
          <a:prstGeom prst="rect">
            <a:avLst/>
          </a:prstGeom>
          <a:noFill/>
          <a:ln/>
        </p:spPr>
        <p:txBody>
          <a:bodyPr wrap="square" lIns="0" tIns="0" rIns="0" bIns="0" rtlCol="0" anchor="ctr"/>
          <a:lstStyle/>
          <a:p>
            <a:pPr marL="0" indent="0" algn="ctr">
              <a:buNone/>
            </a:pPr>
            <a:r>
              <a:rPr lang="en-US" sz="6000" b="1" dirty="0">
                <a:solidFill>
                  <a:srgbClr val="C9A961"/>
                </a:solidFill>
                <a:latin typeface="Cambria" pitchFamily="34" charset="0"/>
                <a:ea typeface="Cambria" pitchFamily="34" charset="-122"/>
                <a:cs typeface="Cambria" pitchFamily="34" charset="-120"/>
              </a:rPr>
              <a:t>82</a:t>
            </a:r>
            <a:endParaRPr lang="en-US" sz="6000" dirty="0"/>
          </a:p>
        </p:txBody>
      </p:sp>
      <p:sp>
        <p:nvSpPr>
          <p:cNvPr id="10" name="Shape 8"/>
          <p:cNvSpPr/>
          <p:nvPr/>
        </p:nvSpPr>
        <p:spPr>
          <a:xfrm>
            <a:off x="1280160" y="3337560"/>
            <a:ext cx="914400" cy="0"/>
          </a:xfrm>
          <a:prstGeom prst="line">
            <a:avLst/>
          </a:prstGeom>
          <a:noFill/>
          <a:ln w="12700">
            <a:solidFill>
              <a:srgbClr val="C9A961"/>
            </a:solidFill>
            <a:prstDash val="solid"/>
          </a:ln>
        </p:spPr>
        <p:txBody>
          <a:bodyPr/>
          <a:lstStyle/>
          <a:p>
            <a:endParaRPr lang="en-US"/>
          </a:p>
        </p:txBody>
      </p:sp>
      <p:sp>
        <p:nvSpPr>
          <p:cNvPr id="11" name="Text 9"/>
          <p:cNvSpPr/>
          <p:nvPr/>
        </p:nvSpPr>
        <p:spPr>
          <a:xfrm>
            <a:off x="548640" y="3429000"/>
            <a:ext cx="2377440" cy="274320"/>
          </a:xfrm>
          <a:prstGeom prst="rect">
            <a:avLst/>
          </a:prstGeom>
          <a:noFill/>
          <a:ln/>
        </p:spPr>
        <p:txBody>
          <a:bodyPr wrap="square" lIns="0" tIns="0" rIns="0" bIns="0"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Industrial collaboration</a:t>
            </a:r>
            <a:endParaRPr lang="en-US" sz="1300" dirty="0"/>
          </a:p>
        </p:txBody>
      </p:sp>
      <p:sp>
        <p:nvSpPr>
          <p:cNvPr id="12" name="Text 10"/>
          <p:cNvSpPr/>
          <p:nvPr/>
        </p:nvSpPr>
        <p:spPr>
          <a:xfrm>
            <a:off x="548640" y="3703320"/>
            <a:ext cx="2377440" cy="27432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partnership projects</a:t>
            </a:r>
            <a:endParaRPr lang="en-US" sz="1100" dirty="0"/>
          </a:p>
        </p:txBody>
      </p:sp>
      <p:sp>
        <p:nvSpPr>
          <p:cNvPr id="13" name="Text 11"/>
          <p:cNvSpPr/>
          <p:nvPr/>
        </p:nvSpPr>
        <p:spPr>
          <a:xfrm>
            <a:off x="3383280" y="2103120"/>
            <a:ext cx="2377440" cy="914400"/>
          </a:xfrm>
          <a:prstGeom prst="rect">
            <a:avLst/>
          </a:prstGeom>
          <a:noFill/>
          <a:ln/>
        </p:spPr>
        <p:txBody>
          <a:bodyPr wrap="square" lIns="0" tIns="0" rIns="0" bIns="0" rtlCol="0" anchor="ctr"/>
          <a:lstStyle/>
          <a:p>
            <a:pPr marL="0" indent="0" algn="ctr">
              <a:buNone/>
            </a:pPr>
            <a:r>
              <a:rPr lang="en-US" sz="6000" b="1" dirty="0">
                <a:solidFill>
                  <a:srgbClr val="C9A961"/>
                </a:solidFill>
                <a:latin typeface="Cambria" pitchFamily="34" charset="0"/>
                <a:ea typeface="Cambria" pitchFamily="34" charset="-122"/>
                <a:cs typeface="Cambria" pitchFamily="34" charset="-120"/>
              </a:rPr>
              <a:t>184</a:t>
            </a:r>
            <a:endParaRPr lang="en-US" sz="6000" dirty="0"/>
          </a:p>
        </p:txBody>
      </p:sp>
      <p:sp>
        <p:nvSpPr>
          <p:cNvPr id="14" name="Text 12"/>
          <p:cNvSpPr/>
          <p:nvPr/>
        </p:nvSpPr>
        <p:spPr>
          <a:xfrm>
            <a:off x="3383280" y="3063240"/>
            <a:ext cx="2377440" cy="228600"/>
          </a:xfrm>
          <a:prstGeom prst="rect">
            <a:avLst/>
          </a:prstGeom>
          <a:noFill/>
          <a:ln/>
        </p:spPr>
        <p:txBody>
          <a:bodyPr wrap="square" lIns="0" tIns="0" rIns="0" bIns="0" rtlCol="0" anchor="ctr"/>
          <a:lstStyle/>
          <a:p>
            <a:pPr marL="0" indent="0" algn="ctr">
              <a:buNone/>
            </a:pPr>
            <a:r>
              <a:rPr lang="en-US" sz="1100" b="1" i="1" kern="0" spc="200" dirty="0">
                <a:solidFill>
                  <a:srgbClr val="C9A961"/>
                </a:solidFill>
                <a:latin typeface="Calibri" pitchFamily="34" charset="0"/>
                <a:ea typeface="Calibri" pitchFamily="34" charset="-122"/>
                <a:cs typeface="Calibri" pitchFamily="34" charset="-120"/>
              </a:rPr>
              <a:t>Rp · Billion</a:t>
            </a:r>
            <a:endParaRPr lang="en-US" sz="1100" dirty="0"/>
          </a:p>
        </p:txBody>
      </p:sp>
      <p:sp>
        <p:nvSpPr>
          <p:cNvPr id="15" name="Shape 13"/>
          <p:cNvSpPr/>
          <p:nvPr/>
        </p:nvSpPr>
        <p:spPr>
          <a:xfrm>
            <a:off x="4114800" y="3337560"/>
            <a:ext cx="914400" cy="0"/>
          </a:xfrm>
          <a:prstGeom prst="line">
            <a:avLst/>
          </a:prstGeom>
          <a:noFill/>
          <a:ln w="12700">
            <a:solidFill>
              <a:srgbClr val="C9A961"/>
            </a:solidFill>
            <a:prstDash val="solid"/>
          </a:ln>
        </p:spPr>
        <p:txBody>
          <a:bodyPr/>
          <a:lstStyle/>
          <a:p>
            <a:endParaRPr lang="en-US"/>
          </a:p>
        </p:txBody>
      </p:sp>
      <p:sp>
        <p:nvSpPr>
          <p:cNvPr id="16" name="Text 14"/>
          <p:cNvSpPr/>
          <p:nvPr/>
        </p:nvSpPr>
        <p:spPr>
          <a:xfrm>
            <a:off x="3383280" y="3429000"/>
            <a:ext cx="2377440" cy="274320"/>
          </a:xfrm>
          <a:prstGeom prst="rect">
            <a:avLst/>
          </a:prstGeom>
          <a:noFill/>
          <a:ln/>
        </p:spPr>
        <p:txBody>
          <a:bodyPr wrap="square" lIns="0" tIns="0" rIns="0" bIns="0"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Total contract value</a:t>
            </a:r>
            <a:endParaRPr lang="en-US" sz="1300" dirty="0"/>
          </a:p>
        </p:txBody>
      </p:sp>
      <p:sp>
        <p:nvSpPr>
          <p:cNvPr id="17" name="Text 15"/>
          <p:cNvSpPr/>
          <p:nvPr/>
        </p:nvSpPr>
        <p:spPr>
          <a:xfrm>
            <a:off x="3383280" y="3703320"/>
            <a:ext cx="2377440" cy="27432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 USD 11.2 million</a:t>
            </a:r>
            <a:endParaRPr lang="en-US" sz="1100" dirty="0"/>
          </a:p>
        </p:txBody>
      </p:sp>
      <p:sp>
        <p:nvSpPr>
          <p:cNvPr id="18" name="Text 16"/>
          <p:cNvSpPr/>
          <p:nvPr/>
        </p:nvSpPr>
        <p:spPr>
          <a:xfrm>
            <a:off x="6217920" y="2103120"/>
            <a:ext cx="2377440" cy="914400"/>
          </a:xfrm>
          <a:prstGeom prst="rect">
            <a:avLst/>
          </a:prstGeom>
          <a:noFill/>
          <a:ln/>
        </p:spPr>
        <p:txBody>
          <a:bodyPr wrap="square" lIns="0" tIns="0" rIns="0" bIns="0" rtlCol="0" anchor="ctr"/>
          <a:lstStyle/>
          <a:p>
            <a:pPr marL="0" indent="0" algn="ctr">
              <a:buNone/>
            </a:pPr>
            <a:r>
              <a:rPr lang="en-US" sz="6000" b="1" dirty="0">
                <a:solidFill>
                  <a:srgbClr val="C9A961"/>
                </a:solidFill>
                <a:latin typeface="Cambria" pitchFamily="34" charset="0"/>
                <a:ea typeface="Cambria" pitchFamily="34" charset="-122"/>
                <a:cs typeface="Cambria" pitchFamily="34" charset="-120"/>
              </a:rPr>
              <a:t>30+</a:t>
            </a:r>
            <a:endParaRPr lang="en-US" sz="6000" dirty="0"/>
          </a:p>
        </p:txBody>
      </p:sp>
      <p:sp>
        <p:nvSpPr>
          <p:cNvPr id="19" name="Shape 17"/>
          <p:cNvSpPr/>
          <p:nvPr/>
        </p:nvSpPr>
        <p:spPr>
          <a:xfrm>
            <a:off x="6949440" y="3337560"/>
            <a:ext cx="914400" cy="0"/>
          </a:xfrm>
          <a:prstGeom prst="line">
            <a:avLst/>
          </a:prstGeom>
          <a:noFill/>
          <a:ln w="12700">
            <a:solidFill>
              <a:srgbClr val="C9A961"/>
            </a:solidFill>
            <a:prstDash val="solid"/>
          </a:ln>
        </p:spPr>
        <p:txBody>
          <a:bodyPr/>
          <a:lstStyle/>
          <a:p>
            <a:endParaRPr lang="en-US"/>
          </a:p>
        </p:txBody>
      </p:sp>
      <p:sp>
        <p:nvSpPr>
          <p:cNvPr id="20" name="Text 18"/>
          <p:cNvSpPr/>
          <p:nvPr/>
        </p:nvSpPr>
        <p:spPr>
          <a:xfrm>
            <a:off x="6217920" y="3429000"/>
            <a:ext cx="2377440" cy="274320"/>
          </a:xfrm>
          <a:prstGeom prst="rect">
            <a:avLst/>
          </a:prstGeom>
          <a:noFill/>
          <a:ln/>
        </p:spPr>
        <p:txBody>
          <a:bodyPr wrap="square" lIns="0" tIns="0" rIns="0" bIns="0"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Projects per year</a:t>
            </a:r>
            <a:endParaRPr lang="en-US" sz="1300" dirty="0"/>
          </a:p>
        </p:txBody>
      </p:sp>
      <p:sp>
        <p:nvSpPr>
          <p:cNvPr id="21" name="Text 19"/>
          <p:cNvSpPr/>
          <p:nvPr/>
        </p:nvSpPr>
        <p:spPr>
          <a:xfrm>
            <a:off x="6217920" y="3703320"/>
            <a:ext cx="2377440" cy="27432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in 2024–2025</a:t>
            </a:r>
            <a:endParaRPr lang="en-US" sz="1100" dirty="0"/>
          </a:p>
        </p:txBody>
      </p:sp>
      <p:sp>
        <p:nvSpPr>
          <p:cNvPr id="22" name="Shape 20"/>
          <p:cNvSpPr/>
          <p:nvPr/>
        </p:nvSpPr>
        <p:spPr>
          <a:xfrm>
            <a:off x="3200400" y="4297680"/>
            <a:ext cx="2743200" cy="0"/>
          </a:xfrm>
          <a:prstGeom prst="line">
            <a:avLst/>
          </a:prstGeom>
          <a:noFill/>
          <a:ln w="9525">
            <a:solidFill>
              <a:srgbClr val="C9A961"/>
            </a:solidFill>
            <a:prstDash val="solid"/>
          </a:ln>
        </p:spPr>
        <p:txBody>
          <a:bodyPr/>
          <a:lstStyle/>
          <a:p>
            <a:endParaRPr lang="en-US"/>
          </a:p>
        </p:txBody>
      </p:sp>
      <p:sp>
        <p:nvSpPr>
          <p:cNvPr id="23" name="Text 21"/>
          <p:cNvSpPr/>
          <p:nvPr/>
        </p:nvSpPr>
        <p:spPr>
          <a:xfrm>
            <a:off x="548640" y="4434840"/>
            <a:ext cx="8046720" cy="274320"/>
          </a:xfrm>
          <a:prstGeom prst="rect">
            <a:avLst/>
          </a:prstGeom>
          <a:noFill/>
          <a:ln/>
        </p:spPr>
        <p:txBody>
          <a:bodyPr wrap="square" lIns="0" tIns="0" rIns="0" bIns="0" rtlCol="0" anchor="ctr"/>
          <a:lstStyle/>
          <a:p>
            <a:pPr marL="0" indent="0" algn="ctr">
              <a:buNone/>
            </a:pPr>
            <a:r>
              <a:rPr lang="en-US" sz="1200" i="1" dirty="0">
                <a:solidFill>
                  <a:srgbClr val="1F2937"/>
                </a:solidFill>
                <a:latin typeface="Calibri" pitchFamily="34" charset="0"/>
                <a:ea typeface="Calibri" pitchFamily="34" charset="-122"/>
                <a:cs typeface="Calibri" pitchFamily="34" charset="-120"/>
              </a:rPr>
              <a:t>Trajectory: 9 (2022) → 12 (2023) → 30 (2024) → 26 (2025) → growing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F3F"/>
        </a:solidFill>
        <a:effectLst/>
      </p:bgPr>
    </p:bg>
    <p:spTree>
      <p:nvGrpSpPr>
        <p:cNvPr id="1" name=""/>
        <p:cNvGrpSpPr/>
        <p:nvPr/>
      </p:nvGrpSpPr>
      <p:grpSpPr>
        <a:xfrm>
          <a:off x="0" y="0"/>
          <a:ext cx="0" cy="0"/>
          <a:chOff x="0" y="0"/>
          <a:chExt cx="0" cy="0"/>
        </a:xfrm>
      </p:grpSpPr>
      <p:sp>
        <p:nvSpPr>
          <p:cNvPr id="2" name="Shape 0"/>
          <p:cNvSpPr/>
          <p:nvPr/>
        </p:nvSpPr>
        <p:spPr>
          <a:xfrm>
            <a:off x="548640" y="640080"/>
            <a:ext cx="1280160" cy="0"/>
          </a:xfrm>
          <a:prstGeom prst="line">
            <a:avLst/>
          </a:prstGeom>
          <a:noFill/>
          <a:ln w="19050">
            <a:solidFill>
              <a:srgbClr val="C9A961"/>
            </a:solidFill>
            <a:prstDash val="solid"/>
          </a:ln>
        </p:spPr>
        <p:txBody>
          <a:bodyPr/>
          <a:lstStyle/>
          <a:p>
            <a:endParaRPr lang="en-US"/>
          </a:p>
        </p:txBody>
      </p:sp>
      <p:sp>
        <p:nvSpPr>
          <p:cNvPr id="3" name="Text 1"/>
          <p:cNvSpPr/>
          <p:nvPr/>
        </p:nvSpPr>
        <p:spPr>
          <a:xfrm>
            <a:off x="548640" y="777240"/>
            <a:ext cx="8046720" cy="274320"/>
          </a:xfrm>
          <a:prstGeom prst="rect">
            <a:avLst/>
          </a:prstGeom>
          <a:noFill/>
          <a:ln/>
        </p:spPr>
        <p:txBody>
          <a:bodyPr wrap="square" lIns="0" tIns="0" rIns="0" bIns="0" rtlCol="0" anchor="ctr"/>
          <a:lstStyle/>
          <a:p>
            <a:pPr marL="0" indent="0">
              <a:buNone/>
            </a:pPr>
            <a:r>
              <a:rPr lang="en-US" sz="1000" b="1" kern="0" spc="500" dirty="0">
                <a:solidFill>
                  <a:srgbClr val="C9A961"/>
                </a:solidFill>
                <a:latin typeface="Calibri" pitchFamily="34" charset="0"/>
                <a:ea typeface="Calibri" pitchFamily="34" charset="-122"/>
                <a:cs typeface="Calibri" pitchFamily="34" charset="-120"/>
              </a:rPr>
              <a:t>07  ·  RESULTS  ·  SINGLE-FIELD VALIDATION</a:t>
            </a:r>
            <a:endParaRPr lang="en-US" sz="1000" dirty="0"/>
          </a:p>
        </p:txBody>
      </p:sp>
      <p:sp>
        <p:nvSpPr>
          <p:cNvPr id="4" name="Text 2"/>
          <p:cNvSpPr/>
          <p:nvPr/>
        </p:nvSpPr>
        <p:spPr>
          <a:xfrm>
            <a:off x="548640" y="1097280"/>
            <a:ext cx="804672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What one field generated in one year</a:t>
            </a:r>
            <a:endParaRPr lang="en-US" sz="2600" dirty="0"/>
          </a:p>
        </p:txBody>
      </p:sp>
      <p:sp>
        <p:nvSpPr>
          <p:cNvPr id="5" name="Text 3"/>
          <p:cNvSpPr/>
          <p:nvPr/>
        </p:nvSpPr>
        <p:spPr>
          <a:xfrm>
            <a:off x="548640" y="2103120"/>
            <a:ext cx="8046720" cy="1280160"/>
          </a:xfrm>
          <a:prstGeom prst="rect">
            <a:avLst/>
          </a:prstGeom>
          <a:noFill/>
          <a:ln/>
        </p:spPr>
        <p:txBody>
          <a:bodyPr wrap="square" lIns="0" tIns="0" rIns="0" bIns="0" rtlCol="0" anchor="ctr"/>
          <a:lstStyle/>
          <a:p>
            <a:pPr marL="0" indent="0" algn="ctr">
              <a:buNone/>
            </a:pPr>
            <a:r>
              <a:rPr lang="en-US" sz="8800" b="1" dirty="0">
                <a:solidFill>
                  <a:srgbClr val="C9A961"/>
                </a:solidFill>
                <a:latin typeface="Cambria" pitchFamily="34" charset="0"/>
                <a:ea typeface="Cambria" pitchFamily="34" charset="-122"/>
                <a:cs typeface="Cambria" pitchFamily="34" charset="-120"/>
              </a:rPr>
              <a:t>Rp 75 Billion</a:t>
            </a:r>
            <a:endParaRPr lang="en-US" sz="8800" dirty="0"/>
          </a:p>
        </p:txBody>
      </p:sp>
      <p:sp>
        <p:nvSpPr>
          <p:cNvPr id="6" name="Text 4"/>
          <p:cNvSpPr/>
          <p:nvPr/>
        </p:nvSpPr>
        <p:spPr>
          <a:xfrm>
            <a:off x="548640" y="3429000"/>
            <a:ext cx="8046720" cy="365760"/>
          </a:xfrm>
          <a:prstGeom prst="rect">
            <a:avLst/>
          </a:prstGeom>
          <a:noFill/>
          <a:ln/>
        </p:spPr>
        <p:txBody>
          <a:bodyPr wrap="square" lIns="0" tIns="0" rIns="0" bIns="0" rtlCol="0" anchor="ctr"/>
          <a:lstStyle/>
          <a:p>
            <a:pPr marL="0" indent="0" algn="ctr">
              <a:buNone/>
            </a:pPr>
            <a:r>
              <a:rPr lang="en-US" sz="2200" i="1" dirty="0">
                <a:solidFill>
                  <a:srgbClr val="FFFFFF"/>
                </a:solidFill>
                <a:latin typeface="Cambria" pitchFamily="34" charset="0"/>
                <a:ea typeface="Cambria" pitchFamily="34" charset="-122"/>
                <a:cs typeface="Cambria" pitchFamily="34" charset="-120"/>
              </a:rPr>
              <a:t>from geophysics alone, in 2025</a:t>
            </a:r>
            <a:endParaRPr lang="en-US" sz="2200" dirty="0"/>
          </a:p>
        </p:txBody>
      </p:sp>
      <p:sp>
        <p:nvSpPr>
          <p:cNvPr id="7" name="Shape 5"/>
          <p:cNvSpPr/>
          <p:nvPr/>
        </p:nvSpPr>
        <p:spPr>
          <a:xfrm>
            <a:off x="3200400" y="4023360"/>
            <a:ext cx="2743200" cy="0"/>
          </a:xfrm>
          <a:prstGeom prst="line">
            <a:avLst/>
          </a:prstGeom>
          <a:noFill/>
          <a:ln w="9525">
            <a:solidFill>
              <a:srgbClr val="C9A961"/>
            </a:solidFill>
            <a:prstDash val="solid"/>
          </a:ln>
        </p:spPr>
        <p:txBody>
          <a:bodyPr/>
          <a:lstStyle/>
          <a:p>
            <a:endParaRPr lang="en-US"/>
          </a:p>
        </p:txBody>
      </p:sp>
      <p:sp>
        <p:nvSpPr>
          <p:cNvPr id="8" name="Text 6"/>
          <p:cNvSpPr/>
          <p:nvPr/>
        </p:nvSpPr>
        <p:spPr>
          <a:xfrm>
            <a:off x="548640" y="4160520"/>
            <a:ext cx="8046720" cy="274320"/>
          </a:xfrm>
          <a:prstGeom prst="rect">
            <a:avLst/>
          </a:prstGeom>
          <a:noFill/>
          <a:ln/>
        </p:spPr>
        <p:txBody>
          <a:bodyPr wrap="square" lIns="0" tIns="0" rIns="0" bIns="0" rtlCol="0" anchor="ctr"/>
          <a:lstStyle/>
          <a:p>
            <a:pPr marL="0" indent="0" algn="ctr">
              <a:buNone/>
            </a:pPr>
            <a:r>
              <a:rPr lang="en-US" sz="1300" i="1" dirty="0">
                <a:solidFill>
                  <a:srgbClr val="94A3B8"/>
                </a:solidFill>
                <a:latin typeface="Calibri" pitchFamily="34" charset="0"/>
                <a:ea typeface="Calibri" pitchFamily="34" charset="-122"/>
                <a:cs typeface="Calibri" pitchFamily="34" charset="-120"/>
              </a:rPr>
              <a:t>Single-field, single-year observation.</a:t>
            </a:r>
            <a:endParaRPr lang="en-US" sz="1300" dirty="0"/>
          </a:p>
        </p:txBody>
      </p:sp>
      <p:sp>
        <p:nvSpPr>
          <p:cNvPr id="9" name="Text 7"/>
          <p:cNvSpPr/>
          <p:nvPr/>
        </p:nvSpPr>
        <p:spPr>
          <a:xfrm>
            <a:off x="548640" y="4434840"/>
            <a:ext cx="8046720" cy="320040"/>
          </a:xfrm>
          <a:prstGeom prst="rect">
            <a:avLst/>
          </a:prstGeom>
          <a:noFill/>
          <a:ln/>
        </p:spPr>
        <p:txBody>
          <a:bodyPr wrap="square" lIns="0" tIns="0" rIns="0" bIns="0" rtlCol="0" anchor="ctr"/>
          <a:lstStyle/>
          <a:p>
            <a:pPr marL="0" indent="0" algn="ctr">
              <a:buNone/>
            </a:pPr>
            <a:r>
              <a:rPr lang="en-US" sz="1600" b="1" i="1" dirty="0">
                <a:solidFill>
                  <a:srgbClr val="C9A961"/>
                </a:solidFill>
                <a:latin typeface="Cambria" pitchFamily="34" charset="0"/>
                <a:ea typeface="Cambria" pitchFamily="34" charset="-122"/>
                <a:cs typeface="Cambria" pitchFamily="34" charset="-120"/>
              </a:rPr>
              <a:t>Validates that the scale is achievable, not exceptional.</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548640" y="502920"/>
            <a:ext cx="320040" cy="0"/>
          </a:xfrm>
          <a:prstGeom prst="line">
            <a:avLst/>
          </a:prstGeom>
          <a:noFill/>
          <a:ln w="19050">
            <a:solidFill>
              <a:srgbClr val="C9A961"/>
            </a:solidFill>
            <a:prstDash val="solid"/>
          </a:ln>
        </p:spPr>
        <p:txBody>
          <a:bodyPr/>
          <a:lstStyle/>
          <a:p>
            <a:endParaRPr lang="en-US"/>
          </a:p>
        </p:txBody>
      </p:sp>
      <p:sp>
        <p:nvSpPr>
          <p:cNvPr id="3" name="Shape 1"/>
          <p:cNvSpPr/>
          <p:nvPr/>
        </p:nvSpPr>
        <p:spPr>
          <a:xfrm>
            <a:off x="548640" y="502920"/>
            <a:ext cx="0" cy="164592"/>
          </a:xfrm>
          <a:prstGeom prst="line">
            <a:avLst/>
          </a:prstGeom>
          <a:noFill/>
          <a:ln w="19050">
            <a:solidFill>
              <a:srgbClr val="C9A961"/>
            </a:solidFill>
            <a:prstDash val="solid"/>
          </a:ln>
        </p:spPr>
        <p:txBody>
          <a:bodyPr/>
          <a:lstStyle/>
          <a:p>
            <a:endParaRPr lang="en-US"/>
          </a:p>
        </p:txBody>
      </p:sp>
      <p:sp>
        <p:nvSpPr>
          <p:cNvPr id="4" name="Text 2"/>
          <p:cNvSpPr/>
          <p:nvPr/>
        </p:nvSpPr>
        <p:spPr>
          <a:xfrm>
            <a:off x="548640" y="4800600"/>
            <a:ext cx="4572000" cy="274320"/>
          </a:xfrm>
          <a:prstGeom prst="rect">
            <a:avLst/>
          </a:prstGeom>
          <a:noFill/>
          <a:ln/>
        </p:spPr>
        <p:txBody>
          <a:bodyPr wrap="square" rtlCol="0" anchor="ctr"/>
          <a:lstStyle/>
          <a:p>
            <a:pPr marL="0" indent="0">
              <a:buNone/>
            </a:pPr>
            <a:r>
              <a:rPr lang="en-US" sz="900" kern="0" spc="200" dirty="0">
                <a:solidFill>
                  <a:srgbClr val="94A3B8"/>
                </a:solidFill>
                <a:latin typeface="Calibri" pitchFamily="34" charset="0"/>
                <a:ea typeface="Calibri" pitchFamily="34" charset="-122"/>
                <a:cs typeface="Calibri" pitchFamily="34" charset="-120"/>
              </a:rPr>
              <a:t>LEAF 2026  ·  RESULTS · MATERIAL OUTPUTS</a:t>
            </a:r>
            <a:endParaRPr lang="en-US" sz="900" dirty="0"/>
          </a:p>
        </p:txBody>
      </p:sp>
      <p:sp>
        <p:nvSpPr>
          <p:cNvPr id="5" name="Text 3"/>
          <p:cNvSpPr/>
          <p:nvPr/>
        </p:nvSpPr>
        <p:spPr>
          <a:xfrm>
            <a:off x="8229600" y="4800600"/>
            <a:ext cx="64008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10 / 18</a:t>
            </a:r>
            <a:endParaRPr lang="en-US" sz="900" dirty="0"/>
          </a:p>
        </p:txBody>
      </p:sp>
      <p:sp>
        <p:nvSpPr>
          <p:cNvPr id="6" name="Text 4"/>
          <p:cNvSpPr/>
          <p:nvPr/>
        </p:nvSpPr>
        <p:spPr>
          <a:xfrm>
            <a:off x="548640" y="777240"/>
            <a:ext cx="8046720" cy="274320"/>
          </a:xfrm>
          <a:prstGeom prst="rect">
            <a:avLst/>
          </a:prstGeom>
          <a:noFill/>
          <a:ln/>
        </p:spPr>
        <p:txBody>
          <a:bodyPr wrap="square" lIns="0" tIns="0" rIns="0" bIns="0" rtlCol="0" anchor="ctr"/>
          <a:lstStyle/>
          <a:p>
            <a:pPr marL="0" indent="0">
              <a:buNone/>
            </a:pPr>
            <a:r>
              <a:rPr lang="en-US" sz="1000" b="1" kern="0" spc="500" dirty="0">
                <a:solidFill>
                  <a:srgbClr val="C9A961"/>
                </a:solidFill>
                <a:latin typeface="Calibri" pitchFamily="34" charset="0"/>
                <a:ea typeface="Calibri" pitchFamily="34" charset="-122"/>
                <a:cs typeface="Calibri" pitchFamily="34" charset="-120"/>
              </a:rPr>
              <a:t>08  ·  MATERIAL OUTPUTS</a:t>
            </a:r>
            <a:endParaRPr lang="en-US" sz="1000" dirty="0"/>
          </a:p>
        </p:txBody>
      </p:sp>
      <p:sp>
        <p:nvSpPr>
          <p:cNvPr id="7" name="Text 5"/>
          <p:cNvSpPr/>
          <p:nvPr/>
        </p:nvSpPr>
        <p:spPr>
          <a:xfrm>
            <a:off x="548640" y="1097280"/>
            <a:ext cx="8046720" cy="457200"/>
          </a:xfrm>
          <a:prstGeom prst="rect">
            <a:avLst/>
          </a:prstGeom>
          <a:noFill/>
          <a:ln/>
        </p:spPr>
        <p:txBody>
          <a:bodyPr wrap="square" lIns="0" tIns="0" rIns="0" bIns="0" rtlCol="0" anchor="ctr"/>
          <a:lstStyle/>
          <a:p>
            <a:pPr marL="0" indent="0">
              <a:buNone/>
            </a:pPr>
            <a:r>
              <a:rPr lang="en-US" sz="2600" b="1" dirty="0">
                <a:solidFill>
                  <a:srgbClr val="1F2937"/>
                </a:solidFill>
                <a:latin typeface="Cambria" pitchFamily="34" charset="0"/>
                <a:ea typeface="Cambria" pitchFamily="34" charset="-122"/>
                <a:cs typeface="Cambria" pitchFamily="34" charset="-120"/>
              </a:rPr>
              <a:t>Products generated by the experiment</a:t>
            </a:r>
            <a:endParaRPr lang="en-US" sz="2600" dirty="0"/>
          </a:p>
        </p:txBody>
      </p:sp>
      <p:sp>
        <p:nvSpPr>
          <p:cNvPr id="8" name="Text 6"/>
          <p:cNvSpPr/>
          <p:nvPr/>
        </p:nvSpPr>
        <p:spPr>
          <a:xfrm>
            <a:off x="548640" y="1600200"/>
            <a:ext cx="8046720" cy="27432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Each began as a publication. Each became a tool industry actually uses.</a:t>
            </a:r>
            <a:endParaRPr lang="en-US" sz="1200" dirty="0"/>
          </a:p>
        </p:txBody>
      </p:sp>
      <p:sp>
        <p:nvSpPr>
          <p:cNvPr id="9" name="Shape 7"/>
          <p:cNvSpPr/>
          <p:nvPr/>
        </p:nvSpPr>
        <p:spPr>
          <a:xfrm>
            <a:off x="548640" y="1965960"/>
            <a:ext cx="2606040" cy="1325880"/>
          </a:xfrm>
          <a:prstGeom prst="roundRect">
            <a:avLst>
              <a:gd name="adj" fmla="val 4138"/>
            </a:avLst>
          </a:prstGeom>
          <a:solidFill>
            <a:srgbClr val="FFFFFF"/>
          </a:solidFill>
          <a:ln w="6350">
            <a:solidFill>
              <a:srgbClr val="D1C9B0"/>
            </a:solidFill>
            <a:prstDash val="solid"/>
          </a:ln>
          <a:effectLst>
            <a:outerShdw blurRad="76200" dist="12700" dir="5400000" algn="bl" rotWithShape="0">
              <a:srgbClr val="000000">
                <a:alpha val="6000"/>
              </a:srgbClr>
            </a:outerShdw>
          </a:effectLst>
        </p:spPr>
        <p:txBody>
          <a:bodyPr/>
          <a:lstStyle/>
          <a:p>
            <a:endParaRPr lang="en-US"/>
          </a:p>
        </p:txBody>
      </p:sp>
      <p:pic>
        <p:nvPicPr>
          <p:cNvPr id="10" name="Image 0" descr="preencoded.png"/>
          <p:cNvPicPr>
            <a:picLocks noChangeAspect="1"/>
          </p:cNvPicPr>
          <p:nvPr/>
        </p:nvPicPr>
        <p:blipFill>
          <a:blip r:embed="rId3"/>
          <a:stretch>
            <a:fillRect/>
          </a:stretch>
        </p:blipFill>
        <p:spPr>
          <a:xfrm>
            <a:off x="713232" y="2130552"/>
            <a:ext cx="365760" cy="365760"/>
          </a:xfrm>
          <a:prstGeom prst="rect">
            <a:avLst/>
          </a:prstGeom>
        </p:spPr>
      </p:pic>
      <p:sp>
        <p:nvSpPr>
          <p:cNvPr id="11" name="Text 8"/>
          <p:cNvSpPr/>
          <p:nvPr/>
        </p:nvSpPr>
        <p:spPr>
          <a:xfrm>
            <a:off x="1188720" y="2130552"/>
            <a:ext cx="1828800" cy="365760"/>
          </a:xfrm>
          <a:prstGeom prst="rect">
            <a:avLst/>
          </a:prstGeom>
          <a:noFill/>
          <a:ln/>
        </p:spPr>
        <p:txBody>
          <a:bodyPr wrap="square" lIns="0" tIns="0" rIns="0" bIns="0" rtlCol="0" anchor="ctr"/>
          <a:lstStyle/>
          <a:p>
            <a:pPr marL="0" indent="0">
              <a:buNone/>
            </a:pPr>
            <a:r>
              <a:rPr lang="en-US" sz="1300" b="1" dirty="0">
                <a:solidFill>
                  <a:srgbClr val="0F1F3F"/>
                </a:solidFill>
                <a:latin typeface="Calibri" pitchFamily="34" charset="0"/>
                <a:ea typeface="Calibri" pitchFamily="34" charset="-122"/>
                <a:cs typeface="Calibri" pitchFamily="34" charset="-120"/>
              </a:rPr>
              <a:t>SpectraGAMA v4.0</a:t>
            </a:r>
            <a:endParaRPr lang="en-US" sz="1300" dirty="0"/>
          </a:p>
        </p:txBody>
      </p:sp>
      <p:sp>
        <p:nvSpPr>
          <p:cNvPr id="12" name="Text 9"/>
          <p:cNvSpPr/>
          <p:nvPr/>
        </p:nvSpPr>
        <p:spPr>
          <a:xfrm>
            <a:off x="713232" y="2606040"/>
            <a:ext cx="2313432" cy="54864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Cloud-based passive seismic processing — adopted by Pertamina</a:t>
            </a:r>
            <a:endParaRPr lang="en-US" sz="1050" dirty="0"/>
          </a:p>
        </p:txBody>
      </p:sp>
      <p:sp>
        <p:nvSpPr>
          <p:cNvPr id="13" name="Shape 10"/>
          <p:cNvSpPr/>
          <p:nvPr/>
        </p:nvSpPr>
        <p:spPr>
          <a:xfrm>
            <a:off x="3291840" y="1965960"/>
            <a:ext cx="2606040" cy="1325880"/>
          </a:xfrm>
          <a:prstGeom prst="roundRect">
            <a:avLst>
              <a:gd name="adj" fmla="val 4138"/>
            </a:avLst>
          </a:prstGeom>
          <a:solidFill>
            <a:srgbClr val="FFFFFF"/>
          </a:solidFill>
          <a:ln w="6350">
            <a:solidFill>
              <a:srgbClr val="D1C9B0"/>
            </a:solidFill>
            <a:prstDash val="solid"/>
          </a:ln>
          <a:effectLst>
            <a:outerShdw blurRad="76200" dist="12700" dir="5400000" algn="bl" rotWithShape="0">
              <a:srgbClr val="000000">
                <a:alpha val="6000"/>
              </a:srgbClr>
            </a:outerShdw>
          </a:effectLst>
        </p:spPr>
        <p:txBody>
          <a:bodyPr/>
          <a:lstStyle/>
          <a:p>
            <a:endParaRPr lang="en-US"/>
          </a:p>
        </p:txBody>
      </p:sp>
      <p:pic>
        <p:nvPicPr>
          <p:cNvPr id="14" name="Image 1" descr="preencoded.png"/>
          <p:cNvPicPr>
            <a:picLocks noChangeAspect="1"/>
          </p:cNvPicPr>
          <p:nvPr/>
        </p:nvPicPr>
        <p:blipFill>
          <a:blip r:embed="rId4"/>
          <a:stretch>
            <a:fillRect/>
          </a:stretch>
        </p:blipFill>
        <p:spPr>
          <a:xfrm>
            <a:off x="3456432" y="2130552"/>
            <a:ext cx="365760" cy="365760"/>
          </a:xfrm>
          <a:prstGeom prst="rect">
            <a:avLst/>
          </a:prstGeom>
        </p:spPr>
      </p:pic>
      <p:sp>
        <p:nvSpPr>
          <p:cNvPr id="15" name="Text 11"/>
          <p:cNvSpPr/>
          <p:nvPr/>
        </p:nvSpPr>
        <p:spPr>
          <a:xfrm>
            <a:off x="3931920" y="2130552"/>
            <a:ext cx="1828800" cy="365760"/>
          </a:xfrm>
          <a:prstGeom prst="rect">
            <a:avLst/>
          </a:prstGeom>
          <a:noFill/>
          <a:ln/>
        </p:spPr>
        <p:txBody>
          <a:bodyPr wrap="square" lIns="0" tIns="0" rIns="0" bIns="0" rtlCol="0" anchor="ctr"/>
          <a:lstStyle/>
          <a:p>
            <a:pPr marL="0" indent="0">
              <a:buNone/>
            </a:pPr>
            <a:r>
              <a:rPr lang="en-US" sz="1300" b="1" dirty="0">
                <a:solidFill>
                  <a:srgbClr val="0F1F3F"/>
                </a:solidFill>
                <a:latin typeface="Calibri" pitchFamily="34" charset="0"/>
                <a:ea typeface="Calibri" pitchFamily="34" charset="-122"/>
                <a:cs typeface="Calibri" pitchFamily="34" charset="-120"/>
              </a:rPr>
              <a:t>PertaGAMANT v3.0</a:t>
            </a:r>
            <a:endParaRPr lang="en-US" sz="1300" dirty="0"/>
          </a:p>
        </p:txBody>
      </p:sp>
      <p:sp>
        <p:nvSpPr>
          <p:cNvPr id="16" name="Text 12"/>
          <p:cNvSpPr/>
          <p:nvPr/>
        </p:nvSpPr>
        <p:spPr>
          <a:xfrm>
            <a:off x="3456432" y="2606040"/>
            <a:ext cx="2313432" cy="54864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Ambient noise tomography software — industry-deployed</a:t>
            </a:r>
            <a:endParaRPr lang="en-US" sz="1050" dirty="0"/>
          </a:p>
        </p:txBody>
      </p:sp>
      <p:sp>
        <p:nvSpPr>
          <p:cNvPr id="17" name="Shape 13"/>
          <p:cNvSpPr/>
          <p:nvPr/>
        </p:nvSpPr>
        <p:spPr>
          <a:xfrm>
            <a:off x="6035040" y="1965960"/>
            <a:ext cx="2606040" cy="1325880"/>
          </a:xfrm>
          <a:prstGeom prst="roundRect">
            <a:avLst>
              <a:gd name="adj" fmla="val 4138"/>
            </a:avLst>
          </a:prstGeom>
          <a:solidFill>
            <a:srgbClr val="FFFFFF"/>
          </a:solidFill>
          <a:ln w="6350">
            <a:solidFill>
              <a:srgbClr val="D1C9B0"/>
            </a:solidFill>
            <a:prstDash val="solid"/>
          </a:ln>
          <a:effectLst>
            <a:outerShdw blurRad="76200" dist="12700" dir="5400000" algn="bl" rotWithShape="0">
              <a:srgbClr val="000000">
                <a:alpha val="6000"/>
              </a:srgbClr>
            </a:outerShdw>
          </a:effectLst>
        </p:spPr>
        <p:txBody>
          <a:bodyPr/>
          <a:lstStyle/>
          <a:p>
            <a:endParaRPr lang="en-US"/>
          </a:p>
        </p:txBody>
      </p:sp>
      <p:pic>
        <p:nvPicPr>
          <p:cNvPr id="18" name="Image 2" descr="preencoded.png"/>
          <p:cNvPicPr>
            <a:picLocks noChangeAspect="1"/>
          </p:cNvPicPr>
          <p:nvPr/>
        </p:nvPicPr>
        <p:blipFill>
          <a:blip r:embed="rId5"/>
          <a:stretch>
            <a:fillRect/>
          </a:stretch>
        </p:blipFill>
        <p:spPr>
          <a:xfrm>
            <a:off x="6199632" y="2130552"/>
            <a:ext cx="365760" cy="365760"/>
          </a:xfrm>
          <a:prstGeom prst="rect">
            <a:avLst/>
          </a:prstGeom>
        </p:spPr>
      </p:pic>
      <p:sp>
        <p:nvSpPr>
          <p:cNvPr id="19" name="Text 14"/>
          <p:cNvSpPr/>
          <p:nvPr/>
        </p:nvSpPr>
        <p:spPr>
          <a:xfrm>
            <a:off x="6675120" y="2130552"/>
            <a:ext cx="1828800" cy="365760"/>
          </a:xfrm>
          <a:prstGeom prst="rect">
            <a:avLst/>
          </a:prstGeom>
          <a:noFill/>
          <a:ln/>
        </p:spPr>
        <p:txBody>
          <a:bodyPr wrap="square" lIns="0" tIns="0" rIns="0" bIns="0" rtlCol="0" anchor="ctr"/>
          <a:lstStyle/>
          <a:p>
            <a:pPr marL="0" indent="0">
              <a:buNone/>
            </a:pPr>
            <a:r>
              <a:rPr lang="en-US" sz="1300" b="1" dirty="0">
                <a:solidFill>
                  <a:srgbClr val="0F1F3F"/>
                </a:solidFill>
                <a:latin typeface="Calibri" pitchFamily="34" charset="0"/>
                <a:ea typeface="Calibri" pitchFamily="34" charset="-122"/>
                <a:cs typeface="Calibri" pitchFamily="34" charset="-120"/>
              </a:rPr>
              <a:t>Tarsius</a:t>
            </a:r>
            <a:endParaRPr lang="en-US" sz="1300" dirty="0"/>
          </a:p>
        </p:txBody>
      </p:sp>
      <p:sp>
        <p:nvSpPr>
          <p:cNvPr id="20" name="Text 15"/>
          <p:cNvSpPr/>
          <p:nvPr/>
        </p:nvSpPr>
        <p:spPr>
          <a:xfrm>
            <a:off x="6199632" y="2606040"/>
            <a:ext cx="2313432" cy="54864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Earthquake monitoring system — used by BMKG</a:t>
            </a:r>
            <a:endParaRPr lang="en-US" sz="1050" dirty="0"/>
          </a:p>
        </p:txBody>
      </p:sp>
      <p:sp>
        <p:nvSpPr>
          <p:cNvPr id="21" name="Shape 16"/>
          <p:cNvSpPr/>
          <p:nvPr/>
        </p:nvSpPr>
        <p:spPr>
          <a:xfrm>
            <a:off x="548640" y="3474720"/>
            <a:ext cx="2606040" cy="1325880"/>
          </a:xfrm>
          <a:prstGeom prst="roundRect">
            <a:avLst>
              <a:gd name="adj" fmla="val 4138"/>
            </a:avLst>
          </a:prstGeom>
          <a:solidFill>
            <a:srgbClr val="FFFFFF"/>
          </a:solidFill>
          <a:ln w="6350">
            <a:solidFill>
              <a:srgbClr val="D1C9B0"/>
            </a:solidFill>
            <a:prstDash val="solid"/>
          </a:ln>
          <a:effectLst>
            <a:outerShdw blurRad="76200" dist="12700" dir="5400000" algn="bl" rotWithShape="0">
              <a:srgbClr val="000000">
                <a:alpha val="6000"/>
              </a:srgbClr>
            </a:outerShdw>
          </a:effectLst>
        </p:spPr>
        <p:txBody>
          <a:bodyPr/>
          <a:lstStyle/>
          <a:p>
            <a:endParaRPr lang="en-US"/>
          </a:p>
        </p:txBody>
      </p:sp>
      <p:pic>
        <p:nvPicPr>
          <p:cNvPr id="22" name="Image 3" descr="preencoded.png"/>
          <p:cNvPicPr>
            <a:picLocks noChangeAspect="1"/>
          </p:cNvPicPr>
          <p:nvPr/>
        </p:nvPicPr>
        <p:blipFill>
          <a:blip r:embed="rId6"/>
          <a:stretch>
            <a:fillRect/>
          </a:stretch>
        </p:blipFill>
        <p:spPr>
          <a:xfrm>
            <a:off x="713232" y="3639312"/>
            <a:ext cx="365760" cy="365760"/>
          </a:xfrm>
          <a:prstGeom prst="rect">
            <a:avLst/>
          </a:prstGeom>
        </p:spPr>
      </p:pic>
      <p:sp>
        <p:nvSpPr>
          <p:cNvPr id="23" name="Text 17"/>
          <p:cNvSpPr/>
          <p:nvPr/>
        </p:nvSpPr>
        <p:spPr>
          <a:xfrm>
            <a:off x="1188720" y="3639312"/>
            <a:ext cx="1828800" cy="365760"/>
          </a:xfrm>
          <a:prstGeom prst="rect">
            <a:avLst/>
          </a:prstGeom>
          <a:noFill/>
          <a:ln/>
        </p:spPr>
        <p:txBody>
          <a:bodyPr wrap="square" lIns="0" tIns="0" rIns="0" bIns="0" rtlCol="0" anchor="ctr"/>
          <a:lstStyle/>
          <a:p>
            <a:pPr marL="0" indent="0">
              <a:buNone/>
            </a:pPr>
            <a:r>
              <a:rPr lang="en-US" sz="1300" b="1" dirty="0">
                <a:solidFill>
                  <a:srgbClr val="0F1F3F"/>
                </a:solidFill>
                <a:latin typeface="Calibri" pitchFamily="34" charset="0"/>
                <a:ea typeface="Calibri" pitchFamily="34" charset="-122"/>
                <a:cs typeface="Calibri" pitchFamily="34" charset="-120"/>
              </a:rPr>
              <a:t>Geophysical UAV</a:t>
            </a:r>
            <a:endParaRPr lang="en-US" sz="1300" dirty="0"/>
          </a:p>
        </p:txBody>
      </p:sp>
      <p:sp>
        <p:nvSpPr>
          <p:cNvPr id="24" name="Text 18"/>
          <p:cNvSpPr/>
          <p:nvPr/>
        </p:nvSpPr>
        <p:spPr>
          <a:xfrm>
            <a:off x="713232" y="4114800"/>
            <a:ext cx="2313432" cy="54864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Airborne magnetic survey for geothermal exploration</a:t>
            </a:r>
            <a:endParaRPr lang="en-US" sz="1050" dirty="0"/>
          </a:p>
        </p:txBody>
      </p:sp>
      <p:sp>
        <p:nvSpPr>
          <p:cNvPr id="25" name="Shape 19"/>
          <p:cNvSpPr/>
          <p:nvPr/>
        </p:nvSpPr>
        <p:spPr>
          <a:xfrm>
            <a:off x="3291840" y="3474720"/>
            <a:ext cx="2606040" cy="1325880"/>
          </a:xfrm>
          <a:prstGeom prst="roundRect">
            <a:avLst>
              <a:gd name="adj" fmla="val 4138"/>
            </a:avLst>
          </a:prstGeom>
          <a:solidFill>
            <a:srgbClr val="FFFFFF"/>
          </a:solidFill>
          <a:ln w="6350">
            <a:solidFill>
              <a:srgbClr val="D1C9B0"/>
            </a:solidFill>
            <a:prstDash val="solid"/>
          </a:ln>
          <a:effectLst>
            <a:outerShdw blurRad="76200" dist="12700" dir="5400000" algn="bl" rotWithShape="0">
              <a:srgbClr val="000000">
                <a:alpha val="6000"/>
              </a:srgbClr>
            </a:outerShdw>
          </a:effectLst>
        </p:spPr>
        <p:txBody>
          <a:bodyPr/>
          <a:lstStyle/>
          <a:p>
            <a:endParaRPr lang="en-US"/>
          </a:p>
        </p:txBody>
      </p:sp>
      <p:pic>
        <p:nvPicPr>
          <p:cNvPr id="26" name="Image 4" descr="preencoded.png"/>
          <p:cNvPicPr>
            <a:picLocks noChangeAspect="1"/>
          </p:cNvPicPr>
          <p:nvPr/>
        </p:nvPicPr>
        <p:blipFill>
          <a:blip r:embed="rId7"/>
          <a:stretch>
            <a:fillRect/>
          </a:stretch>
        </p:blipFill>
        <p:spPr>
          <a:xfrm>
            <a:off x="3456432" y="3639312"/>
            <a:ext cx="365760" cy="365760"/>
          </a:xfrm>
          <a:prstGeom prst="rect">
            <a:avLst/>
          </a:prstGeom>
        </p:spPr>
      </p:pic>
      <p:sp>
        <p:nvSpPr>
          <p:cNvPr id="27" name="Text 20"/>
          <p:cNvSpPr/>
          <p:nvPr/>
        </p:nvSpPr>
        <p:spPr>
          <a:xfrm>
            <a:off x="3931920" y="3639312"/>
            <a:ext cx="1828800" cy="365760"/>
          </a:xfrm>
          <a:prstGeom prst="rect">
            <a:avLst/>
          </a:prstGeom>
          <a:noFill/>
          <a:ln/>
        </p:spPr>
        <p:txBody>
          <a:bodyPr wrap="square" lIns="0" tIns="0" rIns="0" bIns="0" rtlCol="0" anchor="ctr"/>
          <a:lstStyle/>
          <a:p>
            <a:pPr marL="0" indent="0">
              <a:buNone/>
            </a:pPr>
            <a:r>
              <a:rPr lang="en-US" sz="1300" b="1" dirty="0">
                <a:solidFill>
                  <a:srgbClr val="0F1F3F"/>
                </a:solidFill>
                <a:latin typeface="Calibri" pitchFamily="34" charset="0"/>
                <a:ea typeface="Calibri" pitchFamily="34" charset="-122"/>
                <a:cs typeface="Calibri" pitchFamily="34" charset="-120"/>
              </a:rPr>
              <a:t>Ocean Bottom Seismometer</a:t>
            </a:r>
            <a:endParaRPr lang="en-US" sz="1300" dirty="0"/>
          </a:p>
        </p:txBody>
      </p:sp>
      <p:sp>
        <p:nvSpPr>
          <p:cNvPr id="28" name="Text 21"/>
          <p:cNvSpPr/>
          <p:nvPr/>
        </p:nvSpPr>
        <p:spPr>
          <a:xfrm>
            <a:off x="3456432" y="4114800"/>
            <a:ext cx="2313432" cy="54864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Shallow-water acquisition prototype</a:t>
            </a:r>
            <a:endParaRPr lang="en-US" sz="1050" dirty="0"/>
          </a:p>
        </p:txBody>
      </p:sp>
      <p:sp>
        <p:nvSpPr>
          <p:cNvPr id="29" name="Shape 22"/>
          <p:cNvSpPr/>
          <p:nvPr/>
        </p:nvSpPr>
        <p:spPr>
          <a:xfrm>
            <a:off x="6035040" y="3474720"/>
            <a:ext cx="2606040" cy="1325880"/>
          </a:xfrm>
          <a:prstGeom prst="roundRect">
            <a:avLst>
              <a:gd name="adj" fmla="val 4138"/>
            </a:avLst>
          </a:prstGeom>
          <a:solidFill>
            <a:srgbClr val="FFFFFF"/>
          </a:solidFill>
          <a:ln w="6350">
            <a:solidFill>
              <a:srgbClr val="D1C9B0"/>
            </a:solidFill>
            <a:prstDash val="solid"/>
          </a:ln>
          <a:effectLst>
            <a:outerShdw blurRad="76200" dist="12700" dir="5400000" algn="bl" rotWithShape="0">
              <a:srgbClr val="000000">
                <a:alpha val="6000"/>
              </a:srgbClr>
            </a:outerShdw>
          </a:effectLst>
        </p:spPr>
        <p:txBody>
          <a:bodyPr/>
          <a:lstStyle/>
          <a:p>
            <a:endParaRPr lang="en-US"/>
          </a:p>
        </p:txBody>
      </p:sp>
      <p:pic>
        <p:nvPicPr>
          <p:cNvPr id="30" name="Image 5" descr="preencoded.png"/>
          <p:cNvPicPr>
            <a:picLocks noChangeAspect="1"/>
          </p:cNvPicPr>
          <p:nvPr/>
        </p:nvPicPr>
        <p:blipFill>
          <a:blip r:embed="rId8"/>
          <a:stretch>
            <a:fillRect/>
          </a:stretch>
        </p:blipFill>
        <p:spPr>
          <a:xfrm>
            <a:off x="6199632" y="3639312"/>
            <a:ext cx="365760" cy="365760"/>
          </a:xfrm>
          <a:prstGeom prst="rect">
            <a:avLst/>
          </a:prstGeom>
        </p:spPr>
      </p:pic>
      <p:sp>
        <p:nvSpPr>
          <p:cNvPr id="31" name="Text 23"/>
          <p:cNvSpPr/>
          <p:nvPr/>
        </p:nvSpPr>
        <p:spPr>
          <a:xfrm>
            <a:off x="6675120" y="3639312"/>
            <a:ext cx="1828800" cy="365760"/>
          </a:xfrm>
          <a:prstGeom prst="rect">
            <a:avLst/>
          </a:prstGeom>
          <a:noFill/>
          <a:ln/>
        </p:spPr>
        <p:txBody>
          <a:bodyPr wrap="square" lIns="0" tIns="0" rIns="0" bIns="0" rtlCol="0" anchor="ctr"/>
          <a:lstStyle/>
          <a:p>
            <a:pPr marL="0" indent="0">
              <a:buNone/>
            </a:pPr>
            <a:r>
              <a:rPr lang="en-US" sz="1300" b="1" dirty="0">
                <a:solidFill>
                  <a:srgbClr val="0F1F3F"/>
                </a:solidFill>
                <a:latin typeface="Calibri" pitchFamily="34" charset="0"/>
                <a:ea typeface="Calibri" pitchFamily="34" charset="-122"/>
                <a:cs typeface="Calibri" pitchFamily="34" charset="-120"/>
              </a:rPr>
              <a:t>MinerbaOne</a:t>
            </a:r>
            <a:endParaRPr lang="en-US" sz="1300" dirty="0"/>
          </a:p>
        </p:txBody>
      </p:sp>
      <p:sp>
        <p:nvSpPr>
          <p:cNvPr id="32" name="Text 24"/>
          <p:cNvSpPr/>
          <p:nvPr/>
        </p:nvSpPr>
        <p:spPr>
          <a:xfrm>
            <a:off x="6199632" y="4114800"/>
            <a:ext cx="2313432" cy="54864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Integrated digital system for ESDM Mineral &amp; Coal</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548640" y="502920"/>
            <a:ext cx="320040" cy="0"/>
          </a:xfrm>
          <a:prstGeom prst="line">
            <a:avLst/>
          </a:prstGeom>
          <a:noFill/>
          <a:ln w="19050">
            <a:solidFill>
              <a:srgbClr val="C9A961"/>
            </a:solidFill>
            <a:prstDash val="solid"/>
          </a:ln>
        </p:spPr>
        <p:txBody>
          <a:bodyPr/>
          <a:lstStyle/>
          <a:p>
            <a:endParaRPr lang="en-US"/>
          </a:p>
        </p:txBody>
      </p:sp>
      <p:sp>
        <p:nvSpPr>
          <p:cNvPr id="3" name="Shape 1"/>
          <p:cNvSpPr/>
          <p:nvPr/>
        </p:nvSpPr>
        <p:spPr>
          <a:xfrm>
            <a:off x="548640" y="502920"/>
            <a:ext cx="0" cy="164592"/>
          </a:xfrm>
          <a:prstGeom prst="line">
            <a:avLst/>
          </a:prstGeom>
          <a:noFill/>
          <a:ln w="19050">
            <a:solidFill>
              <a:srgbClr val="C9A961"/>
            </a:solidFill>
            <a:prstDash val="solid"/>
          </a:ln>
        </p:spPr>
        <p:txBody>
          <a:bodyPr/>
          <a:lstStyle/>
          <a:p>
            <a:endParaRPr lang="en-US"/>
          </a:p>
        </p:txBody>
      </p:sp>
      <p:sp>
        <p:nvSpPr>
          <p:cNvPr id="4" name="Text 2"/>
          <p:cNvSpPr/>
          <p:nvPr/>
        </p:nvSpPr>
        <p:spPr>
          <a:xfrm>
            <a:off x="548640" y="4800600"/>
            <a:ext cx="4572000" cy="274320"/>
          </a:xfrm>
          <a:prstGeom prst="rect">
            <a:avLst/>
          </a:prstGeom>
          <a:noFill/>
          <a:ln/>
        </p:spPr>
        <p:txBody>
          <a:bodyPr wrap="square" rtlCol="0" anchor="ctr"/>
          <a:lstStyle/>
          <a:p>
            <a:pPr marL="0" indent="0">
              <a:buNone/>
            </a:pPr>
            <a:r>
              <a:rPr lang="en-US" sz="900" kern="0" spc="200" dirty="0">
                <a:solidFill>
                  <a:srgbClr val="94A3B8"/>
                </a:solidFill>
                <a:latin typeface="Calibri" pitchFamily="34" charset="0"/>
                <a:ea typeface="Calibri" pitchFamily="34" charset="-122"/>
                <a:cs typeface="Calibri" pitchFamily="34" charset="-120"/>
              </a:rPr>
              <a:t>LEAF 2026  ·  RESULTS · THE CRITICAL CONTROL</a:t>
            </a:r>
            <a:endParaRPr lang="en-US" sz="900" dirty="0"/>
          </a:p>
        </p:txBody>
      </p:sp>
      <p:sp>
        <p:nvSpPr>
          <p:cNvPr id="5" name="Text 3"/>
          <p:cNvSpPr/>
          <p:nvPr/>
        </p:nvSpPr>
        <p:spPr>
          <a:xfrm>
            <a:off x="8229600" y="4800600"/>
            <a:ext cx="64008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11 / 18</a:t>
            </a:r>
            <a:endParaRPr lang="en-US" sz="900" dirty="0"/>
          </a:p>
        </p:txBody>
      </p:sp>
      <p:sp>
        <p:nvSpPr>
          <p:cNvPr id="6" name="Text 4"/>
          <p:cNvSpPr/>
          <p:nvPr/>
        </p:nvSpPr>
        <p:spPr>
          <a:xfrm>
            <a:off x="548640" y="777240"/>
            <a:ext cx="8046720" cy="274320"/>
          </a:xfrm>
          <a:prstGeom prst="rect">
            <a:avLst/>
          </a:prstGeom>
          <a:noFill/>
          <a:ln/>
        </p:spPr>
        <p:txBody>
          <a:bodyPr wrap="square" lIns="0" tIns="0" rIns="0" bIns="0" rtlCol="0" anchor="ctr"/>
          <a:lstStyle/>
          <a:p>
            <a:pPr marL="0" indent="0">
              <a:buNone/>
            </a:pPr>
            <a:r>
              <a:rPr lang="en-US" sz="1000" b="1" kern="0" spc="500" dirty="0">
                <a:solidFill>
                  <a:srgbClr val="C9A961"/>
                </a:solidFill>
                <a:latin typeface="Calibri" pitchFamily="34" charset="0"/>
                <a:ea typeface="Calibri" pitchFamily="34" charset="-122"/>
                <a:cs typeface="Calibri" pitchFamily="34" charset="-120"/>
              </a:rPr>
              <a:t>09  ·  THE CRITICAL CONTROL</a:t>
            </a:r>
            <a:endParaRPr lang="en-US" sz="1000" dirty="0"/>
          </a:p>
        </p:txBody>
      </p:sp>
      <p:sp>
        <p:nvSpPr>
          <p:cNvPr id="7" name="Text 5"/>
          <p:cNvSpPr/>
          <p:nvPr/>
        </p:nvSpPr>
        <p:spPr>
          <a:xfrm>
            <a:off x="548640" y="1097280"/>
            <a:ext cx="8046720" cy="457200"/>
          </a:xfrm>
          <a:prstGeom prst="rect">
            <a:avLst/>
          </a:prstGeom>
          <a:noFill/>
          <a:ln/>
        </p:spPr>
        <p:txBody>
          <a:bodyPr wrap="square" lIns="0" tIns="0" rIns="0" bIns="0" rtlCol="0" anchor="ctr"/>
          <a:lstStyle/>
          <a:p>
            <a:pPr marL="0" indent="0">
              <a:buNone/>
            </a:pPr>
            <a:r>
              <a:rPr lang="en-US" sz="2600" b="1" dirty="0">
                <a:solidFill>
                  <a:srgbClr val="1F2937"/>
                </a:solidFill>
                <a:latin typeface="Cambria" pitchFamily="34" charset="0"/>
                <a:ea typeface="Cambria" pitchFamily="34" charset="-122"/>
                <a:cs typeface="Cambria" pitchFamily="34" charset="-120"/>
              </a:rPr>
              <a:t>Did publication output decline?</a:t>
            </a:r>
            <a:endParaRPr lang="en-US" sz="2600" dirty="0"/>
          </a:p>
        </p:txBody>
      </p:sp>
      <p:sp>
        <p:nvSpPr>
          <p:cNvPr id="9" name="Shape 6"/>
          <p:cNvSpPr/>
          <p:nvPr/>
        </p:nvSpPr>
        <p:spPr>
          <a:xfrm>
            <a:off x="5669280" y="1737360"/>
            <a:ext cx="3017520" cy="2743200"/>
          </a:xfrm>
          <a:prstGeom prst="roundRect">
            <a:avLst>
              <a:gd name="adj" fmla="val 2667"/>
            </a:avLst>
          </a:prstGeom>
          <a:solidFill>
            <a:srgbClr val="FCFAF4"/>
          </a:solidFill>
          <a:ln w="19050">
            <a:solidFill>
              <a:srgbClr val="C9A961"/>
            </a:solidFill>
            <a:prstDash val="solid"/>
          </a:ln>
          <a:effectLst>
            <a:outerShdw blurRad="101600" dist="25400" dir="5400000" algn="bl" rotWithShape="0">
              <a:srgbClr val="000000">
                <a:alpha val="10000"/>
              </a:srgbClr>
            </a:outerShdw>
          </a:effectLst>
        </p:spPr>
        <p:txBody>
          <a:bodyPr/>
          <a:lstStyle/>
          <a:p>
            <a:endParaRPr lang="en-US"/>
          </a:p>
        </p:txBody>
      </p:sp>
      <p:pic>
        <p:nvPicPr>
          <p:cNvPr id="10" name="Image 0" descr="preencoded.png"/>
          <p:cNvPicPr>
            <a:picLocks noChangeAspect="1"/>
          </p:cNvPicPr>
          <p:nvPr/>
        </p:nvPicPr>
        <p:blipFill>
          <a:blip r:embed="rId3"/>
          <a:stretch>
            <a:fillRect/>
          </a:stretch>
        </p:blipFill>
        <p:spPr>
          <a:xfrm>
            <a:off x="5852160" y="1920240"/>
            <a:ext cx="411480" cy="411480"/>
          </a:xfrm>
          <a:prstGeom prst="rect">
            <a:avLst/>
          </a:prstGeom>
        </p:spPr>
      </p:pic>
      <p:sp>
        <p:nvSpPr>
          <p:cNvPr id="11" name="Text 7"/>
          <p:cNvSpPr/>
          <p:nvPr/>
        </p:nvSpPr>
        <p:spPr>
          <a:xfrm>
            <a:off x="6355080" y="1965960"/>
            <a:ext cx="2194560" cy="320040"/>
          </a:xfrm>
          <a:prstGeom prst="rect">
            <a:avLst/>
          </a:prstGeom>
          <a:noFill/>
          <a:ln/>
        </p:spPr>
        <p:txBody>
          <a:bodyPr wrap="square" lIns="0" tIns="0" rIns="0" bIns="0" rtlCol="0" anchor="ctr"/>
          <a:lstStyle/>
          <a:p>
            <a:pPr marL="0" indent="0">
              <a:buNone/>
            </a:pPr>
            <a:r>
              <a:rPr lang="en-US" sz="1000" b="1" kern="0" spc="200" dirty="0">
                <a:solidFill>
                  <a:srgbClr val="C9A961"/>
                </a:solidFill>
                <a:latin typeface="Calibri" pitchFamily="34" charset="0"/>
                <a:ea typeface="Calibri" pitchFamily="34" charset="-122"/>
                <a:cs typeface="Calibri" pitchFamily="34" charset="-120"/>
              </a:rPr>
              <a:t>HYPOTHESIS  ·  CONFIRMED</a:t>
            </a:r>
            <a:endParaRPr lang="en-US" sz="1000" dirty="0"/>
          </a:p>
        </p:txBody>
      </p:sp>
      <p:sp>
        <p:nvSpPr>
          <p:cNvPr id="12" name="Text 8"/>
          <p:cNvSpPr/>
          <p:nvPr/>
        </p:nvSpPr>
        <p:spPr>
          <a:xfrm>
            <a:off x="5852160" y="2468880"/>
            <a:ext cx="2743200" cy="1463040"/>
          </a:xfrm>
          <a:prstGeom prst="rect">
            <a:avLst/>
          </a:prstGeom>
          <a:noFill/>
          <a:ln/>
        </p:spPr>
        <p:txBody>
          <a:bodyPr wrap="square" lIns="0" tIns="0" rIns="0" bIns="0" rtlCol="0" anchor="ctr"/>
          <a:lstStyle/>
          <a:p>
            <a:pPr marL="0" indent="0">
              <a:spcAft>
                <a:spcPts val="200"/>
              </a:spcAft>
              <a:buNone/>
            </a:pPr>
            <a:r>
              <a:rPr lang="en-US" sz="1300" dirty="0">
                <a:solidFill>
                  <a:srgbClr val="1F2937"/>
                </a:solidFill>
                <a:latin typeface="Cambria" pitchFamily="34" charset="0"/>
                <a:ea typeface="Cambria" pitchFamily="34" charset="-122"/>
                <a:cs typeface="Cambria" pitchFamily="34" charset="-120"/>
              </a:rPr>
              <a:t>Publication output did </a:t>
            </a:r>
            <a:r>
              <a:rPr lang="en-US" sz="1300" b="1" i="1" dirty="0">
                <a:solidFill>
                  <a:srgbClr val="0F1F3F"/>
                </a:solidFill>
                <a:latin typeface="Cambria" pitchFamily="34" charset="0"/>
                <a:ea typeface="Cambria" pitchFamily="34" charset="-122"/>
                <a:cs typeface="Cambria" pitchFamily="34" charset="-120"/>
              </a:rPr>
              <a:t>not</a:t>
            </a:r>
            <a:r>
              <a:rPr lang="en-US" sz="1300" dirty="0">
                <a:solidFill>
                  <a:srgbClr val="1F2937"/>
                </a:solidFill>
                <a:latin typeface="Cambria" pitchFamily="34" charset="0"/>
                <a:ea typeface="Cambria" pitchFamily="34" charset="-122"/>
                <a:cs typeface="Cambria" pitchFamily="34" charset="-120"/>
              </a:rPr>
              <a:t> decline.</a:t>
            </a:r>
            <a:endParaRPr lang="en-US" sz="1300" dirty="0"/>
          </a:p>
          <a:p>
            <a:pPr marL="0" indent="0">
              <a:spcAft>
                <a:spcPts val="200"/>
              </a:spcAft>
              <a:buNone/>
            </a:pPr>
            <a:endParaRPr lang="en-US" sz="1300" dirty="0"/>
          </a:p>
          <a:p>
            <a:pPr marL="0" indent="0">
              <a:spcAft>
                <a:spcPts val="200"/>
              </a:spcAft>
              <a:buNone/>
            </a:pPr>
            <a:r>
              <a:rPr lang="en-US" sz="1300" dirty="0">
                <a:solidFill>
                  <a:srgbClr val="1F2937"/>
                </a:solidFill>
                <a:latin typeface="Cambria" pitchFamily="34" charset="0"/>
                <a:ea typeface="Cambria" pitchFamily="34" charset="-122"/>
                <a:cs typeface="Cambria" pitchFamily="34" charset="-120"/>
              </a:rPr>
              <a:t>In fact, researchers most active in industry partnerships </a:t>
            </a:r>
            <a:r>
              <a:rPr lang="en-US" sz="1300" b="1" dirty="0">
                <a:solidFill>
                  <a:srgbClr val="0F1F3F"/>
                </a:solidFill>
                <a:latin typeface="Cambria" pitchFamily="34" charset="0"/>
                <a:ea typeface="Cambria" pitchFamily="34" charset="-122"/>
                <a:cs typeface="Cambria" pitchFamily="34" charset="-120"/>
              </a:rPr>
              <a:t>publish more.</a:t>
            </a:r>
            <a:endParaRPr lang="en-US" sz="1300" dirty="0"/>
          </a:p>
        </p:txBody>
      </p:sp>
      <p:sp>
        <p:nvSpPr>
          <p:cNvPr id="13" name="Text 9"/>
          <p:cNvSpPr/>
          <p:nvPr/>
        </p:nvSpPr>
        <p:spPr>
          <a:xfrm>
            <a:off x="5852160" y="3931920"/>
            <a:ext cx="2743200" cy="502920"/>
          </a:xfrm>
          <a:prstGeom prst="rect">
            <a:avLst/>
          </a:prstGeom>
          <a:noFill/>
          <a:ln/>
        </p:spPr>
        <p:txBody>
          <a:bodyPr wrap="square" lIns="0" tIns="0" rIns="0" bIns="0" rtlCol="0" anchor="ctr"/>
          <a:lstStyle/>
          <a:p>
            <a:pPr marL="0" indent="0">
              <a:buNone/>
            </a:pPr>
            <a:r>
              <a:rPr lang="en-US" sz="1050" i="1" dirty="0">
                <a:solidFill>
                  <a:srgbClr val="1F2937"/>
                </a:solidFill>
                <a:latin typeface="Calibri" pitchFamily="34" charset="0"/>
                <a:ea typeface="Calibri" pitchFamily="34" charset="-122"/>
                <a:cs typeface="Calibri" pitchFamily="34" charset="-120"/>
              </a:rPr>
              <a:t>Industry questions opened new research questions. The two loops reinforce each other.</a:t>
            </a:r>
            <a:endParaRPr lang="en-US" sz="1050" dirty="0"/>
          </a:p>
        </p:txBody>
      </p:sp>
      <p:pic>
        <p:nvPicPr>
          <p:cNvPr id="15" name="Picture 14">
            <a:extLst>
              <a:ext uri="{FF2B5EF4-FFF2-40B4-BE49-F238E27FC236}">
                <a16:creationId xmlns:a16="http://schemas.microsoft.com/office/drawing/2014/main" id="{77EAA4FA-0D6B-A979-8943-DF5E0CD5FA43}"/>
              </a:ext>
            </a:extLst>
          </p:cNvPr>
          <p:cNvPicPr>
            <a:picLocks noChangeAspect="1"/>
          </p:cNvPicPr>
          <p:nvPr/>
        </p:nvPicPr>
        <p:blipFill>
          <a:blip r:embed="rId4"/>
          <a:stretch>
            <a:fillRect/>
          </a:stretch>
        </p:blipFill>
        <p:spPr>
          <a:xfrm>
            <a:off x="708659" y="1588762"/>
            <a:ext cx="4170613" cy="1485915"/>
          </a:xfrm>
          <a:prstGeom prst="rect">
            <a:avLst/>
          </a:prstGeom>
        </p:spPr>
      </p:pic>
      <p:pic>
        <p:nvPicPr>
          <p:cNvPr id="16" name="Picture 15">
            <a:extLst>
              <a:ext uri="{FF2B5EF4-FFF2-40B4-BE49-F238E27FC236}">
                <a16:creationId xmlns:a16="http://schemas.microsoft.com/office/drawing/2014/main" id="{70F05AAC-DBF4-CFF9-857E-DC945CB494E1}"/>
              </a:ext>
            </a:extLst>
          </p:cNvPr>
          <p:cNvPicPr>
            <a:picLocks noChangeAspect="1"/>
          </p:cNvPicPr>
          <p:nvPr/>
        </p:nvPicPr>
        <p:blipFill>
          <a:blip r:embed="rId5"/>
          <a:stretch>
            <a:fillRect/>
          </a:stretch>
        </p:blipFill>
        <p:spPr>
          <a:xfrm>
            <a:off x="708659" y="2913292"/>
            <a:ext cx="4170613" cy="1780227"/>
          </a:xfrm>
          <a:prstGeom prst="rect">
            <a:avLst/>
          </a:prstGeom>
        </p:spPr>
      </p:pic>
      <p:sp>
        <p:nvSpPr>
          <p:cNvPr id="17" name="TextBox 16">
            <a:extLst>
              <a:ext uri="{FF2B5EF4-FFF2-40B4-BE49-F238E27FC236}">
                <a16:creationId xmlns:a16="http://schemas.microsoft.com/office/drawing/2014/main" id="{8E439C69-B01C-F543-2557-EE905BA7CB1D}"/>
              </a:ext>
            </a:extLst>
          </p:cNvPr>
          <p:cNvSpPr txBox="1"/>
          <p:nvPr/>
        </p:nvSpPr>
        <p:spPr>
          <a:xfrm>
            <a:off x="5949159" y="4508853"/>
            <a:ext cx="2225096" cy="369332"/>
          </a:xfrm>
          <a:prstGeom prst="rect">
            <a:avLst/>
          </a:prstGeom>
          <a:noFill/>
        </p:spPr>
        <p:txBody>
          <a:bodyPr wrap="none" rtlCol="0">
            <a:spAutoFit/>
          </a:bodyPr>
          <a:lstStyle/>
          <a:p>
            <a:r>
              <a:rPr lang="en-US" dirty="0">
                <a:latin typeface="Cambria" panose="02040503050406030204" pitchFamily="18" charset="0"/>
              </a:rPr>
              <a:t>Source: </a:t>
            </a:r>
            <a:r>
              <a:rPr lang="en-US" dirty="0" err="1">
                <a:latin typeface="Cambria" panose="02040503050406030204" pitchFamily="18" charset="0"/>
              </a:rPr>
              <a:t>Scival</a:t>
            </a:r>
            <a:r>
              <a:rPr lang="en-US" dirty="0">
                <a:latin typeface="Cambria" panose="02040503050406030204" pitchFamily="18" charset="0"/>
              </a:rPr>
              <a:t> FMIPA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548640" y="502920"/>
            <a:ext cx="320040" cy="0"/>
          </a:xfrm>
          <a:prstGeom prst="line">
            <a:avLst/>
          </a:prstGeom>
          <a:noFill/>
          <a:ln w="19050">
            <a:solidFill>
              <a:srgbClr val="C9A961"/>
            </a:solidFill>
            <a:prstDash val="solid"/>
          </a:ln>
        </p:spPr>
        <p:txBody>
          <a:bodyPr/>
          <a:lstStyle/>
          <a:p>
            <a:endParaRPr lang="en-US"/>
          </a:p>
        </p:txBody>
      </p:sp>
      <p:sp>
        <p:nvSpPr>
          <p:cNvPr id="3" name="Shape 1"/>
          <p:cNvSpPr/>
          <p:nvPr/>
        </p:nvSpPr>
        <p:spPr>
          <a:xfrm>
            <a:off x="548640" y="502920"/>
            <a:ext cx="0" cy="164592"/>
          </a:xfrm>
          <a:prstGeom prst="line">
            <a:avLst/>
          </a:prstGeom>
          <a:noFill/>
          <a:ln w="19050">
            <a:solidFill>
              <a:srgbClr val="C9A961"/>
            </a:solidFill>
            <a:prstDash val="solid"/>
          </a:ln>
        </p:spPr>
        <p:txBody>
          <a:bodyPr/>
          <a:lstStyle/>
          <a:p>
            <a:endParaRPr lang="en-US"/>
          </a:p>
        </p:txBody>
      </p:sp>
      <p:sp>
        <p:nvSpPr>
          <p:cNvPr id="4" name="Text 2"/>
          <p:cNvSpPr/>
          <p:nvPr/>
        </p:nvSpPr>
        <p:spPr>
          <a:xfrm>
            <a:off x="548640" y="4800600"/>
            <a:ext cx="4572000" cy="274320"/>
          </a:xfrm>
          <a:prstGeom prst="rect">
            <a:avLst/>
          </a:prstGeom>
          <a:noFill/>
          <a:ln/>
        </p:spPr>
        <p:txBody>
          <a:bodyPr wrap="square" rtlCol="0" anchor="ctr"/>
          <a:lstStyle/>
          <a:p>
            <a:pPr marL="0" indent="0">
              <a:buNone/>
            </a:pPr>
            <a:r>
              <a:rPr lang="en-US" sz="900" kern="0" spc="200" dirty="0">
                <a:solidFill>
                  <a:srgbClr val="94A3B8"/>
                </a:solidFill>
                <a:latin typeface="Calibri" pitchFamily="34" charset="0"/>
                <a:ea typeface="Calibri" pitchFamily="34" charset="-122"/>
                <a:cs typeface="Calibri" pitchFamily="34" charset="-120"/>
              </a:rPr>
              <a:t>LEAF 2026  ·  RESULTS · SUB-EXPERIMENT</a:t>
            </a:r>
            <a:endParaRPr lang="en-US" sz="900" dirty="0"/>
          </a:p>
        </p:txBody>
      </p:sp>
      <p:sp>
        <p:nvSpPr>
          <p:cNvPr id="5" name="Text 3"/>
          <p:cNvSpPr/>
          <p:nvPr/>
        </p:nvSpPr>
        <p:spPr>
          <a:xfrm>
            <a:off x="8229600" y="4800600"/>
            <a:ext cx="64008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12 / 18</a:t>
            </a:r>
            <a:endParaRPr lang="en-US" sz="900" dirty="0"/>
          </a:p>
        </p:txBody>
      </p:sp>
      <p:sp>
        <p:nvSpPr>
          <p:cNvPr id="6" name="Text 4"/>
          <p:cNvSpPr/>
          <p:nvPr/>
        </p:nvSpPr>
        <p:spPr>
          <a:xfrm>
            <a:off x="548640" y="777240"/>
            <a:ext cx="8046720" cy="274320"/>
          </a:xfrm>
          <a:prstGeom prst="rect">
            <a:avLst/>
          </a:prstGeom>
          <a:noFill/>
          <a:ln/>
        </p:spPr>
        <p:txBody>
          <a:bodyPr wrap="square" lIns="0" tIns="0" rIns="0" bIns="0" rtlCol="0" anchor="ctr"/>
          <a:lstStyle/>
          <a:p>
            <a:pPr marL="0" indent="0">
              <a:buNone/>
            </a:pPr>
            <a:r>
              <a:rPr lang="en-US" sz="1000" b="1" kern="0" spc="500" dirty="0">
                <a:solidFill>
                  <a:srgbClr val="C9A961"/>
                </a:solidFill>
                <a:latin typeface="Calibri" pitchFamily="34" charset="0"/>
                <a:ea typeface="Calibri" pitchFamily="34" charset="-122"/>
                <a:cs typeface="Calibri" pitchFamily="34" charset="-120"/>
              </a:rPr>
              <a:t>10  ·  A PARALLEL SUB-EXPERIMENT</a:t>
            </a:r>
            <a:endParaRPr lang="en-US" sz="1000" dirty="0"/>
          </a:p>
        </p:txBody>
      </p:sp>
      <p:sp>
        <p:nvSpPr>
          <p:cNvPr id="7" name="Text 5"/>
          <p:cNvSpPr/>
          <p:nvPr/>
        </p:nvSpPr>
        <p:spPr>
          <a:xfrm>
            <a:off x="548640" y="1097280"/>
            <a:ext cx="8046720" cy="457200"/>
          </a:xfrm>
          <a:prstGeom prst="rect">
            <a:avLst/>
          </a:prstGeom>
          <a:noFill/>
          <a:ln/>
        </p:spPr>
        <p:txBody>
          <a:bodyPr wrap="square" lIns="0" tIns="0" rIns="0" bIns="0" rtlCol="0" anchor="ctr"/>
          <a:lstStyle/>
          <a:p>
            <a:pPr marL="0" indent="0">
              <a:buNone/>
            </a:pPr>
            <a:r>
              <a:rPr lang="en-US" sz="2500" b="1" dirty="0">
                <a:solidFill>
                  <a:srgbClr val="1F2937"/>
                </a:solidFill>
                <a:latin typeface="Cambria" pitchFamily="34" charset="0"/>
                <a:ea typeface="Cambria" pitchFamily="34" charset="-122"/>
                <a:cs typeface="Cambria" pitchFamily="34" charset="-120"/>
              </a:rPr>
              <a:t>Do long partnerships compound?</a:t>
            </a:r>
            <a:endParaRPr lang="en-US" sz="2500" dirty="0"/>
          </a:p>
        </p:txBody>
      </p:sp>
      <p:sp>
        <p:nvSpPr>
          <p:cNvPr id="8" name="Text 6"/>
          <p:cNvSpPr/>
          <p:nvPr/>
        </p:nvSpPr>
        <p:spPr>
          <a:xfrm>
            <a:off x="548640" y="1600200"/>
            <a:ext cx="8046720" cy="27432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Case: UGM–MFRI–JICA volcanic-disaster mitigation partnership, 2014 → present</a:t>
            </a:r>
            <a:endParaRPr lang="en-US" sz="1200" dirty="0"/>
          </a:p>
        </p:txBody>
      </p:sp>
      <p:sp>
        <p:nvSpPr>
          <p:cNvPr id="9" name="Shape 7"/>
          <p:cNvSpPr/>
          <p:nvPr/>
        </p:nvSpPr>
        <p:spPr>
          <a:xfrm>
            <a:off x="777240" y="2743200"/>
            <a:ext cx="7680960" cy="0"/>
          </a:xfrm>
          <a:prstGeom prst="line">
            <a:avLst/>
          </a:prstGeom>
          <a:noFill/>
          <a:ln w="25400">
            <a:solidFill>
              <a:srgbClr val="C9A961"/>
            </a:solidFill>
            <a:prstDash val="solid"/>
          </a:ln>
        </p:spPr>
        <p:txBody>
          <a:bodyPr/>
          <a:lstStyle/>
          <a:p>
            <a:endParaRPr lang="en-US"/>
          </a:p>
        </p:txBody>
      </p:sp>
      <p:sp>
        <p:nvSpPr>
          <p:cNvPr id="10" name="Shape 8"/>
          <p:cNvSpPr/>
          <p:nvPr/>
        </p:nvSpPr>
        <p:spPr>
          <a:xfrm>
            <a:off x="777240" y="2651760"/>
            <a:ext cx="182880" cy="182880"/>
          </a:xfrm>
          <a:prstGeom prst="ellipse">
            <a:avLst/>
          </a:prstGeom>
          <a:solidFill>
            <a:srgbClr val="C9A961"/>
          </a:solidFill>
          <a:ln w="19050">
            <a:solidFill>
              <a:srgbClr val="0F1F3F"/>
            </a:solidFill>
            <a:prstDash val="solid"/>
          </a:ln>
        </p:spPr>
        <p:txBody>
          <a:bodyPr/>
          <a:lstStyle/>
          <a:p>
            <a:endParaRPr lang="en-US"/>
          </a:p>
        </p:txBody>
      </p:sp>
      <p:sp>
        <p:nvSpPr>
          <p:cNvPr id="11" name="Text 9"/>
          <p:cNvSpPr/>
          <p:nvPr/>
        </p:nvSpPr>
        <p:spPr>
          <a:xfrm>
            <a:off x="274320" y="2103120"/>
            <a:ext cx="1188720" cy="274320"/>
          </a:xfrm>
          <a:prstGeom prst="rect">
            <a:avLst/>
          </a:prstGeom>
          <a:noFill/>
          <a:ln/>
        </p:spPr>
        <p:txBody>
          <a:bodyPr wrap="square" lIns="0" tIns="0" rIns="0" bIns="0" rtlCol="0" anchor="ctr"/>
          <a:lstStyle/>
          <a:p>
            <a:pPr marL="0" indent="0" algn="ctr">
              <a:buNone/>
            </a:pPr>
            <a:r>
              <a:rPr lang="en-US" sz="1200" b="1" dirty="0">
                <a:solidFill>
                  <a:srgbClr val="0F1F3F"/>
                </a:solidFill>
                <a:latin typeface="Calibri" pitchFamily="34" charset="0"/>
                <a:ea typeface="Calibri" pitchFamily="34" charset="-122"/>
                <a:cs typeface="Calibri" pitchFamily="34" charset="-120"/>
              </a:rPr>
              <a:t>2014</a:t>
            </a:r>
            <a:endParaRPr lang="en-US" sz="1200" dirty="0"/>
          </a:p>
        </p:txBody>
      </p:sp>
      <p:sp>
        <p:nvSpPr>
          <p:cNvPr id="12" name="Text 10"/>
          <p:cNvSpPr/>
          <p:nvPr/>
        </p:nvSpPr>
        <p:spPr>
          <a:xfrm>
            <a:off x="228600" y="2971800"/>
            <a:ext cx="1280160" cy="1371600"/>
          </a:xfrm>
          <a:prstGeom prst="rect">
            <a:avLst/>
          </a:prstGeom>
          <a:noFill/>
          <a:ln/>
        </p:spPr>
        <p:txBody>
          <a:bodyPr wrap="square" lIns="0" tIns="0" rIns="0" bIns="0" rtlCol="0" anchor="ctr"/>
          <a:lstStyle/>
          <a:p>
            <a:pPr marL="0" indent="0" algn="ctr">
              <a:spcAft>
                <a:spcPts val="200"/>
              </a:spcAft>
              <a:buNone/>
            </a:pPr>
            <a:r>
              <a:rPr lang="en-US" sz="1000" dirty="0">
                <a:solidFill>
                  <a:srgbClr val="1F2937"/>
                </a:solidFill>
                <a:latin typeface="Calibri" pitchFamily="34" charset="0"/>
                <a:ea typeface="Calibri" pitchFamily="34" charset="-122"/>
                <a:cs typeface="Calibri" pitchFamily="34" charset="-120"/>
              </a:rPr>
              <a:t>UGM–MFRI MoU</a:t>
            </a:r>
            <a:endParaRPr lang="en-US" sz="1000" dirty="0"/>
          </a:p>
          <a:p>
            <a:pPr marL="0" indent="0" algn="ctr">
              <a:spcAft>
                <a:spcPts val="200"/>
              </a:spcAft>
              <a:buNone/>
            </a:pPr>
            <a:r>
              <a:rPr lang="en-US" sz="1000" dirty="0">
                <a:solidFill>
                  <a:srgbClr val="1F2937"/>
                </a:solidFill>
                <a:latin typeface="Calibri" pitchFamily="34" charset="0"/>
                <a:ea typeface="Calibri" pitchFamily="34" charset="-122"/>
                <a:cs typeface="Calibri" pitchFamily="34" charset="-120"/>
              </a:rPr>
              <a:t>at Cities on</a:t>
            </a:r>
            <a:endParaRPr lang="en-US" sz="1000" dirty="0"/>
          </a:p>
          <a:p>
            <a:pPr marL="0" indent="0" algn="ctr">
              <a:spcAft>
                <a:spcPts val="200"/>
              </a:spcAft>
              <a:buNone/>
            </a:pPr>
            <a:r>
              <a:rPr lang="en-US" sz="1000" dirty="0">
                <a:solidFill>
                  <a:srgbClr val="1F2937"/>
                </a:solidFill>
                <a:latin typeface="Calibri" pitchFamily="34" charset="0"/>
                <a:ea typeface="Calibri" pitchFamily="34" charset="-122"/>
                <a:cs typeface="Calibri" pitchFamily="34" charset="-120"/>
              </a:rPr>
              <a:t>Volcanoes Conf.</a:t>
            </a:r>
            <a:endParaRPr lang="en-US" sz="1000" dirty="0"/>
          </a:p>
        </p:txBody>
      </p:sp>
      <p:sp>
        <p:nvSpPr>
          <p:cNvPr id="13" name="Shape 11"/>
          <p:cNvSpPr/>
          <p:nvPr/>
        </p:nvSpPr>
        <p:spPr>
          <a:xfrm>
            <a:off x="2286000" y="2651760"/>
            <a:ext cx="182880" cy="182880"/>
          </a:xfrm>
          <a:prstGeom prst="ellipse">
            <a:avLst/>
          </a:prstGeom>
          <a:solidFill>
            <a:srgbClr val="C9A961"/>
          </a:solidFill>
          <a:ln w="19050">
            <a:solidFill>
              <a:srgbClr val="0F1F3F"/>
            </a:solidFill>
            <a:prstDash val="solid"/>
          </a:ln>
        </p:spPr>
        <p:txBody>
          <a:bodyPr/>
          <a:lstStyle/>
          <a:p>
            <a:endParaRPr lang="en-US"/>
          </a:p>
        </p:txBody>
      </p:sp>
      <p:sp>
        <p:nvSpPr>
          <p:cNvPr id="14" name="Text 12"/>
          <p:cNvSpPr/>
          <p:nvPr/>
        </p:nvSpPr>
        <p:spPr>
          <a:xfrm>
            <a:off x="1783080" y="2103120"/>
            <a:ext cx="1188720" cy="274320"/>
          </a:xfrm>
          <a:prstGeom prst="rect">
            <a:avLst/>
          </a:prstGeom>
          <a:noFill/>
          <a:ln/>
        </p:spPr>
        <p:txBody>
          <a:bodyPr wrap="square" lIns="0" tIns="0" rIns="0" bIns="0" rtlCol="0" anchor="ctr"/>
          <a:lstStyle/>
          <a:p>
            <a:pPr marL="0" indent="0" algn="ctr">
              <a:buNone/>
            </a:pPr>
            <a:r>
              <a:rPr lang="en-US" sz="1200" b="1" dirty="0">
                <a:solidFill>
                  <a:srgbClr val="0F1F3F"/>
                </a:solidFill>
                <a:latin typeface="Calibri" pitchFamily="34" charset="0"/>
                <a:ea typeface="Calibri" pitchFamily="34" charset="-122"/>
                <a:cs typeface="Calibri" pitchFamily="34" charset="-120"/>
              </a:rPr>
              <a:t>2017</a:t>
            </a:r>
            <a:endParaRPr lang="en-US" sz="1200" dirty="0"/>
          </a:p>
        </p:txBody>
      </p:sp>
      <p:sp>
        <p:nvSpPr>
          <p:cNvPr id="15" name="Text 13"/>
          <p:cNvSpPr/>
          <p:nvPr/>
        </p:nvSpPr>
        <p:spPr>
          <a:xfrm>
            <a:off x="1737360" y="2971800"/>
            <a:ext cx="1280160" cy="1371600"/>
          </a:xfrm>
          <a:prstGeom prst="rect">
            <a:avLst/>
          </a:prstGeom>
          <a:noFill/>
          <a:ln/>
        </p:spPr>
        <p:txBody>
          <a:bodyPr wrap="square" lIns="0" tIns="0" rIns="0" bIns="0" rtlCol="0" anchor="ctr"/>
          <a:lstStyle/>
          <a:p>
            <a:pPr marL="0" indent="0" algn="ctr">
              <a:spcAft>
                <a:spcPts val="200"/>
              </a:spcAft>
              <a:buNone/>
            </a:pPr>
            <a:r>
              <a:rPr lang="en-US" sz="1000" dirty="0">
                <a:solidFill>
                  <a:srgbClr val="1F2937"/>
                </a:solidFill>
                <a:latin typeface="Calibri" pitchFamily="34" charset="0"/>
                <a:ea typeface="Calibri" pitchFamily="34" charset="-122"/>
                <a:cs typeface="Calibri" pitchFamily="34" charset="-120"/>
              </a:rPr>
              <a:t>Trilateral PDM</a:t>
            </a:r>
            <a:endParaRPr lang="en-US" sz="1000" dirty="0"/>
          </a:p>
          <a:p>
            <a:pPr marL="0" indent="0" algn="ctr">
              <a:spcAft>
                <a:spcPts val="200"/>
              </a:spcAft>
              <a:buNone/>
            </a:pPr>
            <a:r>
              <a:rPr lang="en-US" sz="1000" dirty="0">
                <a:solidFill>
                  <a:srgbClr val="1F2937"/>
                </a:solidFill>
                <a:latin typeface="Calibri" pitchFamily="34" charset="0"/>
                <a:ea typeface="Calibri" pitchFamily="34" charset="-122"/>
                <a:cs typeface="Calibri" pitchFamily="34" charset="-120"/>
              </a:rPr>
              <a:t>signed at</a:t>
            </a:r>
            <a:endParaRPr lang="en-US" sz="1000" dirty="0"/>
          </a:p>
          <a:p>
            <a:pPr marL="0" indent="0" algn="ctr">
              <a:spcAft>
                <a:spcPts val="200"/>
              </a:spcAft>
              <a:buNone/>
            </a:pPr>
            <a:r>
              <a:rPr lang="en-US" sz="1000" dirty="0">
                <a:solidFill>
                  <a:srgbClr val="1F2937"/>
                </a:solidFill>
                <a:latin typeface="Calibri" pitchFamily="34" charset="0"/>
                <a:ea typeface="Calibri" pitchFamily="34" charset="-122"/>
                <a:cs typeface="Calibri" pitchFamily="34" charset="-120"/>
              </a:rPr>
              <a:t>FMIPA UGM</a:t>
            </a:r>
            <a:endParaRPr lang="en-US" sz="1000" dirty="0"/>
          </a:p>
        </p:txBody>
      </p:sp>
      <p:sp>
        <p:nvSpPr>
          <p:cNvPr id="16" name="Shape 14"/>
          <p:cNvSpPr/>
          <p:nvPr/>
        </p:nvSpPr>
        <p:spPr>
          <a:xfrm>
            <a:off x="3794760" y="2651760"/>
            <a:ext cx="182880" cy="182880"/>
          </a:xfrm>
          <a:prstGeom prst="ellipse">
            <a:avLst/>
          </a:prstGeom>
          <a:solidFill>
            <a:srgbClr val="C9A961"/>
          </a:solidFill>
          <a:ln w="19050">
            <a:solidFill>
              <a:srgbClr val="0F1F3F"/>
            </a:solidFill>
            <a:prstDash val="solid"/>
          </a:ln>
        </p:spPr>
        <p:txBody>
          <a:bodyPr/>
          <a:lstStyle/>
          <a:p>
            <a:endParaRPr lang="en-US"/>
          </a:p>
        </p:txBody>
      </p:sp>
      <p:sp>
        <p:nvSpPr>
          <p:cNvPr id="17" name="Text 15"/>
          <p:cNvSpPr/>
          <p:nvPr/>
        </p:nvSpPr>
        <p:spPr>
          <a:xfrm>
            <a:off x="3291840" y="2103120"/>
            <a:ext cx="1188720" cy="274320"/>
          </a:xfrm>
          <a:prstGeom prst="rect">
            <a:avLst/>
          </a:prstGeom>
          <a:noFill/>
          <a:ln/>
        </p:spPr>
        <p:txBody>
          <a:bodyPr wrap="square" lIns="0" tIns="0" rIns="0" bIns="0" rtlCol="0" anchor="ctr"/>
          <a:lstStyle/>
          <a:p>
            <a:pPr marL="0" indent="0" algn="ctr">
              <a:buNone/>
            </a:pPr>
            <a:r>
              <a:rPr lang="en-US" sz="1200" b="1" dirty="0">
                <a:solidFill>
                  <a:srgbClr val="0F1F3F"/>
                </a:solidFill>
                <a:latin typeface="Calibri" pitchFamily="34" charset="0"/>
                <a:ea typeface="Calibri" pitchFamily="34" charset="-122"/>
                <a:cs typeface="Calibri" pitchFamily="34" charset="-120"/>
              </a:rPr>
              <a:t>2017–20</a:t>
            </a:r>
            <a:endParaRPr lang="en-US" sz="1200" dirty="0"/>
          </a:p>
        </p:txBody>
      </p:sp>
      <p:sp>
        <p:nvSpPr>
          <p:cNvPr id="18" name="Text 16"/>
          <p:cNvSpPr/>
          <p:nvPr/>
        </p:nvSpPr>
        <p:spPr>
          <a:xfrm>
            <a:off x="3246120" y="2971800"/>
            <a:ext cx="1280160" cy="1371600"/>
          </a:xfrm>
          <a:prstGeom prst="rect">
            <a:avLst/>
          </a:prstGeom>
          <a:noFill/>
          <a:ln/>
        </p:spPr>
        <p:txBody>
          <a:bodyPr wrap="square" lIns="0" tIns="0" rIns="0" bIns="0" rtlCol="0" anchor="ctr"/>
          <a:lstStyle/>
          <a:p>
            <a:pPr marL="0" indent="0" algn="ctr">
              <a:spcAft>
                <a:spcPts val="200"/>
              </a:spcAft>
              <a:buNone/>
            </a:pPr>
            <a:r>
              <a:rPr lang="en-US" sz="1000" dirty="0">
                <a:solidFill>
                  <a:srgbClr val="1F2937"/>
                </a:solidFill>
                <a:latin typeface="Calibri" pitchFamily="34" charset="0"/>
                <a:ea typeface="Calibri" pitchFamily="34" charset="-122"/>
                <a:cs typeface="Calibri" pitchFamily="34" charset="-120"/>
              </a:rPr>
              <a:t>Phase I — Mt. Merapi</a:t>
            </a:r>
            <a:endParaRPr lang="en-US" sz="1000" dirty="0"/>
          </a:p>
          <a:p>
            <a:pPr marL="0" indent="0" algn="ctr">
              <a:spcAft>
                <a:spcPts val="200"/>
              </a:spcAft>
              <a:buNone/>
            </a:pPr>
            <a:r>
              <a:rPr lang="en-US" sz="1000" dirty="0">
                <a:solidFill>
                  <a:srgbClr val="1F2937"/>
                </a:solidFill>
                <a:latin typeface="Calibri" pitchFamily="34" charset="0"/>
                <a:ea typeface="Calibri" pitchFamily="34" charset="-122"/>
                <a:cs typeface="Calibri" pitchFamily="34" charset="-120"/>
              </a:rPr>
              <a:t>monitoring system</a:t>
            </a:r>
            <a:endParaRPr lang="en-US" sz="1000" dirty="0"/>
          </a:p>
          <a:p>
            <a:pPr marL="0" indent="0" algn="ctr">
              <a:spcAft>
                <a:spcPts val="200"/>
              </a:spcAft>
              <a:buNone/>
            </a:pPr>
            <a:r>
              <a:rPr lang="en-US" sz="1000" dirty="0">
                <a:solidFill>
                  <a:srgbClr val="1F2937"/>
                </a:solidFill>
                <a:latin typeface="Calibri" pitchFamily="34" charset="0"/>
                <a:ea typeface="Calibri" pitchFamily="34" charset="-122"/>
                <a:cs typeface="Calibri" pitchFamily="34" charset="-120"/>
              </a:rPr>
              <a:t>(JPY 56 million)</a:t>
            </a:r>
            <a:endParaRPr lang="en-US" sz="1000" dirty="0"/>
          </a:p>
        </p:txBody>
      </p:sp>
      <p:sp>
        <p:nvSpPr>
          <p:cNvPr id="19" name="Shape 17"/>
          <p:cNvSpPr/>
          <p:nvPr/>
        </p:nvSpPr>
        <p:spPr>
          <a:xfrm>
            <a:off x="5303520" y="2651760"/>
            <a:ext cx="182880" cy="182880"/>
          </a:xfrm>
          <a:prstGeom prst="ellipse">
            <a:avLst/>
          </a:prstGeom>
          <a:solidFill>
            <a:srgbClr val="C9A961"/>
          </a:solidFill>
          <a:ln w="19050">
            <a:solidFill>
              <a:srgbClr val="0F1F3F"/>
            </a:solidFill>
            <a:prstDash val="solid"/>
          </a:ln>
        </p:spPr>
        <p:txBody>
          <a:bodyPr/>
          <a:lstStyle/>
          <a:p>
            <a:endParaRPr lang="en-US"/>
          </a:p>
        </p:txBody>
      </p:sp>
      <p:sp>
        <p:nvSpPr>
          <p:cNvPr id="20" name="Text 18"/>
          <p:cNvSpPr/>
          <p:nvPr/>
        </p:nvSpPr>
        <p:spPr>
          <a:xfrm>
            <a:off x="4800600" y="2103120"/>
            <a:ext cx="1188720" cy="274320"/>
          </a:xfrm>
          <a:prstGeom prst="rect">
            <a:avLst/>
          </a:prstGeom>
          <a:noFill/>
          <a:ln/>
        </p:spPr>
        <p:txBody>
          <a:bodyPr wrap="square" lIns="0" tIns="0" rIns="0" bIns="0" rtlCol="0" anchor="ctr"/>
          <a:lstStyle/>
          <a:p>
            <a:pPr marL="0" indent="0" algn="ctr">
              <a:buNone/>
            </a:pPr>
            <a:r>
              <a:rPr lang="en-US" sz="1200" b="1" dirty="0">
                <a:solidFill>
                  <a:srgbClr val="0F1F3F"/>
                </a:solidFill>
                <a:latin typeface="Calibri" pitchFamily="34" charset="0"/>
                <a:ea typeface="Calibri" pitchFamily="34" charset="-122"/>
                <a:cs typeface="Calibri" pitchFamily="34" charset="-120"/>
              </a:rPr>
              <a:t>2022–24</a:t>
            </a:r>
            <a:endParaRPr lang="en-US" sz="1200" dirty="0"/>
          </a:p>
        </p:txBody>
      </p:sp>
      <p:sp>
        <p:nvSpPr>
          <p:cNvPr id="21" name="Text 19"/>
          <p:cNvSpPr/>
          <p:nvPr/>
        </p:nvSpPr>
        <p:spPr>
          <a:xfrm>
            <a:off x="4754880" y="2971800"/>
            <a:ext cx="1280160" cy="1371600"/>
          </a:xfrm>
          <a:prstGeom prst="rect">
            <a:avLst/>
          </a:prstGeom>
          <a:noFill/>
          <a:ln/>
        </p:spPr>
        <p:txBody>
          <a:bodyPr wrap="square" lIns="0" tIns="0" rIns="0" bIns="0" rtlCol="0" anchor="ctr"/>
          <a:lstStyle/>
          <a:p>
            <a:pPr marL="0" indent="0" algn="ctr">
              <a:spcAft>
                <a:spcPts val="200"/>
              </a:spcAft>
              <a:buNone/>
            </a:pPr>
            <a:r>
              <a:rPr lang="en-US" sz="1000" dirty="0">
                <a:solidFill>
                  <a:srgbClr val="1F2937"/>
                </a:solidFill>
                <a:latin typeface="Calibri" pitchFamily="34" charset="0"/>
                <a:ea typeface="Calibri" pitchFamily="34" charset="-122"/>
                <a:cs typeface="Calibri" pitchFamily="34" charset="-120"/>
              </a:rPr>
              <a:t>Phase II — Disaster-</a:t>
            </a:r>
            <a:endParaRPr lang="en-US" sz="1000" dirty="0"/>
          </a:p>
          <a:p>
            <a:pPr marL="0" indent="0" algn="ctr">
              <a:spcAft>
                <a:spcPts val="200"/>
              </a:spcAft>
              <a:buNone/>
            </a:pPr>
            <a:r>
              <a:rPr lang="en-US" sz="1000" dirty="0">
                <a:solidFill>
                  <a:srgbClr val="1F2937"/>
                </a:solidFill>
                <a:latin typeface="Calibri" pitchFamily="34" charset="0"/>
                <a:ea typeface="Calibri" pitchFamily="34" charset="-122"/>
                <a:cs typeface="Calibri" pitchFamily="34" charset="-120"/>
              </a:rPr>
              <a:t>resilient communities</a:t>
            </a:r>
            <a:endParaRPr lang="en-US" sz="1000" dirty="0"/>
          </a:p>
          <a:p>
            <a:pPr marL="0" indent="0" algn="ctr">
              <a:spcAft>
                <a:spcPts val="200"/>
              </a:spcAft>
              <a:buNone/>
            </a:pPr>
            <a:r>
              <a:rPr lang="en-US" sz="1000" dirty="0">
                <a:solidFill>
                  <a:srgbClr val="1F2937"/>
                </a:solidFill>
                <a:latin typeface="Calibri" pitchFamily="34" charset="0"/>
                <a:ea typeface="Calibri" pitchFamily="34" charset="-122"/>
                <a:cs typeface="Calibri" pitchFamily="34" charset="-120"/>
              </a:rPr>
              <a:t>(JPY 45 million)</a:t>
            </a:r>
            <a:endParaRPr lang="en-US" sz="1000" dirty="0"/>
          </a:p>
        </p:txBody>
      </p:sp>
      <p:sp>
        <p:nvSpPr>
          <p:cNvPr id="22" name="Shape 20"/>
          <p:cNvSpPr/>
          <p:nvPr/>
        </p:nvSpPr>
        <p:spPr>
          <a:xfrm>
            <a:off x="6812280" y="2651760"/>
            <a:ext cx="182880" cy="182880"/>
          </a:xfrm>
          <a:prstGeom prst="ellipse">
            <a:avLst/>
          </a:prstGeom>
          <a:solidFill>
            <a:srgbClr val="C9A961"/>
          </a:solidFill>
          <a:ln w="19050">
            <a:solidFill>
              <a:srgbClr val="0F1F3F"/>
            </a:solidFill>
            <a:prstDash val="solid"/>
          </a:ln>
        </p:spPr>
        <p:txBody>
          <a:bodyPr/>
          <a:lstStyle/>
          <a:p>
            <a:endParaRPr lang="en-US"/>
          </a:p>
        </p:txBody>
      </p:sp>
      <p:sp>
        <p:nvSpPr>
          <p:cNvPr id="23" name="Text 21"/>
          <p:cNvSpPr/>
          <p:nvPr/>
        </p:nvSpPr>
        <p:spPr>
          <a:xfrm>
            <a:off x="6309360" y="2103120"/>
            <a:ext cx="1188720" cy="274320"/>
          </a:xfrm>
          <a:prstGeom prst="rect">
            <a:avLst/>
          </a:prstGeom>
          <a:noFill/>
          <a:ln/>
        </p:spPr>
        <p:txBody>
          <a:bodyPr wrap="square" lIns="0" tIns="0" rIns="0" bIns="0" rtlCol="0" anchor="ctr"/>
          <a:lstStyle/>
          <a:p>
            <a:pPr marL="0" indent="0" algn="ctr">
              <a:buNone/>
            </a:pPr>
            <a:r>
              <a:rPr lang="en-US" sz="1200" b="1" dirty="0">
                <a:solidFill>
                  <a:srgbClr val="0F1F3F"/>
                </a:solidFill>
                <a:latin typeface="Calibri" pitchFamily="34" charset="0"/>
                <a:ea typeface="Calibri" pitchFamily="34" charset="-122"/>
                <a:cs typeface="Calibri" pitchFamily="34" charset="-120"/>
              </a:rPr>
              <a:t>2025</a:t>
            </a:r>
            <a:endParaRPr lang="en-US" sz="1200" dirty="0"/>
          </a:p>
        </p:txBody>
      </p:sp>
      <p:sp>
        <p:nvSpPr>
          <p:cNvPr id="24" name="Text 22"/>
          <p:cNvSpPr/>
          <p:nvPr/>
        </p:nvSpPr>
        <p:spPr>
          <a:xfrm>
            <a:off x="6263640" y="2971800"/>
            <a:ext cx="1280160" cy="1371600"/>
          </a:xfrm>
          <a:prstGeom prst="rect">
            <a:avLst/>
          </a:prstGeom>
          <a:noFill/>
          <a:ln/>
        </p:spPr>
        <p:txBody>
          <a:bodyPr wrap="square" lIns="0" tIns="0" rIns="0" bIns="0" rtlCol="0" anchor="ctr"/>
          <a:lstStyle/>
          <a:p>
            <a:pPr marL="0" indent="0" algn="ctr">
              <a:spcAft>
                <a:spcPts val="200"/>
              </a:spcAft>
              <a:buNone/>
            </a:pPr>
            <a:r>
              <a:rPr lang="en-US" sz="1000" dirty="0">
                <a:solidFill>
                  <a:srgbClr val="1F2937"/>
                </a:solidFill>
                <a:latin typeface="Calibri" pitchFamily="34" charset="0"/>
                <a:ea typeface="Calibri" pitchFamily="34" charset="-122"/>
                <a:cs typeface="Calibri" pitchFamily="34" charset="-120"/>
              </a:rPr>
              <a:t>Phase III —</a:t>
            </a:r>
            <a:endParaRPr lang="en-US" sz="1000" dirty="0"/>
          </a:p>
          <a:p>
            <a:pPr marL="0" indent="0" algn="ctr">
              <a:spcAft>
                <a:spcPts val="200"/>
              </a:spcAft>
              <a:buNone/>
            </a:pPr>
            <a:r>
              <a:rPr lang="en-US" sz="1000" dirty="0">
                <a:solidFill>
                  <a:srgbClr val="1F2937"/>
                </a:solidFill>
                <a:latin typeface="Calibri" pitchFamily="34" charset="0"/>
                <a:ea typeface="Calibri" pitchFamily="34" charset="-122"/>
                <a:cs typeface="Calibri" pitchFamily="34" charset="-120"/>
              </a:rPr>
              <a:t>Schoolchildren in</a:t>
            </a:r>
            <a:endParaRPr lang="en-US" sz="1000" dirty="0"/>
          </a:p>
          <a:p>
            <a:pPr marL="0" indent="0" algn="ctr">
              <a:spcAft>
                <a:spcPts val="200"/>
              </a:spcAft>
              <a:buNone/>
            </a:pPr>
            <a:r>
              <a:rPr lang="en-US" sz="1000" dirty="0">
                <a:solidFill>
                  <a:srgbClr val="1F2937"/>
                </a:solidFill>
                <a:latin typeface="Calibri" pitchFamily="34" charset="0"/>
                <a:ea typeface="Calibri" pitchFamily="34" charset="-122"/>
                <a:cs typeface="Calibri" pitchFamily="34" charset="-120"/>
              </a:rPr>
              <a:t>Dukun, Magelang</a:t>
            </a:r>
            <a:endParaRPr lang="en-US" sz="1000" dirty="0"/>
          </a:p>
        </p:txBody>
      </p:sp>
      <p:sp>
        <p:nvSpPr>
          <p:cNvPr id="25" name="Shape 23"/>
          <p:cNvSpPr/>
          <p:nvPr/>
        </p:nvSpPr>
        <p:spPr>
          <a:xfrm>
            <a:off x="8321040" y="2651760"/>
            <a:ext cx="182880" cy="182880"/>
          </a:xfrm>
          <a:prstGeom prst="ellipse">
            <a:avLst/>
          </a:prstGeom>
          <a:solidFill>
            <a:srgbClr val="C9A961"/>
          </a:solidFill>
          <a:ln w="19050">
            <a:solidFill>
              <a:srgbClr val="0F1F3F"/>
            </a:solidFill>
            <a:prstDash val="solid"/>
          </a:ln>
        </p:spPr>
        <p:txBody>
          <a:bodyPr/>
          <a:lstStyle/>
          <a:p>
            <a:endParaRPr lang="en-US"/>
          </a:p>
        </p:txBody>
      </p:sp>
      <p:sp>
        <p:nvSpPr>
          <p:cNvPr id="26" name="Text 24"/>
          <p:cNvSpPr/>
          <p:nvPr/>
        </p:nvSpPr>
        <p:spPr>
          <a:xfrm>
            <a:off x="7818120" y="2103120"/>
            <a:ext cx="1188720" cy="274320"/>
          </a:xfrm>
          <a:prstGeom prst="rect">
            <a:avLst/>
          </a:prstGeom>
          <a:noFill/>
          <a:ln/>
        </p:spPr>
        <p:txBody>
          <a:bodyPr wrap="square" lIns="0" tIns="0" rIns="0" bIns="0" rtlCol="0" anchor="ctr"/>
          <a:lstStyle/>
          <a:p>
            <a:pPr marL="0" indent="0" algn="ctr">
              <a:buNone/>
            </a:pPr>
            <a:r>
              <a:rPr lang="en-US" sz="1200" b="1" dirty="0">
                <a:solidFill>
                  <a:srgbClr val="0F1F3F"/>
                </a:solidFill>
                <a:latin typeface="Calibri" pitchFamily="34" charset="0"/>
                <a:ea typeface="Calibri" pitchFamily="34" charset="-122"/>
                <a:cs typeface="Calibri" pitchFamily="34" charset="-120"/>
              </a:rPr>
              <a:t>2025+</a:t>
            </a:r>
            <a:endParaRPr lang="en-US" sz="1200" dirty="0"/>
          </a:p>
        </p:txBody>
      </p:sp>
      <p:sp>
        <p:nvSpPr>
          <p:cNvPr id="27" name="Text 25"/>
          <p:cNvSpPr/>
          <p:nvPr/>
        </p:nvSpPr>
        <p:spPr>
          <a:xfrm>
            <a:off x="7772400" y="2971800"/>
            <a:ext cx="1280160" cy="1371600"/>
          </a:xfrm>
          <a:prstGeom prst="rect">
            <a:avLst/>
          </a:prstGeom>
          <a:noFill/>
          <a:ln/>
        </p:spPr>
        <p:txBody>
          <a:bodyPr wrap="square" lIns="0" tIns="0" rIns="0" bIns="0" rtlCol="0" anchor="ctr"/>
          <a:lstStyle/>
          <a:p>
            <a:pPr marL="0" indent="0" algn="ctr">
              <a:spcAft>
                <a:spcPts val="200"/>
              </a:spcAft>
              <a:buNone/>
            </a:pPr>
            <a:r>
              <a:rPr lang="en-US" sz="1000" dirty="0">
                <a:solidFill>
                  <a:srgbClr val="1F2937"/>
                </a:solidFill>
                <a:latin typeface="Calibri" pitchFamily="34" charset="0"/>
                <a:ea typeface="Calibri" pitchFamily="34" charset="-122"/>
                <a:cs typeface="Calibri" pitchFamily="34" charset="-120"/>
              </a:rPr>
              <a:t>Expansion to</a:t>
            </a:r>
            <a:endParaRPr lang="en-US" sz="1000" dirty="0"/>
          </a:p>
          <a:p>
            <a:pPr marL="0" indent="0" algn="ctr">
              <a:spcAft>
                <a:spcPts val="200"/>
              </a:spcAft>
              <a:buNone/>
            </a:pPr>
            <a:r>
              <a:rPr lang="en-US" sz="1000" dirty="0">
                <a:solidFill>
                  <a:srgbClr val="1F2937"/>
                </a:solidFill>
                <a:latin typeface="Calibri" pitchFamily="34" charset="0"/>
                <a:ea typeface="Calibri" pitchFamily="34" charset="-122"/>
                <a:cs typeface="Calibri" pitchFamily="34" charset="-120"/>
              </a:rPr>
              <a:t>Mount Agung,</a:t>
            </a:r>
            <a:endParaRPr lang="en-US" sz="1000" dirty="0"/>
          </a:p>
          <a:p>
            <a:pPr marL="0" indent="0" algn="ctr">
              <a:spcAft>
                <a:spcPts val="200"/>
              </a:spcAft>
              <a:buNone/>
            </a:pPr>
            <a:r>
              <a:rPr lang="en-US" sz="1000" dirty="0">
                <a:solidFill>
                  <a:srgbClr val="1F2937"/>
                </a:solidFill>
                <a:latin typeface="Calibri" pitchFamily="34" charset="0"/>
                <a:ea typeface="Calibri" pitchFamily="34" charset="-122"/>
                <a:cs typeface="Calibri" pitchFamily="34" charset="-120"/>
              </a:rPr>
              <a:t>Bali</a:t>
            </a:r>
            <a:endParaRPr lang="en-US" sz="1000" dirty="0"/>
          </a:p>
        </p:txBody>
      </p:sp>
      <p:sp>
        <p:nvSpPr>
          <p:cNvPr id="28" name="Shape 26"/>
          <p:cNvSpPr/>
          <p:nvPr/>
        </p:nvSpPr>
        <p:spPr>
          <a:xfrm>
            <a:off x="3200400" y="4526280"/>
            <a:ext cx="2743200" cy="0"/>
          </a:xfrm>
          <a:prstGeom prst="line">
            <a:avLst/>
          </a:prstGeom>
          <a:noFill/>
          <a:ln w="9525">
            <a:solidFill>
              <a:srgbClr val="C9A961"/>
            </a:solidFill>
            <a:prstDash val="solid"/>
          </a:ln>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548640" y="502920"/>
            <a:ext cx="320040" cy="0"/>
          </a:xfrm>
          <a:prstGeom prst="line">
            <a:avLst/>
          </a:prstGeom>
          <a:noFill/>
          <a:ln w="19050">
            <a:solidFill>
              <a:srgbClr val="C9A961"/>
            </a:solidFill>
            <a:prstDash val="solid"/>
          </a:ln>
        </p:spPr>
        <p:txBody>
          <a:bodyPr/>
          <a:lstStyle/>
          <a:p>
            <a:endParaRPr lang="en-US"/>
          </a:p>
        </p:txBody>
      </p:sp>
      <p:sp>
        <p:nvSpPr>
          <p:cNvPr id="3" name="Shape 1"/>
          <p:cNvSpPr/>
          <p:nvPr/>
        </p:nvSpPr>
        <p:spPr>
          <a:xfrm>
            <a:off x="548640" y="502920"/>
            <a:ext cx="0" cy="164592"/>
          </a:xfrm>
          <a:prstGeom prst="line">
            <a:avLst/>
          </a:prstGeom>
          <a:noFill/>
          <a:ln w="19050">
            <a:solidFill>
              <a:srgbClr val="C9A961"/>
            </a:solidFill>
            <a:prstDash val="solid"/>
          </a:ln>
        </p:spPr>
        <p:txBody>
          <a:bodyPr/>
          <a:lstStyle/>
          <a:p>
            <a:endParaRPr lang="en-US"/>
          </a:p>
        </p:txBody>
      </p:sp>
      <p:sp>
        <p:nvSpPr>
          <p:cNvPr id="4" name="Text 2"/>
          <p:cNvSpPr/>
          <p:nvPr/>
        </p:nvSpPr>
        <p:spPr>
          <a:xfrm>
            <a:off x="548640" y="4800600"/>
            <a:ext cx="4572000" cy="274320"/>
          </a:xfrm>
          <a:prstGeom prst="rect">
            <a:avLst/>
          </a:prstGeom>
          <a:noFill/>
          <a:ln/>
        </p:spPr>
        <p:txBody>
          <a:bodyPr wrap="square" rtlCol="0" anchor="ctr"/>
          <a:lstStyle/>
          <a:p>
            <a:pPr marL="0" indent="0">
              <a:buNone/>
            </a:pPr>
            <a:r>
              <a:rPr lang="en-US" sz="900" kern="0" spc="200" dirty="0">
                <a:solidFill>
                  <a:srgbClr val="94A3B8"/>
                </a:solidFill>
                <a:latin typeface="Calibri" pitchFamily="34" charset="0"/>
                <a:ea typeface="Calibri" pitchFamily="34" charset="-122"/>
                <a:cs typeface="Calibri" pitchFamily="34" charset="-120"/>
              </a:rPr>
              <a:t>LEAF 2026  ·  DISCUSSION · FOUR IMPLICATIONS</a:t>
            </a:r>
            <a:endParaRPr lang="en-US" sz="900" dirty="0"/>
          </a:p>
        </p:txBody>
      </p:sp>
      <p:sp>
        <p:nvSpPr>
          <p:cNvPr id="5" name="Text 3"/>
          <p:cNvSpPr/>
          <p:nvPr/>
        </p:nvSpPr>
        <p:spPr>
          <a:xfrm>
            <a:off x="8229600" y="4800600"/>
            <a:ext cx="64008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13 / 18</a:t>
            </a:r>
            <a:endParaRPr lang="en-US" sz="900" dirty="0"/>
          </a:p>
        </p:txBody>
      </p:sp>
      <p:sp>
        <p:nvSpPr>
          <p:cNvPr id="6" name="Text 4"/>
          <p:cNvSpPr/>
          <p:nvPr/>
        </p:nvSpPr>
        <p:spPr>
          <a:xfrm>
            <a:off x="548640" y="777240"/>
            <a:ext cx="8046720" cy="274320"/>
          </a:xfrm>
          <a:prstGeom prst="rect">
            <a:avLst/>
          </a:prstGeom>
          <a:noFill/>
          <a:ln/>
        </p:spPr>
        <p:txBody>
          <a:bodyPr wrap="square" lIns="0" tIns="0" rIns="0" bIns="0" rtlCol="0" anchor="ctr"/>
          <a:lstStyle/>
          <a:p>
            <a:pPr marL="0" indent="0">
              <a:buNone/>
            </a:pPr>
            <a:r>
              <a:rPr lang="en-US" sz="1000" b="1" kern="0" spc="500" dirty="0">
                <a:solidFill>
                  <a:srgbClr val="C9A961"/>
                </a:solidFill>
                <a:latin typeface="Calibri" pitchFamily="34" charset="0"/>
                <a:ea typeface="Calibri" pitchFamily="34" charset="-122"/>
                <a:cs typeface="Calibri" pitchFamily="34" charset="-120"/>
              </a:rPr>
              <a:t>11  ·  DISCUSSION  ·  FOUR IMPLICATIONS</a:t>
            </a:r>
            <a:endParaRPr lang="en-US" sz="1000" dirty="0"/>
          </a:p>
        </p:txBody>
      </p:sp>
      <p:sp>
        <p:nvSpPr>
          <p:cNvPr id="7" name="Text 5"/>
          <p:cNvSpPr/>
          <p:nvPr/>
        </p:nvSpPr>
        <p:spPr>
          <a:xfrm>
            <a:off x="548640" y="1097280"/>
            <a:ext cx="8046720" cy="457200"/>
          </a:xfrm>
          <a:prstGeom prst="rect">
            <a:avLst/>
          </a:prstGeom>
          <a:noFill/>
          <a:ln/>
        </p:spPr>
        <p:txBody>
          <a:bodyPr wrap="square" lIns="0" tIns="0" rIns="0" bIns="0" rtlCol="0" anchor="ctr"/>
          <a:lstStyle/>
          <a:p>
            <a:pPr marL="0" indent="0">
              <a:buNone/>
            </a:pPr>
            <a:r>
              <a:rPr lang="en-US" sz="2600" b="1" dirty="0">
                <a:solidFill>
                  <a:srgbClr val="1F2937"/>
                </a:solidFill>
                <a:latin typeface="Cambria" pitchFamily="34" charset="0"/>
                <a:ea typeface="Cambria" pitchFamily="34" charset="-122"/>
                <a:cs typeface="Cambria" pitchFamily="34" charset="-120"/>
              </a:rPr>
              <a:t>One experiment, four messages</a:t>
            </a:r>
            <a:endParaRPr lang="en-US" sz="2600" dirty="0"/>
          </a:p>
        </p:txBody>
      </p:sp>
      <p:sp>
        <p:nvSpPr>
          <p:cNvPr id="8" name="Shape 6"/>
          <p:cNvSpPr/>
          <p:nvPr/>
        </p:nvSpPr>
        <p:spPr>
          <a:xfrm>
            <a:off x="548640" y="1783080"/>
            <a:ext cx="3931920" cy="1234440"/>
          </a:xfrm>
          <a:prstGeom prst="roundRect">
            <a:avLst>
              <a:gd name="adj" fmla="val 4444"/>
            </a:avLst>
          </a:prstGeom>
          <a:solidFill>
            <a:srgbClr val="FFFFFF"/>
          </a:solidFill>
          <a:ln w="6350">
            <a:solidFill>
              <a:srgbClr val="D1C9B0"/>
            </a:solidFill>
            <a:prstDash val="solid"/>
          </a:ln>
          <a:effectLst>
            <a:outerShdw blurRad="76200" dist="12700" dir="5400000" algn="bl" rotWithShape="0">
              <a:srgbClr val="000000">
                <a:alpha val="6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731520" y="1965960"/>
            <a:ext cx="365760" cy="365760"/>
          </a:xfrm>
          <a:prstGeom prst="rect">
            <a:avLst/>
          </a:prstGeom>
        </p:spPr>
      </p:pic>
      <p:sp>
        <p:nvSpPr>
          <p:cNvPr id="10" name="Text 7"/>
          <p:cNvSpPr/>
          <p:nvPr/>
        </p:nvSpPr>
        <p:spPr>
          <a:xfrm>
            <a:off x="1234440" y="1965960"/>
            <a:ext cx="3108960" cy="320040"/>
          </a:xfrm>
          <a:prstGeom prst="rect">
            <a:avLst/>
          </a:prstGeom>
          <a:noFill/>
          <a:ln/>
        </p:spPr>
        <p:txBody>
          <a:bodyPr wrap="square" lIns="0" tIns="0" rIns="0" bIns="0" rtlCol="0" anchor="ctr"/>
          <a:lstStyle/>
          <a:p>
            <a:pPr marL="0" indent="0">
              <a:buNone/>
            </a:pPr>
            <a:r>
              <a:rPr lang="en-US" sz="1100" b="1" kern="0" spc="250" dirty="0">
                <a:solidFill>
                  <a:srgbClr val="C9A961"/>
                </a:solidFill>
                <a:latin typeface="Calibri" pitchFamily="34" charset="0"/>
                <a:ea typeface="Calibri" pitchFamily="34" charset="-122"/>
                <a:cs typeface="Calibri" pitchFamily="34" charset="-120"/>
              </a:rPr>
              <a:t>FOR THE SCIENTIST</a:t>
            </a:r>
            <a:endParaRPr lang="en-US" sz="1100" dirty="0"/>
          </a:p>
        </p:txBody>
      </p:sp>
      <p:sp>
        <p:nvSpPr>
          <p:cNvPr id="11" name="Shape 8"/>
          <p:cNvSpPr/>
          <p:nvPr/>
        </p:nvSpPr>
        <p:spPr>
          <a:xfrm>
            <a:off x="1234440" y="2331720"/>
            <a:ext cx="365760" cy="0"/>
          </a:xfrm>
          <a:prstGeom prst="line">
            <a:avLst/>
          </a:prstGeom>
          <a:noFill/>
          <a:ln w="12700">
            <a:solidFill>
              <a:srgbClr val="C9A961"/>
            </a:solidFill>
            <a:prstDash val="solid"/>
          </a:ln>
        </p:spPr>
        <p:txBody>
          <a:bodyPr/>
          <a:lstStyle/>
          <a:p>
            <a:endParaRPr lang="en-US"/>
          </a:p>
        </p:txBody>
      </p:sp>
      <p:sp>
        <p:nvSpPr>
          <p:cNvPr id="12" name="Text 9"/>
          <p:cNvSpPr/>
          <p:nvPr/>
        </p:nvSpPr>
        <p:spPr>
          <a:xfrm>
            <a:off x="731520" y="2423160"/>
            <a:ext cx="3611880" cy="521208"/>
          </a:xfrm>
          <a:prstGeom prst="rect">
            <a:avLst/>
          </a:prstGeom>
          <a:noFill/>
          <a:ln/>
        </p:spPr>
        <p:txBody>
          <a:bodyPr wrap="square" lIns="0" tIns="0" rIns="0" bIns="0" rtlCol="0" anchor="ctr"/>
          <a:lstStyle/>
          <a:p>
            <a:pPr marL="0" indent="0">
              <a:buNone/>
            </a:pPr>
            <a:r>
              <a:rPr lang="en-US" sz="1150" dirty="0">
                <a:solidFill>
                  <a:srgbClr val="1F2937"/>
                </a:solidFill>
                <a:latin typeface="Calibri" pitchFamily="34" charset="0"/>
                <a:ea typeface="Calibri" pitchFamily="34" charset="-122"/>
                <a:cs typeface="Calibri" pitchFamily="34" charset="-120"/>
              </a:rPr>
              <a:t>The KPI you pursue shapes the research you do. This experiment shows KPIs are not given — they can be chosen.</a:t>
            </a:r>
            <a:endParaRPr lang="en-US" sz="1150" dirty="0"/>
          </a:p>
        </p:txBody>
      </p:sp>
      <p:sp>
        <p:nvSpPr>
          <p:cNvPr id="13" name="Shape 10"/>
          <p:cNvSpPr/>
          <p:nvPr/>
        </p:nvSpPr>
        <p:spPr>
          <a:xfrm>
            <a:off x="4663440" y="1783080"/>
            <a:ext cx="3931920" cy="1234440"/>
          </a:xfrm>
          <a:prstGeom prst="roundRect">
            <a:avLst>
              <a:gd name="adj" fmla="val 4444"/>
            </a:avLst>
          </a:prstGeom>
          <a:solidFill>
            <a:srgbClr val="FFFFFF"/>
          </a:solidFill>
          <a:ln w="6350">
            <a:solidFill>
              <a:srgbClr val="D1C9B0"/>
            </a:solidFill>
            <a:prstDash val="solid"/>
          </a:ln>
          <a:effectLst>
            <a:outerShdw blurRad="76200" dist="12700" dir="5400000" algn="bl" rotWithShape="0">
              <a:srgbClr val="000000">
                <a:alpha val="6000"/>
              </a:srgbClr>
            </a:outerShdw>
          </a:effectLst>
        </p:spPr>
        <p:txBody>
          <a:bodyPr/>
          <a:lstStyle/>
          <a:p>
            <a:endParaRPr lang="en-US"/>
          </a:p>
        </p:txBody>
      </p:sp>
      <p:pic>
        <p:nvPicPr>
          <p:cNvPr id="14" name="Image 1" descr="preencoded.png"/>
          <p:cNvPicPr>
            <a:picLocks noChangeAspect="1"/>
          </p:cNvPicPr>
          <p:nvPr/>
        </p:nvPicPr>
        <p:blipFill>
          <a:blip r:embed="rId4"/>
          <a:stretch>
            <a:fillRect/>
          </a:stretch>
        </p:blipFill>
        <p:spPr>
          <a:xfrm>
            <a:off x="4846320" y="1965960"/>
            <a:ext cx="365760" cy="365760"/>
          </a:xfrm>
          <a:prstGeom prst="rect">
            <a:avLst/>
          </a:prstGeom>
        </p:spPr>
      </p:pic>
      <p:sp>
        <p:nvSpPr>
          <p:cNvPr id="15" name="Text 11"/>
          <p:cNvSpPr/>
          <p:nvPr/>
        </p:nvSpPr>
        <p:spPr>
          <a:xfrm>
            <a:off x="5349240" y="1965960"/>
            <a:ext cx="3108960" cy="320040"/>
          </a:xfrm>
          <a:prstGeom prst="rect">
            <a:avLst/>
          </a:prstGeom>
          <a:noFill/>
          <a:ln/>
        </p:spPr>
        <p:txBody>
          <a:bodyPr wrap="square" lIns="0" tIns="0" rIns="0" bIns="0" rtlCol="0" anchor="ctr"/>
          <a:lstStyle/>
          <a:p>
            <a:pPr marL="0" indent="0">
              <a:buNone/>
            </a:pPr>
            <a:r>
              <a:rPr lang="en-US" sz="1100" b="1" kern="0" spc="250" dirty="0">
                <a:solidFill>
                  <a:srgbClr val="C9A961"/>
                </a:solidFill>
                <a:latin typeface="Calibri" pitchFamily="34" charset="0"/>
                <a:ea typeface="Calibri" pitchFamily="34" charset="-122"/>
                <a:cs typeface="Calibri" pitchFamily="34" charset="-120"/>
              </a:rPr>
              <a:t>FOR THE UNIVERSITY</a:t>
            </a:r>
            <a:endParaRPr lang="en-US" sz="1100" dirty="0"/>
          </a:p>
        </p:txBody>
      </p:sp>
      <p:sp>
        <p:nvSpPr>
          <p:cNvPr id="16" name="Shape 12"/>
          <p:cNvSpPr/>
          <p:nvPr/>
        </p:nvSpPr>
        <p:spPr>
          <a:xfrm>
            <a:off x="5349240" y="2331720"/>
            <a:ext cx="365760" cy="0"/>
          </a:xfrm>
          <a:prstGeom prst="line">
            <a:avLst/>
          </a:prstGeom>
          <a:noFill/>
          <a:ln w="12700">
            <a:solidFill>
              <a:srgbClr val="C9A961"/>
            </a:solidFill>
            <a:prstDash val="solid"/>
          </a:ln>
        </p:spPr>
        <p:txBody>
          <a:bodyPr/>
          <a:lstStyle/>
          <a:p>
            <a:endParaRPr lang="en-US"/>
          </a:p>
        </p:txBody>
      </p:sp>
      <p:sp>
        <p:nvSpPr>
          <p:cNvPr id="17" name="Text 13"/>
          <p:cNvSpPr/>
          <p:nvPr/>
        </p:nvSpPr>
        <p:spPr>
          <a:xfrm>
            <a:off x="4846320" y="2423160"/>
            <a:ext cx="3611880" cy="521208"/>
          </a:xfrm>
          <a:prstGeom prst="rect">
            <a:avLst/>
          </a:prstGeom>
          <a:noFill/>
          <a:ln/>
        </p:spPr>
        <p:txBody>
          <a:bodyPr wrap="square" lIns="0" tIns="0" rIns="0" bIns="0" rtlCol="0" anchor="ctr"/>
          <a:lstStyle/>
          <a:p>
            <a:pPr marL="0" indent="0">
              <a:buNone/>
            </a:pPr>
            <a:r>
              <a:rPr lang="en-US" sz="1150" dirty="0">
                <a:solidFill>
                  <a:srgbClr val="1F2937"/>
                </a:solidFill>
                <a:latin typeface="Calibri" pitchFamily="34" charset="0"/>
                <a:ea typeface="Calibri" pitchFamily="34" charset="-122"/>
                <a:cs typeface="Calibri" pitchFamily="34" charset="-120"/>
              </a:rPr>
              <a:t>A faculty can fund part of itself from research. Implications for the budget you have been treating as fixed.</a:t>
            </a:r>
            <a:endParaRPr lang="en-US" sz="1150" dirty="0"/>
          </a:p>
        </p:txBody>
      </p:sp>
      <p:sp>
        <p:nvSpPr>
          <p:cNvPr id="18" name="Shape 14"/>
          <p:cNvSpPr/>
          <p:nvPr/>
        </p:nvSpPr>
        <p:spPr>
          <a:xfrm>
            <a:off x="548640" y="3200400"/>
            <a:ext cx="3931920" cy="1234440"/>
          </a:xfrm>
          <a:prstGeom prst="roundRect">
            <a:avLst>
              <a:gd name="adj" fmla="val 4444"/>
            </a:avLst>
          </a:prstGeom>
          <a:solidFill>
            <a:srgbClr val="FFFFFF"/>
          </a:solidFill>
          <a:ln w="6350">
            <a:solidFill>
              <a:srgbClr val="D1C9B0"/>
            </a:solidFill>
            <a:prstDash val="solid"/>
          </a:ln>
          <a:effectLst>
            <a:outerShdw blurRad="76200" dist="12700" dir="5400000" algn="bl" rotWithShape="0">
              <a:srgbClr val="000000">
                <a:alpha val="6000"/>
              </a:srgbClr>
            </a:outerShdw>
          </a:effectLst>
        </p:spPr>
        <p:txBody>
          <a:bodyPr/>
          <a:lstStyle/>
          <a:p>
            <a:endParaRPr lang="en-US"/>
          </a:p>
        </p:txBody>
      </p:sp>
      <p:pic>
        <p:nvPicPr>
          <p:cNvPr id="19" name="Image 2" descr="preencoded.png"/>
          <p:cNvPicPr>
            <a:picLocks noChangeAspect="1"/>
          </p:cNvPicPr>
          <p:nvPr/>
        </p:nvPicPr>
        <p:blipFill>
          <a:blip r:embed="rId5"/>
          <a:stretch>
            <a:fillRect/>
          </a:stretch>
        </p:blipFill>
        <p:spPr>
          <a:xfrm>
            <a:off x="731520" y="3383280"/>
            <a:ext cx="365760" cy="365760"/>
          </a:xfrm>
          <a:prstGeom prst="rect">
            <a:avLst/>
          </a:prstGeom>
        </p:spPr>
      </p:pic>
      <p:sp>
        <p:nvSpPr>
          <p:cNvPr id="20" name="Text 15"/>
          <p:cNvSpPr/>
          <p:nvPr/>
        </p:nvSpPr>
        <p:spPr>
          <a:xfrm>
            <a:off x="1234440" y="3383280"/>
            <a:ext cx="3108960" cy="320040"/>
          </a:xfrm>
          <a:prstGeom prst="rect">
            <a:avLst/>
          </a:prstGeom>
          <a:noFill/>
          <a:ln/>
        </p:spPr>
        <p:txBody>
          <a:bodyPr wrap="square" lIns="0" tIns="0" rIns="0" bIns="0" rtlCol="0" anchor="ctr"/>
          <a:lstStyle/>
          <a:p>
            <a:pPr marL="0" indent="0">
              <a:buNone/>
            </a:pPr>
            <a:r>
              <a:rPr lang="en-US" sz="1100" b="1" kern="0" spc="250" dirty="0">
                <a:solidFill>
                  <a:srgbClr val="C9A961"/>
                </a:solidFill>
                <a:latin typeface="Calibri" pitchFamily="34" charset="0"/>
                <a:ea typeface="Calibri" pitchFamily="34" charset="-122"/>
                <a:cs typeface="Calibri" pitchFamily="34" charset="-120"/>
              </a:rPr>
              <a:t>FOR THE RESEARCH AGENCY</a:t>
            </a:r>
            <a:endParaRPr lang="en-US" sz="1100" dirty="0"/>
          </a:p>
        </p:txBody>
      </p:sp>
      <p:sp>
        <p:nvSpPr>
          <p:cNvPr id="21" name="Shape 16"/>
          <p:cNvSpPr/>
          <p:nvPr/>
        </p:nvSpPr>
        <p:spPr>
          <a:xfrm>
            <a:off x="1234440" y="3749040"/>
            <a:ext cx="365760" cy="0"/>
          </a:xfrm>
          <a:prstGeom prst="line">
            <a:avLst/>
          </a:prstGeom>
          <a:noFill/>
          <a:ln w="12700">
            <a:solidFill>
              <a:srgbClr val="C9A961"/>
            </a:solidFill>
            <a:prstDash val="solid"/>
          </a:ln>
        </p:spPr>
        <p:txBody>
          <a:bodyPr/>
          <a:lstStyle/>
          <a:p>
            <a:endParaRPr lang="en-US"/>
          </a:p>
        </p:txBody>
      </p:sp>
      <p:sp>
        <p:nvSpPr>
          <p:cNvPr id="22" name="Text 17"/>
          <p:cNvSpPr/>
          <p:nvPr/>
        </p:nvSpPr>
        <p:spPr>
          <a:xfrm>
            <a:off x="731520" y="3840480"/>
            <a:ext cx="3611880" cy="521208"/>
          </a:xfrm>
          <a:prstGeom prst="rect">
            <a:avLst/>
          </a:prstGeom>
          <a:noFill/>
          <a:ln/>
        </p:spPr>
        <p:txBody>
          <a:bodyPr wrap="square" lIns="0" tIns="0" rIns="0" bIns="0" rtlCol="0" anchor="ctr"/>
          <a:lstStyle/>
          <a:p>
            <a:pPr marL="0" indent="0">
              <a:buNone/>
            </a:pPr>
            <a:r>
              <a:rPr lang="en-US" sz="1150" dirty="0">
                <a:solidFill>
                  <a:srgbClr val="1F2937"/>
                </a:solidFill>
                <a:latin typeface="Calibri" pitchFamily="34" charset="0"/>
                <a:ea typeface="Calibri" pitchFamily="34" charset="-122"/>
                <a:cs typeface="Calibri" pitchFamily="34" charset="-120"/>
              </a:rPr>
              <a:t>One experimental KPI moved one faculty. What would happen if it became national policy?</a:t>
            </a:r>
            <a:endParaRPr lang="en-US" sz="1150" dirty="0"/>
          </a:p>
        </p:txBody>
      </p:sp>
      <p:sp>
        <p:nvSpPr>
          <p:cNvPr id="23" name="Shape 18"/>
          <p:cNvSpPr/>
          <p:nvPr/>
        </p:nvSpPr>
        <p:spPr>
          <a:xfrm>
            <a:off x="4663440" y="3200400"/>
            <a:ext cx="3931920" cy="1234440"/>
          </a:xfrm>
          <a:prstGeom prst="roundRect">
            <a:avLst>
              <a:gd name="adj" fmla="val 4444"/>
            </a:avLst>
          </a:prstGeom>
          <a:solidFill>
            <a:srgbClr val="FFFFFF"/>
          </a:solidFill>
          <a:ln w="6350">
            <a:solidFill>
              <a:srgbClr val="D1C9B0"/>
            </a:solidFill>
            <a:prstDash val="solid"/>
          </a:ln>
          <a:effectLst>
            <a:outerShdw blurRad="76200" dist="12700" dir="5400000" algn="bl" rotWithShape="0">
              <a:srgbClr val="000000">
                <a:alpha val="6000"/>
              </a:srgbClr>
            </a:outerShdw>
          </a:effectLst>
        </p:spPr>
        <p:txBody>
          <a:bodyPr/>
          <a:lstStyle/>
          <a:p>
            <a:endParaRPr lang="en-US"/>
          </a:p>
        </p:txBody>
      </p:sp>
      <p:pic>
        <p:nvPicPr>
          <p:cNvPr id="24" name="Image 3" descr="preencoded.png"/>
          <p:cNvPicPr>
            <a:picLocks noChangeAspect="1"/>
          </p:cNvPicPr>
          <p:nvPr/>
        </p:nvPicPr>
        <p:blipFill>
          <a:blip r:embed="rId6"/>
          <a:stretch>
            <a:fillRect/>
          </a:stretch>
        </p:blipFill>
        <p:spPr>
          <a:xfrm>
            <a:off x="4846320" y="3383280"/>
            <a:ext cx="365760" cy="365760"/>
          </a:xfrm>
          <a:prstGeom prst="rect">
            <a:avLst/>
          </a:prstGeom>
        </p:spPr>
      </p:pic>
      <p:sp>
        <p:nvSpPr>
          <p:cNvPr id="25" name="Text 19"/>
          <p:cNvSpPr/>
          <p:nvPr/>
        </p:nvSpPr>
        <p:spPr>
          <a:xfrm>
            <a:off x="5349240" y="3383280"/>
            <a:ext cx="3108960" cy="320040"/>
          </a:xfrm>
          <a:prstGeom prst="rect">
            <a:avLst/>
          </a:prstGeom>
          <a:noFill/>
          <a:ln/>
        </p:spPr>
        <p:txBody>
          <a:bodyPr wrap="square" lIns="0" tIns="0" rIns="0" bIns="0" rtlCol="0" anchor="ctr"/>
          <a:lstStyle/>
          <a:p>
            <a:pPr marL="0" indent="0">
              <a:buNone/>
            </a:pPr>
            <a:r>
              <a:rPr lang="en-US" sz="1100" b="1" kern="0" spc="250" dirty="0">
                <a:solidFill>
                  <a:srgbClr val="C9A961"/>
                </a:solidFill>
                <a:latin typeface="Calibri" pitchFamily="34" charset="0"/>
                <a:ea typeface="Calibri" pitchFamily="34" charset="-122"/>
                <a:cs typeface="Calibri" pitchFamily="34" charset="-120"/>
              </a:rPr>
              <a:t>FOR INDUSTRY</a:t>
            </a:r>
            <a:endParaRPr lang="en-US" sz="1100" dirty="0"/>
          </a:p>
        </p:txBody>
      </p:sp>
      <p:sp>
        <p:nvSpPr>
          <p:cNvPr id="26" name="Shape 20"/>
          <p:cNvSpPr/>
          <p:nvPr/>
        </p:nvSpPr>
        <p:spPr>
          <a:xfrm>
            <a:off x="5349240" y="3749040"/>
            <a:ext cx="365760" cy="0"/>
          </a:xfrm>
          <a:prstGeom prst="line">
            <a:avLst/>
          </a:prstGeom>
          <a:noFill/>
          <a:ln w="12700">
            <a:solidFill>
              <a:srgbClr val="C9A961"/>
            </a:solidFill>
            <a:prstDash val="solid"/>
          </a:ln>
        </p:spPr>
        <p:txBody>
          <a:bodyPr/>
          <a:lstStyle/>
          <a:p>
            <a:endParaRPr lang="en-US"/>
          </a:p>
        </p:txBody>
      </p:sp>
      <p:sp>
        <p:nvSpPr>
          <p:cNvPr id="27" name="Text 21"/>
          <p:cNvSpPr/>
          <p:nvPr/>
        </p:nvSpPr>
        <p:spPr>
          <a:xfrm>
            <a:off x="4846320" y="3840480"/>
            <a:ext cx="3611880" cy="521208"/>
          </a:xfrm>
          <a:prstGeom prst="rect">
            <a:avLst/>
          </a:prstGeom>
          <a:noFill/>
          <a:ln/>
        </p:spPr>
        <p:txBody>
          <a:bodyPr wrap="square" lIns="0" tIns="0" rIns="0" bIns="0" rtlCol="0" anchor="ctr"/>
          <a:lstStyle/>
          <a:p>
            <a:pPr marL="0" indent="0">
              <a:buNone/>
            </a:pPr>
            <a:r>
              <a:rPr lang="en-US" sz="1150" dirty="0">
                <a:solidFill>
                  <a:srgbClr val="1F2937"/>
                </a:solidFill>
                <a:latin typeface="Calibri" pitchFamily="34" charset="0"/>
                <a:ea typeface="Calibri" pitchFamily="34" charset="-122"/>
                <a:cs typeface="Calibri" pitchFamily="34" charset="-120"/>
              </a:rPr>
              <a:t>Academia responds when given the right signal. The signal you send shapes the answers you receive.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F3F"/>
        </a:solidFill>
        <a:effectLst/>
      </p:bgPr>
    </p:bg>
    <p:spTree>
      <p:nvGrpSpPr>
        <p:cNvPr id="1" name=""/>
        <p:cNvGrpSpPr/>
        <p:nvPr/>
      </p:nvGrpSpPr>
      <p:grpSpPr>
        <a:xfrm>
          <a:off x="0" y="0"/>
          <a:ext cx="0" cy="0"/>
          <a:chOff x="0" y="0"/>
          <a:chExt cx="0" cy="0"/>
        </a:xfrm>
      </p:grpSpPr>
      <p:sp>
        <p:nvSpPr>
          <p:cNvPr id="2" name="Shape 0"/>
          <p:cNvSpPr/>
          <p:nvPr/>
        </p:nvSpPr>
        <p:spPr>
          <a:xfrm>
            <a:off x="548640" y="640080"/>
            <a:ext cx="1280160" cy="0"/>
          </a:xfrm>
          <a:prstGeom prst="line">
            <a:avLst/>
          </a:prstGeom>
          <a:noFill/>
          <a:ln w="19050">
            <a:solidFill>
              <a:srgbClr val="C9A961"/>
            </a:solidFill>
            <a:prstDash val="solid"/>
          </a:ln>
        </p:spPr>
        <p:txBody>
          <a:bodyPr/>
          <a:lstStyle/>
          <a:p>
            <a:endParaRPr lang="en-US"/>
          </a:p>
        </p:txBody>
      </p:sp>
      <p:sp>
        <p:nvSpPr>
          <p:cNvPr id="3" name="Text 1"/>
          <p:cNvSpPr/>
          <p:nvPr/>
        </p:nvSpPr>
        <p:spPr>
          <a:xfrm>
            <a:off x="548640" y="777240"/>
            <a:ext cx="8046720" cy="274320"/>
          </a:xfrm>
          <a:prstGeom prst="rect">
            <a:avLst/>
          </a:prstGeom>
          <a:noFill/>
          <a:ln/>
        </p:spPr>
        <p:txBody>
          <a:bodyPr wrap="square" lIns="0" tIns="0" rIns="0" bIns="0" rtlCol="0" anchor="ctr"/>
          <a:lstStyle/>
          <a:p>
            <a:pPr marL="0" indent="0">
              <a:buNone/>
            </a:pPr>
            <a:r>
              <a:rPr lang="en-US" sz="1000" b="1" kern="0" spc="500" dirty="0">
                <a:solidFill>
                  <a:srgbClr val="C9A961"/>
                </a:solidFill>
                <a:latin typeface="Calibri" pitchFamily="34" charset="0"/>
                <a:ea typeface="Calibri" pitchFamily="34" charset="-122"/>
                <a:cs typeface="Calibri" pitchFamily="34" charset="-120"/>
              </a:rPr>
              <a:t>12  ·  DISCUSSION  ·  THE BIGGER EXPERIMENT</a:t>
            </a:r>
            <a:endParaRPr lang="en-US" sz="1000" dirty="0"/>
          </a:p>
        </p:txBody>
      </p:sp>
      <p:sp>
        <p:nvSpPr>
          <p:cNvPr id="4" name="Text 2"/>
          <p:cNvSpPr/>
          <p:nvPr/>
        </p:nvSpPr>
        <p:spPr>
          <a:xfrm>
            <a:off x="548640" y="1097280"/>
            <a:ext cx="8046720" cy="45720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If one faculty's experiment scales…</a:t>
            </a:r>
            <a:endParaRPr lang="en-US" sz="2600" dirty="0"/>
          </a:p>
        </p:txBody>
      </p:sp>
      <p:sp>
        <p:nvSpPr>
          <p:cNvPr id="5" name="Text 3"/>
          <p:cNvSpPr/>
          <p:nvPr/>
        </p:nvSpPr>
        <p:spPr>
          <a:xfrm>
            <a:off x="548640" y="1828800"/>
            <a:ext cx="8046720" cy="365760"/>
          </a:xfrm>
          <a:prstGeom prst="rect">
            <a:avLst/>
          </a:prstGeom>
          <a:noFill/>
          <a:ln/>
        </p:spPr>
        <p:txBody>
          <a:bodyPr wrap="square" lIns="0" tIns="0" rIns="0" bIns="0" rtlCol="0" anchor="ctr"/>
          <a:lstStyle/>
          <a:p>
            <a:pPr marL="0" indent="0" algn="ctr">
              <a:buNone/>
            </a:pPr>
            <a:r>
              <a:rPr lang="en-US" sz="1600" i="1" dirty="0">
                <a:solidFill>
                  <a:srgbClr val="94A3B8"/>
                </a:solidFill>
                <a:latin typeface="Cambria" pitchFamily="34" charset="0"/>
                <a:ea typeface="Cambria" pitchFamily="34" charset="-122"/>
                <a:cs typeface="Cambria" pitchFamily="34" charset="-120"/>
              </a:rPr>
              <a:t>FMIPA UGM is one faculty in one university.</a:t>
            </a:r>
            <a:endParaRPr lang="en-US" sz="1600" dirty="0"/>
          </a:p>
        </p:txBody>
      </p:sp>
      <p:sp>
        <p:nvSpPr>
          <p:cNvPr id="6" name="Text 4"/>
          <p:cNvSpPr/>
          <p:nvPr/>
        </p:nvSpPr>
        <p:spPr>
          <a:xfrm>
            <a:off x="548640" y="2423160"/>
            <a:ext cx="2377440" cy="777240"/>
          </a:xfrm>
          <a:prstGeom prst="rect">
            <a:avLst/>
          </a:prstGeom>
          <a:noFill/>
          <a:ln/>
        </p:spPr>
        <p:txBody>
          <a:bodyPr wrap="square" lIns="0" tIns="0" rIns="0" bIns="0" rtlCol="0" anchor="ctr"/>
          <a:lstStyle/>
          <a:p>
            <a:pPr marL="0" indent="0" algn="ctr">
              <a:buNone/>
            </a:pPr>
            <a:r>
              <a:rPr lang="en-US" sz="4400" b="1" dirty="0">
                <a:solidFill>
                  <a:srgbClr val="C9A961"/>
                </a:solidFill>
                <a:latin typeface="Cambria" pitchFamily="34" charset="0"/>
                <a:ea typeface="Cambria" pitchFamily="34" charset="-122"/>
                <a:cs typeface="Cambria" pitchFamily="34" charset="-120"/>
              </a:rPr>
              <a:t>4,000+</a:t>
            </a:r>
            <a:endParaRPr lang="en-US" sz="4400" dirty="0"/>
          </a:p>
        </p:txBody>
      </p:sp>
      <p:sp>
        <p:nvSpPr>
          <p:cNvPr id="7" name="Shape 5"/>
          <p:cNvSpPr/>
          <p:nvPr/>
        </p:nvSpPr>
        <p:spPr>
          <a:xfrm>
            <a:off x="1280160" y="3291840"/>
            <a:ext cx="914400" cy="0"/>
          </a:xfrm>
          <a:prstGeom prst="line">
            <a:avLst/>
          </a:prstGeom>
          <a:noFill/>
          <a:ln w="12700">
            <a:solidFill>
              <a:srgbClr val="C9A961"/>
            </a:solidFill>
            <a:prstDash val="solid"/>
          </a:ln>
        </p:spPr>
        <p:txBody>
          <a:bodyPr/>
          <a:lstStyle/>
          <a:p>
            <a:endParaRPr lang="en-US"/>
          </a:p>
        </p:txBody>
      </p:sp>
      <p:sp>
        <p:nvSpPr>
          <p:cNvPr id="8" name="Text 6"/>
          <p:cNvSpPr/>
          <p:nvPr/>
        </p:nvSpPr>
        <p:spPr>
          <a:xfrm>
            <a:off x="548640" y="3383280"/>
            <a:ext cx="237744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Higher education</a:t>
            </a:r>
            <a:endParaRPr lang="en-US" sz="1200" dirty="0"/>
          </a:p>
        </p:txBody>
      </p:sp>
      <p:sp>
        <p:nvSpPr>
          <p:cNvPr id="9" name="Text 7"/>
          <p:cNvSpPr/>
          <p:nvPr/>
        </p:nvSpPr>
        <p:spPr>
          <a:xfrm>
            <a:off x="548640" y="3657600"/>
            <a:ext cx="2377440" cy="274320"/>
          </a:xfrm>
          <a:prstGeom prst="rect">
            <a:avLst/>
          </a:prstGeom>
          <a:noFill/>
          <a:ln/>
        </p:spPr>
        <p:txBody>
          <a:bodyPr wrap="square" lIns="0" tIns="0" rIns="0" bIns="0" rtlCol="0" anchor="ctr"/>
          <a:lstStyle/>
          <a:p>
            <a:pPr marL="0" indent="0" algn="ctr">
              <a:buNone/>
            </a:pPr>
            <a:r>
              <a:rPr lang="en-US" sz="1050" i="1" dirty="0">
                <a:solidFill>
                  <a:srgbClr val="94A3B8"/>
                </a:solidFill>
                <a:latin typeface="Calibri" pitchFamily="34" charset="0"/>
                <a:ea typeface="Calibri" pitchFamily="34" charset="-122"/>
                <a:cs typeface="Calibri" pitchFamily="34" charset="-120"/>
              </a:rPr>
              <a:t>institutions in Indonesia</a:t>
            </a:r>
            <a:endParaRPr lang="en-US" sz="1050" dirty="0"/>
          </a:p>
        </p:txBody>
      </p:sp>
      <p:sp>
        <p:nvSpPr>
          <p:cNvPr id="10" name="Text 8"/>
          <p:cNvSpPr/>
          <p:nvPr/>
        </p:nvSpPr>
        <p:spPr>
          <a:xfrm>
            <a:off x="3383280" y="2423160"/>
            <a:ext cx="2377440" cy="777240"/>
          </a:xfrm>
          <a:prstGeom prst="rect">
            <a:avLst/>
          </a:prstGeom>
          <a:noFill/>
          <a:ln/>
        </p:spPr>
        <p:txBody>
          <a:bodyPr wrap="square" lIns="0" tIns="0" rIns="0" bIns="0" rtlCol="0" anchor="ctr"/>
          <a:lstStyle/>
          <a:p>
            <a:pPr marL="0" indent="0" algn="ctr">
              <a:buNone/>
            </a:pPr>
            <a:r>
              <a:rPr lang="en-US" sz="4400" b="1" dirty="0">
                <a:solidFill>
                  <a:srgbClr val="C9A961"/>
                </a:solidFill>
                <a:latin typeface="Cambria" pitchFamily="34" charset="0"/>
                <a:ea typeface="Cambria" pitchFamily="34" charset="-122"/>
                <a:cs typeface="Cambria" pitchFamily="34" charset="-120"/>
              </a:rPr>
              <a:t>300,000+</a:t>
            </a:r>
            <a:endParaRPr lang="en-US" sz="4400" dirty="0"/>
          </a:p>
        </p:txBody>
      </p:sp>
      <p:sp>
        <p:nvSpPr>
          <p:cNvPr id="11" name="Shape 9"/>
          <p:cNvSpPr/>
          <p:nvPr/>
        </p:nvSpPr>
        <p:spPr>
          <a:xfrm>
            <a:off x="4114800" y="3291840"/>
            <a:ext cx="914400" cy="0"/>
          </a:xfrm>
          <a:prstGeom prst="line">
            <a:avLst/>
          </a:prstGeom>
          <a:noFill/>
          <a:ln w="12700">
            <a:solidFill>
              <a:srgbClr val="C9A961"/>
            </a:solidFill>
            <a:prstDash val="solid"/>
          </a:ln>
        </p:spPr>
        <p:txBody>
          <a:bodyPr/>
          <a:lstStyle/>
          <a:p>
            <a:endParaRPr lang="en-US"/>
          </a:p>
        </p:txBody>
      </p:sp>
      <p:sp>
        <p:nvSpPr>
          <p:cNvPr id="12" name="Text 10"/>
          <p:cNvSpPr/>
          <p:nvPr/>
        </p:nvSpPr>
        <p:spPr>
          <a:xfrm>
            <a:off x="3383280" y="3383280"/>
            <a:ext cx="237744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Lecturers</a:t>
            </a:r>
            <a:endParaRPr lang="en-US" sz="1200" dirty="0"/>
          </a:p>
        </p:txBody>
      </p:sp>
      <p:sp>
        <p:nvSpPr>
          <p:cNvPr id="13" name="Text 11"/>
          <p:cNvSpPr/>
          <p:nvPr/>
        </p:nvSpPr>
        <p:spPr>
          <a:xfrm>
            <a:off x="3383280" y="3657600"/>
            <a:ext cx="2377440" cy="274320"/>
          </a:xfrm>
          <a:prstGeom prst="rect">
            <a:avLst/>
          </a:prstGeom>
          <a:noFill/>
          <a:ln/>
        </p:spPr>
        <p:txBody>
          <a:bodyPr wrap="square" lIns="0" tIns="0" rIns="0" bIns="0" rtlCol="0" anchor="ctr"/>
          <a:lstStyle/>
          <a:p>
            <a:pPr marL="0" indent="0" algn="ctr">
              <a:buNone/>
            </a:pPr>
            <a:r>
              <a:rPr lang="en-US" sz="1050" i="1" dirty="0">
                <a:solidFill>
                  <a:srgbClr val="94A3B8"/>
                </a:solidFill>
                <a:latin typeface="Calibri" pitchFamily="34" charset="0"/>
                <a:ea typeface="Calibri" pitchFamily="34" charset="-122"/>
                <a:cs typeface="Calibri" pitchFamily="34" charset="-120"/>
              </a:rPr>
              <a:t>in tertiary education</a:t>
            </a:r>
            <a:endParaRPr lang="en-US" sz="1050" dirty="0"/>
          </a:p>
        </p:txBody>
      </p:sp>
      <p:sp>
        <p:nvSpPr>
          <p:cNvPr id="14" name="Text 12"/>
          <p:cNvSpPr/>
          <p:nvPr/>
        </p:nvSpPr>
        <p:spPr>
          <a:xfrm>
            <a:off x="6217920" y="2423160"/>
            <a:ext cx="2377440" cy="777240"/>
          </a:xfrm>
          <a:prstGeom prst="rect">
            <a:avLst/>
          </a:prstGeom>
          <a:noFill/>
          <a:ln/>
        </p:spPr>
        <p:txBody>
          <a:bodyPr wrap="square" lIns="0" tIns="0" rIns="0" bIns="0" rtlCol="0" anchor="ctr"/>
          <a:lstStyle/>
          <a:p>
            <a:pPr marL="0" indent="0" algn="ctr">
              <a:buNone/>
            </a:pPr>
            <a:r>
              <a:rPr lang="en-US" sz="4400" b="1" dirty="0">
                <a:solidFill>
                  <a:srgbClr val="C9A961"/>
                </a:solidFill>
                <a:latin typeface="Cambria" pitchFamily="34" charset="0"/>
                <a:ea typeface="Cambria" pitchFamily="34" charset="-122"/>
                <a:cs typeface="Cambria" pitchFamily="34" charset="-120"/>
              </a:rPr>
              <a:t>100+</a:t>
            </a:r>
            <a:endParaRPr lang="en-US" sz="4400" dirty="0"/>
          </a:p>
        </p:txBody>
      </p:sp>
      <p:sp>
        <p:nvSpPr>
          <p:cNvPr id="15" name="Shape 13"/>
          <p:cNvSpPr/>
          <p:nvPr/>
        </p:nvSpPr>
        <p:spPr>
          <a:xfrm>
            <a:off x="6949440" y="3291840"/>
            <a:ext cx="914400" cy="0"/>
          </a:xfrm>
          <a:prstGeom prst="line">
            <a:avLst/>
          </a:prstGeom>
          <a:noFill/>
          <a:ln w="12700">
            <a:solidFill>
              <a:srgbClr val="C9A961"/>
            </a:solidFill>
            <a:prstDash val="solid"/>
          </a:ln>
        </p:spPr>
        <p:txBody>
          <a:bodyPr/>
          <a:lstStyle/>
          <a:p>
            <a:endParaRPr lang="en-US"/>
          </a:p>
        </p:txBody>
      </p:sp>
      <p:sp>
        <p:nvSpPr>
          <p:cNvPr id="16" name="Text 14"/>
          <p:cNvSpPr/>
          <p:nvPr/>
        </p:nvSpPr>
        <p:spPr>
          <a:xfrm>
            <a:off x="6217920" y="3383280"/>
            <a:ext cx="237744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Research centers</a:t>
            </a:r>
            <a:endParaRPr lang="en-US" sz="1200" dirty="0"/>
          </a:p>
        </p:txBody>
      </p:sp>
      <p:sp>
        <p:nvSpPr>
          <p:cNvPr id="17" name="Text 15"/>
          <p:cNvSpPr/>
          <p:nvPr/>
        </p:nvSpPr>
        <p:spPr>
          <a:xfrm>
            <a:off x="6217920" y="3657600"/>
            <a:ext cx="2377440" cy="274320"/>
          </a:xfrm>
          <a:prstGeom prst="rect">
            <a:avLst/>
          </a:prstGeom>
          <a:noFill/>
          <a:ln/>
        </p:spPr>
        <p:txBody>
          <a:bodyPr wrap="square" lIns="0" tIns="0" rIns="0" bIns="0" rtlCol="0" anchor="ctr"/>
          <a:lstStyle/>
          <a:p>
            <a:pPr marL="0" indent="0" algn="ctr">
              <a:buNone/>
            </a:pPr>
            <a:r>
              <a:rPr lang="en-US" sz="1050" i="1" dirty="0">
                <a:solidFill>
                  <a:srgbClr val="94A3B8"/>
                </a:solidFill>
                <a:latin typeface="Calibri" pitchFamily="34" charset="0"/>
                <a:ea typeface="Calibri" pitchFamily="34" charset="-122"/>
                <a:cs typeface="Calibri" pitchFamily="34" charset="-120"/>
              </a:rPr>
              <a:t>under BRIN &amp; ministries</a:t>
            </a:r>
            <a:endParaRPr lang="en-US" sz="1050" dirty="0"/>
          </a:p>
        </p:txBody>
      </p:sp>
      <p:sp>
        <p:nvSpPr>
          <p:cNvPr id="18" name="Shape 16"/>
          <p:cNvSpPr/>
          <p:nvPr/>
        </p:nvSpPr>
        <p:spPr>
          <a:xfrm>
            <a:off x="3657600" y="4251960"/>
            <a:ext cx="1828800" cy="0"/>
          </a:xfrm>
          <a:prstGeom prst="line">
            <a:avLst/>
          </a:prstGeom>
          <a:noFill/>
          <a:ln w="9525">
            <a:solidFill>
              <a:srgbClr val="C9A961"/>
            </a:solidFill>
            <a:prstDash val="solid"/>
          </a:ln>
        </p:spPr>
        <p:txBody>
          <a:bodyPr/>
          <a:lstStyle/>
          <a:p>
            <a:endParaRPr lang="en-US"/>
          </a:p>
        </p:txBody>
      </p:sp>
      <p:sp>
        <p:nvSpPr>
          <p:cNvPr id="19" name="Text 17"/>
          <p:cNvSpPr/>
          <p:nvPr/>
        </p:nvSpPr>
        <p:spPr>
          <a:xfrm>
            <a:off x="548640" y="4389120"/>
            <a:ext cx="8046720" cy="365760"/>
          </a:xfrm>
          <a:prstGeom prst="rect">
            <a:avLst/>
          </a:prstGeom>
          <a:noFill/>
          <a:ln/>
        </p:spPr>
        <p:txBody>
          <a:bodyPr wrap="square" lIns="0" tIns="0" rIns="0" bIns="0" rtlCol="0" anchor="ctr"/>
          <a:lstStyle/>
          <a:p>
            <a:pPr marL="0" indent="0" algn="ctr">
              <a:buNone/>
            </a:pPr>
            <a:r>
              <a:rPr lang="en-US" sz="1600" i="1" dirty="0">
                <a:solidFill>
                  <a:srgbClr val="94A3B8"/>
                </a:solidFill>
                <a:latin typeface="Cambria" pitchFamily="34" charset="0"/>
                <a:ea typeface="Cambria" pitchFamily="34" charset="-122"/>
                <a:cs typeface="Cambria" pitchFamily="34" charset="-120"/>
              </a:rPr>
              <a:t>If even ten percent adopted the experimental KPI — </a:t>
            </a:r>
            <a:r>
              <a:rPr lang="en-US" sz="1600" b="1" i="1" dirty="0">
                <a:solidFill>
                  <a:srgbClr val="C9A961"/>
                </a:solidFill>
                <a:latin typeface="Cambria" pitchFamily="34" charset="0"/>
                <a:ea typeface="Cambria" pitchFamily="34" charset="-122"/>
                <a:cs typeface="Cambria" pitchFamily="34" charset="-120"/>
              </a:rPr>
              <a:t>what would change?</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548640" y="502920"/>
            <a:ext cx="320040" cy="0"/>
          </a:xfrm>
          <a:prstGeom prst="line">
            <a:avLst/>
          </a:prstGeom>
          <a:noFill/>
          <a:ln w="19050">
            <a:solidFill>
              <a:srgbClr val="C9A961"/>
            </a:solidFill>
            <a:prstDash val="solid"/>
          </a:ln>
        </p:spPr>
        <p:txBody>
          <a:bodyPr/>
          <a:lstStyle/>
          <a:p>
            <a:endParaRPr lang="en-US"/>
          </a:p>
        </p:txBody>
      </p:sp>
      <p:sp>
        <p:nvSpPr>
          <p:cNvPr id="3" name="Shape 1"/>
          <p:cNvSpPr/>
          <p:nvPr/>
        </p:nvSpPr>
        <p:spPr>
          <a:xfrm>
            <a:off x="548640" y="502920"/>
            <a:ext cx="0" cy="164592"/>
          </a:xfrm>
          <a:prstGeom prst="line">
            <a:avLst/>
          </a:prstGeom>
          <a:noFill/>
          <a:ln w="19050">
            <a:solidFill>
              <a:srgbClr val="C9A961"/>
            </a:solidFill>
            <a:prstDash val="solid"/>
          </a:ln>
        </p:spPr>
        <p:txBody>
          <a:bodyPr/>
          <a:lstStyle/>
          <a:p>
            <a:endParaRPr lang="en-US"/>
          </a:p>
        </p:txBody>
      </p:sp>
      <p:sp>
        <p:nvSpPr>
          <p:cNvPr id="4" name="Text 2"/>
          <p:cNvSpPr/>
          <p:nvPr/>
        </p:nvSpPr>
        <p:spPr>
          <a:xfrm>
            <a:off x="548640" y="4800600"/>
            <a:ext cx="4572000" cy="274320"/>
          </a:xfrm>
          <a:prstGeom prst="rect">
            <a:avLst/>
          </a:prstGeom>
          <a:noFill/>
          <a:ln/>
        </p:spPr>
        <p:txBody>
          <a:bodyPr wrap="square" rtlCol="0" anchor="ctr"/>
          <a:lstStyle/>
          <a:p>
            <a:pPr marL="0" indent="0">
              <a:buNone/>
            </a:pPr>
            <a:r>
              <a:rPr lang="en-US" sz="900" kern="0" spc="200" dirty="0">
                <a:solidFill>
                  <a:srgbClr val="94A3B8"/>
                </a:solidFill>
                <a:latin typeface="Calibri" pitchFamily="34" charset="0"/>
                <a:ea typeface="Calibri" pitchFamily="34" charset="-122"/>
                <a:cs typeface="Calibri" pitchFamily="34" charset="-120"/>
              </a:rPr>
              <a:t>LEAF 2026  ·  DISCUSSION · LIMITATIONS</a:t>
            </a:r>
            <a:endParaRPr lang="en-US" sz="900" dirty="0"/>
          </a:p>
        </p:txBody>
      </p:sp>
      <p:sp>
        <p:nvSpPr>
          <p:cNvPr id="5" name="Text 3"/>
          <p:cNvSpPr/>
          <p:nvPr/>
        </p:nvSpPr>
        <p:spPr>
          <a:xfrm>
            <a:off x="8229600" y="4800600"/>
            <a:ext cx="64008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15 / 18</a:t>
            </a:r>
            <a:endParaRPr lang="en-US" sz="900" dirty="0"/>
          </a:p>
        </p:txBody>
      </p:sp>
      <p:sp>
        <p:nvSpPr>
          <p:cNvPr id="6" name="Text 4"/>
          <p:cNvSpPr/>
          <p:nvPr/>
        </p:nvSpPr>
        <p:spPr>
          <a:xfrm>
            <a:off x="548640" y="777240"/>
            <a:ext cx="8046720" cy="274320"/>
          </a:xfrm>
          <a:prstGeom prst="rect">
            <a:avLst/>
          </a:prstGeom>
          <a:noFill/>
          <a:ln/>
        </p:spPr>
        <p:txBody>
          <a:bodyPr wrap="square" lIns="0" tIns="0" rIns="0" bIns="0" rtlCol="0" anchor="ctr"/>
          <a:lstStyle/>
          <a:p>
            <a:pPr marL="0" indent="0">
              <a:buNone/>
            </a:pPr>
            <a:r>
              <a:rPr lang="en-US" sz="1000" b="1" kern="0" spc="500" dirty="0">
                <a:solidFill>
                  <a:srgbClr val="C9A961"/>
                </a:solidFill>
                <a:latin typeface="Calibri" pitchFamily="34" charset="0"/>
                <a:ea typeface="Calibri" pitchFamily="34" charset="-122"/>
                <a:cs typeface="Calibri" pitchFamily="34" charset="-120"/>
              </a:rPr>
              <a:t>13  ·  LIMITATIONS  ·  WHAT THIS TALK IS NOT</a:t>
            </a:r>
            <a:endParaRPr lang="en-US" sz="1000" dirty="0"/>
          </a:p>
        </p:txBody>
      </p:sp>
      <p:sp>
        <p:nvSpPr>
          <p:cNvPr id="7" name="Text 5"/>
          <p:cNvSpPr/>
          <p:nvPr/>
        </p:nvSpPr>
        <p:spPr>
          <a:xfrm>
            <a:off x="548640" y="1097280"/>
            <a:ext cx="8046720" cy="457200"/>
          </a:xfrm>
          <a:prstGeom prst="rect">
            <a:avLst/>
          </a:prstGeom>
          <a:noFill/>
          <a:ln/>
        </p:spPr>
        <p:txBody>
          <a:bodyPr wrap="square" lIns="0" tIns="0" rIns="0" bIns="0" rtlCol="0" anchor="ctr"/>
          <a:lstStyle/>
          <a:p>
            <a:pPr marL="0" indent="0">
              <a:buNone/>
            </a:pPr>
            <a:r>
              <a:rPr lang="en-US" sz="2200" b="1" dirty="0">
                <a:solidFill>
                  <a:srgbClr val="1F2937"/>
                </a:solidFill>
                <a:latin typeface="Cambria" pitchFamily="34" charset="0"/>
                <a:ea typeface="Cambria" pitchFamily="34" charset="-122"/>
                <a:cs typeface="Cambria" pitchFamily="34" charset="-120"/>
              </a:rPr>
              <a:t>Honesty about what one experiment can — and cannot — show</a:t>
            </a:r>
            <a:endParaRPr lang="en-US" sz="2200" dirty="0"/>
          </a:p>
        </p:txBody>
      </p:sp>
      <p:sp>
        <p:nvSpPr>
          <p:cNvPr id="8" name="Shape 6"/>
          <p:cNvSpPr/>
          <p:nvPr/>
        </p:nvSpPr>
        <p:spPr>
          <a:xfrm>
            <a:off x="548640" y="1828800"/>
            <a:ext cx="3931920" cy="2697480"/>
          </a:xfrm>
          <a:prstGeom prst="roundRect">
            <a:avLst>
              <a:gd name="adj" fmla="val 2034"/>
            </a:avLst>
          </a:prstGeom>
          <a:solidFill>
            <a:srgbClr val="FFFFFF"/>
          </a:solidFill>
          <a:ln w="6350">
            <a:solidFill>
              <a:srgbClr val="D1C9B0"/>
            </a:solidFill>
            <a:prstDash val="solid"/>
          </a:ln>
        </p:spPr>
        <p:txBody>
          <a:bodyPr/>
          <a:lstStyle/>
          <a:p>
            <a:endParaRPr lang="en-US"/>
          </a:p>
        </p:txBody>
      </p:sp>
      <p:sp>
        <p:nvSpPr>
          <p:cNvPr id="9" name="Text 7"/>
          <p:cNvSpPr/>
          <p:nvPr/>
        </p:nvSpPr>
        <p:spPr>
          <a:xfrm>
            <a:off x="777240" y="2011680"/>
            <a:ext cx="3474720" cy="274320"/>
          </a:xfrm>
          <a:prstGeom prst="rect">
            <a:avLst/>
          </a:prstGeom>
          <a:noFill/>
          <a:ln/>
        </p:spPr>
        <p:txBody>
          <a:bodyPr wrap="square" lIns="0" tIns="0" rIns="0" bIns="0" rtlCol="0" anchor="ctr"/>
          <a:lstStyle/>
          <a:p>
            <a:pPr marL="0" indent="0">
              <a:buNone/>
            </a:pPr>
            <a:r>
              <a:rPr lang="en-US" sz="1100" b="1" kern="0" spc="300" dirty="0">
                <a:solidFill>
                  <a:srgbClr val="64748B"/>
                </a:solidFill>
                <a:latin typeface="Calibri" pitchFamily="34" charset="0"/>
                <a:ea typeface="Calibri" pitchFamily="34" charset="-122"/>
                <a:cs typeface="Calibri" pitchFamily="34" charset="-120"/>
              </a:rPr>
              <a:t>WHAT THIS IS NOT</a:t>
            </a:r>
            <a:endParaRPr lang="en-US" sz="1100" dirty="0"/>
          </a:p>
        </p:txBody>
      </p:sp>
      <p:sp>
        <p:nvSpPr>
          <p:cNvPr id="10" name="Shape 8"/>
          <p:cNvSpPr/>
          <p:nvPr/>
        </p:nvSpPr>
        <p:spPr>
          <a:xfrm>
            <a:off x="777240" y="2331720"/>
            <a:ext cx="457200" cy="0"/>
          </a:xfrm>
          <a:prstGeom prst="line">
            <a:avLst/>
          </a:prstGeom>
          <a:noFill/>
          <a:ln w="12700">
            <a:solidFill>
              <a:srgbClr val="64748B"/>
            </a:solidFill>
            <a:prstDash val="solid"/>
          </a:ln>
        </p:spPr>
        <p:txBody>
          <a:bodyPr/>
          <a:lstStyle/>
          <a:p>
            <a:endParaRPr lang="en-US"/>
          </a:p>
        </p:txBody>
      </p:sp>
      <p:sp>
        <p:nvSpPr>
          <p:cNvPr id="11" name="Text 9"/>
          <p:cNvSpPr/>
          <p:nvPr/>
        </p:nvSpPr>
        <p:spPr>
          <a:xfrm>
            <a:off x="868680" y="2514600"/>
            <a:ext cx="3520440" cy="1920240"/>
          </a:xfrm>
          <a:prstGeom prst="rect">
            <a:avLst/>
          </a:prstGeom>
          <a:noFill/>
          <a:ln/>
        </p:spPr>
        <p:txBody>
          <a:bodyPr wrap="square" lIns="0" tIns="0" rIns="0" bIns="0" rtlCol="0" anchor="ctr"/>
          <a:lstStyle/>
          <a:p>
            <a:pPr marL="342900" indent="-3429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Not a critique of conventional metrics — they still matter</a:t>
            </a:r>
            <a:endParaRPr lang="en-US" sz="1150" dirty="0"/>
          </a:p>
          <a:p>
            <a:pPr marL="342900" indent="-3429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Not a prescription for all faculties — context matters greatly</a:t>
            </a:r>
            <a:endParaRPr lang="en-US" sz="1150" dirty="0"/>
          </a:p>
          <a:p>
            <a:pPr marL="342900" indent="-3429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Not a denial of basic science — it remains essential</a:t>
            </a:r>
            <a:endParaRPr lang="en-US" sz="1150" dirty="0"/>
          </a:p>
          <a:p>
            <a:pPr marL="342900" indent="-3429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Not a proof — one faculty cannot prove anything alone</a:t>
            </a:r>
            <a:endParaRPr lang="en-US" sz="1150" dirty="0"/>
          </a:p>
        </p:txBody>
      </p:sp>
      <p:sp>
        <p:nvSpPr>
          <p:cNvPr id="12" name="Shape 10"/>
          <p:cNvSpPr/>
          <p:nvPr/>
        </p:nvSpPr>
        <p:spPr>
          <a:xfrm>
            <a:off x="4663440" y="1828800"/>
            <a:ext cx="3931920" cy="2697480"/>
          </a:xfrm>
          <a:prstGeom prst="roundRect">
            <a:avLst>
              <a:gd name="adj" fmla="val 2034"/>
            </a:avLst>
          </a:prstGeom>
          <a:solidFill>
            <a:srgbClr val="FCFAF4"/>
          </a:solidFill>
          <a:ln w="19050">
            <a:solidFill>
              <a:srgbClr val="C9A961"/>
            </a:solidFill>
            <a:prstDash val="solid"/>
          </a:ln>
          <a:effectLst>
            <a:outerShdw blurRad="101600" dist="25400" dir="5400000" algn="bl" rotWithShape="0">
              <a:srgbClr val="000000">
                <a:alpha val="10000"/>
              </a:srgbClr>
            </a:outerShdw>
          </a:effectLst>
        </p:spPr>
        <p:txBody>
          <a:bodyPr/>
          <a:lstStyle/>
          <a:p>
            <a:endParaRPr lang="en-US"/>
          </a:p>
        </p:txBody>
      </p:sp>
      <p:sp>
        <p:nvSpPr>
          <p:cNvPr id="13" name="Text 11"/>
          <p:cNvSpPr/>
          <p:nvPr/>
        </p:nvSpPr>
        <p:spPr>
          <a:xfrm>
            <a:off x="4892040" y="2011680"/>
            <a:ext cx="3474720" cy="274320"/>
          </a:xfrm>
          <a:prstGeom prst="rect">
            <a:avLst/>
          </a:prstGeom>
          <a:noFill/>
          <a:ln/>
        </p:spPr>
        <p:txBody>
          <a:bodyPr wrap="square" lIns="0" tIns="0" rIns="0" bIns="0" rtlCol="0" anchor="ctr"/>
          <a:lstStyle/>
          <a:p>
            <a:pPr marL="0" indent="0">
              <a:buNone/>
            </a:pPr>
            <a:r>
              <a:rPr lang="en-US" sz="1100" b="1" kern="0" spc="300" dirty="0">
                <a:solidFill>
                  <a:srgbClr val="C9A961"/>
                </a:solidFill>
                <a:latin typeface="Calibri" pitchFamily="34" charset="0"/>
                <a:ea typeface="Calibri" pitchFamily="34" charset="-122"/>
                <a:cs typeface="Calibri" pitchFamily="34" charset="-120"/>
              </a:rPr>
              <a:t>WHAT THIS IS</a:t>
            </a:r>
            <a:endParaRPr lang="en-US" sz="1100" dirty="0"/>
          </a:p>
        </p:txBody>
      </p:sp>
      <p:sp>
        <p:nvSpPr>
          <p:cNvPr id="14" name="Shape 12"/>
          <p:cNvSpPr/>
          <p:nvPr/>
        </p:nvSpPr>
        <p:spPr>
          <a:xfrm>
            <a:off x="4892040" y="2331720"/>
            <a:ext cx="457200" cy="0"/>
          </a:xfrm>
          <a:prstGeom prst="line">
            <a:avLst/>
          </a:prstGeom>
          <a:noFill/>
          <a:ln w="12700">
            <a:solidFill>
              <a:srgbClr val="C9A961"/>
            </a:solidFill>
            <a:prstDash val="solid"/>
          </a:ln>
        </p:spPr>
        <p:txBody>
          <a:bodyPr/>
          <a:lstStyle/>
          <a:p>
            <a:endParaRPr lang="en-US"/>
          </a:p>
        </p:txBody>
      </p:sp>
      <p:sp>
        <p:nvSpPr>
          <p:cNvPr id="15" name="Text 13"/>
          <p:cNvSpPr/>
          <p:nvPr/>
        </p:nvSpPr>
        <p:spPr>
          <a:xfrm>
            <a:off x="4983480" y="2514600"/>
            <a:ext cx="3520440" cy="1920240"/>
          </a:xfrm>
          <a:prstGeom prst="rect">
            <a:avLst/>
          </a:prstGeom>
          <a:noFill/>
          <a:ln/>
        </p:spPr>
        <p:txBody>
          <a:bodyPr wrap="square" lIns="0" tIns="0" rIns="0" bIns="0" rtlCol="0" anchor="ctr"/>
          <a:lstStyle/>
          <a:p>
            <a:pPr marL="342900" indent="-3429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A report of one experiment in research management</a:t>
            </a:r>
            <a:endParaRPr lang="en-US" sz="1150" dirty="0"/>
          </a:p>
          <a:p>
            <a:pPr marL="342900" indent="-3429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One finding: a different KPI yields different research</a:t>
            </a:r>
            <a:endParaRPr lang="en-US" sz="1150" dirty="0"/>
          </a:p>
          <a:p>
            <a:pPr marL="342900" indent="-3429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One observation: it need not cost scientific quality</a:t>
            </a:r>
            <a:endParaRPr lang="en-US" sz="1150" dirty="0"/>
          </a:p>
          <a:p>
            <a:pPr marL="342900" indent="-342900">
              <a:spcAft>
                <a:spcPts val="500"/>
              </a:spcAft>
              <a:buSzPct val="100000"/>
              <a:buChar char="●"/>
            </a:pPr>
            <a:r>
              <a:rPr lang="en-US" sz="1150" b="1" dirty="0">
                <a:solidFill>
                  <a:srgbClr val="1F2937"/>
                </a:solidFill>
                <a:latin typeface="Calibri" pitchFamily="34" charset="0"/>
                <a:ea typeface="Calibri" pitchFamily="34" charset="-122"/>
                <a:cs typeface="Calibri" pitchFamily="34" charset="-120"/>
              </a:rPr>
              <a:t>One suggestion: a direction worth investigating further</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548640" y="502920"/>
            <a:ext cx="320040" cy="0"/>
          </a:xfrm>
          <a:prstGeom prst="line">
            <a:avLst/>
          </a:prstGeom>
          <a:noFill/>
          <a:ln w="19050">
            <a:solidFill>
              <a:srgbClr val="C9A961"/>
            </a:solidFill>
            <a:prstDash val="solid"/>
          </a:ln>
        </p:spPr>
        <p:txBody>
          <a:bodyPr/>
          <a:lstStyle/>
          <a:p>
            <a:endParaRPr lang="en-US"/>
          </a:p>
        </p:txBody>
      </p:sp>
      <p:sp>
        <p:nvSpPr>
          <p:cNvPr id="3" name="Shape 1"/>
          <p:cNvSpPr/>
          <p:nvPr/>
        </p:nvSpPr>
        <p:spPr>
          <a:xfrm>
            <a:off x="548640" y="502920"/>
            <a:ext cx="0" cy="164592"/>
          </a:xfrm>
          <a:prstGeom prst="line">
            <a:avLst/>
          </a:prstGeom>
          <a:noFill/>
          <a:ln w="19050">
            <a:solidFill>
              <a:srgbClr val="C9A961"/>
            </a:solidFill>
            <a:prstDash val="solid"/>
          </a:ln>
        </p:spPr>
        <p:txBody>
          <a:bodyPr/>
          <a:lstStyle/>
          <a:p>
            <a:endParaRPr lang="en-US"/>
          </a:p>
        </p:txBody>
      </p:sp>
      <p:sp>
        <p:nvSpPr>
          <p:cNvPr id="4" name="Text 2"/>
          <p:cNvSpPr/>
          <p:nvPr/>
        </p:nvSpPr>
        <p:spPr>
          <a:xfrm>
            <a:off x="548640" y="4800600"/>
            <a:ext cx="4572000" cy="274320"/>
          </a:xfrm>
          <a:prstGeom prst="rect">
            <a:avLst/>
          </a:prstGeom>
          <a:noFill/>
          <a:ln/>
        </p:spPr>
        <p:txBody>
          <a:bodyPr wrap="square" rtlCol="0" anchor="ctr"/>
          <a:lstStyle/>
          <a:p>
            <a:pPr marL="0" indent="0">
              <a:buNone/>
            </a:pPr>
            <a:r>
              <a:rPr lang="en-US" sz="900" kern="0" spc="200" dirty="0">
                <a:solidFill>
                  <a:srgbClr val="94A3B8"/>
                </a:solidFill>
                <a:latin typeface="Calibri" pitchFamily="34" charset="0"/>
                <a:ea typeface="Calibri" pitchFamily="34" charset="-122"/>
                <a:cs typeface="Calibri" pitchFamily="34" charset="-120"/>
              </a:rPr>
              <a:t>LEAF 2026  ·  INVITATION</a:t>
            </a:r>
            <a:endParaRPr lang="en-US" sz="900" dirty="0"/>
          </a:p>
        </p:txBody>
      </p:sp>
      <p:sp>
        <p:nvSpPr>
          <p:cNvPr id="5" name="Text 3"/>
          <p:cNvSpPr/>
          <p:nvPr/>
        </p:nvSpPr>
        <p:spPr>
          <a:xfrm>
            <a:off x="8229600" y="4800600"/>
            <a:ext cx="64008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16 / 18</a:t>
            </a:r>
            <a:endParaRPr lang="en-US" sz="900" dirty="0"/>
          </a:p>
        </p:txBody>
      </p:sp>
      <p:sp>
        <p:nvSpPr>
          <p:cNvPr id="6" name="Text 4"/>
          <p:cNvSpPr/>
          <p:nvPr/>
        </p:nvSpPr>
        <p:spPr>
          <a:xfrm>
            <a:off x="548640" y="777240"/>
            <a:ext cx="8046720" cy="274320"/>
          </a:xfrm>
          <a:prstGeom prst="rect">
            <a:avLst/>
          </a:prstGeom>
          <a:noFill/>
          <a:ln/>
        </p:spPr>
        <p:txBody>
          <a:bodyPr wrap="square" lIns="0" tIns="0" rIns="0" bIns="0" rtlCol="0" anchor="ctr"/>
          <a:lstStyle/>
          <a:p>
            <a:pPr marL="0" indent="0">
              <a:buNone/>
            </a:pPr>
            <a:r>
              <a:rPr lang="en-US" sz="1000" b="1" kern="0" spc="500" dirty="0">
                <a:solidFill>
                  <a:srgbClr val="C9A961"/>
                </a:solidFill>
                <a:latin typeface="Calibri" pitchFamily="34" charset="0"/>
                <a:ea typeface="Calibri" pitchFamily="34" charset="-122"/>
                <a:cs typeface="Calibri" pitchFamily="34" charset="-120"/>
              </a:rPr>
              <a:t>14  ·  AN INVITATION</a:t>
            </a:r>
            <a:endParaRPr lang="en-US" sz="1000" dirty="0"/>
          </a:p>
        </p:txBody>
      </p:sp>
      <p:pic>
        <p:nvPicPr>
          <p:cNvPr id="7" name="Image 0" descr="preencoded.png"/>
          <p:cNvPicPr>
            <a:picLocks noChangeAspect="1"/>
          </p:cNvPicPr>
          <p:nvPr/>
        </p:nvPicPr>
        <p:blipFill>
          <a:blip r:embed="rId3"/>
          <a:stretch>
            <a:fillRect/>
          </a:stretch>
        </p:blipFill>
        <p:spPr>
          <a:xfrm>
            <a:off x="731520" y="1463040"/>
            <a:ext cx="457200" cy="457200"/>
          </a:xfrm>
          <a:prstGeom prst="rect">
            <a:avLst/>
          </a:prstGeom>
        </p:spPr>
      </p:pic>
      <p:sp>
        <p:nvSpPr>
          <p:cNvPr id="8" name="Text 5"/>
          <p:cNvSpPr/>
          <p:nvPr/>
        </p:nvSpPr>
        <p:spPr>
          <a:xfrm>
            <a:off x="1371600" y="1463040"/>
            <a:ext cx="7223760" cy="457200"/>
          </a:xfrm>
          <a:prstGeom prst="rect">
            <a:avLst/>
          </a:prstGeom>
          <a:noFill/>
          <a:ln/>
        </p:spPr>
        <p:txBody>
          <a:bodyPr wrap="square" lIns="0" tIns="0" rIns="0" bIns="0" rtlCol="0" anchor="ctr"/>
          <a:lstStyle/>
          <a:p>
            <a:pPr marL="0" indent="0">
              <a:buNone/>
            </a:pPr>
            <a:r>
              <a:rPr lang="en-US" sz="2200" b="1" dirty="0">
                <a:solidFill>
                  <a:srgbClr val="1F2937"/>
                </a:solidFill>
                <a:latin typeface="Cambria" pitchFamily="34" charset="0"/>
                <a:ea typeface="Cambria" pitchFamily="34" charset="-122"/>
                <a:cs typeface="Cambria" pitchFamily="34" charset="-120"/>
              </a:rPr>
              <a:t>I came to LEAF not to declare a result.</a:t>
            </a:r>
            <a:endParaRPr lang="en-US" sz="2200" dirty="0"/>
          </a:p>
        </p:txBody>
      </p:sp>
      <p:sp>
        <p:nvSpPr>
          <p:cNvPr id="9" name="Text 6"/>
          <p:cNvSpPr/>
          <p:nvPr/>
        </p:nvSpPr>
        <p:spPr>
          <a:xfrm>
            <a:off x="1371600" y="1965960"/>
            <a:ext cx="7223760" cy="457200"/>
          </a:xfrm>
          <a:prstGeom prst="rect">
            <a:avLst/>
          </a:prstGeom>
          <a:noFill/>
          <a:ln/>
        </p:spPr>
        <p:txBody>
          <a:bodyPr wrap="square" lIns="0" tIns="0" rIns="0" bIns="0" rtlCol="0" anchor="ctr"/>
          <a:lstStyle/>
          <a:p>
            <a:pPr marL="0" indent="0">
              <a:buNone/>
            </a:pPr>
            <a:r>
              <a:rPr lang="en-US" sz="2200" b="1" i="1" dirty="0">
                <a:solidFill>
                  <a:srgbClr val="C9A961"/>
                </a:solidFill>
                <a:latin typeface="Cambria" pitchFamily="34" charset="0"/>
                <a:ea typeface="Cambria" pitchFamily="34" charset="-122"/>
                <a:cs typeface="Cambria" pitchFamily="34" charset="-120"/>
              </a:rPr>
              <a:t>I came to invite collaboration on the bigger experiment.</a:t>
            </a:r>
            <a:endParaRPr lang="en-US" sz="2200" dirty="0"/>
          </a:p>
        </p:txBody>
      </p:sp>
      <p:sp>
        <p:nvSpPr>
          <p:cNvPr id="10" name="Text 7"/>
          <p:cNvSpPr/>
          <p:nvPr/>
        </p:nvSpPr>
        <p:spPr>
          <a:xfrm>
            <a:off x="1371600" y="2926080"/>
            <a:ext cx="7223760" cy="1280160"/>
          </a:xfrm>
          <a:prstGeom prst="rect">
            <a:avLst/>
          </a:prstGeom>
          <a:noFill/>
          <a:ln/>
        </p:spPr>
        <p:txBody>
          <a:bodyPr wrap="square" lIns="0" tIns="0" rIns="0" bIns="0" rtlCol="0" anchor="ctr"/>
          <a:lstStyle/>
          <a:p>
            <a:pPr marL="0" indent="0">
              <a:spcAft>
                <a:spcPts val="400"/>
              </a:spcAft>
              <a:buNone/>
            </a:pPr>
            <a:r>
              <a:rPr lang="en-US" sz="1700" dirty="0">
                <a:solidFill>
                  <a:srgbClr val="1F2937"/>
                </a:solidFill>
                <a:latin typeface="Cambria" pitchFamily="34" charset="0"/>
                <a:ea typeface="Cambria" pitchFamily="34" charset="-122"/>
                <a:cs typeface="Cambria" pitchFamily="34" charset="-120"/>
              </a:rPr>
              <a:t>If anyone here — </a:t>
            </a:r>
            <a:r>
              <a:rPr lang="en-US" sz="1700" i="1" dirty="0">
                <a:solidFill>
                  <a:srgbClr val="0F1F3F"/>
                </a:solidFill>
                <a:latin typeface="Cambria" pitchFamily="34" charset="0"/>
                <a:ea typeface="Cambria" pitchFamily="34" charset="-122"/>
                <a:cs typeface="Cambria" pitchFamily="34" charset="-120"/>
              </a:rPr>
              <a:t>scientist, university leader, research agency, industry partner — </a:t>
            </a:r>
            <a:r>
              <a:rPr lang="en-US" sz="1700" dirty="0">
                <a:solidFill>
                  <a:srgbClr val="1F2937"/>
                </a:solidFill>
                <a:latin typeface="Cambria" pitchFamily="34" charset="0"/>
                <a:ea typeface="Cambria" pitchFamily="34" charset="-122"/>
                <a:cs typeface="Cambria" pitchFamily="34" charset="-120"/>
              </a:rPr>
              <a:t>wishes to think through how this might run in your own domain,</a:t>
            </a:r>
            <a:endParaRPr lang="en-US" sz="1700" dirty="0"/>
          </a:p>
          <a:p>
            <a:pPr marL="0" indent="0">
              <a:spcAft>
                <a:spcPts val="400"/>
              </a:spcAft>
              <a:buNone/>
            </a:pPr>
            <a:r>
              <a:rPr lang="en-US" sz="1700" b="1" i="1" dirty="0">
                <a:solidFill>
                  <a:srgbClr val="0F1F3F"/>
                </a:solidFill>
                <a:latin typeface="Cambria" pitchFamily="34" charset="0"/>
                <a:ea typeface="Cambria" pitchFamily="34" charset="-122"/>
                <a:cs typeface="Cambria" pitchFamily="34" charset="-120"/>
              </a:rPr>
              <a:t>I will be here for the next two days.</a:t>
            </a:r>
            <a:endParaRPr lang="en-US" sz="1700" dirty="0"/>
          </a:p>
        </p:txBody>
      </p:sp>
      <p:sp>
        <p:nvSpPr>
          <p:cNvPr id="11" name="Shape 8"/>
          <p:cNvSpPr/>
          <p:nvPr/>
        </p:nvSpPr>
        <p:spPr>
          <a:xfrm>
            <a:off x="3291840" y="4434840"/>
            <a:ext cx="365760" cy="365760"/>
          </a:xfrm>
          <a:prstGeom prst="ellipse">
            <a:avLst/>
          </a:prstGeom>
          <a:solidFill>
            <a:srgbClr val="C9A961">
              <a:alpha val="70000"/>
            </a:srgbClr>
          </a:solidFill>
          <a:ln w="12700">
            <a:solidFill>
              <a:srgbClr val="C9A961"/>
            </a:solidFill>
            <a:prstDash val="solid"/>
          </a:ln>
        </p:spPr>
        <p:txBody>
          <a:bodyPr/>
          <a:lstStyle/>
          <a:p>
            <a:endParaRPr lang="en-US"/>
          </a:p>
        </p:txBody>
      </p:sp>
      <p:sp>
        <p:nvSpPr>
          <p:cNvPr id="12" name="Shape 9"/>
          <p:cNvSpPr/>
          <p:nvPr/>
        </p:nvSpPr>
        <p:spPr>
          <a:xfrm>
            <a:off x="3840480" y="4434840"/>
            <a:ext cx="365760" cy="365760"/>
          </a:xfrm>
          <a:prstGeom prst="ellipse">
            <a:avLst/>
          </a:prstGeom>
          <a:solidFill>
            <a:srgbClr val="C9A961">
              <a:alpha val="70000"/>
            </a:srgbClr>
          </a:solidFill>
          <a:ln w="12700">
            <a:solidFill>
              <a:srgbClr val="C9A961"/>
            </a:solidFill>
            <a:prstDash val="solid"/>
          </a:ln>
        </p:spPr>
        <p:txBody>
          <a:bodyPr/>
          <a:lstStyle/>
          <a:p>
            <a:endParaRPr lang="en-US"/>
          </a:p>
        </p:txBody>
      </p:sp>
      <p:sp>
        <p:nvSpPr>
          <p:cNvPr id="13" name="Shape 10"/>
          <p:cNvSpPr/>
          <p:nvPr/>
        </p:nvSpPr>
        <p:spPr>
          <a:xfrm>
            <a:off x="4389120" y="4434840"/>
            <a:ext cx="365760" cy="365760"/>
          </a:xfrm>
          <a:prstGeom prst="ellipse">
            <a:avLst/>
          </a:prstGeom>
          <a:solidFill>
            <a:srgbClr val="C9A961">
              <a:alpha val="70000"/>
            </a:srgbClr>
          </a:solidFill>
          <a:ln w="12700">
            <a:solidFill>
              <a:srgbClr val="C9A961"/>
            </a:solidFill>
            <a:prstDash val="solid"/>
          </a:ln>
        </p:spPr>
        <p:txBody>
          <a:bodyPr/>
          <a:lstStyle/>
          <a:p>
            <a:endParaRPr lang="en-US"/>
          </a:p>
        </p:txBody>
      </p:sp>
      <p:sp>
        <p:nvSpPr>
          <p:cNvPr id="14" name="Shape 11"/>
          <p:cNvSpPr/>
          <p:nvPr/>
        </p:nvSpPr>
        <p:spPr>
          <a:xfrm>
            <a:off x="4937760" y="4434840"/>
            <a:ext cx="365760" cy="365760"/>
          </a:xfrm>
          <a:prstGeom prst="ellipse">
            <a:avLst/>
          </a:prstGeom>
          <a:solidFill>
            <a:srgbClr val="C9A961">
              <a:alpha val="70000"/>
            </a:srgbClr>
          </a:solidFill>
          <a:ln w="12700">
            <a:solidFill>
              <a:srgbClr val="C9A961"/>
            </a:solidFill>
            <a:prstDash val="solid"/>
          </a:ln>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F3F"/>
        </a:solidFill>
        <a:effectLst/>
      </p:bgPr>
    </p:bg>
    <p:spTree>
      <p:nvGrpSpPr>
        <p:cNvPr id="1" name=""/>
        <p:cNvGrpSpPr/>
        <p:nvPr/>
      </p:nvGrpSpPr>
      <p:grpSpPr>
        <a:xfrm>
          <a:off x="0" y="0"/>
          <a:ext cx="0" cy="0"/>
          <a:chOff x="0" y="0"/>
          <a:chExt cx="0" cy="0"/>
        </a:xfrm>
      </p:grpSpPr>
      <p:sp>
        <p:nvSpPr>
          <p:cNvPr id="2" name="Shape 0"/>
          <p:cNvSpPr/>
          <p:nvPr/>
        </p:nvSpPr>
        <p:spPr>
          <a:xfrm>
            <a:off x="548640" y="640080"/>
            <a:ext cx="1280160" cy="0"/>
          </a:xfrm>
          <a:prstGeom prst="line">
            <a:avLst/>
          </a:prstGeom>
          <a:noFill/>
          <a:ln w="19050">
            <a:solidFill>
              <a:srgbClr val="C9A961"/>
            </a:solidFill>
            <a:prstDash val="solid"/>
          </a:ln>
        </p:spPr>
        <p:txBody>
          <a:bodyPr/>
          <a:lstStyle/>
          <a:p>
            <a:endParaRPr lang="en-US"/>
          </a:p>
        </p:txBody>
      </p:sp>
      <p:sp>
        <p:nvSpPr>
          <p:cNvPr id="3" name="Text 1"/>
          <p:cNvSpPr/>
          <p:nvPr/>
        </p:nvSpPr>
        <p:spPr>
          <a:xfrm>
            <a:off x="548640" y="777240"/>
            <a:ext cx="8046720" cy="274320"/>
          </a:xfrm>
          <a:prstGeom prst="rect">
            <a:avLst/>
          </a:prstGeom>
          <a:noFill/>
          <a:ln/>
        </p:spPr>
        <p:txBody>
          <a:bodyPr wrap="square" lIns="0" tIns="0" rIns="0" bIns="0" rtlCol="0" anchor="ctr"/>
          <a:lstStyle/>
          <a:p>
            <a:pPr marL="0" indent="0">
              <a:buNone/>
            </a:pPr>
            <a:r>
              <a:rPr lang="en-US" sz="1000" b="1" kern="0" spc="500" dirty="0">
                <a:solidFill>
                  <a:srgbClr val="C9A961"/>
                </a:solidFill>
                <a:latin typeface="Calibri" pitchFamily="34" charset="0"/>
                <a:ea typeface="Calibri" pitchFamily="34" charset="-122"/>
                <a:cs typeface="Calibri" pitchFamily="34" charset="-120"/>
              </a:rPr>
              <a:t>15  ·  A CLOSING REFLECTION</a:t>
            </a:r>
            <a:endParaRPr lang="en-US" sz="1000" dirty="0"/>
          </a:p>
        </p:txBody>
      </p:sp>
      <p:pic>
        <p:nvPicPr>
          <p:cNvPr id="4" name="Image 0" descr="preencoded.png"/>
          <p:cNvPicPr>
            <a:picLocks noChangeAspect="1"/>
          </p:cNvPicPr>
          <p:nvPr/>
        </p:nvPicPr>
        <p:blipFill>
          <a:blip r:embed="rId3"/>
          <a:stretch>
            <a:fillRect/>
          </a:stretch>
        </p:blipFill>
        <p:spPr>
          <a:xfrm>
            <a:off x="4297680" y="1371600"/>
            <a:ext cx="548640" cy="548640"/>
          </a:xfrm>
          <a:prstGeom prst="rect">
            <a:avLst/>
          </a:prstGeom>
        </p:spPr>
      </p:pic>
      <p:sp>
        <p:nvSpPr>
          <p:cNvPr id="5" name="Text 2"/>
          <p:cNvSpPr/>
          <p:nvPr/>
        </p:nvSpPr>
        <p:spPr>
          <a:xfrm>
            <a:off x="548640" y="2103120"/>
            <a:ext cx="8046720" cy="2286000"/>
          </a:xfrm>
          <a:prstGeom prst="rect">
            <a:avLst/>
          </a:prstGeom>
          <a:noFill/>
          <a:ln/>
        </p:spPr>
        <p:txBody>
          <a:bodyPr wrap="square" lIns="0" tIns="0" rIns="0" bIns="0" rtlCol="0" anchor="ctr"/>
          <a:lstStyle/>
          <a:p>
            <a:pPr marL="0" indent="0" algn="ctr">
              <a:spcAft>
                <a:spcPts val="800"/>
              </a:spcAft>
              <a:buNone/>
            </a:pPr>
            <a:r>
              <a:rPr lang="en-US" sz="2600" dirty="0">
                <a:solidFill>
                  <a:srgbClr val="FFFFFF"/>
                </a:solidFill>
                <a:latin typeface="Cambria" pitchFamily="34" charset="0"/>
                <a:ea typeface="Cambria" pitchFamily="34" charset="-122"/>
                <a:cs typeface="Cambria" pitchFamily="34" charset="-120"/>
              </a:rPr>
              <a:t>Sometimes the most important experiments</a:t>
            </a:r>
            <a:endParaRPr lang="en-US" sz="2600" dirty="0"/>
          </a:p>
          <a:p>
            <a:pPr marL="0" indent="0" algn="ctr">
              <a:spcAft>
                <a:spcPts val="800"/>
              </a:spcAft>
              <a:buNone/>
            </a:pPr>
            <a:r>
              <a:rPr lang="en-US" sz="2600" dirty="0">
                <a:solidFill>
                  <a:srgbClr val="FFFFFF"/>
                </a:solidFill>
                <a:latin typeface="Cambria" pitchFamily="34" charset="0"/>
                <a:ea typeface="Cambria" pitchFamily="34" charset="-122"/>
                <a:cs typeface="Cambria" pitchFamily="34" charset="-120"/>
              </a:rPr>
              <a:t>are not the ones we run in the lab.</a:t>
            </a:r>
            <a:endParaRPr lang="en-US" sz="2600" dirty="0"/>
          </a:p>
          <a:p>
            <a:pPr marL="0" indent="0" algn="ctr">
              <a:spcAft>
                <a:spcPts val="800"/>
              </a:spcAft>
              <a:buNone/>
            </a:pPr>
            <a:endParaRPr lang="en-US" sz="2600" dirty="0"/>
          </a:p>
          <a:p>
            <a:pPr marL="0" indent="0" algn="ctr">
              <a:spcAft>
                <a:spcPts val="800"/>
              </a:spcAft>
              <a:buNone/>
            </a:pPr>
            <a:r>
              <a:rPr lang="en-US" sz="2600" dirty="0">
                <a:solidFill>
                  <a:srgbClr val="FFFFFF"/>
                </a:solidFill>
                <a:latin typeface="Cambria" pitchFamily="34" charset="0"/>
                <a:ea typeface="Cambria" pitchFamily="34" charset="-122"/>
                <a:cs typeface="Cambria" pitchFamily="34" charset="-120"/>
              </a:rPr>
              <a:t>They are the ones we run on</a:t>
            </a:r>
            <a:r>
              <a:rPr lang="en-US" sz="2600" b="1" i="1" dirty="0">
                <a:solidFill>
                  <a:srgbClr val="C9A961"/>
                </a:solidFill>
                <a:latin typeface="Cambria" pitchFamily="34" charset="0"/>
                <a:ea typeface="Cambria" pitchFamily="34" charset="-122"/>
                <a:cs typeface="Cambria" pitchFamily="34" charset="-120"/>
              </a:rPr>
              <a:t> the system that governs the labs.</a:t>
            </a:r>
            <a:endParaRPr lang="en-US" sz="2600" dirty="0"/>
          </a:p>
        </p:txBody>
      </p:sp>
      <p:sp>
        <p:nvSpPr>
          <p:cNvPr id="6" name="Shape 3"/>
          <p:cNvSpPr/>
          <p:nvPr/>
        </p:nvSpPr>
        <p:spPr>
          <a:xfrm>
            <a:off x="3657600" y="4480560"/>
            <a:ext cx="1828800" cy="0"/>
          </a:xfrm>
          <a:prstGeom prst="line">
            <a:avLst/>
          </a:prstGeom>
          <a:noFill/>
          <a:ln w="9525">
            <a:solidFill>
              <a:srgbClr val="C9A961"/>
            </a:solidFill>
            <a:prstDash val="solid"/>
          </a:ln>
        </p:spPr>
        <p:txBody>
          <a:bodyPr/>
          <a:lstStyle/>
          <a:p>
            <a:endParaRPr lang="en-US"/>
          </a:p>
        </p:txBody>
      </p:sp>
      <p:sp>
        <p:nvSpPr>
          <p:cNvPr id="7" name="Text 4"/>
          <p:cNvSpPr/>
          <p:nvPr/>
        </p:nvSpPr>
        <p:spPr>
          <a:xfrm>
            <a:off x="548640" y="4617720"/>
            <a:ext cx="8046720" cy="320040"/>
          </a:xfrm>
          <a:prstGeom prst="rect">
            <a:avLst/>
          </a:prstGeom>
          <a:noFill/>
          <a:ln/>
        </p:spPr>
        <p:txBody>
          <a:bodyPr wrap="square" lIns="0" tIns="0" rIns="0" bIns="0" rtlCol="0" anchor="ctr"/>
          <a:lstStyle/>
          <a:p>
            <a:pPr marL="0" indent="0" algn="ctr">
              <a:buNone/>
            </a:pPr>
            <a:r>
              <a:rPr lang="en-US" sz="1600" i="1" dirty="0">
                <a:solidFill>
                  <a:srgbClr val="E8D9A8"/>
                </a:solidFill>
                <a:latin typeface="Cambria" pitchFamily="34" charset="0"/>
                <a:ea typeface="Cambria" pitchFamily="34" charset="-122"/>
                <a:cs typeface="Cambria" pitchFamily="34" charset="-120"/>
              </a:rPr>
              <a:t>Thank you — and let us begin.</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F3F"/>
        </a:solidFill>
        <a:effectLst/>
      </p:bgPr>
    </p:bg>
    <p:spTree>
      <p:nvGrpSpPr>
        <p:cNvPr id="1" name=""/>
        <p:cNvGrpSpPr/>
        <p:nvPr/>
      </p:nvGrpSpPr>
      <p:grpSpPr>
        <a:xfrm>
          <a:off x="0" y="0"/>
          <a:ext cx="0" cy="0"/>
          <a:chOff x="0" y="0"/>
          <a:chExt cx="0" cy="0"/>
        </a:xfrm>
      </p:grpSpPr>
      <p:sp>
        <p:nvSpPr>
          <p:cNvPr id="2" name="Shape 0"/>
          <p:cNvSpPr/>
          <p:nvPr/>
        </p:nvSpPr>
        <p:spPr>
          <a:xfrm>
            <a:off x="548640" y="640080"/>
            <a:ext cx="1280160" cy="0"/>
          </a:xfrm>
          <a:prstGeom prst="line">
            <a:avLst/>
          </a:prstGeom>
          <a:noFill/>
          <a:ln w="19050">
            <a:solidFill>
              <a:srgbClr val="C9A961"/>
            </a:solidFill>
            <a:prstDash val="solid"/>
          </a:ln>
        </p:spPr>
        <p:txBody>
          <a:bodyPr/>
          <a:lstStyle/>
          <a:p>
            <a:endParaRPr lang="en-US"/>
          </a:p>
        </p:txBody>
      </p:sp>
      <p:sp>
        <p:nvSpPr>
          <p:cNvPr id="3" name="Text 1"/>
          <p:cNvSpPr/>
          <p:nvPr/>
        </p:nvSpPr>
        <p:spPr>
          <a:xfrm>
            <a:off x="548640" y="1097280"/>
            <a:ext cx="8046720" cy="2560320"/>
          </a:xfrm>
          <a:prstGeom prst="rect">
            <a:avLst/>
          </a:prstGeom>
          <a:noFill/>
          <a:ln/>
        </p:spPr>
        <p:txBody>
          <a:bodyPr wrap="square" lIns="0" tIns="0" rIns="0" bIns="0" rtlCol="0" anchor="ctr"/>
          <a:lstStyle/>
          <a:p>
            <a:pPr marL="0" indent="0" algn="ctr">
              <a:spcAft>
                <a:spcPts val="800"/>
              </a:spcAft>
              <a:buNone/>
            </a:pPr>
            <a:r>
              <a:rPr lang="en-US" sz="4400" b="1" dirty="0">
                <a:solidFill>
                  <a:srgbClr val="FFFFFF"/>
                </a:solidFill>
                <a:latin typeface="Cambria" pitchFamily="34" charset="0"/>
                <a:ea typeface="Cambria" pitchFamily="34" charset="-122"/>
                <a:cs typeface="Cambria" pitchFamily="34" charset="-120"/>
              </a:rPr>
              <a:t>Terima kasih</a:t>
            </a:r>
            <a:endParaRPr lang="en-US" sz="4400" dirty="0"/>
          </a:p>
          <a:p>
            <a:pPr marL="0" indent="0" algn="ctr">
              <a:spcAft>
                <a:spcPts val="800"/>
              </a:spcAft>
              <a:buNone/>
            </a:pPr>
            <a:r>
              <a:rPr lang="en-US" sz="3200" i="1" dirty="0">
                <a:solidFill>
                  <a:srgbClr val="E8D9A8"/>
                </a:solidFill>
                <a:latin typeface="Cambria" pitchFamily="34" charset="0"/>
                <a:ea typeface="Cambria" pitchFamily="34" charset="-122"/>
                <a:cs typeface="Cambria" pitchFamily="34" charset="-120"/>
              </a:rPr>
              <a:t>Thank you</a:t>
            </a:r>
            <a:endParaRPr lang="en-US" sz="4400" dirty="0"/>
          </a:p>
          <a:p>
            <a:pPr marL="0" indent="0" algn="ctr">
              <a:spcAft>
                <a:spcPts val="800"/>
              </a:spcAft>
              <a:buNone/>
            </a:pPr>
            <a:r>
              <a:rPr lang="en-US" sz="2400" i="1" dirty="0">
                <a:solidFill>
                  <a:srgbClr val="94A3B8"/>
                </a:solidFill>
                <a:latin typeface="Cambria" pitchFamily="34" charset="0"/>
                <a:ea typeface="Cambria" pitchFamily="34" charset="-122"/>
                <a:cs typeface="Cambria" pitchFamily="34" charset="-120"/>
              </a:rPr>
              <a:t>ありがとうございました</a:t>
            </a:r>
            <a:endParaRPr lang="en-US" sz="4400" dirty="0"/>
          </a:p>
        </p:txBody>
      </p:sp>
      <p:sp>
        <p:nvSpPr>
          <p:cNvPr id="4" name="Shape 2"/>
          <p:cNvSpPr/>
          <p:nvPr/>
        </p:nvSpPr>
        <p:spPr>
          <a:xfrm>
            <a:off x="3657600" y="3566160"/>
            <a:ext cx="1828800" cy="0"/>
          </a:xfrm>
          <a:prstGeom prst="line">
            <a:avLst/>
          </a:prstGeom>
          <a:noFill/>
          <a:ln w="9525">
            <a:solidFill>
              <a:srgbClr val="C9A961"/>
            </a:solidFill>
            <a:prstDash val="solid"/>
          </a:ln>
        </p:spPr>
        <p:txBody>
          <a:bodyPr/>
          <a:lstStyle/>
          <a:p>
            <a:endParaRPr lang="en-US"/>
          </a:p>
        </p:txBody>
      </p:sp>
      <p:sp>
        <p:nvSpPr>
          <p:cNvPr id="5" name="Text 3"/>
          <p:cNvSpPr/>
          <p:nvPr/>
        </p:nvSpPr>
        <p:spPr>
          <a:xfrm>
            <a:off x="548640" y="3749040"/>
            <a:ext cx="804672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Dr.rer.nat. Wiwit Suryanto, M.Si.</a:t>
            </a:r>
            <a:endParaRPr lang="en-US" sz="1400" dirty="0"/>
          </a:p>
        </p:txBody>
      </p:sp>
      <p:sp>
        <p:nvSpPr>
          <p:cNvPr id="6" name="Text 4"/>
          <p:cNvSpPr/>
          <p:nvPr/>
        </p:nvSpPr>
        <p:spPr>
          <a:xfrm>
            <a:off x="548640" y="4069080"/>
            <a:ext cx="8046720" cy="274320"/>
          </a:xfrm>
          <a:prstGeom prst="rect">
            <a:avLst/>
          </a:prstGeom>
          <a:noFill/>
          <a:ln/>
        </p:spPr>
        <p:txBody>
          <a:bodyPr wrap="square" lIns="0" tIns="0" rIns="0" bIns="0" rtlCol="0" anchor="ctr"/>
          <a:lstStyle/>
          <a:p>
            <a:pPr marL="0" indent="0" algn="ctr">
              <a:buNone/>
            </a:pPr>
            <a:r>
              <a:rPr lang="en-US" sz="1100" i="1" dirty="0">
                <a:solidFill>
                  <a:srgbClr val="94A3B8"/>
                </a:solidFill>
                <a:latin typeface="Calibri" pitchFamily="34" charset="0"/>
                <a:ea typeface="Calibri" pitchFamily="34" charset="-122"/>
                <a:cs typeface="Calibri" pitchFamily="34" charset="-120"/>
              </a:rPr>
              <a:t>Vice Dean for Research and Community Services  ·  FMIPA Universitas Gadjah Mada</a:t>
            </a:r>
            <a:endParaRPr lang="en-US" sz="1100" dirty="0"/>
          </a:p>
        </p:txBody>
      </p:sp>
      <p:sp>
        <p:nvSpPr>
          <p:cNvPr id="7" name="Text 5"/>
          <p:cNvSpPr/>
          <p:nvPr/>
        </p:nvSpPr>
        <p:spPr>
          <a:xfrm>
            <a:off x="548640" y="4434840"/>
            <a:ext cx="8046720" cy="274320"/>
          </a:xfrm>
          <a:prstGeom prst="rect">
            <a:avLst/>
          </a:prstGeom>
          <a:noFill/>
          <a:ln/>
        </p:spPr>
        <p:txBody>
          <a:bodyPr wrap="square" lIns="0" tIns="0" rIns="0" bIns="0" rtlCol="0" anchor="ctr"/>
          <a:lstStyle/>
          <a:p>
            <a:pPr marL="0" indent="0" algn="ctr">
              <a:buNone/>
            </a:pPr>
            <a:r>
              <a:rPr lang="en-US" sz="1100" dirty="0">
                <a:solidFill>
                  <a:srgbClr val="E8D9A8"/>
                </a:solidFill>
                <a:latin typeface="Calibri" pitchFamily="34" charset="0"/>
                <a:ea typeface="Calibri" pitchFamily="34" charset="-122"/>
                <a:cs typeface="Calibri" pitchFamily="34" charset="-120"/>
              </a:rPr>
              <a:t>ws@ugm.ac.id  ·  github.com/maswiet</a:t>
            </a:r>
            <a:endParaRPr lang="en-US" sz="1100" dirty="0"/>
          </a:p>
        </p:txBody>
      </p:sp>
      <p:sp>
        <p:nvSpPr>
          <p:cNvPr id="8" name="Text 6"/>
          <p:cNvSpPr/>
          <p:nvPr/>
        </p:nvSpPr>
        <p:spPr>
          <a:xfrm>
            <a:off x="548640" y="4754880"/>
            <a:ext cx="8046720" cy="274320"/>
          </a:xfrm>
          <a:prstGeom prst="rect">
            <a:avLst/>
          </a:prstGeom>
          <a:noFill/>
          <a:ln/>
        </p:spPr>
        <p:txBody>
          <a:bodyPr wrap="square" lIns="0" tIns="0" rIns="0" bIns="0" rtlCol="0" anchor="ctr"/>
          <a:lstStyle/>
          <a:p>
            <a:pPr marL="0" indent="0" algn="ctr">
              <a:buNone/>
            </a:pPr>
            <a:r>
              <a:rPr lang="en-US" sz="1000" i="1" dirty="0">
                <a:solidFill>
                  <a:srgbClr val="94A3B8"/>
                </a:solidFill>
                <a:latin typeface="Calibri" pitchFamily="34" charset="0"/>
                <a:ea typeface="Calibri" pitchFamily="34" charset="-122"/>
                <a:cs typeface="Calibri" pitchFamily="34" charset="-120"/>
              </a:rPr>
              <a:t>Open to collaboration on the bigger experiment.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51904F8-BAA1-4F45-B1BB-4C739BBBB6AA}">
  <we:reference id="wa200010001" version="1.0.0.1" store="en-US" storeType="OMEX"/>
  <we:alternateReferences>
    <we:reference id="WA200010001" version="1.0.0.1" store="WA200010001" storeType="OMEX"/>
  </we:alternateReferences>
  <we:properties>
    <we:property name="claude.fileId" value="&quot;0f80da62-6ae0-4b20-b28d-b1e1dc20cb0b&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1292</TotalTime>
  <Words>2141</Words>
  <Application>Microsoft Macintosh PowerPoint</Application>
  <PresentationFormat>On-screen Show (16:9)</PresentationFormat>
  <Paragraphs>252</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Experiment in Research Management — LEAF 2026</dc:title>
  <dc:subject>PptxGenJS Presentation</dc:subject>
  <dc:creator>Dr.rer.nat. Wiwit Suryanto, M.Si.</dc:creator>
  <cp:lastModifiedBy>Wiwit Suryanto</cp:lastModifiedBy>
  <cp:revision>2</cp:revision>
  <dcterms:created xsi:type="dcterms:W3CDTF">2026-06-23T05:00:30Z</dcterms:created>
  <dcterms:modified xsi:type="dcterms:W3CDTF">2026-06-24T02:49:12Z</dcterms:modified>
</cp:coreProperties>
</file>