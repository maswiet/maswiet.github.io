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DISKUSI PUBLIK · PSBA UGM · 21 AGUSTUS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6000" b="1" i="0">
                <a:solidFill>
                  <a:srgbClr val="1F1F1B"/>
                </a:solidFill>
                <a:latin typeface="Source Serif 4"/>
              </a:rPr>
              <a:t>Indonesia adalah</a:t>
            </a:r>
          </a:p>
          <a:p>
            <a:pPr>
              <a:lnSpc>
                <a:spcPct val="100000"/>
              </a:lnSpc>
            </a:pPr>
            <a:r>
              <a:rPr sz="6000" b="1" i="0">
                <a:solidFill>
                  <a:srgbClr val="8A2D1F"/>
                </a:solidFill>
                <a:latin typeface="Source Serif 4"/>
              </a:rPr>
              <a:t>rumah gempa.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56616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2200" b="0" i="0">
                <a:solidFill>
                  <a:srgbClr val="5F625C"/>
                </a:solidFill>
                <a:latin typeface="Source Serif 4"/>
              </a:rPr>
              <a:t>217.801 gempa dalam 26 tahun. Pertanyaannya bukan </a:t>
            </a:r>
            <a:r>
              <a:rPr sz="2200" b="0" i="1">
                <a:solidFill>
                  <a:srgbClr val="5F625C"/>
                </a:solidFill>
                <a:latin typeface="Source Serif 4"/>
              </a:rPr>
              <a:t>apakah</a:t>
            </a:r>
            <a:r>
              <a:rPr sz="2200" b="0" i="0">
                <a:solidFill>
                  <a:srgbClr val="5F625C"/>
                </a:solidFill>
                <a:latin typeface="Source Serif 4"/>
              </a:rPr>
              <a:t> akan terjadi, tapi </a:t>
            </a:r>
            <a:r>
              <a:rPr sz="2200" b="0" i="1">
                <a:solidFill>
                  <a:srgbClr val="5F625C"/>
                </a:solidFill>
                <a:latin typeface="Source Serif 4"/>
              </a:rPr>
              <a:t>di mana, kapan,</a:t>
            </a:r>
            <a:r>
              <a:rPr sz="2200" b="0" i="0">
                <a:solidFill>
                  <a:srgbClr val="5F625C"/>
                </a:solidFill>
                <a:latin typeface="Source Serif 4"/>
              </a:rPr>
              <a:t> dan </a:t>
            </a:r>
            <a:r>
              <a:rPr sz="2200" b="0" i="1">
                <a:solidFill>
                  <a:srgbClr val="5F625C"/>
                </a:solidFill>
                <a:latin typeface="Source Serif 4"/>
              </a:rPr>
              <a:t>seberapa siap</a:t>
            </a:r>
            <a:r>
              <a:rPr sz="2200" b="0" i="0">
                <a:solidFill>
                  <a:srgbClr val="5F625C"/>
                </a:solidFill>
                <a:latin typeface="Source Serif 4"/>
              </a:rPr>
              <a:t> kita.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Dr.rer.nat. Wiwit Suryanto — Geoscience Research Group, Departemen Fisika, FMIPA UGM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SATU PETA, SATU PERTANYAAN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Setiap titik adalah satu gempa yang pernah mengguncang negeri 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16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2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01_seismisitas_indone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6301306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F625C"/>
                </a:solidFill>
                <a:latin typeface="Inter"/>
              </a:rPr>
              <a:t>Seismisitas Indonesia — katalog BMKG 1998–2024 (217.801 gempa). Warna = kedalaman hiposenter (0–700 km).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Sumber gambar: katalog BMKG · Kuliah Seismologi UGM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01_seismisitas_indonesia.png"/>
          <p:cNvPicPr>
            <a:picLocks noChangeAspect="1"/>
          </p:cNvPicPr>
          <p:nvPr/>
        </p:nvPicPr>
        <p:blipFill>
          <a:blip r:embed="rId2"/>
          <a:srcRect l="36000" r="16000" t="34000" b="1400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5532120" y="2880360"/>
            <a:ext cx="1143000" cy="1143000"/>
          </a:xfrm>
          <a:prstGeom prst="ellipse">
            <a:avLst/>
          </a:prstGeom>
          <a:noFill/>
          <a:ln w="44450">
            <a:solidFill>
              <a:srgbClr val="8A2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0" y="3246120"/>
            <a:ext cx="2468880" cy="457200"/>
          </a:xfrm>
          <a:prstGeom prst="rect">
            <a:avLst/>
          </a:prstGeom>
          <a:solidFill>
            <a:srgbClr val="F8F6F1"/>
          </a:solidFill>
          <a:ln w="12700">
            <a:solidFill>
              <a:srgbClr val="D8D2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0" y="33101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8A2D1F"/>
                </a:solidFill>
                <a:latin typeface="Inter"/>
              </a:rPr>
              <a:t>Flores · 15 Agu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5852160" cy="173736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692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8A2D1F"/>
                </a:solidFill>
                <a:latin typeface="Inter"/>
              </a:rPr>
              <a:t>PERBESAR: NUSA TENGGARA TIMUR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5577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500" b="1" i="0">
                <a:solidFill>
                  <a:srgbClr val="1F1F1B"/>
                </a:solidFill>
                <a:latin typeface="Source Serif 4"/>
              </a:rPr>
              <a:t>Titik ini bukan kebetulan — ia bagian dari denyut kegempaan Indonesia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Busur Sunda–Banda · sesar naik busur-belakang Flores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GEMPA FLORES — 15 AGUSTUS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Apa yang terjadi, dalam angka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Waktu asal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05:58:21 WITA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258568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5000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Magnitudo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5000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Mw 7,7 (USGS) · 7,61 (GFZ)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825496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Kedalaman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916936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10 km — dangkal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392424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48386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Episenter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483864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±68 km BBL Ende, lepas pantai utara Flores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59352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050791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Mekanisme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050791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Sesar naik (thrust)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526279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617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Sumber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61772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Flores Back-arc Thrust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093208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18464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Guncangan maks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18464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MMI VIII · PGA 0,635 g (Kuwus)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660136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173736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8A2D1F"/>
                </a:solidFill>
                <a:latin typeface="Source Serif 4"/>
              </a:rPr>
              <a:t>±73</a:t>
            </a:r>
          </a:p>
          <a:p>
            <a:pPr>
              <a:spcBef>
                <a:spcPts val="400"/>
              </a:spcBef>
            </a:pPr>
            <a:r>
              <a:rPr sz="1500" b="0" i="0">
                <a:solidFill>
                  <a:srgbClr val="5F625C"/>
                </a:solidFill>
                <a:latin typeface="Inter"/>
              </a:rPr>
              <a:t>korban jiwa · 1.182 luka · ±59.600 mengungsi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20040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8A2D1F"/>
                </a:solidFill>
                <a:latin typeface="Source Serif 4"/>
              </a:rPr>
              <a:t>&gt;2.768</a:t>
            </a:r>
          </a:p>
          <a:p>
            <a:pPr>
              <a:spcBef>
                <a:spcPts val="400"/>
              </a:spcBef>
            </a:pPr>
            <a:r>
              <a:rPr sz="1500" b="0" i="0">
                <a:solidFill>
                  <a:srgbClr val="5F625C"/>
                </a:solidFill>
                <a:latin typeface="Inter"/>
              </a:rPr>
              <a:t>gempa susulan hingga 19 Agu (terbesar M6,2)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66344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8A2D1F"/>
                </a:solidFill>
                <a:latin typeface="Source Serif 4"/>
              </a:rPr>
              <a:t>2′16″</a:t>
            </a:r>
          </a:p>
          <a:p>
            <a:pPr>
              <a:spcBef>
                <a:spcPts val="400"/>
              </a:spcBef>
            </a:pPr>
            <a:r>
              <a:rPr sz="1500" b="0" i="0">
                <a:solidFill>
                  <a:srgbClr val="5F625C"/>
                </a:solidFill>
                <a:latin typeface="Inter"/>
              </a:rPr>
              <a:t>peringatan dini tsunami terbit setelah gempa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Sumber: BMKG · USGS · GFZ (data masih berkembang)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SESAR YANG SAMA, BERULANG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Sesar naik busur-belakang Flores: sudah lama kita kenal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20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8A2D1F"/>
                </a:solidFill>
                <a:latin typeface="Inter"/>
              </a:rPr>
              <a:t>1992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94767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700" b="1" i="0">
                <a:solidFill>
                  <a:srgbClr val="1F1F1B"/>
                </a:solidFill>
                <a:latin typeface="Inter"/>
              </a:rPr>
              <a:t>Flores, Mw 7,8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tsunami mematikan, ±2.500 korban. Pelajaran pahit pertama.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603504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063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8A2D1F"/>
                </a:solidFill>
                <a:latin typeface="Inter"/>
              </a:rPr>
              <a:t>2018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09067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700" b="1" i="0">
                <a:solidFill>
                  <a:srgbClr val="1F1F1B"/>
                </a:solidFill>
                <a:latin typeface="Inter"/>
              </a:rPr>
              <a:t>Lombok, seri Mw 6,3–6,9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segmen barat sesar yang sama. Data &amp; analisis b-value kami.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31920"/>
            <a:ext cx="603504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206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8A2D1F"/>
                </a:solidFill>
                <a:latin typeface="Inter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23367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700" b="1" i="0">
                <a:solidFill>
                  <a:srgbClr val="1F1F1B"/>
                </a:solidFill>
                <a:latin typeface="Inter"/>
              </a:rPr>
              <a:t>Flores, Mw 7,7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pecah makin ke timur. Peristiwa yang kita bahas malam ini.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074920"/>
            <a:ext cx="603504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40880" y="2011680"/>
            <a:ext cx="4572000" cy="237744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40880" y="2011680"/>
            <a:ext cx="54864" cy="237744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96912" y="2212848"/>
            <a:ext cx="4114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PESAN KUNCI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Ini bukan ancaman baru. Sesar naik di utara busur Nusa Tenggara berulang kali melepaskan gempa besar. Yang bisa kita ubah bukan gempanya — tapi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kesiapan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kita.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Analog seismotektonik — Flores Back-arc Thrust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SEBELUM ERA SEISMOGRAF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1F1F1B"/>
                </a:solidFill>
                <a:latin typeface="Source Serif 4"/>
              </a:rPr>
              <a:t>Sejarah sudah mencatatnya — jauh sebelum kita bisa mengukurnya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8A2D1F"/>
                </a:solidFill>
                <a:latin typeface="Inter"/>
              </a:rPr>
              <a:t>1648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801368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450" b="1" i="0">
                <a:solidFill>
                  <a:srgbClr val="1F1F1B"/>
                </a:solidFill>
                <a:latin typeface="Inter"/>
              </a:rPr>
              <a:t>Solor–Larantuka</a:t>
            </a:r>
            <a:r>
              <a:rPr sz="1450" b="0" i="0">
                <a:solidFill>
                  <a:srgbClr val="1F1F1B"/>
                </a:solidFill>
                <a:latin typeface="Inter"/>
              </a:rPr>
              <a:t> — rangkaian gempa merusak paling awal tercatat di NTT; tembok Benteng Henricus runtuh.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06040"/>
            <a:ext cx="61722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8A2D1F"/>
                </a:solidFill>
                <a:latin typeface="Inter"/>
              </a:rPr>
              <a:t>1837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15768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450" b="1" i="0">
                <a:solidFill>
                  <a:srgbClr val="1F1F1B"/>
                </a:solidFill>
                <a:latin typeface="Inter"/>
              </a:rPr>
              <a:t>Laut utara Flores</a:t>
            </a:r>
            <a:r>
              <a:rPr sz="1450" b="0" i="0">
                <a:solidFill>
                  <a:srgbClr val="1F1F1B"/>
                </a:solidFill>
                <a:latin typeface="Inter"/>
              </a:rPr>
              <a:t> — gempa laut (seaquake) kuat dirasakan dari perahu.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20440"/>
            <a:ext cx="61722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61188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8A2D1F"/>
                </a:solidFill>
                <a:latin typeface="Inter"/>
              </a:rPr>
              <a:t>1855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630168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450" b="1" i="0">
                <a:solidFill>
                  <a:srgbClr val="1F1F1B"/>
                </a:solidFill>
                <a:latin typeface="Inter"/>
              </a:rPr>
              <a:t>Nanga Rama, Manggarai</a:t>
            </a:r>
            <a:r>
              <a:rPr sz="1450" b="0" i="0">
                <a:solidFill>
                  <a:srgbClr val="1F1F1B"/>
                </a:solidFill>
                <a:latin typeface="Inter"/>
              </a:rPr>
              <a:t> — gelombang besar menerjang teluk (kandidat tsunami).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434840"/>
            <a:ext cx="61722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52628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8A2D1F"/>
                </a:solidFill>
                <a:latin typeface="Inter"/>
              </a:rPr>
              <a:t>1868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544568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450" b="1" i="0">
                <a:solidFill>
                  <a:srgbClr val="1F1F1B"/>
                </a:solidFill>
                <a:latin typeface="Inter"/>
              </a:rPr>
              <a:t>Ambugaga, Ende</a:t>
            </a:r>
            <a:r>
              <a:rPr sz="1450" b="0" i="0">
                <a:solidFill>
                  <a:srgbClr val="1F1F1B"/>
                </a:solidFill>
                <a:latin typeface="Inter"/>
              </a:rPr>
              <a:t> — guncangan sangat keras ±2 menit di Flores tengah.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349240"/>
            <a:ext cx="61722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458968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1">
                <a:solidFill>
                  <a:srgbClr val="5F625C"/>
                </a:solidFill>
                <a:latin typeface="Inter"/>
              </a:rPr>
              <a:t>Catatan makroseismik historis — belum dapat diberi magnitudo atau dipastikan dari sesar yang sama.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2011680"/>
            <a:ext cx="4572000" cy="292608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80" y="2011680"/>
            <a:ext cx="54864" cy="292608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96912" y="2212848"/>
            <a:ext cx="41148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BENANG MERAH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Katalog Arthur Wichmann (hingga 1877) mencatat gempa, gempa laut, dan tsunami di Flores–NTT jauh sebelum ada seismograf.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Sejarah sudah memperingatkan; 2026 menegaskannya.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Ke depan, kesiapsiagaan bukan pilihan.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Sumber: A. Wichmann, katalog gempa Kepulauan Hindia (hingga 1877)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72 JAM PERTAMA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Apa yang dikerjakan seismologi saat tanggap darurat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Menit pertama — membaca “telegram” bumi.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Gelombang P tiba lebih dulu, membawa lokasi, kedalaman, magnitudo, dan mekanisme dalam hitungan menit.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ShakeMap.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Dari satu sumber, kita petakan sebaran guncangan — menebak di mana kerusakan terparah sebelum laporan masuk, untuk mengarahkan SAR.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Peringatan tsunami.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Keputusan besar diambil di menit-menit awal (lihat: 2 menit 16 detik).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Prakiraan gempa susulan.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Melindungi penyintas dan relawan yang masuk ke bangunan retak.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572000"/>
            <a:ext cx="11064240" cy="137160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572000"/>
            <a:ext cx="54864" cy="137160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73168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KECEPATAN VS KETELITIAN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Mw 7,7 (USGS) vs 7,61 (GFZ); 10 km vs 25 km. Magnitudo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direvisi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seiring data masuk — ini normal, bukan kesalahan. Publik perlu memahaminya.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Peran geofisika dalam rantai tanggap darurat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8A2D1F"/>
                </a:solidFill>
                <a:latin typeface="Inter"/>
              </a:rPr>
              <a:t>REKAMAN LANGSUNG — GE.MMRI, MAUMERE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00" b="1" i="0">
                <a:solidFill>
                  <a:srgbClr val="1F1F1B"/>
                </a:solidFill>
                <a:latin typeface="Source Serif 4"/>
              </a:rPr>
              <a:t>Guncangan yang meruntuhkan Pelabuhan Maumere, terekam ±104 km dari sumber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67208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2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aveform_mmri_flores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38528"/>
            <a:ext cx="6492240" cy="55531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53212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>
                <a:solidFill>
                  <a:srgbClr val="5F625C"/>
                </a:solidFill>
                <a:latin typeface="Inter"/>
              </a:rPr>
              <a:t>GE.MMRI (8,64°S 122,24°E), broadband + akselerometer, Δ≈104 km. Data: GEOFON · ObsPy.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6596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8A2D1F"/>
                </a:solidFill>
                <a:latin typeface="Source Serif 4"/>
              </a:rPr>
              <a:t>0,14 g</a:t>
            </a:r>
          </a:p>
          <a:p>
            <a:r>
              <a:rPr sz="1400" b="0" i="0">
                <a:solidFill>
                  <a:srgbClr val="5F625C"/>
                </a:solidFill>
                <a:latin typeface="Inter"/>
              </a:rPr>
              <a:t>PGA (akselerometer)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196596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8A2D1F"/>
                </a:solidFill>
                <a:latin typeface="Source Serif 4"/>
              </a:rPr>
              <a:t>1,9 cm/s</a:t>
            </a:r>
          </a:p>
          <a:p>
            <a:r>
              <a:rPr sz="1400" b="0" i="0">
                <a:solidFill>
                  <a:srgbClr val="5F625C"/>
                </a:solidFill>
                <a:latin typeface="Inter"/>
              </a:rPr>
              <a:t>PGV puncak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520440"/>
            <a:ext cx="42062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2F5D62"/>
                </a:solidFill>
                <a:latin typeface="Inter"/>
              </a:rPr>
              <a:t>■ 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Jeda waktu asal → gelombang P (~15 dtk): </a:t>
            </a:r>
            <a:r>
              <a:rPr sz="1600" b="0" i="0">
                <a:solidFill>
                  <a:srgbClr val="1F1F1B"/>
                </a:solidFill>
                <a:latin typeface="Inter"/>
              </a:rPr>
              <a:t>gelombang butuh waktu menempuh 104 km.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2F5D62"/>
                </a:solidFill>
                <a:latin typeface="Inter"/>
              </a:rPr>
              <a:t>■ 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Rekaman ini “menyaksikan” runtuhnya terminal Pelabuhan Maumere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— jembatan ke dampak struktural.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Data: GEOFON (GFZ) · workflow ObsPy (adaptasi load.py)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DUA PERTANYAAN YANG PALING DITANYA WARGA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F1F1B"/>
                </a:solidFill>
                <a:latin typeface="Source Serif 4"/>
              </a:rPr>
              <a:t>“Akan ada susulan yang lebih besar?”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94560"/>
            <a:ext cx="5394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&gt;2.768 susulan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mengikuti pola peluruhan (hukum Omori): rapat di awal, mereda seiring waktu.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Peluang susulan besar mengecil tiap hari — tapi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tak pernah nol</a:t>
            </a:r>
            <a:r>
              <a:rPr sz="1700" b="0" i="0">
                <a:solidFill>
                  <a:srgbClr val="1F1F1B"/>
                </a:solidFill>
                <a:latin typeface="Inter"/>
              </a:rPr>
              <a:t>. Jangan masuk bangunan retak.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737360"/>
            <a:ext cx="5212080" cy="21945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737360"/>
            <a:ext cx="54864" cy="2194560"/>
          </a:xfrm>
          <a:prstGeom prst="rect">
            <a:avLst/>
          </a:prstGeom>
          <a:solidFill>
            <a:srgbClr val="8A2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2" y="1938528"/>
            <a:ext cx="47548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8A2D1F"/>
                </a:solidFill>
                <a:latin typeface="Inter"/>
              </a:rPr>
              <a:t>PESAN YANG MENYELAMATKAN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Untuk tsunami dekat-pantai,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guncangan kuat itu sendiri adalah peringatan.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Jangan tunggu sirene —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segera evakuasi mandiri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ke tempat tinggi.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11480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5F625C"/>
                </a:solidFill>
                <a:latin typeface="Inter"/>
              </a:rPr>
              <a:t>1992: tsunami Flores tiba dalam hitungan menit. Waktu adalah nyawa.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Komunikasi risiko saat darurat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YANG BISA KITA PERBAIKI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1F1F1B"/>
                </a:solidFill>
                <a:latin typeface="Source Serif 4"/>
              </a:rPr>
              <a:t>Indonesia timur butuh </a:t>
            </a:r>
            <a:r>
              <a:rPr sz="3600" b="1" i="0">
                <a:solidFill>
                  <a:srgbClr val="8A2D1F"/>
                </a:solidFill>
                <a:latin typeface="Source Serif 4"/>
              </a:rPr>
              <a:t>lebih banyak mata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94560"/>
            <a:ext cx="6400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Kerapatan stasiun di NTT jauh di bawah Jawa → lokasi lebih tak pasti, respons lebih lambat.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Seismometer biaya rendah &amp; jaringan berbasis komunitas–sekolah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merapatkan pemantauan sekaligus membangun kesadaran.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Penyebaran alat sementara pasca-gempa untuk memantau susulan &amp; memetakan sesar aktif.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2194560"/>
            <a:ext cx="4297680" cy="237744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0" y="2194560"/>
            <a:ext cx="54864" cy="237744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1231" y="2395728"/>
            <a:ext cx="38404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PENUTUP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Kita tak bisa mencegah gempa. Tapi setiap sensor tambahan dan setiap warga yang tahu harus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segera lari ke tempat tinggi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memperbesar peluang kita selamat saat gempa berikutnya datang.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 i="0">
                <a:solidFill>
                  <a:srgbClr val="1F1F1B"/>
                </a:solidFill>
                <a:latin typeface="Inter"/>
              </a:rPr>
              <a:t>Dr.rer.nat. Wiwit Suryanto</a:t>
            </a:r>
            <a:r>
              <a:rPr sz="1700" b="0" i="0">
                <a:solidFill>
                  <a:srgbClr val="5F625C"/>
                </a:solidFill>
                <a:latin typeface="Inter"/>
              </a:rPr>
              <a:t>  ·  Geoscience Research Group, Departemen Fisika, FMIPA UGM  ·  Terima kasih.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Diskusi Publik PSBA UGM — Respons Tanggap Darurat Gempa NTT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