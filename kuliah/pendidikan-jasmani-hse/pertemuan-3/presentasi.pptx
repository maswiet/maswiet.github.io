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3919f21be14b62" /><Relationship Type="http://schemas.openxmlformats.org/officeDocument/2006/relationships/extended-properties" Target="/docProps/app.xml" Id="R670a011763184835" /><Relationship Type="http://schemas.openxmlformats.org/officeDocument/2006/relationships/officeDocument" Target="/ppt/presentation.xml" Id="Rd234a2af1a5d4d30" /></Relationships>
</file>

<file path=ppt/presentation.xml><?xml version="1.0" encoding="utf-8"?>
<p:presentation xmlns:p="http://schemas.openxmlformats.org/presentationml/2006/main">
  <p:sldMasterIdLst>
    <p:sldMasterId xmlns:r="http://schemas.openxmlformats.org/officeDocument/2006/relationships" id="2147483648" r:id="Rb0cb478fc87247fb"/>
  </p:sldMasterIdLst>
  <p:notesMasterIdLst>
    <p:notesMasterId xmlns:r="http://schemas.openxmlformats.org/officeDocument/2006/relationships" r:id="R2875a34075bb4f5f"/>
  </p:notesMasterIdLst>
  <p:sldIdLst>
    <p:sldId xmlns:r="http://schemas.openxmlformats.org/officeDocument/2006/relationships" id="256" r:id="Rf40785d4039140af"/>
    <p:sldId xmlns:r="http://schemas.openxmlformats.org/officeDocument/2006/relationships" id="257" r:id="Raff272111328454b"/>
    <p:sldId xmlns:r="http://schemas.openxmlformats.org/officeDocument/2006/relationships" id="258" r:id="R4f3a3da4cf7b4e7f"/>
    <p:sldId xmlns:r="http://schemas.openxmlformats.org/officeDocument/2006/relationships" id="259" r:id="Rd5f625a1c758449b"/>
    <p:sldId xmlns:r="http://schemas.openxmlformats.org/officeDocument/2006/relationships" id="260" r:id="R3a554e3c9f564e27"/>
    <p:sldId xmlns:r="http://schemas.openxmlformats.org/officeDocument/2006/relationships" id="261" r:id="Rfb06e670a2354eac"/>
    <p:sldId xmlns:r="http://schemas.openxmlformats.org/officeDocument/2006/relationships" id="262" r:id="Rb4760b8f64b549b4"/>
    <p:sldId xmlns:r="http://schemas.openxmlformats.org/officeDocument/2006/relationships" id="263" r:id="R1d8bd6850b284fd7"/>
    <p:sldId xmlns:r="http://schemas.openxmlformats.org/officeDocument/2006/relationships" id="264" r:id="R46369678b15b41ee"/>
    <p:sldId xmlns:r="http://schemas.openxmlformats.org/officeDocument/2006/relationships" id="265" r:id="R2b9efdb235654d2f"/>
    <p:sldId xmlns:r="http://schemas.openxmlformats.org/officeDocument/2006/relationships" id="266" r:id="R0b8a285331c04293"/>
    <p:sldId xmlns:r="http://schemas.openxmlformats.org/officeDocument/2006/relationships" id="267" r:id="Rf371d37936f443b0"/>
    <p:sldId xmlns:r="http://schemas.openxmlformats.org/officeDocument/2006/relationships" id="268" r:id="R514c15e8a7934f1c"/>
    <p:sldId xmlns:r="http://schemas.openxmlformats.org/officeDocument/2006/relationships" id="269" r:id="Rc007bc4ae37c48a0"/>
    <p:sldId xmlns:r="http://schemas.openxmlformats.org/officeDocument/2006/relationships" id="270" r:id="Re99e192abb1e4590"/>
    <p:sldId xmlns:r="http://schemas.openxmlformats.org/officeDocument/2006/relationships" id="271" r:id="R39780d6f5d974189"/>
    <p:sldId xmlns:r="http://schemas.openxmlformats.org/officeDocument/2006/relationships" id="272" r:id="Re7bb89142e3d472c"/>
    <p:sldId xmlns:r="http://schemas.openxmlformats.org/officeDocument/2006/relationships" id="273" r:id="R9ac1896a7a2b4a83"/>
    <p:sldId xmlns:r="http://schemas.openxmlformats.org/officeDocument/2006/relationships" id="274" r:id="R5fd336a1bdb1436a"/>
    <p:sldId xmlns:r="http://schemas.openxmlformats.org/officeDocument/2006/relationships" id="275" r:id="R3615f423288d4250"/>
    <p:sldId xmlns:r="http://schemas.openxmlformats.org/officeDocument/2006/relationships" id="276" r:id="R1c45d18ca22948fa"/>
    <p:sldId xmlns:r="http://schemas.openxmlformats.org/officeDocument/2006/relationships" id="277" r:id="Rc4ca5f96bb424bdf"/>
    <p:sldId xmlns:r="http://schemas.openxmlformats.org/officeDocument/2006/relationships" id="278" r:id="Rc6e27104650f489a"/>
    <p:sldId xmlns:r="http://schemas.openxmlformats.org/officeDocument/2006/relationships" id="279" r:id="R072cb9970bf240f6"/>
    <p:sldId xmlns:r="http://schemas.openxmlformats.org/officeDocument/2006/relationships" id="280" r:id="R9321a19319984e62"/>
    <p:sldId xmlns:r="http://schemas.openxmlformats.org/officeDocument/2006/relationships" id="281" r:id="Re5611c76118043c9"/>
    <p:sldId xmlns:r="http://schemas.openxmlformats.org/officeDocument/2006/relationships" id="282" r:id="R0a34203d94f34468"/>
    <p:sldId xmlns:r="http://schemas.openxmlformats.org/officeDocument/2006/relationships" id="283" r:id="R0fc17549527e44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5176de8ba249fa" /><Relationship Type="http://schemas.openxmlformats.org/officeDocument/2006/relationships/slideMaster" Target="/ppt/slideMasters/slideMaster1.xml" Id="Rb0cb478fc87247fb" /><Relationship Type="http://schemas.openxmlformats.org/officeDocument/2006/relationships/notesMaster" Target="/ppt/notesMasters/notesMaster1.xml" Id="R2875a34075bb4f5f" /><Relationship Type="http://schemas.openxmlformats.org/officeDocument/2006/relationships/presProps" Target="/ppt/presProps.xml" Id="R5b4eb2d0a64344ce" /><Relationship Type="http://schemas.openxmlformats.org/officeDocument/2006/relationships/tableStyles" Target="/ppt/tableStyles.xml" Id="R3602260c06024620" /><Relationship Type="http://schemas.openxmlformats.org/officeDocument/2006/relationships/slide" Target="/ppt/slides/slide1.xml" Id="Rf40785d4039140af" /><Relationship Type="http://schemas.openxmlformats.org/officeDocument/2006/relationships/slide" Target="/ppt/slides/slide2.xml" Id="Raff272111328454b" /><Relationship Type="http://schemas.openxmlformats.org/officeDocument/2006/relationships/slide" Target="/ppt/slides/slide3.xml" Id="R4f3a3da4cf7b4e7f" /><Relationship Type="http://schemas.openxmlformats.org/officeDocument/2006/relationships/slide" Target="/ppt/slides/slide4.xml" Id="Rd5f625a1c758449b" /><Relationship Type="http://schemas.openxmlformats.org/officeDocument/2006/relationships/slide" Target="/ppt/slides/slide5.xml" Id="R3a554e3c9f564e27" /><Relationship Type="http://schemas.openxmlformats.org/officeDocument/2006/relationships/slide" Target="/ppt/slides/slide6.xml" Id="Rfb06e670a2354eac" /><Relationship Type="http://schemas.openxmlformats.org/officeDocument/2006/relationships/slide" Target="/ppt/slides/slide7.xml" Id="Rb4760b8f64b549b4" /><Relationship Type="http://schemas.openxmlformats.org/officeDocument/2006/relationships/slide" Target="/ppt/slides/slide8.xml" Id="R1d8bd6850b284fd7" /><Relationship Type="http://schemas.openxmlformats.org/officeDocument/2006/relationships/slide" Target="/ppt/slides/slide9.xml" Id="R46369678b15b41ee" /><Relationship Type="http://schemas.openxmlformats.org/officeDocument/2006/relationships/slide" Target="/ppt/slides/slide10.xml" Id="R2b9efdb235654d2f" /><Relationship Type="http://schemas.openxmlformats.org/officeDocument/2006/relationships/slide" Target="/ppt/slides/slide11.xml" Id="R0b8a285331c04293" /><Relationship Type="http://schemas.openxmlformats.org/officeDocument/2006/relationships/slide" Target="/ppt/slides/slide12.xml" Id="Rf371d37936f443b0" /><Relationship Type="http://schemas.openxmlformats.org/officeDocument/2006/relationships/slide" Target="/ppt/slides/slide13.xml" Id="R514c15e8a7934f1c" /><Relationship Type="http://schemas.openxmlformats.org/officeDocument/2006/relationships/slide" Target="/ppt/slides/slide14.xml" Id="Rc007bc4ae37c48a0" /><Relationship Type="http://schemas.openxmlformats.org/officeDocument/2006/relationships/slide" Target="/ppt/slides/slide15.xml" Id="Re99e192abb1e4590" /><Relationship Type="http://schemas.openxmlformats.org/officeDocument/2006/relationships/slide" Target="/ppt/slides/slide16.xml" Id="R39780d6f5d974189" /><Relationship Type="http://schemas.openxmlformats.org/officeDocument/2006/relationships/slide" Target="/ppt/slides/slide17.xml" Id="Re7bb89142e3d472c" /><Relationship Type="http://schemas.openxmlformats.org/officeDocument/2006/relationships/slide" Target="/ppt/slides/slide18.xml" Id="R9ac1896a7a2b4a83" /><Relationship Type="http://schemas.openxmlformats.org/officeDocument/2006/relationships/slide" Target="/ppt/slides/slide19.xml" Id="R5fd336a1bdb1436a" /><Relationship Type="http://schemas.openxmlformats.org/officeDocument/2006/relationships/slide" Target="/ppt/slides/slide20.xml" Id="R3615f423288d4250" /><Relationship Type="http://schemas.openxmlformats.org/officeDocument/2006/relationships/slide" Target="/ppt/slides/slide21.xml" Id="R1c45d18ca22948fa" /><Relationship Type="http://schemas.openxmlformats.org/officeDocument/2006/relationships/slide" Target="/ppt/slides/slide22.xml" Id="Rc4ca5f96bb424bdf" /><Relationship Type="http://schemas.openxmlformats.org/officeDocument/2006/relationships/slide" Target="/ppt/slides/slide23.xml" Id="Rc6e27104650f489a" /><Relationship Type="http://schemas.openxmlformats.org/officeDocument/2006/relationships/slide" Target="/ppt/slides/slide24.xml" Id="R072cb9970bf240f6" /><Relationship Type="http://schemas.openxmlformats.org/officeDocument/2006/relationships/slide" Target="/ppt/slides/slide25.xml" Id="R9321a19319984e62" /><Relationship Type="http://schemas.openxmlformats.org/officeDocument/2006/relationships/slide" Target="/ppt/slides/slide26.xml" Id="Re5611c76118043c9" /><Relationship Type="http://schemas.openxmlformats.org/officeDocument/2006/relationships/slide" Target="/ppt/slides/slide27.xml" Id="R0a34203d94f34468" /><Relationship Type="http://schemas.openxmlformats.org/officeDocument/2006/relationships/slide" Target="/ppt/slides/slide28.xml" Id="R0fc17549527e44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cf1782658940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7ead1f04ca4129" /><Relationship Type="http://schemas.openxmlformats.org/officeDocument/2006/relationships/notesMaster" Target="/ppt/notesMasters/notesMaster1.xml" Id="R4d13346c32ac4e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be506e5161704c66" /><Relationship Type="http://schemas.openxmlformats.org/officeDocument/2006/relationships/notesMaster" Target="/ppt/notesMasters/notesMaster1.xml" Id="Rbbe319f9c86649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e09e36a55404492" /><Relationship Type="http://schemas.openxmlformats.org/officeDocument/2006/relationships/notesMaster" Target="/ppt/notesMasters/notesMaster1.xml" Id="Rea9c321d70d446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836b47b04f463e" /><Relationship Type="http://schemas.openxmlformats.org/officeDocument/2006/relationships/notesMaster" Target="/ppt/notesMasters/notesMaster1.xml" Id="R324d180a52a941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4715539b544e0c" /><Relationship Type="http://schemas.openxmlformats.org/officeDocument/2006/relationships/notesMaster" Target="/ppt/notesMasters/notesMaster1.xml" Id="R254d51f5fab048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7e4c0e920a4db5" /><Relationship Type="http://schemas.openxmlformats.org/officeDocument/2006/relationships/notesMaster" Target="/ppt/notesMasters/notesMaster1.xml" Id="Rd9781fb3c3fd45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90133486864363" /><Relationship Type="http://schemas.openxmlformats.org/officeDocument/2006/relationships/notesMaster" Target="/ppt/notesMasters/notesMaster1.xml" Id="R950d188dc1f34c75"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2b187764ef42d3" /><Relationship Type="http://schemas.openxmlformats.org/officeDocument/2006/relationships/notesMaster" Target="/ppt/notesMasters/notesMaster1.xml" Id="R0006ba5aa1d742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9e4959439cf4a9d" /><Relationship Type="http://schemas.openxmlformats.org/officeDocument/2006/relationships/notesMaster" Target="/ppt/notesMasters/notesMaster1.xml" Id="Rf94300bb80c7417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76bdd0b5e54457" /><Relationship Type="http://schemas.openxmlformats.org/officeDocument/2006/relationships/notesMaster" Target="/ppt/notesMasters/notesMaster1.xml" Id="R7a6cea80aa5b491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1d570886aac4302" /><Relationship Type="http://schemas.openxmlformats.org/officeDocument/2006/relationships/notesMaster" Target="/ppt/notesMasters/notesMaster1.xml" Id="Rb6434ea9fd784d2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f19128d2694abd" /><Relationship Type="http://schemas.openxmlformats.org/officeDocument/2006/relationships/notesMaster" Target="/ppt/notesMasters/notesMaster1.xml" Id="Rdb7067f9b22547f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201815d1be5426c" /><Relationship Type="http://schemas.openxmlformats.org/officeDocument/2006/relationships/notesMaster" Target="/ppt/notesMasters/notesMaster1.xml" Id="Rf66bc0489cac46e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df792d13974d2c" /><Relationship Type="http://schemas.openxmlformats.org/officeDocument/2006/relationships/notesMaster" Target="/ppt/notesMasters/notesMaster1.xml" Id="R73f969abad954fe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08b0d48f3714afc" /><Relationship Type="http://schemas.openxmlformats.org/officeDocument/2006/relationships/notesMaster" Target="/ppt/notesMasters/notesMaster1.xml" Id="Rbd922055119b4ae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05bf07bcf3d41d5" /><Relationship Type="http://schemas.openxmlformats.org/officeDocument/2006/relationships/notesMaster" Target="/ppt/notesMasters/notesMaster1.xml" Id="Ra6ef67c2c6624f1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dfd26f999f54711" /><Relationship Type="http://schemas.openxmlformats.org/officeDocument/2006/relationships/notesMaster" Target="/ppt/notesMasters/notesMaster1.xml" Id="R6f1e21c2994d41f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c0c4e82c9a54c4a" /><Relationship Type="http://schemas.openxmlformats.org/officeDocument/2006/relationships/notesMaster" Target="/ppt/notesMasters/notesMaster1.xml" Id="R85b59f26e61546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2d4f69148cc4a49" /><Relationship Type="http://schemas.openxmlformats.org/officeDocument/2006/relationships/notesMaster" Target="/ppt/notesMasters/notesMaster1.xml" Id="Rcfe515829e18415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a31ca3ee8454e2e" /><Relationship Type="http://schemas.openxmlformats.org/officeDocument/2006/relationships/notesMaster" Target="/ppt/notesMasters/notesMaster1.xml" Id="R055642fda64a47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9f03aebdad34f28" /><Relationship Type="http://schemas.openxmlformats.org/officeDocument/2006/relationships/notesMaster" Target="/ppt/notesMasters/notesMaster1.xml" Id="Re503ae49efca4e3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1655846c9a943a8" /><Relationship Type="http://schemas.openxmlformats.org/officeDocument/2006/relationships/notesMaster" Target="/ppt/notesMasters/notesMaster1.xml" Id="R1ce39c33d4e5494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a9e3fbfb0ad4351" /><Relationship Type="http://schemas.openxmlformats.org/officeDocument/2006/relationships/notesMaster" Target="/ppt/notesMasters/notesMaster1.xml" Id="R37811dd2a3b3432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fbb24acbda54c54" /><Relationship Type="http://schemas.openxmlformats.org/officeDocument/2006/relationships/notesMaster" Target="/ppt/notesMasters/notesMaster1.xml" Id="Rdb7413b87f8842b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3eefe2bd6764762" /><Relationship Type="http://schemas.openxmlformats.org/officeDocument/2006/relationships/notesMaster" Target="/ppt/notesMasters/notesMaster1.xml" Id="Rd14d20faab834eb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23496afdaa04b56" /><Relationship Type="http://schemas.openxmlformats.org/officeDocument/2006/relationships/notesMaster" Target="/ppt/notesMasters/notesMaster1.xml" Id="R55702401e633426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7338029357d4c90" /><Relationship Type="http://schemas.openxmlformats.org/officeDocument/2006/relationships/notesMaster" Target="/ppt/notesMasters/notesMaster1.xml" Id="R55010146d3204f2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163f37748f64473" /><Relationship Type="http://schemas.openxmlformats.org/officeDocument/2006/relationships/notesMaster" Target="/ppt/notesMasters/notesMaster1.xml" Id="R4cbaaf177f1640e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 menit. Minta mahasiswa membuka profil pekerjaan hasil pertemuan kedua. Hari ini profil itu diubah menjadi keputusan tim yang dapat diverifikasi.</a:t>
            </a:r>
          </a:p>
          <a:p xmlns:a="http://schemas.openxmlformats.org/drawingml/2006/main">
            <a:r>
              <a:t/>
            </a:r>
          </a:p>
          <a:p xmlns:a="http://schemas.openxmlformats.org/drawingml/2006/main">
            <a:r>
              <a:t>Pokok bahasan asli: Pendidikan Jasmani &amp; HSE Geofisika Pertemuan 3 · Wiwit Suryanto · S1 Geofisika UGM</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 menit. Kasus simulasi, bukan laporan kejadian nyata. Gali waktu bangun, tidur sebelumnya, durasi tugas, pengemudi, transportasi alternatif, tempat menginap, dan tekanan target. Jangan meminta riwayat pribadi.</a:t>
            </a:r>
          </a:p>
          <a:p xmlns:a="http://schemas.openxmlformats.org/drawingml/2006/main">
            <a:r>
              <a:t/>
            </a:r>
          </a:p>
          <a:p xmlns:a="http://schemas.openxmlformats.org/drawingml/2006/main">
            <a:r>
              <a:t>Pokok bahasan asli: Akuisisi selesai pukul 23.00. Tim masih harus membongkar alat dan berkendara pulang. Apa yang perlu direncanakan sejak sebelum berangkat?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6–10 menit. Hubungkan dengan fisiologi dan ergonomi pertemuan kedua. Bukti belajar: JSA kelompok, penjelasan individu, dan exit ticket.</a:t>
            </a:r>
          </a:p>
          <a:p xmlns:a="http://schemas.openxmlformats.org/drawingml/2006/main">
            <a:r>
              <a:t/>
            </a:r>
          </a:p>
          <a:p xmlns:a="http://schemas.openxmlformats.org/drawingml/2006/main">
            <a:r>
              <a:t>Pokok bahasan asli: Menjelaskan sumber kelelahan dan kebutuhan pemulihan. Menyusun JSA 4–6 langkah dengan PIC dan bukti verifikasi. Menetapkan penghentian serta syarat mulai kembali.</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10–13 menit. ODP slide 26–42 dan 55–59. Bahas kelelahan sebagai risiko sistem kerja bersama, tanpa menyalahkan kemauan pekerja. Merasa termotivasi tidak membuktikan kinerja bebas kelelahan.</a:t>
            </a:r>
          </a:p>
          <a:p xmlns:a="http://schemas.openxmlformats.org/drawingml/2006/main">
            <a:r>
              <a:t/>
            </a:r>
          </a:p>
          <a:p xmlns:a="http://schemas.openxmlformats.org/drawingml/2006/main">
            <a:r>
              <a:t>Pokok bahasan asli: Kurang tidur dan jadwal yang mengganggu tidur. Tuntutan fisik atau mental, panas, serta stres. Dampaknya dapat berupa respons melambat dan keputusan memburuk.</a:t>
            </a:r>
          </a:p>
          <a:p xmlns:a="http://schemas.openxmlformats.org/drawingml/2006/main">
            <a:r>
              <a:t/>
            </a:r>
          </a:p>
          <a:p xmlns:a="http://schemas.openxmlformats.org/drawingml/2006/main">
            <a:r>
              <a:t>Diagram orisinal materi kuliah. Beberapa sumber kelelahan bertemu dan dapat memengaruhi perhatian serta keputusan.</a:t>
            </a:r>
          </a:p>
          <a:p xmlns:a="http://schemas.openxmlformats.org/drawingml/2006/main">
            <a:r>
              <a:t/>
            </a:r>
          </a:p>
          <a:p xmlns:a="http://schemas.openxmlformats.org/drawingml/2006/main">
            <a:r>
              <a:t>NIOSH — Fatigue and Work (2026): https://www.cdc.gov/niosh/fatigue/about/index.html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13–16 menit. ODP slide 27–31. Jam dan besarnya perubahan suhu/denyut bervariasi antarorang. Hindari jam puncak tunggal yang dianggap berlaku bagi semua. Tidak perlu menggeneralisasi seluruh hormon atau siklus menstruasi menjadi 28 hari pasti.</a:t>
            </a:r>
          </a:p>
          <a:p xmlns:a="http://schemas.openxmlformats.org/drawingml/2006/main">
            <a:r>
              <a:t/>
            </a:r>
          </a:p>
          <a:p xmlns:a="http://schemas.openxmlformats.org/drawingml/2006/main">
            <a:r>
              <a:t>Pokok bahasan asli: Jam biologis mengatur pola sekitar 24 jam. Cahaya dan jadwal aktivitas membantu menyelaraskan ritme. Kerja malam dapat berbenturan dengan kecenderungan tubuh untuk tidur.</a:t>
            </a:r>
          </a:p>
          <a:p xmlns:a="http://schemas.openxmlformats.org/drawingml/2006/main">
            <a:r>
              <a:t/>
            </a:r>
          </a:p>
          <a:p xmlns:a="http://schemas.openxmlformats.org/drawingml/2006/main">
            <a:r>
              <a:t>Diagram orisinal materi kuliah. Siklus konseptual sekitar 24 jam terbagi fase terang dan gelap, tanpa menentukan waktu tidur universal.</a:t>
            </a:r>
          </a:p>
          <a:p xmlns:a="http://schemas.openxmlformats.org/drawingml/2006/main">
            <a:r>
              <a:t/>
            </a:r>
          </a:p>
          <a:p xmlns:a="http://schemas.openxmlformats.org/drawingml/2006/main">
            <a:r>
              <a:t>NHLBI — Your Sleep/Wake Cycle: https://www.nhlbi.nih.gov/health/sleep/sleep-wake-cycle</a:t>
            </a:r>
          </a:p>
          <a:p xmlns:a="http://schemas.openxmlformats.org/drawingml/2006/main">
            <a:r>
              <a:t>NIOSH — Fatigue and Work (2026): https://www.cdc.gov/niosh/fatigue/about/index.html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16–19 menit. Memperbarui tabel ODP slide 32–34 yang menggunakan pembagian lama. Tidur mencakup NREM dan REM. Detail amplitudo EEG tidak diperlukan untuk keputusan HSE dasar; sumber lama juga mencampur simbol mikrovolt dengan mV.</a:t>
            </a:r>
          </a:p>
          <a:p xmlns:a="http://schemas.openxmlformats.org/drawingml/2006/main">
            <a:r>
              <a:t/>
            </a:r>
          </a:p>
          <a:p xmlns:a="http://schemas.openxmlformats.org/drawingml/2006/main">
            <a:r>
              <a:t>Pokok bahasan asli: Tahap; Gambaran ringkas; NREM N1; Peralihan menuju tidur; NREM N2; Tidur yang lebih menetap; NREM N3; Tidur dalam atau gelombang lambat; REM; Aktivitas otak tinggi dan gerakan mata cepat</a:t>
            </a:r>
          </a:p>
          <a:p xmlns:a="http://schemas.openxmlformats.org/drawingml/2006/main">
            <a:r>
              <a:t/>
            </a:r>
          </a:p>
          <a:p xmlns:a="http://schemas.openxmlformats.org/drawingml/2006/main">
            <a:r>
              <a:t>Diagram orisinal materi kuliah. Peta fase tidur yang membedakan NREM dengan tiga tahap N1 N2 N3, serta REM sebagai fase lain.</a:t>
            </a:r>
          </a:p>
          <a:p xmlns:a="http://schemas.openxmlformats.org/drawingml/2006/main">
            <a:r>
              <a:t/>
            </a:r>
          </a:p>
          <a:p xmlns:a="http://schemas.openxmlformats.org/drawingml/2006/main">
            <a:r>
              <a:t>NHLBI — Sleep Phases and Stages: https://www.nhlbi.nih.gov/health/sleep/stages-of-sleep</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19–22 menit. Mengoreksi ODP slide 35. Angka rekomendasi populasi bukan sertifikasi layak mengemudi atau bekerja. Mahasiswa dengan masalah tidur berulang dapat berkonsultasi dengan tenaga kesehatan tanpa perlu mengumumkan kondisi kepada kelas.</a:t>
            </a:r>
          </a:p>
          <a:p xmlns:a="http://schemas.openxmlformats.org/drawingml/2006/main">
            <a:r>
              <a:t/>
            </a:r>
          </a:p>
          <a:p xmlns:a="http://schemas.openxmlformats.org/drawingml/2006/main">
            <a:r>
              <a:t>Pokok bahasan asli: Usia 18–60 tahun: rekomendasi umum sedikitnya 7 jam per malam. Kualitas tidur dan kondisi saat terjaga juga perlu diperhatikan. Lima jam tidak dijadikan target rutin yang memadai.</a:t>
            </a:r>
          </a:p>
          <a:p xmlns:a="http://schemas.openxmlformats.org/drawingml/2006/main">
            <a:r>
              <a:t/>
            </a:r>
          </a:p>
          <a:p xmlns:a="http://schemas.openxmlformats.org/drawingml/2006/main">
            <a:r>
              <a:t>Sleeping Man — Imogenisla; CC BY-SA 3.0. Sumber: https://commons.wikimedia.org/wiki/File:Sleeping_Man.jpg Lisensi: https://creativecommons.org/licenses/by-sa/3.0/ Ditampilkan utuh dengan perubahan ukuran, tanpa pemotongan.</a:t>
            </a:r>
          </a:p>
          <a:p xmlns:a="http://schemas.openxmlformats.org/drawingml/2006/main">
            <a:r>
              <a:t/>
            </a:r>
          </a:p>
          <a:p xmlns:a="http://schemas.openxmlformats.org/drawingml/2006/main">
            <a:r>
              <a:t>CDC — About Sleep: https://www.cdc.gov/sleep/about/index.html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22–25 menit. Contoh pedagogis diturunkan dari dampak kelelahan pada perhatian dan ingatan; bukan statistik kejadian. Minta mahasiswa mengusulkan satu lapisan pengendalian untuk tiap contoh.</a:t>
            </a:r>
          </a:p>
          <a:p xmlns:a="http://schemas.openxmlformats.org/drawingml/2006/main">
            <a:r>
              <a:t/>
            </a:r>
          </a:p>
          <a:p xmlns:a="http://schemas.openxmlformats.org/drawingml/2006/main">
            <a:r>
              <a:t>Pokok bahasan asli: Salah memasukkan nomor elektroda atau identitas stasiun. Melewatkan konfirmasi radio sebelum tahap berbahaya. Lengah saat melepas alat atau selama perjalanan pulang.</a:t>
            </a:r>
          </a:p>
          <a:p xmlns:a="http://schemas.openxmlformats.org/drawingml/2006/main">
            <a:r>
              <a:t/>
            </a:r>
          </a:p>
          <a:p xmlns:a="http://schemas.openxmlformats.org/drawingml/2006/main">
            <a:r>
              <a:t/>
            </a:r>
          </a:p>
          <a:p xmlns:a="http://schemas.openxmlformats.org/drawingml/2006/main">
            <a:r>
              <a:t/>
            </a:r>
          </a:p>
          <a:p xmlns:a="http://schemas.openxmlformats.org/drawingml/2006/main">
            <a:r>
              <a:t>NIOSH — Fatigue and Work (2026): https://www.cdc.gov/niosh/fatigue/about/index.html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25–28 menit. Hindari menjadikan laporan diri sebagai satu-satunya pengendalian. Tanggung jawab ketua tim mencakup kapasitas personel dan transportasi. Data kesehatan disampaikan seperlunya kepada penanggung jawab yang tepat.</a:t>
            </a:r>
          </a:p>
          <a:p xmlns:a="http://schemas.openxmlformats.org/drawingml/2006/main">
            <a:r>
              <a:t/>
            </a:r>
          </a:p>
          <a:p xmlns:a="http://schemas.openxmlformats.org/drawingml/2006/main">
            <a:r>
              <a:t>Pokok bahasan asli: Mengantuk berat, konsentrasi berulang kali terputus, atau gerak tidak stabil perlu ditanggapi. Hentikan tahap yang bergantung pada kewaspadaan tersebut. Atur pengganti, pemulihan, atau penundaan dan nilai ulang syarat aman.</a:t>
            </a:r>
          </a:p>
          <a:p xmlns:a="http://schemas.openxmlformats.org/drawingml/2006/main">
            <a:r>
              <a:t/>
            </a:r>
          </a:p>
          <a:p xmlns:a="http://schemas.openxmlformats.org/drawingml/2006/main">
            <a:r>
              <a:t/>
            </a:r>
          </a:p>
          <a:p xmlns:a="http://schemas.openxmlformats.org/drawingml/2006/main">
            <a:r>
              <a:t/>
            </a:r>
          </a:p>
          <a:p xmlns:a="http://schemas.openxmlformats.org/drawingml/2006/main">
            <a:r>
              <a:t>NIOSH — Fatigue and Work (2026): https://www.cdc.gov/niosh/fatigue/about/index.html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28–30 menit. Kasus pukul 23.00. Tidak menghitung batas aman dari waktu akuisisi saja. Rencana perlu mencakup pengemudi yang layak, opsi menginap, serta waktu cadangan.</a:t>
            </a:r>
          </a:p>
          <a:p xmlns:a="http://schemas.openxmlformats.org/drawingml/2006/main">
            <a:r>
              <a:t/>
            </a:r>
          </a:p>
          <a:p xmlns:a="http://schemas.openxmlformats.org/drawingml/2006/main">
            <a:r>
              <a:t>Pokok bahasan asli: Masukkan persiapan, akses, akuisisi, dan pembongkaran. Tambahkan perjalanan pulang serta kesempatan pemulihan. Kopi atau tekad menyelesaikan target tidak menggantikan tidur.</a:t>
            </a:r>
          </a:p>
          <a:p xmlns:a="http://schemas.openxmlformats.org/drawingml/2006/main">
            <a:r>
              <a:t/>
            </a:r>
          </a:p>
          <a:p xmlns:a="http://schemas.openxmlformats.org/drawingml/2006/main">
            <a:r>
              <a:t>Diagram orisinal materi kuliah. Linimasa pekerjaan lengkap dari persiapan, akses, akuisisi, pembongkaran, hingga perjalanan pulang.</a:t>
            </a:r>
          </a:p>
          <a:p xmlns:a="http://schemas.openxmlformats.org/drawingml/2006/main">
            <a:r>
              <a:t/>
            </a:r>
          </a:p>
          <a:p xmlns:a="http://schemas.openxmlformats.org/drawingml/2006/main">
            <a:r>
              <a:t>NIOSH — Basic Information about Sleep and Fatigue: https://archive.cdc.gov/www_cdc_gov/niosh/emres/longhourstraining/sleepfatigue.html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30–33 menit. Contoh konteks geofisika, bukan klaim bahwa mikrotremor selalu harus malam. Jadwal shift dipilih melalui penilaian risiko; anjuran rotasi lama dalam ODP tidak diperlakukan sebagai satu resep terbaik.</a:t>
            </a:r>
          </a:p>
          <a:p xmlns:a="http://schemas.openxmlformats.org/drawingml/2006/main">
            <a:r>
              <a:t/>
            </a:r>
          </a:p>
          <a:p xmlns:a="http://schemas.openxmlformats.org/drawingml/2006/main">
            <a:r>
              <a:t>Pokok bahasan asli: Sebagian pengukuran pasif memerlukan kondisi kebisingan tertentu. Pertimbangkan alternatif waktu atau metode sebelum memilih malam. Siapkan pencahayaan, komunikasi, personel, dan perjalanan pulang.</a:t>
            </a:r>
          </a:p>
          <a:p xmlns:a="http://schemas.openxmlformats.org/drawingml/2006/main">
            <a:r>
              <a:t/>
            </a:r>
          </a:p>
          <a:p xmlns:a="http://schemas.openxmlformats.org/drawingml/2006/main">
            <a:r>
              <a:t>BGP Camp 8652, Night View — Gyan Bahadur Khattri; CC BY-SA 4.0. Sumber: https://commons.wikimedia.org/wiki/File:BGP_Camp_8652,_Night_View.jpg Lisensi: https://creativecommons.org/licenses/by-sa/4.0/ Versi 1280 piksel dari Wikimedia Commons; utuh, tanpa pemotongan.</a:t>
            </a:r>
          </a:p>
          <a:p xmlns:a="http://schemas.openxmlformats.org/drawingml/2006/main">
            <a:r>
              <a:t/>
            </a:r>
          </a:p>
          <a:p xmlns:a="http://schemas.openxmlformats.org/drawingml/2006/main">
            <a:r>
              <a:t>NIOSH — Fatigue and Work (2026): https://www.cdc.gov/niosh/fatigue/about/index.html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33–35 menit. Hubungkan metabolisme pertemuan kedua dengan kerja di lapangan. Jadwal kerja-istirahat dipengaruhi kondisi lingkungan, tuntutan tugas, APD, dan aklimatisasi.</a:t>
            </a:r>
          </a:p>
          <a:p xmlns:a="http://schemas.openxmlformats.org/drawingml/2006/main">
            <a:r>
              <a:t/>
            </a:r>
          </a:p>
          <a:p xmlns:a="http://schemas.openxmlformats.org/drawingml/2006/main">
            <a:r>
              <a:t>Pokok bahasan asli: Beban panas berasal dari lingkungan dan aktivitas tubuh. Pakaian serta APD dapat memengaruhi pelepasan panas. Kebugaran tidak menghilangkan kebutuhan pengendalian paparan.</a:t>
            </a:r>
          </a:p>
          <a:p xmlns:a="http://schemas.openxmlformats.org/drawingml/2006/main">
            <a:r>
              <a:t/>
            </a:r>
          </a:p>
          <a:p xmlns:a="http://schemas.openxmlformats.org/drawingml/2006/main">
            <a:r>
              <a:t>Diagram orisinal materi kuliah. Diagram beban panas dengan kontribusi panas lingkungan dan panas metabolik dari aktivitas tubuh.</a:t>
            </a:r>
          </a:p>
          <a:p xmlns:a="http://schemas.openxmlformats.org/drawingml/2006/main">
            <a:r>
              <a:t/>
            </a:r>
          </a:p>
          <a:p xmlns:a="http://schemas.openxmlformats.org/drawingml/2006/main">
            <a:r>
              <a:t>NIOSH — Workplace Recommendations (2026): https://www.cdc.gov/niosh/heat-stress/recommendations/index.html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35–37 menit. Rekomendasi internasional untuk perencanaan, bukan ketentuan hukum Indonesia. Tahapan spesifik mengikuti kondisi lokasi dan penilaian petugas kompeten; dua hari latihan fisik bukan bukti aklimatisasi lengkap.</a:t>
            </a:r>
          </a:p>
          <a:p xmlns:a="http://schemas.openxmlformats.org/drawingml/2006/main">
            <a:r>
              <a:t/>
            </a:r>
          </a:p>
          <a:p xmlns:a="http://schemas.openxmlformats.org/drawingml/2006/main">
            <a:r>
              <a:t>Pokok bahasan asli: NIOSH menganjurkan peningkatan paparan panas secara bertahap selama 7–14 hari. Mahasiswa yang baru datang ke lokasi perlu rencana penyesuaian. Rencana juga perlu ditinjau setelah jeda paparan.</a:t>
            </a:r>
          </a:p>
          <a:p xmlns:a="http://schemas.openxmlformats.org/drawingml/2006/main">
            <a:r>
              <a:t/>
            </a:r>
          </a:p>
          <a:p xmlns:a="http://schemas.openxmlformats.org/drawingml/2006/main">
            <a:r>
              <a:t>Diagram orisinal materi kuliah. Skema tahapan peningkatan paparan panas selama masa aklimatisasi, tanpa persentase paparan.</a:t>
            </a:r>
          </a:p>
          <a:p xmlns:a="http://schemas.openxmlformats.org/drawingml/2006/main">
            <a:r>
              <a:t/>
            </a:r>
          </a:p>
          <a:p xmlns:a="http://schemas.openxmlformats.org/drawingml/2006/main">
            <a:r>
              <a:t>NIOSH — Acclimatization: https://www.cdc.gov/niosh/heat-stress/recommendations/acclimatization.html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37–39 menit. Hindari satu rumus menit istirahat untuk semua situasi. Air, pendinginan, penyesuaian jadwal, dan supervisi bekerja bersama. Jangan memaksa volume minum seragam tanpa mempertimbangkan kondisi individu.</a:t>
            </a:r>
          </a:p>
          <a:p xmlns:a="http://schemas.openxmlformats.org/drawingml/2006/main">
            <a:r>
              <a:t/>
            </a:r>
          </a:p>
          <a:p xmlns:a="http://schemas.openxmlformats.org/drawingml/2006/main">
            <a:r>
              <a:t>Pokok bahasan asli: Sediakan air minum yang mudah dijangkau. Sediakan kesempatan istirahat di tempat lebih sejuk atau teduh. Sesuaikan tuntutan dan paparan dengan kondisi yang berubah.</a:t>
            </a:r>
          </a:p>
          <a:p xmlns:a="http://schemas.openxmlformats.org/drawingml/2006/main">
            <a:r>
              <a:t/>
            </a:r>
          </a:p>
          <a:p xmlns:a="http://schemas.openxmlformats.org/drawingml/2006/main">
            <a:r>
              <a:t>Diagram orisinal materi kuliah. Tiga dukungan yang berjalan bersama untuk kerja dalam panas: air minum, tempat pulih, dan penyesuaian paparan.</a:t>
            </a:r>
          </a:p>
          <a:p xmlns:a="http://schemas.openxmlformats.org/drawingml/2006/main">
            <a:r>
              <a:t/>
            </a:r>
          </a:p>
          <a:p xmlns:a="http://schemas.openxmlformats.org/drawingml/2006/main">
            <a:r>
              <a:t>NIOSH — Workplace Recommendations (2026): https://www.cdc.gov/niosh/heat-stress/recommendations/index.html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39–42 menit. Hubungi sistem darurat sesuai rencana lokasi, tanpa menyalin nomor 911 dari sumber AS. Pindahkan ke tempat sejuk jika aman, lepaskan lapisan luar berlebih dan lakukan pendinginan sesuai pelatihan sambil menunggu bantuan. Tidak perlu menunggu pembacaan suhu untuk mencari pertolongan.</a:t>
            </a:r>
          </a:p>
          <a:p xmlns:a="http://schemas.openxmlformats.org/drawingml/2006/main">
            <a:r>
              <a:t/>
            </a:r>
          </a:p>
          <a:p xmlns:a="http://schemas.openxmlformats.org/drawingml/2006/main">
            <a:r>
              <a:t>Pokok bahasan asli: Kebingungan, bicara pelo, kejang, atau hilang kesadaran memerlukan respons darurat. Hentikan kerja, aktifkan bantuan medis setempat, dan mulai pendinginan segera bila aman. Dampingi korban; jangan berikan minuman bila tidak sadar atau sulit menelan.</a:t>
            </a:r>
          </a:p>
          <a:p xmlns:a="http://schemas.openxmlformats.org/drawingml/2006/main">
            <a:r>
              <a:t/>
            </a:r>
          </a:p>
          <a:p xmlns:a="http://schemas.openxmlformats.org/drawingml/2006/main">
            <a:r>
              <a:t/>
            </a:r>
          </a:p>
          <a:p xmlns:a="http://schemas.openxmlformats.org/drawingml/2006/main">
            <a:r>
              <a:t/>
            </a:r>
          </a:p>
          <a:p xmlns:a="http://schemas.openxmlformats.org/drawingml/2006/main">
            <a:r>
              <a:t>NIOSH — Heat-related Illnesses: https://www.cdc.gov/niosh/heat-stress/about/illnesses.html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42–45 menit. Gunakan profil pekerjaan tugas sebelumnya. Jadwal contoh bukan rasio istirahat baku. Rumus Tw dan TR dari ODP merupakan model dengan asumsi; tidak dipakai menetapkan istirahat operasional secara otomatis.</a:t>
            </a:r>
          </a:p>
          <a:p xmlns:a="http://schemas.openxmlformats.org/drawingml/2006/main">
            <a:r>
              <a:t/>
            </a:r>
          </a:p>
          <a:p xmlns:a="http://schemas.openxmlformats.org/drawingml/2006/main">
            <a:r>
              <a:t>Pokok bahasan asli: Tentukan tahap berat, waktu paparan, dan titik istirahat. Siapkan personel pengganti serta waktu cadangan. Tinjau ulang rencana ketika cuaca, kondisi orang, atau akses berubah.</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45–48 menit. Pertahankan pembedaan dari topik kedua lama. Kelelahan adalah faktor yang dapat memengaruhi kendali, tidak otomatis menjadi penyebab tunggal. Rangkaian kejadian perlu dituliskan spesifik.</a:t>
            </a:r>
          </a:p>
          <a:p xmlns:a="http://schemas.openxmlformats.org/drawingml/2006/main">
            <a:r>
              <a:t/>
            </a:r>
          </a:p>
          <a:p xmlns:a="http://schemas.openxmlformats.org/drawingml/2006/main">
            <a:r>
              <a:t>Pokok bahasan asli: Bahaya atau kondisi; Kejadian; Akibat; Kabel melintang; Kaki tersangkut; Jatuh dan cedera; Energi injeksi listrik; Kontak bagian berbahaya; Sengatan; Kelelahan operator; Konfirmasi terlewat; Paparan bahaya tidak terkendali</a:t>
            </a:r>
          </a:p>
          <a:p xmlns:a="http://schemas.openxmlformats.org/drawingml/2006/main">
            <a:r>
              <a:t/>
            </a:r>
          </a:p>
          <a:p xmlns:a="http://schemas.openxmlformats.org/drawingml/2006/main">
            <a:r>
              <a:t/>
            </a:r>
          </a:p>
          <a:p xmlns:a="http://schemas.openxmlformats.org/drawingml/2006/main">
            <a:r>
              <a:t/>
            </a:r>
          </a:p>
          <a:p xmlns:a="http://schemas.openxmlformats.org/drawingml/2006/main">
            <a:r>
              <a:t>OSHA — Job Hazard Analysis: https://www.osha.gov/sites/default/files/activities_safety_in_5_jha.pdf</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48–51 menit. JSA berarti Job Safety Analysis, sering disebut juga Job Hazard Analysis (JHA). Minta 4–6 langkah yang cukup rinci. Skor matriks risiko bila digunakan harus mengikuti definisi pertemuan pertama, disertai alasan. Skor rendah tidak mengesahkan kendali kritis yang belum terpenuhi.</a:t>
            </a:r>
          </a:p>
          <a:p xmlns:a="http://schemas.openxmlformats.org/drawingml/2006/main">
            <a:r>
              <a:t/>
            </a:r>
          </a:p>
          <a:p xmlns:a="http://schemas.openxmlformats.org/drawingml/2006/main">
            <a:r>
              <a:t>Pokok bahasan asli: Langkah pekerjaan dan sumber bahaya. Kejadian, akibat, serta pengendalian yang sesuai. Penanggung jawab dan bukti pemeriksaan sebelum mulai.</a:t>
            </a:r>
          </a:p>
          <a:p xmlns:a="http://schemas.openxmlformats.org/drawingml/2006/main">
            <a:r>
              <a:t/>
            </a:r>
          </a:p>
          <a:p xmlns:a="http://schemas.openxmlformats.org/drawingml/2006/main">
            <a:r>
              <a:t>Diagram orisinal materi kuliah. Enam unsur JSA yang menghubungkan langkah pekerjaan dengan bahaya, kejadian, kendali, penanggung jawab, dan verifikasi.</a:t>
            </a:r>
          </a:p>
          <a:p xmlns:a="http://schemas.openxmlformats.org/drawingml/2006/main">
            <a:r>
              <a:t/>
            </a:r>
          </a:p>
          <a:p xmlns:a="http://schemas.openxmlformats.org/drawingml/2006/main">
            <a:r>
              <a:t>OSHA — Job Hazard Analysis: https://www.osha.gov/sites/default/files/activities_safety_in_5_jha.pdf</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51–54 menit. Jelaskan lima tingkat penuh: eliminasi, substitusi, rekayasa, administratif, dan APD. Menggabungkan dua tingkat pertama di tabel hanya untuk ringkas. Jangan menyebut briefing atau rotasi sebagai rekayasa.</a:t>
            </a:r>
          </a:p>
          <a:p xmlns:a="http://schemas.openxmlformats.org/drawingml/2006/main">
            <a:r>
              <a:t/>
            </a:r>
          </a:p>
          <a:p xmlns:a="http://schemas.openxmlformats.org/drawingml/2006/main">
            <a:r>
              <a:t>Pokok bahasan asli: Prioritas; Penerapan pada kasus; Eliminasi / substitusi; Ubah titik atau metode bila paparan dapat dikurangi; Rekayasa; Alat bantu, pembatas zona, penataan akses; Administratif; SOP, komunikasi, peran, dan pemulihan; APD; Perlindungan pribadi sesuai bahaya</a:t>
            </a:r>
          </a:p>
          <a:p xmlns:a="http://schemas.openxmlformats.org/drawingml/2006/main">
            <a:r>
              <a:t/>
            </a:r>
          </a:p>
          <a:p xmlns:a="http://schemas.openxmlformats.org/drawingml/2006/main">
            <a:r>
              <a:t/>
            </a:r>
          </a:p>
          <a:p xmlns:a="http://schemas.openxmlformats.org/drawingml/2006/main">
            <a:r>
              <a:t/>
            </a:r>
          </a:p>
          <a:p xmlns:a="http://schemas.openxmlformats.org/drawingml/2006/main">
            <a:r>
              <a:t>OSHA — Hazard Prevention and Control: https://www.osha.gov/safety-management/hazard-prevention</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54–57 menit. Contoh survei geolistrik di perbukitan. Berat yang belum diketahui harus diverifikasi, bukan dikarang. Sambungkan dengan rancangan ergonomi pertemuan kedua.</a:t>
            </a:r>
          </a:p>
          <a:p xmlns:a="http://schemas.openxmlformats.org/drawingml/2006/main">
            <a:r>
              <a:t/>
            </a:r>
          </a:p>
          <a:p xmlns:a="http://schemas.openxmlformats.org/drawingml/2006/main">
            <a:r>
              <a:t>Pokok bahasan asli: Langkah; Kendali; Verifikasi / PIC; Tinjau rute; Pilih akses layak; tunda jika tidak ada; Ketua menunjukkan rute yang diperiksa; Siapkan kotak; Periksa berat, isi, dan pegangan; PIC alat mengonfirmasi kondisi; Pindahkan alat; Pilih bantuan sesuai medan dan tugas; Tim menyepakati metode dan aba-aba</a:t>
            </a:r>
          </a:p>
          <a:p xmlns:a="http://schemas.openxmlformats.org/drawingml/2006/main">
            <a:r>
              <a:t/>
            </a:r>
          </a:p>
          <a:p xmlns:a="http://schemas.openxmlformats.org/drawingml/2006/main">
            <a:r>
              <a:t/>
            </a:r>
          </a:p>
          <a:p xmlns:a="http://schemas.openxmlformats.org/drawingml/2006/main">
            <a:r>
              <a:t/>
            </a:r>
          </a:p>
          <a:p xmlns:a="http://schemas.openxmlformats.org/drawingml/2006/main">
            <a:r>
              <a:t>OSHA — Job Hazard Analysis: https://www.osha.gov/sites/default/files/activities_safety_in_5_jha.pdf</a:t>
            </a:r>
          </a:p>
          <a:p xmlns:a="http://schemas.openxmlformats.org/drawingml/2006/main">
            <a:r>
              <a:t>NIOSH — Revised NIOSH Lifting Equation: https://www.cdc.gov/niosh/ergonomics/about/rnle.html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57–60 menit. Tidak ada praktik listrik aktif di kelas. Diamnya radio bukan persetujuan aman. Sarung tangan umum bukan perlindungan listrik. Perhatikan energi tersimpan bila relevan pada instrumen.</a:t>
            </a:r>
          </a:p>
          <a:p xmlns:a="http://schemas.openxmlformats.org/drawingml/2006/main">
            <a:r>
              <a:t/>
            </a:r>
          </a:p>
          <a:p xmlns:a="http://schemas.openxmlformats.org/drawingml/2006/main">
            <a:r>
              <a:t>Pokok bahasan asli: Langkah; Kendali; Verifikasi / PIC; Siapkan pengukuran; Zona aman dan komunikasi sesuai SOP; Operator menerima seluruh konfirmasi; Ubah konfigurasi; Hentikan dan amankan energi sesuai manual; Operator memverifikasi sebelum penanganan; Bongkar dan pulang; Evaluasi kelelahan dan transportasi; Ketua memastikan rencana pulang layak</a:t>
            </a:r>
          </a:p>
          <a:p xmlns:a="http://schemas.openxmlformats.org/drawingml/2006/main">
            <a:r>
              <a:t/>
            </a:r>
          </a:p>
          <a:p xmlns:a="http://schemas.openxmlformats.org/drawingml/2006/main">
            <a:r>
              <a:t/>
            </a:r>
          </a:p>
          <a:p xmlns:a="http://schemas.openxmlformats.org/drawingml/2006/main">
            <a:r>
              <a:t/>
            </a:r>
          </a:p>
          <a:p xmlns:a="http://schemas.openxmlformats.org/drawingml/2006/main">
            <a:r>
              <a:t>OSHA — Job Hazard Analysis: https://www.osha.gov/sites/default/files/activities_safety_in_5_jha.pdf</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60–63 menit. Contoh radio gagal: hentikan tahap yang bergantung pada konfirmasi, amankan energi sesuai manual, perbaiki komunikasi, uji konfirmasi seluruh tim, lalu operator/penanggung jawab mengotorisasi mulai sesuai SOP.</a:t>
            </a:r>
          </a:p>
          <a:p xmlns:a="http://schemas.openxmlformats.org/drawingml/2006/main">
            <a:r>
              <a:t/>
            </a:r>
          </a:p>
          <a:p xmlns:a="http://schemas.openxmlformats.org/drawingml/2006/main">
            <a:r>
              <a:t>Pokok bahasan asli: Berhenti bila kendali kritis gagal atau kondisi tidak lagi sesuai rencana. Amankan pekerjaan dan laporkan kepada penanggung jawab. Mulai kembali setelah evaluasi, pemulihan kendali, dan konfirmasi sesuai SOP.</a:t>
            </a:r>
          </a:p>
          <a:p xmlns:a="http://schemas.openxmlformats.org/drawingml/2006/main">
            <a:r>
              <a:t/>
            </a:r>
          </a:p>
          <a:p xmlns:a="http://schemas.openxmlformats.org/drawingml/2006/main">
            <a:r>
              <a:t>Diagram orisinal materi kuliah. Alur penghentian pekerjaan dan mulai kembali: hentikan, amankan, nilai ulang, dan konfirmasi.</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63–70 menit. Kelompok 3–4 orang. Angka 400 m adalah skenario kelas. Gunakan profil tugas pertemuan kedua. Setiap kelompok menuliskan bahaya, kejadian, akibat, kendali, PIC, verifikasi, dan kondisi berhenti.</a:t>
            </a:r>
          </a:p>
          <a:p xmlns:a="http://schemas.openxmlformats.org/drawingml/2006/main">
            <a:r>
              <a:t/>
            </a:r>
          </a:p>
          <a:p xmlns:a="http://schemas.openxmlformats.org/drawingml/2006/main">
            <a:r>
              <a:t>Pokok bahasan asli: Survei geolistrik di perbukitan, lintasan 400 m. Berat kotak belum terverifikasi; waktu mulai terlambat. Susun JSA 4–6 langkah dari akses sampai perjalanan pulang.</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70–75 menit. Bagikan satu kartu per kelompok, setelah draf JSA ada. Jawaban harus menyebut keputusan, alasan, PIC, dan syarat mulai kembali. Tambahan opsional: pemilik lokasi menolak titik; tim harus menghormati akses dan meninjau desain.</a:t>
            </a:r>
          </a:p>
          <a:p xmlns:a="http://schemas.openxmlformats.org/drawingml/2006/main">
            <a:r>
              <a:t/>
            </a:r>
          </a:p>
          <a:p xmlns:a="http://schemas.openxmlformats.org/drawingml/2006/main">
            <a:r>
              <a:t>Pokok bahasan asli: Perubahan; Keputusan yang harus dijelaskan; Radio gagal; Tahap mana berhenti dan kapan boleh dimulai?; Hujan, akses licin; Siapa menilai ulang akses dan metode angkut?; Anggota mengantuk; Bagaimana tugas dan perjalanan pulang diubah?; Panas meningkat; Bagaimana paparan dan pemulihan disesuaikan?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75–80 menit. Pilih dua atau tiga kelompok. Setelah paparan, minta anggota lain menjawab perubahan kondisi tanpa AI. Syarat keselamatan harus dipahami seluruh anggota, bukan hanya penulis.</a:t>
            </a:r>
          </a:p>
          <a:p xmlns:a="http://schemas.openxmlformats.org/drawingml/2006/main">
            <a:r>
              <a:t/>
            </a:r>
          </a:p>
          <a:p xmlns:a="http://schemas.openxmlformats.org/drawingml/2006/main">
            <a:r>
              <a:t>Pokok bahasan asli: Pekerjaan dan bahaya utama. Kendali yang telah diperiksa serta pembagian peran. Cara konfirmasi, kondisi berhenti, dan cara meminta bantuan.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80–87 menit. Kunci: rekomendasi tidur dewasa dan fungsi pemulihan; berhenti pada tahap terkait komunikasi, amankan dan uji ulang; pasangan kondisi serta verifikasi sesuai skenario. Minta alasan, bukan hafalan slogan.</a:t>
            </a:r>
          </a:p>
          <a:p xmlns:a="http://schemas.openxmlformats.org/drawingml/2006/main">
            <a:r>
              <a:t/>
            </a:r>
          </a:p>
          <a:p xmlns:a="http://schemas.openxmlformats.org/drawingml/2006/main">
            <a:r>
              <a:t>Pokok bahasan asli: Mengapa tidur lima jam tidak dijadikan target rutin? Apa kendali dan verifikasi ketika radio gagal? Sebut satu kondisi berhenti serta syarat mulai kembali.</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87–90 menit. Bobot usulan: JSA 50%, penjelasan individu 25%, exit ticket 25%. Rubrik lengkap di lembar kerja. Kesalahan kendali kritis harus diperbaiki walaupun nilai total tinggi. Data kesehatan pribadi tidak dimasukkan ke AI.</a:t>
            </a:r>
          </a:p>
          <a:p xmlns:a="http://schemas.openxmlformats.org/drawingml/2006/main">
            <a:r>
              <a:t/>
            </a:r>
          </a:p>
          <a:p xmlns:a="http://schemas.openxmlformats.org/drawingml/2006/main">
            <a:r>
              <a:t>Pokok bahasan asli: Sempurnakan JSA satu halaman dengan PIC dan bukti verifikasi. Tambahkan rencana pemulihan serta perjalanan pulang. Jelaskan satu keputusan secara langsung pada kelas berikutnya.</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Acuan pembelajaran ditinjau 28 Oktober 2026. SOP UGM, manual instrumen, aturan lokasi, dan petugas kompeten tetap menjadi acuan operasional. Sumber dasar: ODP yang diberikan pengampu, April 2025.</a:t>
            </a:r>
          </a:p>
          <a:p xmlns:a="http://schemas.openxmlformats.org/drawingml/2006/main">
            <a:r>
              <a:t/>
            </a:r>
          </a:p>
          <a:p xmlns:a="http://schemas.openxmlformats.org/drawingml/2006/main">
            <a:r>
              <a:t>Pokok bahasan asli: CDC dan NHLBI: tidur serta tahap tidur. NIOSH: kelelahan, panas, dan aklimatisasi. OSHA: JSA dan hierarki pengendalian.</a:t>
            </a:r>
          </a:p>
          <a:p xmlns:a="http://schemas.openxmlformats.org/drawingml/2006/main">
            <a:r>
              <a:t/>
            </a:r>
          </a:p>
          <a:p xmlns:a="http://schemas.openxmlformats.org/drawingml/2006/main">
            <a:r>
              <a:t/>
            </a:r>
          </a:p>
          <a:p xmlns:a="http://schemas.openxmlformats.org/drawingml/2006/main">
            <a:r>
              <a:t/>
            </a:r>
          </a:p>
          <a:p xmlns:a="http://schemas.openxmlformats.org/drawingml/2006/main">
            <a:r>
              <a:t>CDC — About Sleep: https://www.cdc.gov/sleep/about/index.html</a:t>
            </a:r>
          </a:p>
          <a:p xmlns:a="http://schemas.openxmlformats.org/drawingml/2006/main">
            <a:r>
              <a:t>NHLBI — Sleep Phases and Stages: https://www.nhlbi.nih.gov/health/sleep/stages-of-sleep</a:t>
            </a:r>
          </a:p>
          <a:p xmlns:a="http://schemas.openxmlformats.org/drawingml/2006/main">
            <a:r>
              <a:t>NIOSH — Fatigue and Work (2026): https://www.cdc.gov/niosh/fatigue/about/index.html</a:t>
            </a:r>
          </a:p>
          <a:p xmlns:a="http://schemas.openxmlformats.org/drawingml/2006/main">
            <a:r>
              <a:t>NIOSH — Workplace Recommendations (2026): https://www.cdc.gov/niosh/heat-stress/recommendations/index.html</a:t>
            </a:r>
          </a:p>
          <a:p xmlns:a="http://schemas.openxmlformats.org/drawingml/2006/main">
            <a:r>
              <a:t>NIOSH — Acclimatization: https://www.cdc.gov/niosh/heat-stress/recommendations/acclimatization.html</a:t>
            </a:r>
          </a:p>
          <a:p xmlns:a="http://schemas.openxmlformats.org/drawingml/2006/main">
            <a:r>
              <a:t>NIOSH — Heat-related Illnesses: https://www.cdc.gov/niosh/heat-stress/about/illnesses.html</a:t>
            </a:r>
          </a:p>
          <a:p xmlns:a="http://schemas.openxmlformats.org/drawingml/2006/main">
            <a:r>
              <a:t>OSHA — Job Hazard Analysis: https://www.osha.gov/sites/default/files/activities_safety_in_5_jha.pdf</a:t>
            </a:r>
          </a:p>
          <a:p xmlns:a="http://schemas.openxmlformats.org/drawingml/2006/main">
            <a:r>
              <a:t>OSHA — Hazard Prevention and Control: https://www.osha.gov/safety-management/hazard-prevention</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08a628969f44e7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00726fec2414f4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7aaa330d6a64d4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bfd5352b964d4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53b8bce6ab548c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00fe9abc9b4c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F279413-D003-4E47-BC71-3B601BDA14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FC4F190-66AE-456A-B0A2-0DCD28955EE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8F77165-7356-4B69-8F44-DB6D2AF3514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485FE3-F18B-44B4-AF51-3CB51DAB05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F3E2802-A60B-4CD8-AE9B-23911B73DB3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C7BE518-938A-4EDB-878C-1DE02B3A29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CE47585-A44F-47AC-9B9D-FA09999DAC3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70078E6-D316-429F-A253-6D9C634F719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4CA0945-188E-4E40-A7D4-64050CBECE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DF30EE-A80B-4588-8253-5D709F85B2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59511c94094da4" /><Relationship Type="http://schemas.openxmlformats.org/officeDocument/2006/relationships/slideLayout" Target="/ppt/slideLayouts/slideLayout1.xml" Id="Rff0608b9773f4ffc" /><Relationship Type="http://schemas.openxmlformats.org/officeDocument/2006/relationships/slideLayout" Target="/ppt/slideLayouts/slideLayout2.xml" Id="R426be92585f24b8c" /><Relationship Type="http://schemas.openxmlformats.org/officeDocument/2006/relationships/slideLayout" Target="/ppt/slideLayouts/slideLayout3.xml" Id="R66c0a3675d674343" /><Relationship Type="http://schemas.openxmlformats.org/officeDocument/2006/relationships/slideLayout" Target="/ppt/slideLayouts/slideLayout4.xml" Id="Rbc44df8b44ed43ff" /><Relationship Type="http://schemas.openxmlformats.org/officeDocument/2006/relationships/slideLayout" Target="/ppt/slideLayouts/slideLayout5.xml" Id="Rf80d719af3ba49c0" /><Relationship Type="http://schemas.openxmlformats.org/officeDocument/2006/relationships/slideLayout" Target="/ppt/slideLayouts/slideLayout6.xml" Id="R57992c2dee354ee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0608b9773f4ffc"/>
    <p:sldLayoutId xmlns:r="http://schemas.openxmlformats.org/officeDocument/2006/relationships" id="2147483650" r:id="R426be92585f24b8c"/>
    <p:sldLayoutId xmlns:r="http://schemas.openxmlformats.org/officeDocument/2006/relationships" id="2147483651" r:id="R66c0a3675d674343"/>
    <p:sldLayoutId xmlns:r="http://schemas.openxmlformats.org/officeDocument/2006/relationships" id="2147483652" r:id="Rbc44df8b44ed43ff"/>
    <p:sldLayoutId xmlns:r="http://schemas.openxmlformats.org/officeDocument/2006/relationships" id="2147483653" r:id="Rf80d719af3ba49c0"/>
    <p:sldLayoutId xmlns:r="http://schemas.openxmlformats.org/officeDocument/2006/relationships" id="2147483654" r:id="R57992c2dee354ee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c5744eac72c4d4f" /><Relationship Type="http://schemas.openxmlformats.org/officeDocument/2006/relationships/notesSlide" Target="/ppt/notesSlides/notesSlide1.xml" Id="R0835129af67042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7384edc8f514317" /><Relationship Type="http://schemas.openxmlformats.org/officeDocument/2006/relationships/notesSlide" Target="/ppt/notesSlides/notesSlide2.xml" Id="Re286212523b64b0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4c9d5d803194176" /><Relationship Type="http://schemas.openxmlformats.org/officeDocument/2006/relationships/notesSlide" Target="/ppt/notesSlides/notesSlide3.xml" Id="R056d5207df1842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f3f5985fa894b0e" /><Relationship Type="http://schemas.openxmlformats.org/officeDocument/2006/relationships/notesSlide" Target="/ppt/notesSlides/notesSlide4.xml" Id="R38bc9286645340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9f875cd4705471e" /><Relationship Type="http://schemas.openxmlformats.org/officeDocument/2006/relationships/notesSlide" Target="/ppt/notesSlides/notesSlide5.xml" Id="R9d5a00ecfd7642a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bc45a3fc04f4316" /><Relationship Type="http://schemas.openxmlformats.org/officeDocument/2006/relationships/notesSlide" Target="/ppt/notesSlides/notesSlide6.xml" Id="Ra7c478494ab842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ec75e7ab54e48dd" /><Relationship Type="http://schemas.openxmlformats.org/officeDocument/2006/relationships/image" Target="/ppt/media/image.jpeg" Id="Rcef1f8d794a34af7" /><Relationship Type="http://schemas.openxmlformats.org/officeDocument/2006/relationships/notesSlide" Target="/ppt/notesSlides/notesSlide7.xml" Id="Rfbf591ea58a7418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e4b62e36ff34d61" /><Relationship Type="http://schemas.openxmlformats.org/officeDocument/2006/relationships/notesSlide" Target="/ppt/notesSlides/notesSlide8.xml" Id="Rfbf9ec80afa04f2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cfba35b54d943f5" /><Relationship Type="http://schemas.openxmlformats.org/officeDocument/2006/relationships/notesSlide" Target="/ppt/notesSlides/notesSlide9.xml" Id="R52506f80782242d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2d256d5e9494f60" /><Relationship Type="http://schemas.openxmlformats.org/officeDocument/2006/relationships/notesSlide" Target="/ppt/notesSlides/notesSlide10.xml" Id="R4b6a7d4ab0254d1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240c903f8ef486d" /><Relationship Type="http://schemas.openxmlformats.org/officeDocument/2006/relationships/image" Target="/ppt/media/image2.jpeg" Id="R06ad86e0190144da" /><Relationship Type="http://schemas.openxmlformats.org/officeDocument/2006/relationships/notesSlide" Target="/ppt/notesSlides/notesSlide11.xml" Id="Ra89b89dd2b4840e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c5c7a8f7754b63" /><Relationship Type="http://schemas.openxmlformats.org/officeDocument/2006/relationships/notesSlide" Target="/ppt/notesSlides/notesSlide12.xml" Id="Ree2a2a15f8e04e8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9d858c52f0f4f88" /><Relationship Type="http://schemas.openxmlformats.org/officeDocument/2006/relationships/notesSlide" Target="/ppt/notesSlides/notesSlide13.xml" Id="R2abfc360d75f4cc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b88127ff26b4c9b" /><Relationship Type="http://schemas.openxmlformats.org/officeDocument/2006/relationships/notesSlide" Target="/ppt/notesSlides/notesSlide14.xml" Id="R6bd6d189b17345f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9b73b80025d4fb9" /><Relationship Type="http://schemas.openxmlformats.org/officeDocument/2006/relationships/notesSlide" Target="/ppt/notesSlides/notesSlide15.xml" Id="R11f823befd79485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11a31015ac84506" /><Relationship Type="http://schemas.openxmlformats.org/officeDocument/2006/relationships/notesSlide" Target="/ppt/notesSlides/notesSlide16.xml" Id="R0aed618da2b444a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c90fb55020045ce" /><Relationship Type="http://schemas.openxmlformats.org/officeDocument/2006/relationships/notesSlide" Target="/ppt/notesSlides/notesSlide17.xml" Id="R095af25b095644b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adc61962bf7429c" /><Relationship Type="http://schemas.openxmlformats.org/officeDocument/2006/relationships/notesSlide" Target="/ppt/notesSlides/notesSlide18.xml" Id="Rfac9f28f81534fb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d45e886b47e4002" /><Relationship Type="http://schemas.openxmlformats.org/officeDocument/2006/relationships/notesSlide" Target="/ppt/notesSlides/notesSlide19.xml" Id="R8b0500fc276a456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1f8598ae0ab41c7" /><Relationship Type="http://schemas.openxmlformats.org/officeDocument/2006/relationships/notesSlide" Target="/ppt/notesSlides/notesSlide20.xml" Id="Re83894bf95144e2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4e79df5b226408f" /><Relationship Type="http://schemas.openxmlformats.org/officeDocument/2006/relationships/notesSlide" Target="/ppt/notesSlides/notesSlide21.xml" Id="R1fa1a5994f4a418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b03eea080af4382" /><Relationship Type="http://schemas.openxmlformats.org/officeDocument/2006/relationships/notesSlide" Target="/ppt/notesSlides/notesSlide22.xml" Id="Rb88f5487559f4c6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da6e387004a4c61" /><Relationship Type="http://schemas.openxmlformats.org/officeDocument/2006/relationships/notesSlide" Target="/ppt/notesSlides/notesSlide23.xml" Id="R6c6026a6bf8b45e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c6dce76aa1d4fd8" /><Relationship Type="http://schemas.openxmlformats.org/officeDocument/2006/relationships/notesSlide" Target="/ppt/notesSlides/notesSlide24.xml" Id="Rc930b498094c47e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23439f8cc3a408b" /><Relationship Type="http://schemas.openxmlformats.org/officeDocument/2006/relationships/notesSlide" Target="/ppt/notesSlides/notesSlide25.xml" Id="R29a7def747c3400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48502057ac249a7" /><Relationship Type="http://schemas.openxmlformats.org/officeDocument/2006/relationships/notesSlide" Target="/ppt/notesSlides/notesSlide26.xml" Id="R3af869b30fd0422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a6dfbf199e6448e" /><Relationship Type="http://schemas.openxmlformats.org/officeDocument/2006/relationships/notesSlide" Target="/ppt/notesSlides/notesSlide27.xml" Id="R4ff3a2c06168476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1648540f70448b8" /><Relationship Type="http://schemas.openxmlformats.org/officeDocument/2006/relationships/notesSlide" Target="/ppt/notesSlides/notesSlide28.xml" Id="Raed7246e518e48e2" /></Relationships>
</file>

<file path=ppt/slides/slide1.xml><?xml version="1.0" encoding="utf-8"?>
<p:sld xmlns:p="http://schemas.openxmlformats.org/presentationml/2006/main">
  <p:cSld>
    <p:bg>
      <p:bgPr>
        <a:solidFill xmlns:a="http://schemas.openxmlformats.org/drawingml/2006/main">
          <a:srgbClr val="8A2D1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A20B90-BD9C-408F-8053-70284E2D990D}"/>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FFFFFF"/>
                </a:solidFill>
                <a:latin typeface="Arial"/>
                <a:ea typeface="Arial"/>
                <a:cs typeface="Arial"/>
              </a:defRPr>
            </a:defPPr>
            <a:lvl1pPr>
              <a:defRPr sz="1350" b="0">
                <a:solidFill>
                  <a:srgbClr val="FFFFFF"/>
                </a:solidFill>
                <a:latin typeface="Arial"/>
                <a:ea typeface="Arial"/>
                <a:cs typeface="Arial"/>
              </a:defRPr>
            </a:lvl1pPr>
            <a:lvl2pPr>
              <a:defRPr sz="1350" b="0">
                <a:solidFill>
                  <a:srgbClr val="FFFFFF"/>
                </a:solidFill>
                <a:latin typeface="Arial"/>
                <a:ea typeface="Arial"/>
                <a:cs typeface="Arial"/>
              </a:defRPr>
            </a:lvl2pPr>
            <a:lvl3pPr>
              <a:defRPr sz="1350" b="0">
                <a:solidFill>
                  <a:srgbClr val="FFFFFF"/>
                </a:solidFill>
                <a:latin typeface="Arial"/>
                <a:ea typeface="Arial"/>
                <a:cs typeface="Arial"/>
              </a:defRPr>
            </a:lvl3pPr>
            <a:lvl4pPr>
              <a:defRPr sz="1350" b="0">
                <a:solidFill>
                  <a:srgbClr val="FFFFFF"/>
                </a:solidFill>
                <a:latin typeface="Arial"/>
                <a:ea typeface="Arial"/>
                <a:cs typeface="Arial"/>
              </a:defRPr>
            </a:lvl4pPr>
            <a:lvl5pPr>
              <a:defRPr sz="1350" b="0">
                <a:solidFill>
                  <a:srgbClr val="FFFFFF"/>
                </a:solidFill>
                <a:latin typeface="Arial"/>
                <a:ea typeface="Arial"/>
                <a:cs typeface="Arial"/>
              </a:defRPr>
            </a:lvl5pPr>
            <a:lvl6pPr>
              <a:defRPr sz="1350" b="0">
                <a:solidFill>
                  <a:srgbClr val="FFFFFF"/>
                </a:solidFill>
                <a:latin typeface="Arial"/>
                <a:ea typeface="Arial"/>
                <a:cs typeface="Arial"/>
              </a:defRPr>
            </a:lvl6pPr>
            <a:lvl7pPr>
              <a:defRPr sz="1350" b="0">
                <a:solidFill>
                  <a:srgbClr val="FFFFFF"/>
                </a:solidFill>
                <a:latin typeface="Arial"/>
                <a:ea typeface="Arial"/>
                <a:cs typeface="Arial"/>
              </a:defRPr>
            </a:lvl7pPr>
            <a:lvl8pPr>
              <a:defRPr sz="1350" b="0">
                <a:solidFill>
                  <a:srgbClr val="FFFFFF"/>
                </a:solidFill>
                <a:latin typeface="Arial"/>
                <a:ea typeface="Arial"/>
                <a:cs typeface="Arial"/>
              </a:defRPr>
            </a:lvl8pPr>
            <a:lvl9pPr>
              <a:defRPr sz="1350" b="0">
                <a:solidFill>
                  <a:srgbClr val="FFFFFF"/>
                </a:solidFill>
                <a:latin typeface="Arial"/>
                <a:ea typeface="Arial"/>
                <a:cs typeface="Arial"/>
              </a:defRPr>
            </a:lvl9pPr>
          </a:lstStyle>
          <a:p xmlns:a="http://schemas.openxmlformats.org/drawingml/2006/main">
            <a:pPr>
              <a:defRPr sz="1350" b="0">
                <a:solidFill>
                  <a:srgbClr val="FFFFFF"/>
                </a:solidFill>
                <a:latin typeface="Arial"/>
                <a:ea typeface="Arial"/>
                <a:cs typeface="Arial"/>
              </a:defRPr>
            </a:pPr>
            <a:r>
              <a:rPr sz="1350" b="0">
                <a:solidFill>
                  <a:srgbClr val="FFFFFF"/>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678408B5-A4E1-4B71-9019-2842C95F086B}"/>
              </a:ext>
            </a:extLst>
          </p:cNvPr>
          <p:cNvSpPr>
            <a:spLocks xmlns:a="http://schemas.openxmlformats.org/drawingml/2006/main" noGrp="1"/>
          </p:cNvSpPr>
          <p:nvPr/>
        </p:nvSpPr>
        <p:spPr>
          <a:xfrm xmlns:a="http://schemas.openxmlformats.org/drawingml/2006/main">
            <a:off x="762000" y="1476375"/>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0">
                <a:solidFill>
                  <a:srgbClr val="FFFFFF"/>
                </a:solidFill>
                <a:latin typeface="Georgia"/>
                <a:ea typeface="Georgia"/>
                <a:cs typeface="Georgia"/>
              </a:defRPr>
            </a:defPPr>
            <a:lvl1pPr>
              <a:defRPr sz="4800" b="0">
                <a:solidFill>
                  <a:srgbClr val="FFFFFF"/>
                </a:solidFill>
                <a:latin typeface="Georgia"/>
                <a:ea typeface="Georgia"/>
                <a:cs typeface="Georgia"/>
              </a:defRPr>
            </a:lvl1pPr>
            <a:lvl2pPr>
              <a:defRPr sz="4800" b="0">
                <a:solidFill>
                  <a:srgbClr val="FFFFFF"/>
                </a:solidFill>
                <a:latin typeface="Georgia"/>
                <a:ea typeface="Georgia"/>
                <a:cs typeface="Georgia"/>
              </a:defRPr>
            </a:lvl2pPr>
            <a:lvl3pPr>
              <a:defRPr sz="4800" b="0">
                <a:solidFill>
                  <a:srgbClr val="FFFFFF"/>
                </a:solidFill>
                <a:latin typeface="Georgia"/>
                <a:ea typeface="Georgia"/>
                <a:cs typeface="Georgia"/>
              </a:defRPr>
            </a:lvl3pPr>
            <a:lvl4pPr>
              <a:defRPr sz="4800" b="0">
                <a:solidFill>
                  <a:srgbClr val="FFFFFF"/>
                </a:solidFill>
                <a:latin typeface="Georgia"/>
                <a:ea typeface="Georgia"/>
                <a:cs typeface="Georgia"/>
              </a:defRPr>
            </a:lvl4pPr>
            <a:lvl5pPr>
              <a:defRPr sz="4800" b="0">
                <a:solidFill>
                  <a:srgbClr val="FFFFFF"/>
                </a:solidFill>
                <a:latin typeface="Georgia"/>
                <a:ea typeface="Georgia"/>
                <a:cs typeface="Georgia"/>
              </a:defRPr>
            </a:lvl5pPr>
            <a:lvl6pPr>
              <a:defRPr sz="4800" b="0">
                <a:solidFill>
                  <a:srgbClr val="FFFFFF"/>
                </a:solidFill>
                <a:latin typeface="Georgia"/>
                <a:ea typeface="Georgia"/>
                <a:cs typeface="Georgia"/>
              </a:defRPr>
            </a:lvl6pPr>
            <a:lvl7pPr>
              <a:defRPr sz="4800" b="0">
                <a:solidFill>
                  <a:srgbClr val="FFFFFF"/>
                </a:solidFill>
                <a:latin typeface="Georgia"/>
                <a:ea typeface="Georgia"/>
                <a:cs typeface="Georgia"/>
              </a:defRPr>
            </a:lvl7pPr>
            <a:lvl8pPr>
              <a:defRPr sz="4800" b="0">
                <a:solidFill>
                  <a:srgbClr val="FFFFFF"/>
                </a:solidFill>
                <a:latin typeface="Georgia"/>
                <a:ea typeface="Georgia"/>
                <a:cs typeface="Georgia"/>
              </a:defRPr>
            </a:lvl8pPr>
            <a:lvl9pPr>
              <a:defRPr sz="4800" b="0">
                <a:solidFill>
                  <a:srgbClr val="FFFFFF"/>
                </a:solidFill>
                <a:latin typeface="Georgia"/>
                <a:ea typeface="Georgia"/>
                <a:cs typeface="Georgia"/>
              </a:defRPr>
            </a:lvl9pPr>
          </a:lstStyle>
          <a:p xmlns:a="http://schemas.openxmlformats.org/drawingml/2006/main">
            <a:pPr>
              <a:defRPr sz="4800" b="0">
                <a:solidFill>
                  <a:srgbClr val="FFFFFF"/>
                </a:solidFill>
                <a:latin typeface="Georgia"/>
                <a:ea typeface="Georgia"/>
                <a:cs typeface="Georgia"/>
              </a:defRPr>
            </a:pPr>
            <a:r>
              <a:rPr sz="4800" b="0">
                <a:solidFill>
                  <a:srgbClr val="FFFFFF"/>
                </a:solidFill>
                <a:latin typeface="Georgia"/>
                <a:ea typeface="Georgia"/>
                <a:cs typeface="Georgia"/>
              </a:rPr>
              <a:t>Kelelahan dan perencanaan kerja aman</a:t>
            </a:r>
          </a:p>
        </p:txBody>
      </p:sp>
      <p:sp>
        <p:nvSpPr>
          <p:cNvPr id="3" name="">
            <a:extLst xmlns:a="http://schemas.openxmlformats.org/drawingml/2006/main">
              <a:ext uri="{FF2B5EF4-FFF2-40B4-BE49-F238E27FC236}">
                <a16:creationId xmlns:a16="http://schemas.microsoft.com/office/drawing/2014/main" id="{9CAAE4C6-CD2D-4E9F-8270-2FC6D156B49E}"/>
              </a:ext>
            </a:extLst>
          </p:cNvPr>
          <p:cNvSpPr>
            <a:spLocks xmlns:a="http://schemas.openxmlformats.org/drawingml/2006/main" noGrp="1"/>
          </p:cNvSpPr>
          <p:nvPr/>
        </p:nvSpPr>
        <p:spPr>
          <a:xfrm xmlns:a="http://schemas.openxmlformats.org/drawingml/2006/main">
            <a:off x="762000" y="3638550"/>
            <a:ext cx="1057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vl1pPr>
              <a:defRPr sz="2175" b="0">
                <a:solidFill>
                  <a:srgbClr val="FFFFFF"/>
                </a:solidFill>
                <a:latin typeface="Arial"/>
                <a:ea typeface="Arial"/>
                <a:cs typeface="Arial"/>
              </a:defRPr>
            </a:lvl1pPr>
            <a:lvl2pPr>
              <a:defRPr sz="2175" b="0">
                <a:solidFill>
                  <a:srgbClr val="FFFFFF"/>
                </a:solidFill>
                <a:latin typeface="Arial"/>
                <a:ea typeface="Arial"/>
                <a:cs typeface="Arial"/>
              </a:defRPr>
            </a:lvl2pPr>
            <a:lvl3pPr>
              <a:defRPr sz="2175" b="0">
                <a:solidFill>
                  <a:srgbClr val="FFFFFF"/>
                </a:solidFill>
                <a:latin typeface="Arial"/>
                <a:ea typeface="Arial"/>
                <a:cs typeface="Arial"/>
              </a:defRPr>
            </a:lvl3pPr>
            <a:lvl4pPr>
              <a:defRPr sz="2175" b="0">
                <a:solidFill>
                  <a:srgbClr val="FFFFFF"/>
                </a:solidFill>
                <a:latin typeface="Arial"/>
                <a:ea typeface="Arial"/>
                <a:cs typeface="Arial"/>
              </a:defRPr>
            </a:lvl4pPr>
            <a:lvl5pPr>
              <a:defRPr sz="2175" b="0">
                <a:solidFill>
                  <a:srgbClr val="FFFFFF"/>
                </a:solidFill>
                <a:latin typeface="Arial"/>
                <a:ea typeface="Arial"/>
                <a:cs typeface="Arial"/>
              </a:defRPr>
            </a:lvl5pPr>
            <a:lvl6pPr>
              <a:defRPr sz="2175" b="0">
                <a:solidFill>
                  <a:srgbClr val="FFFFFF"/>
                </a:solidFill>
                <a:latin typeface="Arial"/>
                <a:ea typeface="Arial"/>
                <a:cs typeface="Arial"/>
              </a:defRPr>
            </a:lvl6pPr>
            <a:lvl7pPr>
              <a:defRPr sz="2175" b="0">
                <a:solidFill>
                  <a:srgbClr val="FFFFFF"/>
                </a:solidFill>
                <a:latin typeface="Arial"/>
                <a:ea typeface="Arial"/>
                <a:cs typeface="Arial"/>
              </a:defRPr>
            </a:lvl7pPr>
            <a:lvl8pPr>
              <a:defRPr sz="2175" b="0">
                <a:solidFill>
                  <a:srgbClr val="FFFFFF"/>
                </a:solidFill>
                <a:latin typeface="Arial"/>
                <a:ea typeface="Arial"/>
                <a:cs typeface="Arial"/>
              </a:defRPr>
            </a:lvl8pPr>
            <a:lvl9pPr>
              <a:defRPr sz="2175" b="0">
                <a:solidFill>
                  <a:srgbClr val="FFFFFF"/>
                </a:solidFill>
                <a:latin typeface="Arial"/>
                <a:ea typeface="Arial"/>
                <a:cs typeface="Arial"/>
              </a:defRPr>
            </a:lvl9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Pendidikan Jasmani &amp; HSE Geofisika</a:t>
            </a:r>
          </a:p>
        </p:txBody>
      </p:sp>
      <p:sp>
        <p:nvSpPr>
          <p:cNvPr id="4" name="">
            <a:extLst xmlns:a="http://schemas.openxmlformats.org/drawingml/2006/main">
              <a:ext uri="{FF2B5EF4-FFF2-40B4-BE49-F238E27FC236}">
                <a16:creationId xmlns:a16="http://schemas.microsoft.com/office/drawing/2014/main" id="{2A969233-D6F0-4CFD-968A-33E73F02F01D}"/>
              </a:ext>
            </a:extLst>
          </p:cNvPr>
          <p:cNvSpPr>
            <a:spLocks xmlns:a="http://schemas.openxmlformats.org/drawingml/2006/main" noGrp="1"/>
          </p:cNvSpPr>
          <p:nvPr/>
        </p:nvSpPr>
        <p:spPr>
          <a:xfrm xmlns:a="http://schemas.openxmlformats.org/drawingml/2006/main">
            <a:off x="762000" y="4762500"/>
            <a:ext cx="1057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vl1pPr>
              <a:defRPr sz="2175" b="0">
                <a:solidFill>
                  <a:srgbClr val="FFFFFF"/>
                </a:solidFill>
                <a:latin typeface="Arial"/>
                <a:ea typeface="Arial"/>
                <a:cs typeface="Arial"/>
              </a:defRPr>
            </a:lvl1pPr>
            <a:lvl2pPr>
              <a:defRPr sz="2175" b="0">
                <a:solidFill>
                  <a:srgbClr val="FFFFFF"/>
                </a:solidFill>
                <a:latin typeface="Arial"/>
                <a:ea typeface="Arial"/>
                <a:cs typeface="Arial"/>
              </a:defRPr>
            </a:lvl2pPr>
            <a:lvl3pPr>
              <a:defRPr sz="2175" b="0">
                <a:solidFill>
                  <a:srgbClr val="FFFFFF"/>
                </a:solidFill>
                <a:latin typeface="Arial"/>
                <a:ea typeface="Arial"/>
                <a:cs typeface="Arial"/>
              </a:defRPr>
            </a:lvl3pPr>
            <a:lvl4pPr>
              <a:defRPr sz="2175" b="0">
                <a:solidFill>
                  <a:srgbClr val="FFFFFF"/>
                </a:solidFill>
                <a:latin typeface="Arial"/>
                <a:ea typeface="Arial"/>
                <a:cs typeface="Arial"/>
              </a:defRPr>
            </a:lvl4pPr>
            <a:lvl5pPr>
              <a:defRPr sz="2175" b="0">
                <a:solidFill>
                  <a:srgbClr val="FFFFFF"/>
                </a:solidFill>
                <a:latin typeface="Arial"/>
                <a:ea typeface="Arial"/>
                <a:cs typeface="Arial"/>
              </a:defRPr>
            </a:lvl5pPr>
            <a:lvl6pPr>
              <a:defRPr sz="2175" b="0">
                <a:solidFill>
                  <a:srgbClr val="FFFFFF"/>
                </a:solidFill>
                <a:latin typeface="Arial"/>
                <a:ea typeface="Arial"/>
                <a:cs typeface="Arial"/>
              </a:defRPr>
            </a:lvl6pPr>
            <a:lvl7pPr>
              <a:defRPr sz="2175" b="0">
                <a:solidFill>
                  <a:srgbClr val="FFFFFF"/>
                </a:solidFill>
                <a:latin typeface="Arial"/>
                <a:ea typeface="Arial"/>
                <a:cs typeface="Arial"/>
              </a:defRPr>
            </a:lvl7pPr>
            <a:lvl8pPr>
              <a:defRPr sz="2175" b="0">
                <a:solidFill>
                  <a:srgbClr val="FFFFFF"/>
                </a:solidFill>
                <a:latin typeface="Arial"/>
                <a:ea typeface="Arial"/>
                <a:cs typeface="Arial"/>
              </a:defRPr>
            </a:lvl8pPr>
            <a:lvl9pPr>
              <a:defRPr sz="2175" b="0">
                <a:solidFill>
                  <a:srgbClr val="FFFFFF"/>
                </a:solidFill>
                <a:latin typeface="Arial"/>
                <a:ea typeface="Arial"/>
                <a:cs typeface="Arial"/>
              </a:defRPr>
            </a:lvl9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Pertemuan 3 · Wiwit Suryanto · S1 Geofisika UGM</a:t>
            </a:r>
          </a:p>
        </p:txBody>
      </p:sp>
      <p:sp>
        <p:nvSpPr>
          <p:cNvPr id="5" name="">
            <a:extLst xmlns:a="http://schemas.openxmlformats.org/drawingml/2006/main">
              <a:ext uri="{FF2B5EF4-FFF2-40B4-BE49-F238E27FC236}">
                <a16:creationId xmlns:a16="http://schemas.microsoft.com/office/drawing/2014/main" id="{484EF629-4C7B-4B04-B8D3-2911A0036590}"/>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F2AEDEF3-FC12-417C-8B54-FCFDA0F167F5}"/>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01 / 28</a:t>
            </a:r>
          </a:p>
        </p:txBody>
      </p:sp>
    </p:spTree>
    <p:extLst>
      <p:ext uri="{BB962C8B-B14F-4D97-AF65-F5344CB8AC3E}">
        <p14:creationId xmlns:p14="http://schemas.microsoft.com/office/powerpoint/2010/main" val="39610980"/>
      </p:ext>
    </p:extLst>
  </p:cSld>
</p:sld>
</file>

<file path=ppt/slides/slide2.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4C4957-5A54-45E0-87F8-CB61DA9F25C4}"/>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CA1F08A0-9D29-4F70-9CBC-42936C7D2CA4}"/>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Survei selesai, perjalanan belum</a:t>
            </a:r>
          </a:p>
        </p:txBody>
      </p:sp>
      <p:sp>
        <p:nvSpPr>
          <p:cNvPr id="3" name="">
            <a:extLst xmlns:a="http://schemas.openxmlformats.org/drawingml/2006/main">
              <a:ext uri="{FF2B5EF4-FFF2-40B4-BE49-F238E27FC236}">
                <a16:creationId xmlns:a16="http://schemas.microsoft.com/office/drawing/2014/main" id="{7E27AD7B-88DB-4D5B-9220-6969A69F2F87}"/>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Akuisisi selesai pukul 23.00.</a:t>
            </a:r>
          </a:p>
        </p:txBody>
      </p:sp>
      <p:sp>
        <p:nvSpPr>
          <p:cNvPr id="4" name="">
            <a:extLst xmlns:a="http://schemas.openxmlformats.org/drawingml/2006/main">
              <a:ext uri="{FF2B5EF4-FFF2-40B4-BE49-F238E27FC236}">
                <a16:creationId xmlns:a16="http://schemas.microsoft.com/office/drawing/2014/main" id="{AFBBE7BE-F94D-4753-B77B-D9F02DA3F495}"/>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Tim masih harus membongkar alat dan berkendara pulang.</a:t>
            </a:r>
          </a:p>
        </p:txBody>
      </p:sp>
      <p:sp>
        <p:nvSpPr>
          <p:cNvPr id="5" name="">
            <a:extLst xmlns:a="http://schemas.openxmlformats.org/drawingml/2006/main">
              <a:ext uri="{FF2B5EF4-FFF2-40B4-BE49-F238E27FC236}">
                <a16:creationId xmlns:a16="http://schemas.microsoft.com/office/drawing/2014/main" id="{AAAF5F9B-3D98-44E9-8153-A1E9902035F6}"/>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Apa yang perlu direncanakan sejak sebelum berangkat?</a:t>
            </a:r>
          </a:p>
        </p:txBody>
      </p:sp>
      <p:sp>
        <p:nvSpPr>
          <p:cNvPr id="6" name="">
            <a:extLst xmlns:a="http://schemas.openxmlformats.org/drawingml/2006/main">
              <a:ext uri="{FF2B5EF4-FFF2-40B4-BE49-F238E27FC236}">
                <a16:creationId xmlns:a16="http://schemas.microsoft.com/office/drawing/2014/main" id="{3E3E737D-1CB9-43F7-ABB2-3978154AD0ED}"/>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D2C5360B-9312-41E1-BAE0-4730C075C548}"/>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02 / 28</a:t>
            </a:r>
          </a:p>
        </p:txBody>
      </p:sp>
    </p:spTree>
    <p:extLst>
      <p:ext uri="{BB962C8B-B14F-4D97-AF65-F5344CB8AC3E}">
        <p14:creationId xmlns:p14="http://schemas.microsoft.com/office/powerpoint/2010/main" val="2101007927"/>
      </p:ext>
    </p:extLst>
  </p:cSld>
</p:sld>
</file>

<file path=ppt/slides/slide3.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5A1B7C-4D2F-4526-AEBC-A423D49C73C4}"/>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24D5A2B2-FABB-4BCB-90D9-A6D4325E5417}"/>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Capaian pertemuan</a:t>
            </a:r>
          </a:p>
        </p:txBody>
      </p:sp>
      <p:sp>
        <p:nvSpPr>
          <p:cNvPr id="3" name="">
            <a:extLst xmlns:a="http://schemas.openxmlformats.org/drawingml/2006/main">
              <a:ext uri="{FF2B5EF4-FFF2-40B4-BE49-F238E27FC236}">
                <a16:creationId xmlns:a16="http://schemas.microsoft.com/office/drawing/2014/main" id="{71C78555-5BD0-4C30-9E06-3DBCB1C266A4}"/>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Menjelaskan sumber kelelahan dan kebutuhan pemulihan.</a:t>
            </a:r>
          </a:p>
        </p:txBody>
      </p:sp>
      <p:sp>
        <p:nvSpPr>
          <p:cNvPr id="4" name="">
            <a:extLst xmlns:a="http://schemas.openxmlformats.org/drawingml/2006/main">
              <a:ext uri="{FF2B5EF4-FFF2-40B4-BE49-F238E27FC236}">
                <a16:creationId xmlns:a16="http://schemas.microsoft.com/office/drawing/2014/main" id="{3F9D15DE-401E-4BDA-AA14-CE36BF30D8B8}"/>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Menyusun JSA 4–6 langkah dengan PIC dan bukti verifikasi.</a:t>
            </a:r>
          </a:p>
        </p:txBody>
      </p:sp>
      <p:sp>
        <p:nvSpPr>
          <p:cNvPr id="5" name="">
            <a:extLst xmlns:a="http://schemas.openxmlformats.org/drawingml/2006/main">
              <a:ext uri="{FF2B5EF4-FFF2-40B4-BE49-F238E27FC236}">
                <a16:creationId xmlns:a16="http://schemas.microsoft.com/office/drawing/2014/main" id="{717A6D20-6C7F-47BF-8F80-5FD352A9F822}"/>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Menetapkan penghentian serta syarat mulai kembali.</a:t>
            </a:r>
          </a:p>
        </p:txBody>
      </p:sp>
      <p:sp>
        <p:nvSpPr>
          <p:cNvPr id="6" name="">
            <a:extLst xmlns:a="http://schemas.openxmlformats.org/drawingml/2006/main">
              <a:ext uri="{FF2B5EF4-FFF2-40B4-BE49-F238E27FC236}">
                <a16:creationId xmlns:a16="http://schemas.microsoft.com/office/drawing/2014/main" id="{71C8C162-FF40-4703-89E5-7198EDFE55BF}"/>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D70D55DF-4DB3-481F-A1FA-4866ADFD091B}"/>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03 / 28</a:t>
            </a:r>
          </a:p>
        </p:txBody>
      </p:sp>
    </p:spTree>
    <p:extLst>
      <p:ext uri="{BB962C8B-B14F-4D97-AF65-F5344CB8AC3E}">
        <p14:creationId xmlns:p14="http://schemas.microsoft.com/office/powerpoint/2010/main" val="2015430925"/>
      </p:ext>
    </p:extLst>
  </p:cSld>
</p:sld>
</file>

<file path=ppt/slides/slide4.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cxnSp>
        <p:nvCxnSpPr>
          <p:cNvPr id="32" name="">
            <a:extLst xmlns:a="http://schemas.openxmlformats.org/drawingml/2006/main">
              <a:ext uri="{FF2B5EF4-FFF2-40B4-BE49-F238E27FC236}">
                <a16:creationId xmlns:a16="http://schemas.microsoft.com/office/drawing/2014/main" id="{A192F4F2-D2FD-44B9-83AB-D64E10709A3F}"/>
              </a:ext>
            </a:extLst>
          </p:cNvPr>
          <p:cNvCxnSpPr>
            <a:stCxn xmlns:a="http://schemas.openxmlformats.org/drawingml/2006/main" id="30" idx="3"/>
            <a:endCxn xmlns:a="http://schemas.openxmlformats.org/drawingml/2006/main" id="31" idx="1"/>
          </p:cNvCxnSpPr>
          <p:nvPr/>
        </p:nvCxnSpPr>
        <p:spPr>
          <a:xfrm xmlns:a="http://schemas.openxmlformats.org/drawingml/2006/main">
            <a:off x="7815263" y="3810001"/>
            <a:ext cx="1133475" cy="0"/>
          </a:xfrm>
          <a:prstGeom xmlns:a="http://schemas.openxmlformats.org/drawingml/2006/main" prst="straightConnector1">
            <a:avLst/>
          </a:prstGeom>
          <a:ln xmlns:a="http://schemas.openxmlformats.org/drawingml/2006/main" w="28575">
            <a:solidFill>
              <a:srgbClr val="8A2D1F"/>
            </a:solidFill>
            <a:tailEnd type="triangle" w="sm" len="sm"/>
          </a:ln>
        </p:spPr>
      </p:cxnSp>
      <p:cxnSp>
        <p:nvCxnSpPr>
          <p:cNvPr id="29" name="">
            <a:extLst xmlns:a="http://schemas.openxmlformats.org/drawingml/2006/main">
              <a:ext uri="{FF2B5EF4-FFF2-40B4-BE49-F238E27FC236}">
                <a16:creationId xmlns:a16="http://schemas.microsoft.com/office/drawing/2014/main" id="{F5C99191-12A8-47F9-81C2-CD44DF29A564}"/>
              </a:ext>
            </a:extLst>
          </p:cNvPr>
          <p:cNvCxnSpPr>
            <a:stCxn xmlns:a="http://schemas.openxmlformats.org/drawingml/2006/main" id="27" idx="0"/>
            <a:endCxn xmlns:a="http://schemas.openxmlformats.org/drawingml/2006/main" id="28" idx="2"/>
          </p:cNvCxnSpPr>
          <p:nvPr/>
        </p:nvCxnSpPr>
        <p:spPr>
          <a:xfrm xmlns:a="http://schemas.openxmlformats.org/drawingml/2006/main" flipV="1">
            <a:off x="4429126" y="3814763"/>
            <a:ext cx="0" cy="1162050"/>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26" name="">
            <a:extLst xmlns:a="http://schemas.openxmlformats.org/drawingml/2006/main">
              <a:ext uri="{FF2B5EF4-FFF2-40B4-BE49-F238E27FC236}">
                <a16:creationId xmlns:a16="http://schemas.microsoft.com/office/drawing/2014/main" id="{A49F0B19-0C82-43B3-9664-1C0AC3BCCAA7}"/>
              </a:ext>
            </a:extLst>
          </p:cNvPr>
          <p:cNvCxnSpPr>
            <a:stCxn xmlns:a="http://schemas.openxmlformats.org/drawingml/2006/main" id="24" idx="3"/>
            <a:endCxn xmlns:a="http://schemas.openxmlformats.org/drawingml/2006/main" id="25" idx="1"/>
          </p:cNvCxnSpPr>
          <p:nvPr/>
        </p:nvCxnSpPr>
        <p:spPr>
          <a:xfrm xmlns:a="http://schemas.openxmlformats.org/drawingml/2006/main">
            <a:off x="3719513" y="4981576"/>
            <a:ext cx="704850" cy="0"/>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23" name="">
            <a:extLst xmlns:a="http://schemas.openxmlformats.org/drawingml/2006/main">
              <a:ext uri="{FF2B5EF4-FFF2-40B4-BE49-F238E27FC236}">
                <a16:creationId xmlns:a16="http://schemas.microsoft.com/office/drawing/2014/main" id="{78826F4A-05A7-4174-9BD5-CE133ED17FBE}"/>
              </a:ext>
            </a:extLst>
          </p:cNvPr>
          <p:cNvCxnSpPr>
            <a:stCxn xmlns:a="http://schemas.openxmlformats.org/drawingml/2006/main" id="21" idx="3"/>
            <a:endCxn xmlns:a="http://schemas.openxmlformats.org/drawingml/2006/main" id="22" idx="1"/>
          </p:cNvCxnSpPr>
          <p:nvPr/>
        </p:nvCxnSpPr>
        <p:spPr>
          <a:xfrm xmlns:a="http://schemas.openxmlformats.org/drawingml/2006/main">
            <a:off x="3719513" y="3790951"/>
            <a:ext cx="1228725"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20" name="">
            <a:extLst xmlns:a="http://schemas.openxmlformats.org/drawingml/2006/main">
              <a:ext uri="{FF2B5EF4-FFF2-40B4-BE49-F238E27FC236}">
                <a16:creationId xmlns:a16="http://schemas.microsoft.com/office/drawing/2014/main" id="{4C4C7636-02C3-4808-AFA4-73A58049C813}"/>
              </a:ext>
            </a:extLst>
          </p:cNvPr>
          <p:cNvCxnSpPr>
            <a:stCxn xmlns:a="http://schemas.openxmlformats.org/drawingml/2006/main" id="18" idx="2"/>
            <a:endCxn xmlns:a="http://schemas.openxmlformats.org/drawingml/2006/main" id="19" idx="0"/>
          </p:cNvCxnSpPr>
          <p:nvPr/>
        </p:nvCxnSpPr>
        <p:spPr>
          <a:xfrm xmlns:a="http://schemas.openxmlformats.org/drawingml/2006/main">
            <a:off x="4429126" y="2605088"/>
            <a:ext cx="0" cy="1200150"/>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17" name="">
            <a:extLst xmlns:a="http://schemas.openxmlformats.org/drawingml/2006/main">
              <a:ext uri="{FF2B5EF4-FFF2-40B4-BE49-F238E27FC236}">
                <a16:creationId xmlns:a16="http://schemas.microsoft.com/office/drawing/2014/main" id="{575058FD-534D-4103-A644-96777E19A09D}"/>
              </a:ext>
            </a:extLst>
          </p:cNvPr>
          <p:cNvCxnSpPr>
            <a:stCxn xmlns:a="http://schemas.openxmlformats.org/drawingml/2006/main" id="15" idx="3"/>
            <a:endCxn xmlns:a="http://schemas.openxmlformats.org/drawingml/2006/main" id="16" idx="1"/>
          </p:cNvCxnSpPr>
          <p:nvPr/>
        </p:nvCxnSpPr>
        <p:spPr>
          <a:xfrm xmlns:a="http://schemas.openxmlformats.org/drawingml/2006/main">
            <a:off x="3719513" y="2600326"/>
            <a:ext cx="704850" cy="0"/>
          </a:xfrm>
          <a:prstGeom xmlns:a="http://schemas.openxmlformats.org/drawingml/2006/main" prst="straightConnector1">
            <a:avLst/>
          </a:prstGeom>
          <a:ln xmlns:a="http://schemas.openxmlformats.org/drawingml/2006/main" w="28575">
            <a:solidFill>
              <a:srgbClr val="2F5D62"/>
            </a:solidFill>
            <a:tailEnd type="none" w="med" len="med"/>
          </a:ln>
        </p:spPr>
      </p:cxnSp>
      <p:sp>
        <p:nvSpPr>
          <p:cNvPr id="37" name="">
            <a:extLst xmlns:a="http://schemas.openxmlformats.org/drawingml/2006/main">
              <a:ext uri="{FF2B5EF4-FFF2-40B4-BE49-F238E27FC236}">
                <a16:creationId xmlns:a16="http://schemas.microsoft.com/office/drawing/2014/main" id="{81BB6EC6-956B-47F4-93D0-D51891B7E8D8}"/>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F1B45312-BDB6-4849-A047-E825027726B1}"/>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Kelelahan memiliki banyak sumber</a:t>
            </a:r>
          </a:p>
        </p:txBody>
      </p:sp>
      <p:sp>
        <p:nvSpPr>
          <p:cNvPr id="3" name="">
            <a:extLst xmlns:a="http://schemas.openxmlformats.org/drawingml/2006/main">
              <a:ext uri="{FF2B5EF4-FFF2-40B4-BE49-F238E27FC236}">
                <a16:creationId xmlns:a16="http://schemas.microsoft.com/office/drawing/2014/main" id="{BDD9AB88-E759-4499-9803-E0D05CAC7FF9}"/>
              </a:ext>
            </a:extLst>
          </p:cNvPr>
          <p:cNvSpPr>
            <a:spLocks xmlns:a="http://schemas.openxmlformats.org/drawingml/2006/main" noGrp="1"/>
          </p:cNvSpPr>
          <p:nvPr/>
        </p:nvSpPr>
        <p:spPr>
          <a:xfrm xmlns:a="http://schemas.openxmlformats.org/drawingml/2006/main">
            <a:off x="762000" y="2143125"/>
            <a:ext cx="2952750" cy="90487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4" name="">
            <a:extLst xmlns:a="http://schemas.openxmlformats.org/drawingml/2006/main">
              <a:ext uri="{FF2B5EF4-FFF2-40B4-BE49-F238E27FC236}">
                <a16:creationId xmlns:a16="http://schemas.microsoft.com/office/drawing/2014/main" id="{1CF75FAF-CAB7-4C0A-9643-E43DB6FE4E2C}"/>
              </a:ext>
            </a:extLst>
          </p:cNvPr>
          <p:cNvSpPr>
            <a:spLocks xmlns:a="http://schemas.openxmlformats.org/drawingml/2006/main" noGrp="1"/>
          </p:cNvSpPr>
          <p:nvPr/>
        </p:nvSpPr>
        <p:spPr>
          <a:xfrm xmlns:a="http://schemas.openxmlformats.org/drawingml/2006/main">
            <a:off x="933450" y="2276475"/>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Kurang tidur</a:t>
            </a:r>
          </a:p>
        </p:txBody>
      </p:sp>
      <p:sp>
        <p:nvSpPr>
          <p:cNvPr id="5" name="">
            <a:extLst xmlns:a="http://schemas.openxmlformats.org/drawingml/2006/main">
              <a:ext uri="{FF2B5EF4-FFF2-40B4-BE49-F238E27FC236}">
                <a16:creationId xmlns:a16="http://schemas.microsoft.com/office/drawing/2014/main" id="{BE72511B-A35A-46E8-94ED-A651BC77C094}"/>
              </a:ext>
            </a:extLst>
          </p:cNvPr>
          <p:cNvSpPr>
            <a:spLocks xmlns:a="http://schemas.openxmlformats.org/drawingml/2006/main" noGrp="1"/>
          </p:cNvSpPr>
          <p:nvPr/>
        </p:nvSpPr>
        <p:spPr>
          <a:xfrm xmlns:a="http://schemas.openxmlformats.org/drawingml/2006/main">
            <a:off x="762000" y="3333750"/>
            <a:ext cx="2952750" cy="90487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6" name="">
            <a:extLst xmlns:a="http://schemas.openxmlformats.org/drawingml/2006/main">
              <a:ext uri="{FF2B5EF4-FFF2-40B4-BE49-F238E27FC236}">
                <a16:creationId xmlns:a16="http://schemas.microsoft.com/office/drawing/2014/main" id="{19BC343A-EB48-43B2-B9C3-3C9F68A04B7F}"/>
              </a:ext>
            </a:extLst>
          </p:cNvPr>
          <p:cNvSpPr>
            <a:spLocks xmlns:a="http://schemas.openxmlformats.org/drawingml/2006/main" noGrp="1"/>
          </p:cNvSpPr>
          <p:nvPr/>
        </p:nvSpPr>
        <p:spPr>
          <a:xfrm xmlns:a="http://schemas.openxmlformats.org/drawingml/2006/main">
            <a:off x="933450" y="346710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Tuntutan tugas</a:t>
            </a:r>
          </a:p>
        </p:txBody>
      </p:sp>
      <p:sp>
        <p:nvSpPr>
          <p:cNvPr id="7" name="">
            <a:extLst xmlns:a="http://schemas.openxmlformats.org/drawingml/2006/main">
              <a:ext uri="{FF2B5EF4-FFF2-40B4-BE49-F238E27FC236}">
                <a16:creationId xmlns:a16="http://schemas.microsoft.com/office/drawing/2014/main" id="{B5B89BF7-B8FD-4933-93DA-277DFEF0544E}"/>
              </a:ext>
            </a:extLst>
          </p:cNvPr>
          <p:cNvSpPr>
            <a:spLocks xmlns:a="http://schemas.openxmlformats.org/drawingml/2006/main" noGrp="1"/>
          </p:cNvSpPr>
          <p:nvPr/>
        </p:nvSpPr>
        <p:spPr>
          <a:xfrm xmlns:a="http://schemas.openxmlformats.org/drawingml/2006/main">
            <a:off x="762000" y="4524375"/>
            <a:ext cx="2952750" cy="90487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8" name="">
            <a:extLst xmlns:a="http://schemas.openxmlformats.org/drawingml/2006/main">
              <a:ext uri="{FF2B5EF4-FFF2-40B4-BE49-F238E27FC236}">
                <a16:creationId xmlns:a16="http://schemas.microsoft.com/office/drawing/2014/main" id="{D28AB590-F202-4A8B-8508-01F594737C5E}"/>
              </a:ext>
            </a:extLst>
          </p:cNvPr>
          <p:cNvSpPr>
            <a:spLocks xmlns:a="http://schemas.openxmlformats.org/drawingml/2006/main" noGrp="1"/>
          </p:cNvSpPr>
          <p:nvPr/>
        </p:nvSpPr>
        <p:spPr>
          <a:xfrm xmlns:a="http://schemas.openxmlformats.org/drawingml/2006/main">
            <a:off x="933450" y="4657725"/>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Panas / stres</a:t>
            </a:r>
          </a:p>
        </p:txBody>
      </p:sp>
      <p:sp>
        <p:nvSpPr>
          <p:cNvPr id="9" name="">
            <a:extLst xmlns:a="http://schemas.openxmlformats.org/drawingml/2006/main">
              <a:ext uri="{FF2B5EF4-FFF2-40B4-BE49-F238E27FC236}">
                <a16:creationId xmlns:a16="http://schemas.microsoft.com/office/drawing/2014/main" id="{80268B00-ED8D-40BC-B7A2-6819E95DF059}"/>
              </a:ext>
            </a:extLst>
          </p:cNvPr>
          <p:cNvSpPr>
            <a:spLocks xmlns:a="http://schemas.openxmlformats.org/drawingml/2006/main" noGrp="1"/>
          </p:cNvSpPr>
          <p:nvPr/>
        </p:nvSpPr>
        <p:spPr>
          <a:xfrm xmlns:a="http://schemas.openxmlformats.org/drawingml/2006/main">
            <a:off x="4953000" y="3143250"/>
            <a:ext cx="2857500" cy="133350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0" name="">
            <a:extLst xmlns:a="http://schemas.openxmlformats.org/drawingml/2006/main">
              <a:ext uri="{FF2B5EF4-FFF2-40B4-BE49-F238E27FC236}">
                <a16:creationId xmlns:a16="http://schemas.microsoft.com/office/drawing/2014/main" id="{227FD7FB-7197-4D14-8798-A6110914FD8C}"/>
              </a:ext>
            </a:extLst>
          </p:cNvPr>
          <p:cNvSpPr>
            <a:spLocks xmlns:a="http://schemas.openxmlformats.org/drawingml/2006/main" noGrp="1"/>
          </p:cNvSpPr>
          <p:nvPr/>
        </p:nvSpPr>
        <p:spPr>
          <a:xfrm xmlns:a="http://schemas.openxmlformats.org/drawingml/2006/main">
            <a:off x="5124450" y="3276600"/>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Kelelahan</a:t>
            </a:r>
          </a:p>
        </p:txBody>
      </p:sp>
      <p:sp>
        <p:nvSpPr>
          <p:cNvPr id="11" name="">
            <a:extLst xmlns:a="http://schemas.openxmlformats.org/drawingml/2006/main">
              <a:ext uri="{FF2B5EF4-FFF2-40B4-BE49-F238E27FC236}">
                <a16:creationId xmlns:a16="http://schemas.microsoft.com/office/drawing/2014/main" id="{5C4AC04B-A8FA-4372-B5E6-3784BAE417FA}"/>
              </a:ext>
            </a:extLst>
          </p:cNvPr>
          <p:cNvSpPr>
            <a:spLocks xmlns:a="http://schemas.openxmlformats.org/drawingml/2006/main" noGrp="1"/>
          </p:cNvSpPr>
          <p:nvPr/>
        </p:nvSpPr>
        <p:spPr>
          <a:xfrm xmlns:a="http://schemas.openxmlformats.org/drawingml/2006/main">
            <a:off x="5124450" y="3724275"/>
            <a:ext cx="2514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Respons dan perhatian</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menurun</a:t>
            </a:r>
          </a:p>
        </p:txBody>
      </p:sp>
      <p:sp>
        <p:nvSpPr>
          <p:cNvPr id="12" name="">
            <a:extLst xmlns:a="http://schemas.openxmlformats.org/drawingml/2006/main">
              <a:ext uri="{FF2B5EF4-FFF2-40B4-BE49-F238E27FC236}">
                <a16:creationId xmlns:a16="http://schemas.microsoft.com/office/drawing/2014/main" id="{84593C80-9446-45BD-8B72-0844F1A02E35}"/>
              </a:ext>
            </a:extLst>
          </p:cNvPr>
          <p:cNvSpPr>
            <a:spLocks xmlns:a="http://schemas.openxmlformats.org/drawingml/2006/main" noGrp="1"/>
          </p:cNvSpPr>
          <p:nvPr/>
        </p:nvSpPr>
        <p:spPr>
          <a:xfrm xmlns:a="http://schemas.openxmlformats.org/drawingml/2006/main">
            <a:off x="8953500" y="3143250"/>
            <a:ext cx="2476500" cy="133350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3" name="">
            <a:extLst xmlns:a="http://schemas.openxmlformats.org/drawingml/2006/main">
              <a:ext uri="{FF2B5EF4-FFF2-40B4-BE49-F238E27FC236}">
                <a16:creationId xmlns:a16="http://schemas.microsoft.com/office/drawing/2014/main" id="{21DA8184-74D0-4266-BCD6-BDBD9E7CB6AA}"/>
              </a:ext>
            </a:extLst>
          </p:cNvPr>
          <p:cNvSpPr>
            <a:spLocks xmlns:a="http://schemas.openxmlformats.org/drawingml/2006/main" noGrp="1"/>
          </p:cNvSpPr>
          <p:nvPr/>
        </p:nvSpPr>
        <p:spPr>
          <a:xfrm xmlns:a="http://schemas.openxmlformats.org/drawingml/2006/main">
            <a:off x="9124950" y="3276600"/>
            <a:ext cx="2133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Keputusan</a:t>
            </a:r>
          </a:p>
        </p:txBody>
      </p:sp>
      <p:sp>
        <p:nvSpPr>
          <p:cNvPr id="14" name="">
            <a:extLst xmlns:a="http://schemas.openxmlformats.org/drawingml/2006/main">
              <a:ext uri="{FF2B5EF4-FFF2-40B4-BE49-F238E27FC236}">
                <a16:creationId xmlns:a16="http://schemas.microsoft.com/office/drawing/2014/main" id="{6AF9DA7D-6998-4A30-B34F-3426EB42A6E1}"/>
              </a:ext>
            </a:extLst>
          </p:cNvPr>
          <p:cNvSpPr>
            <a:spLocks xmlns:a="http://schemas.openxmlformats.org/drawingml/2006/main" noGrp="1"/>
          </p:cNvSpPr>
          <p:nvPr/>
        </p:nvSpPr>
        <p:spPr>
          <a:xfrm xmlns:a="http://schemas.openxmlformats.org/drawingml/2006/main">
            <a:off x="9124950" y="3724275"/>
            <a:ext cx="2133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Dapat memburuk</a:t>
            </a:r>
          </a:p>
        </p:txBody>
      </p:sp>
      <p:sp>
        <p:nvSpPr>
          <p:cNvPr id="15" name="">
            <a:extLst xmlns:a="http://schemas.openxmlformats.org/drawingml/2006/main">
              <a:ext uri="{FF2B5EF4-FFF2-40B4-BE49-F238E27FC236}">
                <a16:creationId xmlns:a16="http://schemas.microsoft.com/office/drawing/2014/main" id="{26141AB9-254F-4701-92AA-52BD0EF5160D}"/>
              </a:ext>
            </a:extLst>
          </p:cNvPr>
          <p:cNvSpPr>
            <a:spLocks xmlns:a="http://schemas.openxmlformats.org/drawingml/2006/main" noGrp="1"/>
          </p:cNvSpPr>
          <p:nvPr/>
        </p:nvSpPr>
        <p:spPr>
          <a:xfrm xmlns:a="http://schemas.openxmlformats.org/drawingml/2006/main">
            <a:off x="3709988" y="2595563"/>
            <a:ext cx="9525" cy="9525"/>
          </a:xfrm>
          <a:prstGeom xmlns:a="http://schemas.openxmlformats.org/drawingml/2006/main" prst="rect">
            <a:avLst/>
          </a:prstGeom>
          <a:noFill xmlns:a="http://schemas.openxmlformats.org/drawingml/2006/main"/>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51EC023-93B4-44EA-9BAE-0DB54ED93832}"/>
              </a:ext>
            </a:extLst>
          </p:cNvPr>
          <p:cNvSpPr>
            <a:spLocks xmlns:a="http://schemas.openxmlformats.org/drawingml/2006/main" noGrp="1"/>
          </p:cNvSpPr>
          <p:nvPr/>
        </p:nvSpPr>
        <p:spPr>
          <a:xfrm xmlns:a="http://schemas.openxmlformats.org/drawingml/2006/main">
            <a:off x="4424363" y="2595563"/>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00F42A2-C7BD-4F76-9183-6E618F53A3BD}"/>
              </a:ext>
            </a:extLst>
          </p:cNvPr>
          <p:cNvSpPr>
            <a:spLocks xmlns:a="http://schemas.openxmlformats.org/drawingml/2006/main" noGrp="1"/>
          </p:cNvSpPr>
          <p:nvPr/>
        </p:nvSpPr>
        <p:spPr>
          <a:xfrm xmlns:a="http://schemas.openxmlformats.org/drawingml/2006/main">
            <a:off x="4424363" y="2595563"/>
            <a:ext cx="9525" cy="9525"/>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56CCE6F-0E83-4227-9C4F-5F23D5F3C9B3}"/>
              </a:ext>
            </a:extLst>
          </p:cNvPr>
          <p:cNvSpPr>
            <a:spLocks xmlns:a="http://schemas.openxmlformats.org/drawingml/2006/main" noGrp="1"/>
          </p:cNvSpPr>
          <p:nvPr/>
        </p:nvSpPr>
        <p:spPr>
          <a:xfrm xmlns:a="http://schemas.openxmlformats.org/drawingml/2006/main">
            <a:off x="4424363" y="3805238"/>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5DA9EDB-1900-4B3E-8428-22DF479692D4}"/>
              </a:ext>
            </a:extLst>
          </p:cNvPr>
          <p:cNvSpPr>
            <a:spLocks xmlns:a="http://schemas.openxmlformats.org/drawingml/2006/main" noGrp="1"/>
          </p:cNvSpPr>
          <p:nvPr/>
        </p:nvSpPr>
        <p:spPr>
          <a:xfrm xmlns:a="http://schemas.openxmlformats.org/drawingml/2006/main">
            <a:off x="3709988" y="3786188"/>
            <a:ext cx="9525" cy="9525"/>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A75E7AF-0516-49A8-B4F4-F0FA4954E148}"/>
              </a:ext>
            </a:extLst>
          </p:cNvPr>
          <p:cNvSpPr>
            <a:spLocks xmlns:a="http://schemas.openxmlformats.org/drawingml/2006/main" noGrp="1"/>
          </p:cNvSpPr>
          <p:nvPr/>
        </p:nvSpPr>
        <p:spPr>
          <a:xfrm xmlns:a="http://schemas.openxmlformats.org/drawingml/2006/main">
            <a:off x="4948238" y="3786188"/>
            <a:ext cx="9525" cy="9525"/>
          </a:xfrm>
          <a:prstGeom xmlns:a="http://schemas.openxmlformats.org/drawingml/2006/main" prst="rect">
            <a:avLst/>
          </a:prstGeom>
          <a:noFill xmlns:a="http://schemas.openxmlformats.org/drawingml/2006/main"/>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9CD43D9-7286-4758-B2C9-7B220072B59F}"/>
              </a:ext>
            </a:extLst>
          </p:cNvPr>
          <p:cNvSpPr>
            <a:spLocks xmlns:a="http://schemas.openxmlformats.org/drawingml/2006/main" noGrp="1"/>
          </p:cNvSpPr>
          <p:nvPr/>
        </p:nvSpPr>
        <p:spPr>
          <a:xfrm xmlns:a="http://schemas.openxmlformats.org/drawingml/2006/main">
            <a:off x="3709988" y="4976813"/>
            <a:ext cx="9525" cy="9525"/>
          </a:xfrm>
          <a:prstGeom xmlns:a="http://schemas.openxmlformats.org/drawingml/2006/main" prst="rect">
            <a:avLst/>
          </a:prstGeom>
          <a:noFill xmlns:a="http://schemas.openxmlformats.org/drawingml/2006/main"/>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9BA3D930-2232-49BA-92BE-E5531BEA8ABA}"/>
              </a:ext>
            </a:extLst>
          </p:cNvPr>
          <p:cNvSpPr>
            <a:spLocks xmlns:a="http://schemas.openxmlformats.org/drawingml/2006/main" noGrp="1"/>
          </p:cNvSpPr>
          <p:nvPr/>
        </p:nvSpPr>
        <p:spPr>
          <a:xfrm xmlns:a="http://schemas.openxmlformats.org/drawingml/2006/main">
            <a:off x="4424363" y="4976813"/>
            <a:ext cx="9525" cy="9525"/>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367D188-B26D-41A4-8BD5-AE250F6BD468}"/>
              </a:ext>
            </a:extLst>
          </p:cNvPr>
          <p:cNvSpPr>
            <a:spLocks xmlns:a="http://schemas.openxmlformats.org/drawingml/2006/main" noGrp="1"/>
          </p:cNvSpPr>
          <p:nvPr/>
        </p:nvSpPr>
        <p:spPr>
          <a:xfrm xmlns:a="http://schemas.openxmlformats.org/drawingml/2006/main">
            <a:off x="4424363" y="4976813"/>
            <a:ext cx="9525" cy="9525"/>
          </a:xfrm>
          <a:prstGeom xmlns:a="http://schemas.openxmlformats.org/drawingml/2006/main" prst="rect">
            <a:avLst/>
          </a:prstGeom>
          <a:noFill xmlns:a="http://schemas.openxmlformats.org/drawingml/2006/main"/>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CFC40651-68C8-445F-BFCE-377081382873}"/>
              </a:ext>
            </a:extLst>
          </p:cNvPr>
          <p:cNvSpPr>
            <a:spLocks xmlns:a="http://schemas.openxmlformats.org/drawingml/2006/main" noGrp="1"/>
          </p:cNvSpPr>
          <p:nvPr/>
        </p:nvSpPr>
        <p:spPr>
          <a:xfrm xmlns:a="http://schemas.openxmlformats.org/drawingml/2006/main">
            <a:off x="4424363" y="3805238"/>
            <a:ext cx="9525" cy="9525"/>
          </a:xfrm>
          <a:prstGeom xmlns:a="http://schemas.openxmlformats.org/drawingml/2006/main" prst="rect">
            <a:avLst/>
          </a:prstGeom>
          <a:noFill xmlns:a="http://schemas.openxmlformats.org/drawingml/2006/main"/>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4B07B96-5AA2-4DD6-B6E8-FE0A1CB50AEC}"/>
              </a:ext>
            </a:extLst>
          </p:cNvPr>
          <p:cNvSpPr>
            <a:spLocks xmlns:a="http://schemas.openxmlformats.org/drawingml/2006/main" noGrp="1"/>
          </p:cNvSpPr>
          <p:nvPr/>
        </p:nvSpPr>
        <p:spPr>
          <a:xfrm xmlns:a="http://schemas.openxmlformats.org/drawingml/2006/main">
            <a:off x="7805738" y="3805238"/>
            <a:ext cx="9525" cy="9525"/>
          </a:xfrm>
          <a:prstGeom xmlns:a="http://schemas.openxmlformats.org/drawingml/2006/main" prst="rect">
            <a:avLst/>
          </a:prstGeom>
          <a:noFill xmlns:a="http://schemas.openxmlformats.org/drawingml/2006/main"/>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CE298109-CE6E-44C2-AAD3-3A4825A0E629}"/>
              </a:ext>
            </a:extLst>
          </p:cNvPr>
          <p:cNvSpPr>
            <a:spLocks xmlns:a="http://schemas.openxmlformats.org/drawingml/2006/main" noGrp="1"/>
          </p:cNvSpPr>
          <p:nvPr/>
        </p:nvSpPr>
        <p:spPr>
          <a:xfrm xmlns:a="http://schemas.openxmlformats.org/drawingml/2006/main">
            <a:off x="8948738" y="3805238"/>
            <a:ext cx="9525" cy="9525"/>
          </a:xfrm>
          <a:prstGeom xmlns:a="http://schemas.openxmlformats.org/drawingml/2006/main" prst="rect">
            <a:avLst/>
          </a:prstGeom>
          <a:noFill xmlns:a="http://schemas.openxmlformats.org/drawingml/2006/main"/>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9C87D81D-F2F5-4AB0-A3A1-071E11A44808}"/>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Tanggapi sumber kelelahan melalui desain pekerjaan dan dukungan tim.</a:t>
            </a:r>
          </a:p>
        </p:txBody>
      </p:sp>
      <p:sp>
        <p:nvSpPr>
          <p:cNvPr id="34" name="">
            <a:extLst xmlns:a="http://schemas.openxmlformats.org/drawingml/2006/main">
              <a:ext uri="{FF2B5EF4-FFF2-40B4-BE49-F238E27FC236}">
                <a16:creationId xmlns:a16="http://schemas.microsoft.com/office/drawing/2014/main" id="{588510E1-0A75-48FE-9A55-150E5CDD3586}"/>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NIOSH · sumber pada catatan</a:t>
            </a:r>
          </a:p>
        </p:txBody>
      </p:sp>
      <p:sp>
        <p:nvSpPr>
          <p:cNvPr id="35" name="">
            <a:extLst xmlns:a="http://schemas.openxmlformats.org/drawingml/2006/main">
              <a:ext uri="{FF2B5EF4-FFF2-40B4-BE49-F238E27FC236}">
                <a16:creationId xmlns:a16="http://schemas.microsoft.com/office/drawing/2014/main" id="{CC12619D-996C-4B0D-8D2B-30B31A24F227}"/>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36" name="">
            <a:extLst xmlns:a="http://schemas.openxmlformats.org/drawingml/2006/main">
              <a:ext uri="{FF2B5EF4-FFF2-40B4-BE49-F238E27FC236}">
                <a16:creationId xmlns:a16="http://schemas.microsoft.com/office/drawing/2014/main" id="{DD5626E1-0C2B-4FBA-B02B-3384BBB97046}"/>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04 / 28</a:t>
            </a:r>
          </a:p>
        </p:txBody>
      </p:sp>
    </p:spTree>
    <p:extLst>
      <p:ext uri="{BB962C8B-B14F-4D97-AF65-F5344CB8AC3E}">
        <p14:creationId xmlns:p14="http://schemas.microsoft.com/office/powerpoint/2010/main" val="1756424154"/>
      </p:ext>
    </p:extLst>
  </p:cSld>
</p:sld>
</file>

<file path=ppt/slides/slide5.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075AB2F0-B5E2-404F-B042-8EDAEEBF0960}"/>
              </a:ext>
            </a:extLst>
          </p:cNvPr>
          <p:cNvCxnSpPr>
            <a:stCxn xmlns:a="http://schemas.openxmlformats.org/drawingml/2006/main" id="9" idx="3"/>
            <a:endCxn xmlns:a="http://schemas.openxmlformats.org/drawingml/2006/main" id="10" idx="1"/>
          </p:cNvCxnSpPr>
          <p:nvPr/>
        </p:nvCxnSpPr>
        <p:spPr>
          <a:xfrm xmlns:a="http://schemas.openxmlformats.org/drawingml/2006/main">
            <a:off x="1004888" y="4467226"/>
            <a:ext cx="10277475" cy="0"/>
          </a:xfrm>
          <a:prstGeom xmlns:a="http://schemas.openxmlformats.org/drawingml/2006/main" prst="straightConnector1">
            <a:avLst/>
          </a:prstGeom>
          <a:ln xmlns:a="http://schemas.openxmlformats.org/drawingml/2006/main" w="19050">
            <a:solidFill>
              <a:srgbClr val="1F1F1B"/>
            </a:solidFill>
            <a:tailEnd type="triangle" w="sm" len="sm"/>
          </a:ln>
        </p:spPr>
      </p:cxnSp>
      <p:sp>
        <p:nvSpPr>
          <p:cNvPr id="19" name="">
            <a:extLst xmlns:a="http://schemas.openxmlformats.org/drawingml/2006/main">
              <a:ext uri="{FF2B5EF4-FFF2-40B4-BE49-F238E27FC236}">
                <a16:creationId xmlns:a16="http://schemas.microsoft.com/office/drawing/2014/main" id="{8665B457-FC63-461D-8950-DFF520AD32AF}"/>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3222BF1E-DF2B-479B-8C55-FFB62755CCAC}"/>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Ritme sirkadian</a:t>
            </a:r>
          </a:p>
        </p:txBody>
      </p:sp>
      <p:sp>
        <p:nvSpPr>
          <p:cNvPr id="3" name="">
            <a:extLst xmlns:a="http://schemas.openxmlformats.org/drawingml/2006/main">
              <a:ext uri="{FF2B5EF4-FFF2-40B4-BE49-F238E27FC236}">
                <a16:creationId xmlns:a16="http://schemas.microsoft.com/office/drawing/2014/main" id="{875DB8FB-8A39-495E-89EC-3F2F51E4E161}"/>
              </a:ext>
            </a:extLst>
          </p:cNvPr>
          <p:cNvSpPr>
            <a:spLocks xmlns:a="http://schemas.openxmlformats.org/drawingml/2006/main" noGrp="1"/>
          </p:cNvSpPr>
          <p:nvPr/>
        </p:nvSpPr>
        <p:spPr>
          <a:xfrm xmlns:a="http://schemas.openxmlformats.org/drawingml/2006/main">
            <a:off x="1000125" y="2714625"/>
            <a:ext cx="5143500" cy="1428750"/>
          </a:xfrm>
          <a:prstGeom xmlns:a="http://schemas.openxmlformats.org/drawingml/2006/main" prst="rect">
            <a:avLst/>
          </a:prstGeom>
          <a:solidFill xmlns:a="http://schemas.openxmlformats.org/drawingml/2006/main">
            <a:srgbClr val="E6EDE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CAE4198-55E7-4B3A-BAE1-8909B532F687}"/>
              </a:ext>
            </a:extLst>
          </p:cNvPr>
          <p:cNvSpPr>
            <a:spLocks xmlns:a="http://schemas.openxmlformats.org/drawingml/2006/main" noGrp="1"/>
          </p:cNvSpPr>
          <p:nvPr/>
        </p:nvSpPr>
        <p:spPr>
          <a:xfrm xmlns:a="http://schemas.openxmlformats.org/drawingml/2006/main">
            <a:off x="6143625" y="2714625"/>
            <a:ext cx="5143500" cy="1428750"/>
          </a:xfrm>
          <a:prstGeom xmlns:a="http://schemas.openxmlformats.org/drawingml/2006/main" prst="rect">
            <a:avLst/>
          </a:prstGeom>
          <a:solidFill xmlns:a="http://schemas.openxmlformats.org/drawingml/2006/main">
            <a:srgbClr val="334D50"/>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D6F34D-89D2-486E-8C5F-A43DB255C182}"/>
              </a:ext>
            </a:extLst>
          </p:cNvPr>
          <p:cNvSpPr>
            <a:spLocks xmlns:a="http://schemas.openxmlformats.org/drawingml/2006/main" noGrp="1"/>
          </p:cNvSpPr>
          <p:nvPr/>
        </p:nvSpPr>
        <p:spPr>
          <a:xfrm xmlns:a="http://schemas.openxmlformats.org/drawingml/2006/main">
            <a:off x="1238250" y="29051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2F5D62"/>
                </a:solidFill>
                <a:latin typeface="Arial"/>
                <a:ea typeface="Arial"/>
                <a:cs typeface="Arial"/>
              </a:defRPr>
            </a:defPPr>
            <a:lvl1pPr>
              <a:defRPr sz="2625" b="1">
                <a:solidFill>
                  <a:srgbClr val="2F5D62"/>
                </a:solidFill>
                <a:latin typeface="Arial"/>
                <a:ea typeface="Arial"/>
                <a:cs typeface="Arial"/>
              </a:defRPr>
            </a:lvl1pPr>
            <a:lvl2pPr>
              <a:defRPr sz="2625" b="1">
                <a:solidFill>
                  <a:srgbClr val="2F5D62"/>
                </a:solidFill>
                <a:latin typeface="Arial"/>
                <a:ea typeface="Arial"/>
                <a:cs typeface="Arial"/>
              </a:defRPr>
            </a:lvl2pPr>
            <a:lvl3pPr>
              <a:defRPr sz="2625" b="1">
                <a:solidFill>
                  <a:srgbClr val="2F5D62"/>
                </a:solidFill>
                <a:latin typeface="Arial"/>
                <a:ea typeface="Arial"/>
                <a:cs typeface="Arial"/>
              </a:defRPr>
            </a:lvl3pPr>
            <a:lvl4pPr>
              <a:defRPr sz="2625" b="1">
                <a:solidFill>
                  <a:srgbClr val="2F5D62"/>
                </a:solidFill>
                <a:latin typeface="Arial"/>
                <a:ea typeface="Arial"/>
                <a:cs typeface="Arial"/>
              </a:defRPr>
            </a:lvl4pPr>
            <a:lvl5pPr>
              <a:defRPr sz="2625" b="1">
                <a:solidFill>
                  <a:srgbClr val="2F5D62"/>
                </a:solidFill>
                <a:latin typeface="Arial"/>
                <a:ea typeface="Arial"/>
                <a:cs typeface="Arial"/>
              </a:defRPr>
            </a:lvl5pPr>
            <a:lvl6pPr>
              <a:defRPr sz="2625" b="1">
                <a:solidFill>
                  <a:srgbClr val="2F5D62"/>
                </a:solidFill>
                <a:latin typeface="Arial"/>
                <a:ea typeface="Arial"/>
                <a:cs typeface="Arial"/>
              </a:defRPr>
            </a:lvl6pPr>
            <a:lvl7pPr>
              <a:defRPr sz="2625" b="1">
                <a:solidFill>
                  <a:srgbClr val="2F5D62"/>
                </a:solidFill>
                <a:latin typeface="Arial"/>
                <a:ea typeface="Arial"/>
                <a:cs typeface="Arial"/>
              </a:defRPr>
            </a:lvl7pPr>
            <a:lvl8pPr>
              <a:defRPr sz="2625" b="1">
                <a:solidFill>
                  <a:srgbClr val="2F5D62"/>
                </a:solidFill>
                <a:latin typeface="Arial"/>
                <a:ea typeface="Arial"/>
                <a:cs typeface="Arial"/>
              </a:defRPr>
            </a:lvl8pPr>
            <a:lvl9pPr>
              <a:defRPr sz="2625" b="1">
                <a:solidFill>
                  <a:srgbClr val="2F5D62"/>
                </a:solidFill>
                <a:latin typeface="Arial"/>
                <a:ea typeface="Arial"/>
                <a:cs typeface="Arial"/>
              </a:defRPr>
            </a:lvl9pPr>
          </a:lstStyle>
          <a:p xmlns:a="http://schemas.openxmlformats.org/drawingml/2006/main">
            <a:pPr>
              <a:defRPr sz="2625" b="1">
                <a:solidFill>
                  <a:srgbClr val="2F5D62"/>
                </a:solidFill>
                <a:latin typeface="Arial"/>
                <a:ea typeface="Arial"/>
                <a:cs typeface="Arial"/>
              </a:defRPr>
            </a:pPr>
            <a:r>
              <a:rPr sz="2625" b="1">
                <a:solidFill>
                  <a:srgbClr val="2F5D62"/>
                </a:solidFill>
                <a:latin typeface="Arial"/>
                <a:ea typeface="Arial"/>
                <a:cs typeface="Arial"/>
              </a:rPr>
              <a:t>Fase terang</a:t>
            </a:r>
          </a:p>
        </p:txBody>
      </p:sp>
      <p:sp>
        <p:nvSpPr>
          <p:cNvPr id="6" name="">
            <a:extLst xmlns:a="http://schemas.openxmlformats.org/drawingml/2006/main">
              <a:ext uri="{FF2B5EF4-FFF2-40B4-BE49-F238E27FC236}">
                <a16:creationId xmlns:a16="http://schemas.microsoft.com/office/drawing/2014/main" id="{1C21B89A-6B93-4051-B6BF-E21CAEA54D4E}"/>
              </a:ext>
            </a:extLst>
          </p:cNvPr>
          <p:cNvSpPr>
            <a:spLocks xmlns:a="http://schemas.openxmlformats.org/drawingml/2006/main" noGrp="1"/>
          </p:cNvSpPr>
          <p:nvPr/>
        </p:nvSpPr>
        <p:spPr>
          <a:xfrm xmlns:a="http://schemas.openxmlformats.org/drawingml/2006/main">
            <a:off x="1238250" y="348615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F1F1B"/>
                </a:solidFill>
                <a:latin typeface="Arial"/>
                <a:ea typeface="Arial"/>
                <a:cs typeface="Arial"/>
              </a:defRPr>
            </a:defPPr>
            <a:lvl1pPr>
              <a:defRPr sz="1800" b="0">
                <a:solidFill>
                  <a:srgbClr val="1F1F1B"/>
                </a:solidFill>
                <a:latin typeface="Arial"/>
                <a:ea typeface="Arial"/>
                <a:cs typeface="Arial"/>
              </a:defRPr>
            </a:lvl1pPr>
            <a:lvl2pPr>
              <a:defRPr sz="1800" b="0">
                <a:solidFill>
                  <a:srgbClr val="1F1F1B"/>
                </a:solidFill>
                <a:latin typeface="Arial"/>
                <a:ea typeface="Arial"/>
                <a:cs typeface="Arial"/>
              </a:defRPr>
            </a:lvl2pPr>
            <a:lvl3pPr>
              <a:defRPr sz="1800" b="0">
                <a:solidFill>
                  <a:srgbClr val="1F1F1B"/>
                </a:solidFill>
                <a:latin typeface="Arial"/>
                <a:ea typeface="Arial"/>
                <a:cs typeface="Arial"/>
              </a:defRPr>
            </a:lvl3pPr>
            <a:lvl4pPr>
              <a:defRPr sz="1800" b="0">
                <a:solidFill>
                  <a:srgbClr val="1F1F1B"/>
                </a:solidFill>
                <a:latin typeface="Arial"/>
                <a:ea typeface="Arial"/>
                <a:cs typeface="Arial"/>
              </a:defRPr>
            </a:lvl4pPr>
            <a:lvl5pPr>
              <a:defRPr sz="1800" b="0">
                <a:solidFill>
                  <a:srgbClr val="1F1F1B"/>
                </a:solidFill>
                <a:latin typeface="Arial"/>
                <a:ea typeface="Arial"/>
                <a:cs typeface="Arial"/>
              </a:defRPr>
            </a:lvl5pPr>
            <a:lvl6pPr>
              <a:defRPr sz="1800" b="0">
                <a:solidFill>
                  <a:srgbClr val="1F1F1B"/>
                </a:solidFill>
                <a:latin typeface="Arial"/>
                <a:ea typeface="Arial"/>
                <a:cs typeface="Arial"/>
              </a:defRPr>
            </a:lvl6pPr>
            <a:lvl7pPr>
              <a:defRPr sz="1800" b="0">
                <a:solidFill>
                  <a:srgbClr val="1F1F1B"/>
                </a:solidFill>
                <a:latin typeface="Arial"/>
                <a:ea typeface="Arial"/>
                <a:cs typeface="Arial"/>
              </a:defRPr>
            </a:lvl7pPr>
            <a:lvl8pPr>
              <a:defRPr sz="1800" b="0">
                <a:solidFill>
                  <a:srgbClr val="1F1F1B"/>
                </a:solidFill>
                <a:latin typeface="Arial"/>
                <a:ea typeface="Arial"/>
                <a:cs typeface="Arial"/>
              </a:defRPr>
            </a:lvl8pPr>
            <a:lvl9pPr>
              <a:defRPr sz="1800" b="0">
                <a:solidFill>
                  <a:srgbClr val="1F1F1B"/>
                </a:solidFill>
                <a:latin typeface="Arial"/>
                <a:ea typeface="Arial"/>
                <a:cs typeface="Arial"/>
              </a:defRPr>
            </a:lvl9pPr>
          </a:lstStyle>
          <a:p xmlns:a="http://schemas.openxmlformats.org/drawingml/2006/main">
            <a:pPr>
              <a:defRPr sz="1800" b="0">
                <a:solidFill>
                  <a:srgbClr val="1F1F1B"/>
                </a:solidFill>
                <a:latin typeface="Arial"/>
                <a:ea typeface="Arial"/>
                <a:cs typeface="Arial"/>
              </a:defRPr>
            </a:pPr>
            <a:r>
              <a:rPr sz="1800" b="0">
                <a:solidFill>
                  <a:srgbClr val="1F1F1B"/>
                </a:solidFill>
                <a:latin typeface="Arial"/>
                <a:ea typeface="Arial"/>
                <a:cs typeface="Arial"/>
              </a:rPr>
              <a:t>Cahaya membantu menyelaraskan ritme</a:t>
            </a:r>
          </a:p>
        </p:txBody>
      </p:sp>
      <p:sp>
        <p:nvSpPr>
          <p:cNvPr id="7" name="">
            <a:extLst xmlns:a="http://schemas.openxmlformats.org/drawingml/2006/main">
              <a:ext uri="{FF2B5EF4-FFF2-40B4-BE49-F238E27FC236}">
                <a16:creationId xmlns:a16="http://schemas.microsoft.com/office/drawing/2014/main" id="{D4A8F5D7-DFB7-4258-93DB-1B76ED0257B4}"/>
              </a:ext>
            </a:extLst>
          </p:cNvPr>
          <p:cNvSpPr>
            <a:spLocks xmlns:a="http://schemas.openxmlformats.org/drawingml/2006/main" noGrp="1"/>
          </p:cNvSpPr>
          <p:nvPr/>
        </p:nvSpPr>
        <p:spPr>
          <a:xfrm xmlns:a="http://schemas.openxmlformats.org/drawingml/2006/main">
            <a:off x="6429375" y="29051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FFFFFF"/>
                </a:solidFill>
                <a:latin typeface="Arial"/>
                <a:ea typeface="Arial"/>
                <a:cs typeface="Arial"/>
              </a:defRPr>
            </a:defPPr>
            <a:lvl1pPr>
              <a:defRPr sz="2625" b="1">
                <a:solidFill>
                  <a:srgbClr val="FFFFFF"/>
                </a:solidFill>
                <a:latin typeface="Arial"/>
                <a:ea typeface="Arial"/>
                <a:cs typeface="Arial"/>
              </a:defRPr>
            </a:lvl1pPr>
            <a:lvl2pPr>
              <a:defRPr sz="2625" b="1">
                <a:solidFill>
                  <a:srgbClr val="FFFFFF"/>
                </a:solidFill>
                <a:latin typeface="Arial"/>
                <a:ea typeface="Arial"/>
                <a:cs typeface="Arial"/>
              </a:defRPr>
            </a:lvl2pPr>
            <a:lvl3pPr>
              <a:defRPr sz="2625" b="1">
                <a:solidFill>
                  <a:srgbClr val="FFFFFF"/>
                </a:solidFill>
                <a:latin typeface="Arial"/>
                <a:ea typeface="Arial"/>
                <a:cs typeface="Arial"/>
              </a:defRPr>
            </a:lvl3pPr>
            <a:lvl4pPr>
              <a:defRPr sz="2625" b="1">
                <a:solidFill>
                  <a:srgbClr val="FFFFFF"/>
                </a:solidFill>
                <a:latin typeface="Arial"/>
                <a:ea typeface="Arial"/>
                <a:cs typeface="Arial"/>
              </a:defRPr>
            </a:lvl4pPr>
            <a:lvl5pPr>
              <a:defRPr sz="2625" b="1">
                <a:solidFill>
                  <a:srgbClr val="FFFFFF"/>
                </a:solidFill>
                <a:latin typeface="Arial"/>
                <a:ea typeface="Arial"/>
                <a:cs typeface="Arial"/>
              </a:defRPr>
            </a:lvl5pPr>
            <a:lvl6pPr>
              <a:defRPr sz="2625" b="1">
                <a:solidFill>
                  <a:srgbClr val="FFFFFF"/>
                </a:solidFill>
                <a:latin typeface="Arial"/>
                <a:ea typeface="Arial"/>
                <a:cs typeface="Arial"/>
              </a:defRPr>
            </a:lvl6pPr>
            <a:lvl7pPr>
              <a:defRPr sz="2625" b="1">
                <a:solidFill>
                  <a:srgbClr val="FFFFFF"/>
                </a:solidFill>
                <a:latin typeface="Arial"/>
                <a:ea typeface="Arial"/>
                <a:cs typeface="Arial"/>
              </a:defRPr>
            </a:lvl7pPr>
            <a:lvl8pPr>
              <a:defRPr sz="2625" b="1">
                <a:solidFill>
                  <a:srgbClr val="FFFFFF"/>
                </a:solidFill>
                <a:latin typeface="Arial"/>
                <a:ea typeface="Arial"/>
                <a:cs typeface="Arial"/>
              </a:defRPr>
            </a:lvl8pPr>
            <a:lvl9pPr>
              <a:defRPr sz="2625" b="1">
                <a:solidFill>
                  <a:srgbClr val="FFFFFF"/>
                </a:solidFill>
                <a:latin typeface="Arial"/>
                <a:ea typeface="Arial"/>
                <a:cs typeface="Arial"/>
              </a:defRPr>
            </a:lvl9pPr>
          </a:lstStyle>
          <a:p xmlns:a="http://schemas.openxmlformats.org/drawingml/2006/main">
            <a:pPr>
              <a:defRPr sz="2625" b="1">
                <a:solidFill>
                  <a:srgbClr val="FFFFFF"/>
                </a:solidFill>
                <a:latin typeface="Arial"/>
                <a:ea typeface="Arial"/>
                <a:cs typeface="Arial"/>
              </a:defRPr>
            </a:pPr>
            <a:r>
              <a:rPr sz="2625" b="1">
                <a:solidFill>
                  <a:srgbClr val="FFFFFF"/>
                </a:solidFill>
                <a:latin typeface="Arial"/>
                <a:ea typeface="Arial"/>
                <a:cs typeface="Arial"/>
              </a:rPr>
              <a:t>Fase gelap</a:t>
            </a:r>
          </a:p>
        </p:txBody>
      </p:sp>
      <p:sp>
        <p:nvSpPr>
          <p:cNvPr id="8" name="">
            <a:extLst xmlns:a="http://schemas.openxmlformats.org/drawingml/2006/main">
              <a:ext uri="{FF2B5EF4-FFF2-40B4-BE49-F238E27FC236}">
                <a16:creationId xmlns:a16="http://schemas.microsoft.com/office/drawing/2014/main" id="{64531EEC-E737-4CD5-86DB-C53D08A39FD5}"/>
              </a:ext>
            </a:extLst>
          </p:cNvPr>
          <p:cNvSpPr>
            <a:spLocks xmlns:a="http://schemas.openxmlformats.org/drawingml/2006/main" noGrp="1"/>
          </p:cNvSpPr>
          <p:nvPr/>
        </p:nvSpPr>
        <p:spPr>
          <a:xfrm xmlns:a="http://schemas.openxmlformats.org/drawingml/2006/main">
            <a:off x="6429375" y="348615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FFFFFF"/>
                </a:solidFill>
                <a:latin typeface="Arial"/>
                <a:ea typeface="Arial"/>
                <a:cs typeface="Arial"/>
              </a:defRPr>
            </a:defPPr>
            <a:lvl1pPr>
              <a:defRPr sz="1800" b="0">
                <a:solidFill>
                  <a:srgbClr val="FFFFFF"/>
                </a:solidFill>
                <a:latin typeface="Arial"/>
                <a:ea typeface="Arial"/>
                <a:cs typeface="Arial"/>
              </a:defRPr>
            </a:lvl1pPr>
            <a:lvl2pPr>
              <a:defRPr sz="1800" b="0">
                <a:solidFill>
                  <a:srgbClr val="FFFFFF"/>
                </a:solidFill>
                <a:latin typeface="Arial"/>
                <a:ea typeface="Arial"/>
                <a:cs typeface="Arial"/>
              </a:defRPr>
            </a:lvl2pPr>
            <a:lvl3pPr>
              <a:defRPr sz="1800" b="0">
                <a:solidFill>
                  <a:srgbClr val="FFFFFF"/>
                </a:solidFill>
                <a:latin typeface="Arial"/>
                <a:ea typeface="Arial"/>
                <a:cs typeface="Arial"/>
              </a:defRPr>
            </a:lvl3pPr>
            <a:lvl4pPr>
              <a:defRPr sz="1800" b="0">
                <a:solidFill>
                  <a:srgbClr val="FFFFFF"/>
                </a:solidFill>
                <a:latin typeface="Arial"/>
                <a:ea typeface="Arial"/>
                <a:cs typeface="Arial"/>
              </a:defRPr>
            </a:lvl4pPr>
            <a:lvl5pPr>
              <a:defRPr sz="1800" b="0">
                <a:solidFill>
                  <a:srgbClr val="FFFFFF"/>
                </a:solidFill>
                <a:latin typeface="Arial"/>
                <a:ea typeface="Arial"/>
                <a:cs typeface="Arial"/>
              </a:defRPr>
            </a:lvl5pPr>
            <a:lvl6pPr>
              <a:defRPr sz="1800" b="0">
                <a:solidFill>
                  <a:srgbClr val="FFFFFF"/>
                </a:solidFill>
                <a:latin typeface="Arial"/>
                <a:ea typeface="Arial"/>
                <a:cs typeface="Arial"/>
              </a:defRPr>
            </a:lvl6pPr>
            <a:lvl7pPr>
              <a:defRPr sz="1800" b="0">
                <a:solidFill>
                  <a:srgbClr val="FFFFFF"/>
                </a:solidFill>
                <a:latin typeface="Arial"/>
                <a:ea typeface="Arial"/>
                <a:cs typeface="Arial"/>
              </a:defRPr>
            </a:lvl7pPr>
            <a:lvl8pPr>
              <a:defRPr sz="1800" b="0">
                <a:solidFill>
                  <a:srgbClr val="FFFFFF"/>
                </a:solidFill>
                <a:latin typeface="Arial"/>
                <a:ea typeface="Arial"/>
                <a:cs typeface="Arial"/>
              </a:defRPr>
            </a:lvl8pPr>
            <a:lvl9pPr>
              <a:defRPr sz="1800" b="0">
                <a:solidFill>
                  <a:srgbClr val="FFFFFF"/>
                </a:solidFill>
                <a:latin typeface="Arial"/>
                <a:ea typeface="Arial"/>
                <a:cs typeface="Arial"/>
              </a:defRPr>
            </a:lvl9pPr>
          </a:lstStyle>
          <a:p xmlns:a="http://schemas.openxmlformats.org/drawingml/2006/main">
            <a:pPr>
              <a:defRPr sz="1800" b="0">
                <a:solidFill>
                  <a:srgbClr val="FFFFFF"/>
                </a:solidFill>
                <a:latin typeface="Arial"/>
                <a:ea typeface="Arial"/>
                <a:cs typeface="Arial"/>
              </a:defRPr>
            </a:pPr>
            <a:r>
              <a:rPr sz="1800" b="0">
                <a:solidFill>
                  <a:srgbClr val="FFFFFF"/>
                </a:solidFill>
                <a:latin typeface="Arial"/>
                <a:ea typeface="Arial"/>
                <a:cs typeface="Arial"/>
              </a:rPr>
              <a:t>Kesempatan tidur perlu dilindungi</a:t>
            </a:r>
          </a:p>
        </p:txBody>
      </p:sp>
      <p:sp>
        <p:nvSpPr>
          <p:cNvPr id="9" name="">
            <a:extLst xmlns:a="http://schemas.openxmlformats.org/drawingml/2006/main">
              <a:ext uri="{FF2B5EF4-FFF2-40B4-BE49-F238E27FC236}">
                <a16:creationId xmlns:a16="http://schemas.microsoft.com/office/drawing/2014/main" id="{A0D778F5-0985-4298-BB98-1C50539495F2}"/>
              </a:ext>
            </a:extLst>
          </p:cNvPr>
          <p:cNvSpPr>
            <a:spLocks xmlns:a="http://schemas.openxmlformats.org/drawingml/2006/main" noGrp="1"/>
          </p:cNvSpPr>
          <p:nvPr/>
        </p:nvSpPr>
        <p:spPr>
          <a:xfrm xmlns:a="http://schemas.openxmlformats.org/drawingml/2006/main">
            <a:off x="995363" y="4462463"/>
            <a:ext cx="9525" cy="9525"/>
          </a:xfrm>
          <a:prstGeom xmlns:a="http://schemas.openxmlformats.org/drawingml/2006/main" prst="rect">
            <a:avLst/>
          </a:prstGeom>
          <a:noFill xmlns:a="http://schemas.openxmlformats.org/drawingml/2006/main"/>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AA7AE40-08CF-442D-B65B-2BCA2B94C5E1}"/>
              </a:ext>
            </a:extLst>
          </p:cNvPr>
          <p:cNvSpPr>
            <a:spLocks xmlns:a="http://schemas.openxmlformats.org/drawingml/2006/main" noGrp="1"/>
          </p:cNvSpPr>
          <p:nvPr/>
        </p:nvSpPr>
        <p:spPr>
          <a:xfrm xmlns:a="http://schemas.openxmlformats.org/drawingml/2006/main">
            <a:off x="11282363" y="4462463"/>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53A57FA-A3C7-4BDF-813F-CC86E8EA9656}"/>
              </a:ext>
            </a:extLst>
          </p:cNvPr>
          <p:cNvSpPr>
            <a:spLocks xmlns:a="http://schemas.openxmlformats.org/drawingml/2006/main" noGrp="1"/>
          </p:cNvSpPr>
          <p:nvPr/>
        </p:nvSpPr>
        <p:spPr>
          <a:xfrm xmlns:a="http://schemas.openxmlformats.org/drawingml/2006/main">
            <a:off x="952500" y="464820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F625C"/>
                </a:solidFill>
                <a:latin typeface="Arial"/>
                <a:ea typeface="Arial"/>
                <a:cs typeface="Arial"/>
              </a:defRPr>
            </a:defPPr>
            <a:lvl1pPr>
              <a:defRPr sz="1800" b="0">
                <a:solidFill>
                  <a:srgbClr val="5F625C"/>
                </a:solidFill>
                <a:latin typeface="Arial"/>
                <a:ea typeface="Arial"/>
                <a:cs typeface="Arial"/>
              </a:defRPr>
            </a:lvl1pPr>
            <a:lvl2pPr>
              <a:defRPr sz="1800" b="0">
                <a:solidFill>
                  <a:srgbClr val="5F625C"/>
                </a:solidFill>
                <a:latin typeface="Arial"/>
                <a:ea typeface="Arial"/>
                <a:cs typeface="Arial"/>
              </a:defRPr>
            </a:lvl2pPr>
            <a:lvl3pPr>
              <a:defRPr sz="1800" b="0">
                <a:solidFill>
                  <a:srgbClr val="5F625C"/>
                </a:solidFill>
                <a:latin typeface="Arial"/>
                <a:ea typeface="Arial"/>
                <a:cs typeface="Arial"/>
              </a:defRPr>
            </a:lvl3pPr>
            <a:lvl4pPr>
              <a:defRPr sz="1800" b="0">
                <a:solidFill>
                  <a:srgbClr val="5F625C"/>
                </a:solidFill>
                <a:latin typeface="Arial"/>
                <a:ea typeface="Arial"/>
                <a:cs typeface="Arial"/>
              </a:defRPr>
            </a:lvl4pPr>
            <a:lvl5pPr>
              <a:defRPr sz="1800" b="0">
                <a:solidFill>
                  <a:srgbClr val="5F625C"/>
                </a:solidFill>
                <a:latin typeface="Arial"/>
                <a:ea typeface="Arial"/>
                <a:cs typeface="Arial"/>
              </a:defRPr>
            </a:lvl5pPr>
            <a:lvl6pPr>
              <a:defRPr sz="1800" b="0">
                <a:solidFill>
                  <a:srgbClr val="5F625C"/>
                </a:solidFill>
                <a:latin typeface="Arial"/>
                <a:ea typeface="Arial"/>
                <a:cs typeface="Arial"/>
              </a:defRPr>
            </a:lvl6pPr>
            <a:lvl7pPr>
              <a:defRPr sz="1800" b="0">
                <a:solidFill>
                  <a:srgbClr val="5F625C"/>
                </a:solidFill>
                <a:latin typeface="Arial"/>
                <a:ea typeface="Arial"/>
                <a:cs typeface="Arial"/>
              </a:defRPr>
            </a:lvl7pPr>
            <a:lvl8pPr>
              <a:defRPr sz="1800" b="0">
                <a:solidFill>
                  <a:srgbClr val="5F625C"/>
                </a:solidFill>
                <a:latin typeface="Arial"/>
                <a:ea typeface="Arial"/>
                <a:cs typeface="Arial"/>
              </a:defRPr>
            </a:lvl8pPr>
            <a:lvl9pPr>
              <a:defRPr sz="1800" b="0">
                <a:solidFill>
                  <a:srgbClr val="5F625C"/>
                </a:solidFill>
                <a:latin typeface="Arial"/>
                <a:ea typeface="Arial"/>
                <a:cs typeface="Arial"/>
              </a:defRPr>
            </a:lvl9pPr>
          </a:lstStyle>
          <a:p xmlns:a="http://schemas.openxmlformats.org/drawingml/2006/main">
            <a:pPr>
              <a:defRPr sz="1800" b="0">
                <a:solidFill>
                  <a:srgbClr val="5F625C"/>
                </a:solidFill>
                <a:latin typeface="Arial"/>
                <a:ea typeface="Arial"/>
                <a:cs typeface="Arial"/>
              </a:defRPr>
            </a:pPr>
            <a:r>
              <a:rPr sz="1800" b="0">
                <a:solidFill>
                  <a:srgbClr val="5F625C"/>
                </a:solidFill>
                <a:latin typeface="Arial"/>
                <a:ea typeface="Arial"/>
                <a:cs typeface="Arial"/>
              </a:rPr>
              <a:t>0 jam</a:t>
            </a:r>
          </a:p>
        </p:txBody>
      </p:sp>
      <p:sp>
        <p:nvSpPr>
          <p:cNvPr id="13" name="">
            <a:extLst xmlns:a="http://schemas.openxmlformats.org/drawingml/2006/main">
              <a:ext uri="{FF2B5EF4-FFF2-40B4-BE49-F238E27FC236}">
                <a16:creationId xmlns:a16="http://schemas.microsoft.com/office/drawing/2014/main" id="{52829AC9-9909-48A7-95E1-F12292E6C6B1}"/>
              </a:ext>
            </a:extLst>
          </p:cNvPr>
          <p:cNvSpPr>
            <a:spLocks xmlns:a="http://schemas.openxmlformats.org/drawingml/2006/main" noGrp="1"/>
          </p:cNvSpPr>
          <p:nvPr/>
        </p:nvSpPr>
        <p:spPr>
          <a:xfrm xmlns:a="http://schemas.openxmlformats.org/drawingml/2006/main">
            <a:off x="5600700" y="464820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F625C"/>
                </a:solidFill>
                <a:latin typeface="Arial"/>
                <a:ea typeface="Arial"/>
                <a:cs typeface="Arial"/>
              </a:defRPr>
            </a:defPPr>
            <a:lvl1pPr>
              <a:defRPr sz="1800" b="0">
                <a:solidFill>
                  <a:srgbClr val="5F625C"/>
                </a:solidFill>
                <a:latin typeface="Arial"/>
                <a:ea typeface="Arial"/>
                <a:cs typeface="Arial"/>
              </a:defRPr>
            </a:lvl1pPr>
            <a:lvl2pPr>
              <a:defRPr sz="1800" b="0">
                <a:solidFill>
                  <a:srgbClr val="5F625C"/>
                </a:solidFill>
                <a:latin typeface="Arial"/>
                <a:ea typeface="Arial"/>
                <a:cs typeface="Arial"/>
              </a:defRPr>
            </a:lvl2pPr>
            <a:lvl3pPr>
              <a:defRPr sz="1800" b="0">
                <a:solidFill>
                  <a:srgbClr val="5F625C"/>
                </a:solidFill>
                <a:latin typeface="Arial"/>
                <a:ea typeface="Arial"/>
                <a:cs typeface="Arial"/>
              </a:defRPr>
            </a:lvl3pPr>
            <a:lvl4pPr>
              <a:defRPr sz="1800" b="0">
                <a:solidFill>
                  <a:srgbClr val="5F625C"/>
                </a:solidFill>
                <a:latin typeface="Arial"/>
                <a:ea typeface="Arial"/>
                <a:cs typeface="Arial"/>
              </a:defRPr>
            </a:lvl4pPr>
            <a:lvl5pPr>
              <a:defRPr sz="1800" b="0">
                <a:solidFill>
                  <a:srgbClr val="5F625C"/>
                </a:solidFill>
                <a:latin typeface="Arial"/>
                <a:ea typeface="Arial"/>
                <a:cs typeface="Arial"/>
              </a:defRPr>
            </a:lvl5pPr>
            <a:lvl6pPr>
              <a:defRPr sz="1800" b="0">
                <a:solidFill>
                  <a:srgbClr val="5F625C"/>
                </a:solidFill>
                <a:latin typeface="Arial"/>
                <a:ea typeface="Arial"/>
                <a:cs typeface="Arial"/>
              </a:defRPr>
            </a:lvl6pPr>
            <a:lvl7pPr>
              <a:defRPr sz="1800" b="0">
                <a:solidFill>
                  <a:srgbClr val="5F625C"/>
                </a:solidFill>
                <a:latin typeface="Arial"/>
                <a:ea typeface="Arial"/>
                <a:cs typeface="Arial"/>
              </a:defRPr>
            </a:lvl7pPr>
            <a:lvl8pPr>
              <a:defRPr sz="1800" b="0">
                <a:solidFill>
                  <a:srgbClr val="5F625C"/>
                </a:solidFill>
                <a:latin typeface="Arial"/>
                <a:ea typeface="Arial"/>
                <a:cs typeface="Arial"/>
              </a:defRPr>
            </a:lvl8pPr>
            <a:lvl9pPr>
              <a:defRPr sz="1800" b="0">
                <a:solidFill>
                  <a:srgbClr val="5F625C"/>
                </a:solidFill>
                <a:latin typeface="Arial"/>
                <a:ea typeface="Arial"/>
                <a:cs typeface="Arial"/>
              </a:defRPr>
            </a:lvl9pPr>
          </a:lstStyle>
          <a:p xmlns:a="http://schemas.openxmlformats.org/drawingml/2006/main">
            <a:pPr>
              <a:defRPr sz="1800" b="0">
                <a:solidFill>
                  <a:srgbClr val="5F625C"/>
                </a:solidFill>
                <a:latin typeface="Arial"/>
                <a:ea typeface="Arial"/>
                <a:cs typeface="Arial"/>
              </a:defRPr>
            </a:pPr>
            <a:r>
              <a:rPr sz="1800" b="0">
                <a:solidFill>
                  <a:srgbClr val="5F625C"/>
                </a:solidFill>
                <a:latin typeface="Arial"/>
                <a:ea typeface="Arial"/>
                <a:cs typeface="Arial"/>
              </a:rPr>
              <a:t>12 jam</a:t>
            </a:r>
          </a:p>
        </p:txBody>
      </p:sp>
      <p:sp>
        <p:nvSpPr>
          <p:cNvPr id="14" name="">
            <a:extLst xmlns:a="http://schemas.openxmlformats.org/drawingml/2006/main">
              <a:ext uri="{FF2B5EF4-FFF2-40B4-BE49-F238E27FC236}">
                <a16:creationId xmlns:a16="http://schemas.microsoft.com/office/drawing/2014/main" id="{E2C99DE5-9038-48FA-B71B-9D0D9469F4B5}"/>
              </a:ext>
            </a:extLst>
          </p:cNvPr>
          <p:cNvSpPr>
            <a:spLocks xmlns:a="http://schemas.openxmlformats.org/drawingml/2006/main" noGrp="1"/>
          </p:cNvSpPr>
          <p:nvPr/>
        </p:nvSpPr>
        <p:spPr>
          <a:xfrm xmlns:a="http://schemas.openxmlformats.org/drawingml/2006/main">
            <a:off x="10001250" y="464820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F625C"/>
                </a:solidFill>
                <a:latin typeface="Arial"/>
                <a:ea typeface="Arial"/>
                <a:cs typeface="Arial"/>
              </a:defRPr>
            </a:defPPr>
            <a:lvl1pPr>
              <a:defRPr sz="1800" b="0">
                <a:solidFill>
                  <a:srgbClr val="5F625C"/>
                </a:solidFill>
                <a:latin typeface="Arial"/>
                <a:ea typeface="Arial"/>
                <a:cs typeface="Arial"/>
              </a:defRPr>
            </a:lvl1pPr>
            <a:lvl2pPr>
              <a:defRPr sz="1800" b="0">
                <a:solidFill>
                  <a:srgbClr val="5F625C"/>
                </a:solidFill>
                <a:latin typeface="Arial"/>
                <a:ea typeface="Arial"/>
                <a:cs typeface="Arial"/>
              </a:defRPr>
            </a:lvl2pPr>
            <a:lvl3pPr>
              <a:defRPr sz="1800" b="0">
                <a:solidFill>
                  <a:srgbClr val="5F625C"/>
                </a:solidFill>
                <a:latin typeface="Arial"/>
                <a:ea typeface="Arial"/>
                <a:cs typeface="Arial"/>
              </a:defRPr>
            </a:lvl3pPr>
            <a:lvl4pPr>
              <a:defRPr sz="1800" b="0">
                <a:solidFill>
                  <a:srgbClr val="5F625C"/>
                </a:solidFill>
                <a:latin typeface="Arial"/>
                <a:ea typeface="Arial"/>
                <a:cs typeface="Arial"/>
              </a:defRPr>
            </a:lvl4pPr>
            <a:lvl5pPr>
              <a:defRPr sz="1800" b="0">
                <a:solidFill>
                  <a:srgbClr val="5F625C"/>
                </a:solidFill>
                <a:latin typeface="Arial"/>
                <a:ea typeface="Arial"/>
                <a:cs typeface="Arial"/>
              </a:defRPr>
            </a:lvl5pPr>
            <a:lvl6pPr>
              <a:defRPr sz="1800" b="0">
                <a:solidFill>
                  <a:srgbClr val="5F625C"/>
                </a:solidFill>
                <a:latin typeface="Arial"/>
                <a:ea typeface="Arial"/>
                <a:cs typeface="Arial"/>
              </a:defRPr>
            </a:lvl6pPr>
            <a:lvl7pPr>
              <a:defRPr sz="1800" b="0">
                <a:solidFill>
                  <a:srgbClr val="5F625C"/>
                </a:solidFill>
                <a:latin typeface="Arial"/>
                <a:ea typeface="Arial"/>
                <a:cs typeface="Arial"/>
              </a:defRPr>
            </a:lvl7pPr>
            <a:lvl8pPr>
              <a:defRPr sz="1800" b="0">
                <a:solidFill>
                  <a:srgbClr val="5F625C"/>
                </a:solidFill>
                <a:latin typeface="Arial"/>
                <a:ea typeface="Arial"/>
                <a:cs typeface="Arial"/>
              </a:defRPr>
            </a:lvl8pPr>
            <a:lvl9pPr>
              <a:defRPr sz="1800" b="0">
                <a:solidFill>
                  <a:srgbClr val="5F625C"/>
                </a:solidFill>
                <a:latin typeface="Arial"/>
                <a:ea typeface="Arial"/>
                <a:cs typeface="Arial"/>
              </a:defRPr>
            </a:lvl9pPr>
          </a:lstStyle>
          <a:p xmlns:a="http://schemas.openxmlformats.org/drawingml/2006/main">
            <a:pPr>
              <a:defRPr sz="1800" b="0">
                <a:solidFill>
                  <a:srgbClr val="5F625C"/>
                </a:solidFill>
                <a:latin typeface="Arial"/>
                <a:ea typeface="Arial"/>
                <a:cs typeface="Arial"/>
              </a:defRPr>
            </a:pPr>
            <a:r>
              <a:rPr sz="1800" b="0">
                <a:solidFill>
                  <a:srgbClr val="5F625C"/>
                </a:solidFill>
                <a:latin typeface="Arial"/>
                <a:ea typeface="Arial"/>
                <a:cs typeface="Arial"/>
              </a:rPr>
              <a:t>24 jam</a:t>
            </a:r>
          </a:p>
        </p:txBody>
      </p:sp>
      <p:sp>
        <p:nvSpPr>
          <p:cNvPr id="15" name="">
            <a:extLst xmlns:a="http://schemas.openxmlformats.org/drawingml/2006/main">
              <a:ext uri="{FF2B5EF4-FFF2-40B4-BE49-F238E27FC236}">
                <a16:creationId xmlns:a16="http://schemas.microsoft.com/office/drawing/2014/main" id="{296BAF90-9AAA-4277-A4A8-D433F83E597E}"/>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Skema siklus 24 jam; pembagian terang–gelap bukan jam kerja atau tidur baku.</a:t>
            </a:r>
          </a:p>
        </p:txBody>
      </p:sp>
      <p:sp>
        <p:nvSpPr>
          <p:cNvPr id="16" name="">
            <a:extLst xmlns:a="http://schemas.openxmlformats.org/drawingml/2006/main">
              <a:ext uri="{FF2B5EF4-FFF2-40B4-BE49-F238E27FC236}">
                <a16:creationId xmlns:a16="http://schemas.microsoft.com/office/drawing/2014/main" id="{871EAB51-86B8-49DB-BD9C-926193A7E4B1}"/>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NHLBI · NIOSH · sumber pada catatan</a:t>
            </a:r>
          </a:p>
        </p:txBody>
      </p:sp>
      <p:sp>
        <p:nvSpPr>
          <p:cNvPr id="17" name="">
            <a:extLst xmlns:a="http://schemas.openxmlformats.org/drawingml/2006/main">
              <a:ext uri="{FF2B5EF4-FFF2-40B4-BE49-F238E27FC236}">
                <a16:creationId xmlns:a16="http://schemas.microsoft.com/office/drawing/2014/main" id="{D43EBD87-0846-42DF-9970-351716F33C6D}"/>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18" name="">
            <a:extLst xmlns:a="http://schemas.openxmlformats.org/drawingml/2006/main">
              <a:ext uri="{FF2B5EF4-FFF2-40B4-BE49-F238E27FC236}">
                <a16:creationId xmlns:a16="http://schemas.microsoft.com/office/drawing/2014/main" id="{C38E3A72-3242-43F9-9A05-369DB869DB01}"/>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05 / 28</a:t>
            </a:r>
          </a:p>
        </p:txBody>
      </p:sp>
    </p:spTree>
    <p:extLst>
      <p:ext uri="{BB962C8B-B14F-4D97-AF65-F5344CB8AC3E}">
        <p14:creationId xmlns:p14="http://schemas.microsoft.com/office/powerpoint/2010/main" val="240741181"/>
      </p:ext>
    </p:extLst>
  </p:cSld>
</p:sld>
</file>

<file path=ppt/slides/slide6.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cxnSp>
        <p:nvCxnSpPr>
          <p:cNvPr id="52" name="">
            <a:extLst xmlns:a="http://schemas.openxmlformats.org/drawingml/2006/main">
              <a:ext uri="{FF2B5EF4-FFF2-40B4-BE49-F238E27FC236}">
                <a16:creationId xmlns:a16="http://schemas.microsoft.com/office/drawing/2014/main" id="{C418B8B3-63F6-40CA-898A-FCA5A590D841}"/>
              </a:ext>
            </a:extLst>
          </p:cNvPr>
          <p:cNvCxnSpPr>
            <a:stCxn xmlns:a="http://schemas.openxmlformats.org/drawingml/2006/main" id="50" idx="2"/>
            <a:endCxn xmlns:a="http://schemas.openxmlformats.org/drawingml/2006/main" id="51" idx="0"/>
          </p:cNvCxnSpPr>
          <p:nvPr/>
        </p:nvCxnSpPr>
        <p:spPr>
          <a:xfrm xmlns:a="http://schemas.openxmlformats.org/drawingml/2006/main">
            <a:off x="9525001" y="3529013"/>
            <a:ext cx="0" cy="466725"/>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49" name="">
            <a:extLst xmlns:a="http://schemas.openxmlformats.org/drawingml/2006/main">
              <a:ext uri="{FF2B5EF4-FFF2-40B4-BE49-F238E27FC236}">
                <a16:creationId xmlns:a16="http://schemas.microsoft.com/office/drawing/2014/main" id="{C97B2849-A26F-47D9-B5DF-695FD86C9A01}"/>
              </a:ext>
            </a:extLst>
          </p:cNvPr>
          <p:cNvCxnSpPr>
            <a:stCxn xmlns:a="http://schemas.openxmlformats.org/drawingml/2006/main" id="47" idx="2"/>
            <a:endCxn xmlns:a="http://schemas.openxmlformats.org/drawingml/2006/main" id="48" idx="0"/>
          </p:cNvCxnSpPr>
          <p:nvPr/>
        </p:nvCxnSpPr>
        <p:spPr>
          <a:xfrm xmlns:a="http://schemas.openxmlformats.org/drawingml/2006/main">
            <a:off x="6096001" y="3529013"/>
            <a:ext cx="0" cy="466725"/>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46" name="">
            <a:extLst xmlns:a="http://schemas.openxmlformats.org/drawingml/2006/main">
              <a:ext uri="{FF2B5EF4-FFF2-40B4-BE49-F238E27FC236}">
                <a16:creationId xmlns:a16="http://schemas.microsoft.com/office/drawing/2014/main" id="{D656F9B3-B6AB-41AC-871B-D9598088CDD2}"/>
              </a:ext>
            </a:extLst>
          </p:cNvPr>
          <p:cNvCxnSpPr>
            <a:stCxn xmlns:a="http://schemas.openxmlformats.org/drawingml/2006/main" id="44" idx="2"/>
            <a:endCxn xmlns:a="http://schemas.openxmlformats.org/drawingml/2006/main" id="45" idx="0"/>
          </p:cNvCxnSpPr>
          <p:nvPr/>
        </p:nvCxnSpPr>
        <p:spPr>
          <a:xfrm xmlns:a="http://schemas.openxmlformats.org/drawingml/2006/main">
            <a:off x="2667001" y="3529013"/>
            <a:ext cx="0" cy="466725"/>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43" name="">
            <a:extLst xmlns:a="http://schemas.openxmlformats.org/drawingml/2006/main">
              <a:ext uri="{FF2B5EF4-FFF2-40B4-BE49-F238E27FC236}">
                <a16:creationId xmlns:a16="http://schemas.microsoft.com/office/drawing/2014/main" id="{4F50A5DF-267F-44DC-82E1-A5CAE28D632A}"/>
              </a:ext>
            </a:extLst>
          </p:cNvPr>
          <p:cNvCxnSpPr>
            <a:stCxn xmlns:a="http://schemas.openxmlformats.org/drawingml/2006/main" id="41" idx="3"/>
            <a:endCxn xmlns:a="http://schemas.openxmlformats.org/drawingml/2006/main" id="42" idx="1"/>
          </p:cNvCxnSpPr>
          <p:nvPr/>
        </p:nvCxnSpPr>
        <p:spPr>
          <a:xfrm xmlns:a="http://schemas.openxmlformats.org/drawingml/2006/main">
            <a:off x="2671763" y="3524251"/>
            <a:ext cx="6848475" cy="0"/>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40" name="">
            <a:extLst xmlns:a="http://schemas.openxmlformats.org/drawingml/2006/main">
              <a:ext uri="{FF2B5EF4-FFF2-40B4-BE49-F238E27FC236}">
                <a16:creationId xmlns:a16="http://schemas.microsoft.com/office/drawing/2014/main" id="{43CC52B3-AA3E-4FC4-A5E3-A7FA85CF3A52}"/>
              </a:ext>
            </a:extLst>
          </p:cNvPr>
          <p:cNvCxnSpPr>
            <a:stCxn xmlns:a="http://schemas.openxmlformats.org/drawingml/2006/main" id="38" idx="2"/>
            <a:endCxn xmlns:a="http://schemas.openxmlformats.org/drawingml/2006/main" id="39" idx="0"/>
          </p:cNvCxnSpPr>
          <p:nvPr/>
        </p:nvCxnSpPr>
        <p:spPr>
          <a:xfrm xmlns:a="http://schemas.openxmlformats.org/drawingml/2006/main">
            <a:off x="6048376" y="2957513"/>
            <a:ext cx="0" cy="561975"/>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28" name="">
            <a:extLst xmlns:a="http://schemas.openxmlformats.org/drawingml/2006/main">
              <a:ext uri="{FF2B5EF4-FFF2-40B4-BE49-F238E27FC236}">
                <a16:creationId xmlns:a16="http://schemas.microsoft.com/office/drawing/2014/main" id="{A0A172BC-DB40-4C1C-A6CF-4F316AACC2EA}"/>
              </a:ext>
            </a:extLst>
          </p:cNvPr>
          <p:cNvCxnSpPr>
            <a:stCxn xmlns:a="http://schemas.openxmlformats.org/drawingml/2006/main" id="26" idx="2"/>
            <a:endCxn xmlns:a="http://schemas.openxmlformats.org/drawingml/2006/main" id="27" idx="0"/>
          </p:cNvCxnSpPr>
          <p:nvPr/>
        </p:nvCxnSpPr>
        <p:spPr>
          <a:xfrm xmlns:a="http://schemas.openxmlformats.org/drawingml/2006/main">
            <a:off x="10001251" y="1766888"/>
            <a:ext cx="0" cy="276225"/>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25" name="">
            <a:extLst xmlns:a="http://schemas.openxmlformats.org/drawingml/2006/main">
              <a:ext uri="{FF2B5EF4-FFF2-40B4-BE49-F238E27FC236}">
                <a16:creationId xmlns:a16="http://schemas.microsoft.com/office/drawing/2014/main" id="{1E112D59-9355-42E8-B068-DC785DFAB3E7}"/>
              </a:ext>
            </a:extLst>
          </p:cNvPr>
          <p:cNvCxnSpPr>
            <a:stCxn xmlns:a="http://schemas.openxmlformats.org/drawingml/2006/main" id="23" idx="3"/>
            <a:endCxn xmlns:a="http://schemas.openxmlformats.org/drawingml/2006/main" id="24" idx="1"/>
          </p:cNvCxnSpPr>
          <p:nvPr/>
        </p:nvCxnSpPr>
        <p:spPr>
          <a:xfrm xmlns:a="http://schemas.openxmlformats.org/drawingml/2006/main">
            <a:off x="4338638" y="1762126"/>
            <a:ext cx="5657850" cy="0"/>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22" name="">
            <a:extLst xmlns:a="http://schemas.openxmlformats.org/drawingml/2006/main">
              <a:ext uri="{FF2B5EF4-FFF2-40B4-BE49-F238E27FC236}">
                <a16:creationId xmlns:a16="http://schemas.microsoft.com/office/drawing/2014/main" id="{080A6C5D-00F8-495E-9E51-D827BB731762}"/>
              </a:ext>
            </a:extLst>
          </p:cNvPr>
          <p:cNvCxnSpPr>
            <a:stCxn xmlns:a="http://schemas.openxmlformats.org/drawingml/2006/main" id="20" idx="0"/>
            <a:endCxn xmlns:a="http://schemas.openxmlformats.org/drawingml/2006/main" id="21" idx="2"/>
          </p:cNvCxnSpPr>
          <p:nvPr/>
        </p:nvCxnSpPr>
        <p:spPr>
          <a:xfrm xmlns:a="http://schemas.openxmlformats.org/drawingml/2006/main" flipV="1">
            <a:off x="4333876" y="1766888"/>
            <a:ext cx="0" cy="704850"/>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19" name="">
            <a:extLst xmlns:a="http://schemas.openxmlformats.org/drawingml/2006/main">
              <a:ext uri="{FF2B5EF4-FFF2-40B4-BE49-F238E27FC236}">
                <a16:creationId xmlns:a16="http://schemas.microsoft.com/office/drawing/2014/main" id="{1A20605B-019F-480C-8861-88A3D33E4BCF}"/>
              </a:ext>
            </a:extLst>
          </p:cNvPr>
          <p:cNvCxnSpPr>
            <a:stCxn xmlns:a="http://schemas.openxmlformats.org/drawingml/2006/main" id="17" idx="3"/>
            <a:endCxn xmlns:a="http://schemas.openxmlformats.org/drawingml/2006/main" id="18" idx="1"/>
          </p:cNvCxnSpPr>
          <p:nvPr/>
        </p:nvCxnSpPr>
        <p:spPr>
          <a:xfrm xmlns:a="http://schemas.openxmlformats.org/drawingml/2006/main">
            <a:off x="4338638" y="2476501"/>
            <a:ext cx="5143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16" name="">
            <a:extLst xmlns:a="http://schemas.openxmlformats.org/drawingml/2006/main">
              <a:ext uri="{FF2B5EF4-FFF2-40B4-BE49-F238E27FC236}">
                <a16:creationId xmlns:a16="http://schemas.microsoft.com/office/drawing/2014/main" id="{5778EB01-FCE3-4A84-89CA-CDC2FB9A2F79}"/>
              </a:ext>
            </a:extLst>
          </p:cNvPr>
          <p:cNvCxnSpPr>
            <a:stCxn xmlns:a="http://schemas.openxmlformats.org/drawingml/2006/main" id="14" idx="0"/>
            <a:endCxn xmlns:a="http://schemas.openxmlformats.org/drawingml/2006/main" id="15" idx="2"/>
          </p:cNvCxnSpPr>
          <p:nvPr/>
        </p:nvCxnSpPr>
        <p:spPr>
          <a:xfrm xmlns:a="http://schemas.openxmlformats.org/drawingml/2006/main" flipV="1">
            <a:off x="4333876" y="2481263"/>
            <a:ext cx="0" cy="276225"/>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13" name="">
            <a:extLst xmlns:a="http://schemas.openxmlformats.org/drawingml/2006/main">
              <a:ext uri="{FF2B5EF4-FFF2-40B4-BE49-F238E27FC236}">
                <a16:creationId xmlns:a16="http://schemas.microsoft.com/office/drawing/2014/main" id="{9F4E66FC-52BC-42A3-AD33-91F3CD42DA85}"/>
              </a:ext>
            </a:extLst>
          </p:cNvPr>
          <p:cNvCxnSpPr>
            <a:stCxn xmlns:a="http://schemas.openxmlformats.org/drawingml/2006/main" id="11" idx="3"/>
            <a:endCxn xmlns:a="http://schemas.openxmlformats.org/drawingml/2006/main" id="12" idx="1"/>
          </p:cNvCxnSpPr>
          <p:nvPr/>
        </p:nvCxnSpPr>
        <p:spPr>
          <a:xfrm xmlns:a="http://schemas.openxmlformats.org/drawingml/2006/main">
            <a:off x="3624263" y="2762251"/>
            <a:ext cx="704850" cy="0"/>
          </a:xfrm>
          <a:prstGeom xmlns:a="http://schemas.openxmlformats.org/drawingml/2006/main" prst="straightConnector1">
            <a:avLst/>
          </a:prstGeom>
          <a:ln xmlns:a="http://schemas.openxmlformats.org/drawingml/2006/main" w="28575">
            <a:solidFill>
              <a:srgbClr val="2F5D62"/>
            </a:solidFill>
            <a:tailEnd type="none" w="med" len="med"/>
          </a:ln>
        </p:spPr>
      </p:cxnSp>
      <p:sp>
        <p:nvSpPr>
          <p:cNvPr id="57" name="">
            <a:extLst xmlns:a="http://schemas.openxmlformats.org/drawingml/2006/main">
              <a:ext uri="{FF2B5EF4-FFF2-40B4-BE49-F238E27FC236}">
                <a16:creationId xmlns:a16="http://schemas.microsoft.com/office/drawing/2014/main" id="{B6BE3FDF-DFB4-436E-9104-7209DD3828C5}"/>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9528D005-690B-42AB-900D-30528544E4A4}"/>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Tahap tidur dalam materi mutakhir</a:t>
            </a:r>
          </a:p>
        </p:txBody>
      </p:sp>
      <p:sp>
        <p:nvSpPr>
          <p:cNvPr id="3" name="">
            <a:extLst xmlns:a="http://schemas.openxmlformats.org/drawingml/2006/main">
              <a:ext uri="{FF2B5EF4-FFF2-40B4-BE49-F238E27FC236}">
                <a16:creationId xmlns:a16="http://schemas.microsoft.com/office/drawing/2014/main" id="{3041B20A-CB04-4B23-BE22-99EE0C3DF3C7}"/>
              </a:ext>
            </a:extLst>
          </p:cNvPr>
          <p:cNvSpPr>
            <a:spLocks xmlns:a="http://schemas.openxmlformats.org/drawingml/2006/main" noGrp="1"/>
          </p:cNvSpPr>
          <p:nvPr/>
        </p:nvSpPr>
        <p:spPr>
          <a:xfrm xmlns:a="http://schemas.openxmlformats.org/drawingml/2006/main">
            <a:off x="762000" y="2333625"/>
            <a:ext cx="2857500" cy="104775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4" name="">
            <a:extLst xmlns:a="http://schemas.openxmlformats.org/drawingml/2006/main">
              <a:ext uri="{FF2B5EF4-FFF2-40B4-BE49-F238E27FC236}">
                <a16:creationId xmlns:a16="http://schemas.microsoft.com/office/drawing/2014/main" id="{6822D6BD-BF22-4BA8-A919-37E00ABC5B16}"/>
              </a:ext>
            </a:extLst>
          </p:cNvPr>
          <p:cNvSpPr>
            <a:spLocks xmlns:a="http://schemas.openxmlformats.org/drawingml/2006/main" noGrp="1"/>
          </p:cNvSpPr>
          <p:nvPr/>
        </p:nvSpPr>
        <p:spPr>
          <a:xfrm xmlns:a="http://schemas.openxmlformats.org/drawingml/2006/main">
            <a:off x="933450" y="2466975"/>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Tidur</a:t>
            </a:r>
          </a:p>
        </p:txBody>
      </p:sp>
      <p:sp>
        <p:nvSpPr>
          <p:cNvPr id="5" name="">
            <a:extLst xmlns:a="http://schemas.openxmlformats.org/drawingml/2006/main">
              <a:ext uri="{FF2B5EF4-FFF2-40B4-BE49-F238E27FC236}">
                <a16:creationId xmlns:a16="http://schemas.microsoft.com/office/drawing/2014/main" id="{61033F6B-C220-408E-B323-4FB09299BA40}"/>
              </a:ext>
            </a:extLst>
          </p:cNvPr>
          <p:cNvSpPr>
            <a:spLocks xmlns:a="http://schemas.openxmlformats.org/drawingml/2006/main" noGrp="1"/>
          </p:cNvSpPr>
          <p:nvPr/>
        </p:nvSpPr>
        <p:spPr>
          <a:xfrm xmlns:a="http://schemas.openxmlformats.org/drawingml/2006/main">
            <a:off x="933450" y="2914650"/>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Dua fase</a:t>
            </a:r>
          </a:p>
        </p:txBody>
      </p:sp>
      <p:sp>
        <p:nvSpPr>
          <p:cNvPr id="6" name="">
            <a:extLst xmlns:a="http://schemas.openxmlformats.org/drawingml/2006/main">
              <a:ext uri="{FF2B5EF4-FFF2-40B4-BE49-F238E27FC236}">
                <a16:creationId xmlns:a16="http://schemas.microsoft.com/office/drawing/2014/main" id="{D8347F5D-D176-4B25-9254-26595D37CC2A}"/>
              </a:ext>
            </a:extLst>
          </p:cNvPr>
          <p:cNvSpPr>
            <a:spLocks xmlns:a="http://schemas.openxmlformats.org/drawingml/2006/main" noGrp="1"/>
          </p:cNvSpPr>
          <p:nvPr/>
        </p:nvSpPr>
        <p:spPr>
          <a:xfrm xmlns:a="http://schemas.openxmlformats.org/drawingml/2006/main">
            <a:off x="4857750" y="2047875"/>
            <a:ext cx="2381250" cy="90487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7" name="">
            <a:extLst xmlns:a="http://schemas.openxmlformats.org/drawingml/2006/main">
              <a:ext uri="{FF2B5EF4-FFF2-40B4-BE49-F238E27FC236}">
                <a16:creationId xmlns:a16="http://schemas.microsoft.com/office/drawing/2014/main" id="{AA767B6B-67E5-4436-AC18-5920CE082F84}"/>
              </a:ext>
            </a:extLst>
          </p:cNvPr>
          <p:cNvSpPr>
            <a:spLocks xmlns:a="http://schemas.openxmlformats.org/drawingml/2006/main" noGrp="1"/>
          </p:cNvSpPr>
          <p:nvPr/>
        </p:nvSpPr>
        <p:spPr>
          <a:xfrm xmlns:a="http://schemas.openxmlformats.org/drawingml/2006/main">
            <a:off x="5029200" y="218122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NREM</a:t>
            </a:r>
          </a:p>
        </p:txBody>
      </p:sp>
      <p:sp>
        <p:nvSpPr>
          <p:cNvPr id="8" name="">
            <a:extLst xmlns:a="http://schemas.openxmlformats.org/drawingml/2006/main">
              <a:ext uri="{FF2B5EF4-FFF2-40B4-BE49-F238E27FC236}">
                <a16:creationId xmlns:a16="http://schemas.microsoft.com/office/drawing/2014/main" id="{B9B35798-FCD3-46DB-B23E-2AF3EB2B2DBC}"/>
              </a:ext>
            </a:extLst>
          </p:cNvPr>
          <p:cNvSpPr>
            <a:spLocks xmlns:a="http://schemas.openxmlformats.org/drawingml/2006/main" noGrp="1"/>
          </p:cNvSpPr>
          <p:nvPr/>
        </p:nvSpPr>
        <p:spPr>
          <a:xfrm xmlns:a="http://schemas.openxmlformats.org/drawingml/2006/main">
            <a:off x="8572500" y="2047875"/>
            <a:ext cx="2857500" cy="90487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9" name="">
            <a:extLst xmlns:a="http://schemas.openxmlformats.org/drawingml/2006/main">
              <a:ext uri="{FF2B5EF4-FFF2-40B4-BE49-F238E27FC236}">
                <a16:creationId xmlns:a16="http://schemas.microsoft.com/office/drawing/2014/main" id="{2F504980-DDE3-44B1-87F7-1B839D139432}"/>
              </a:ext>
            </a:extLst>
          </p:cNvPr>
          <p:cNvSpPr>
            <a:spLocks xmlns:a="http://schemas.openxmlformats.org/drawingml/2006/main" noGrp="1"/>
          </p:cNvSpPr>
          <p:nvPr/>
        </p:nvSpPr>
        <p:spPr>
          <a:xfrm xmlns:a="http://schemas.openxmlformats.org/drawingml/2006/main">
            <a:off x="8743950" y="2181225"/>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REM</a:t>
            </a:r>
          </a:p>
        </p:txBody>
      </p:sp>
      <p:sp>
        <p:nvSpPr>
          <p:cNvPr id="10" name="">
            <a:extLst xmlns:a="http://schemas.openxmlformats.org/drawingml/2006/main">
              <a:ext uri="{FF2B5EF4-FFF2-40B4-BE49-F238E27FC236}">
                <a16:creationId xmlns:a16="http://schemas.microsoft.com/office/drawing/2014/main" id="{1C1D50D8-C48B-44F0-B723-7F81260EEC94}"/>
              </a:ext>
            </a:extLst>
          </p:cNvPr>
          <p:cNvSpPr>
            <a:spLocks xmlns:a="http://schemas.openxmlformats.org/drawingml/2006/main" noGrp="1"/>
          </p:cNvSpPr>
          <p:nvPr/>
        </p:nvSpPr>
        <p:spPr>
          <a:xfrm xmlns:a="http://schemas.openxmlformats.org/drawingml/2006/main">
            <a:off x="8743950" y="2628900"/>
            <a:ext cx="2514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Gerak mata cepat</a:t>
            </a:r>
          </a:p>
        </p:txBody>
      </p:sp>
      <p:sp>
        <p:nvSpPr>
          <p:cNvPr id="11" name="">
            <a:extLst xmlns:a="http://schemas.openxmlformats.org/drawingml/2006/main">
              <a:ext uri="{FF2B5EF4-FFF2-40B4-BE49-F238E27FC236}">
                <a16:creationId xmlns:a16="http://schemas.microsoft.com/office/drawing/2014/main" id="{EF90F3A9-CBEC-4A7F-8B7D-3C12E4CACD74}"/>
              </a:ext>
            </a:extLst>
          </p:cNvPr>
          <p:cNvSpPr>
            <a:spLocks xmlns:a="http://schemas.openxmlformats.org/drawingml/2006/main" noGrp="1"/>
          </p:cNvSpPr>
          <p:nvPr/>
        </p:nvSpPr>
        <p:spPr>
          <a:xfrm xmlns:a="http://schemas.openxmlformats.org/drawingml/2006/main">
            <a:off x="3614738" y="275748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8093AC2-8D48-4C4E-869F-F28A591D64A2}"/>
              </a:ext>
            </a:extLst>
          </p:cNvPr>
          <p:cNvSpPr>
            <a:spLocks xmlns:a="http://schemas.openxmlformats.org/drawingml/2006/main" noGrp="1"/>
          </p:cNvSpPr>
          <p:nvPr/>
        </p:nvSpPr>
        <p:spPr>
          <a:xfrm xmlns:a="http://schemas.openxmlformats.org/drawingml/2006/main">
            <a:off x="4329113" y="2757488"/>
            <a:ext cx="9525" cy="9525"/>
          </a:xfrm>
          <a:prstGeom xmlns:a="http://schemas.openxmlformats.org/drawingml/2006/main" prst="rect">
            <a:avLst/>
          </a:prstGeom>
          <a:noFill xmlns:a="http://schemas.openxmlformats.org/drawingml/2006/main"/>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9820C9C-8FE8-4F2E-A8ED-8CCA3F16713F}"/>
              </a:ext>
            </a:extLst>
          </p:cNvPr>
          <p:cNvSpPr>
            <a:spLocks xmlns:a="http://schemas.openxmlformats.org/drawingml/2006/main" noGrp="1"/>
          </p:cNvSpPr>
          <p:nvPr/>
        </p:nvSpPr>
        <p:spPr>
          <a:xfrm xmlns:a="http://schemas.openxmlformats.org/drawingml/2006/main">
            <a:off x="4329113" y="2757488"/>
            <a:ext cx="9525" cy="9525"/>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DDE7C8B-BA1B-4AE4-B0A8-A24F1929E255}"/>
              </a:ext>
            </a:extLst>
          </p:cNvPr>
          <p:cNvSpPr>
            <a:spLocks xmlns:a="http://schemas.openxmlformats.org/drawingml/2006/main" noGrp="1"/>
          </p:cNvSpPr>
          <p:nvPr/>
        </p:nvSpPr>
        <p:spPr>
          <a:xfrm xmlns:a="http://schemas.openxmlformats.org/drawingml/2006/main">
            <a:off x="4329113" y="2471738"/>
            <a:ext cx="9525" cy="9525"/>
          </a:xfrm>
          <a:prstGeom xmlns:a="http://schemas.openxmlformats.org/drawingml/2006/main" prst="rect">
            <a:avLst/>
          </a:prstGeom>
          <a:noFill xmlns:a="http://schemas.openxmlformats.org/drawingml/2006/main"/>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7F4CC8-08EB-4C1F-93F4-EF025E40469F}"/>
              </a:ext>
            </a:extLst>
          </p:cNvPr>
          <p:cNvSpPr>
            <a:spLocks xmlns:a="http://schemas.openxmlformats.org/drawingml/2006/main" noGrp="1"/>
          </p:cNvSpPr>
          <p:nvPr/>
        </p:nvSpPr>
        <p:spPr>
          <a:xfrm xmlns:a="http://schemas.openxmlformats.org/drawingml/2006/main">
            <a:off x="4329113" y="24717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6AEFB2E-6AFA-400F-882A-C8D5F68647A0}"/>
              </a:ext>
            </a:extLst>
          </p:cNvPr>
          <p:cNvSpPr>
            <a:spLocks xmlns:a="http://schemas.openxmlformats.org/drawingml/2006/main" noGrp="1"/>
          </p:cNvSpPr>
          <p:nvPr/>
        </p:nvSpPr>
        <p:spPr>
          <a:xfrm xmlns:a="http://schemas.openxmlformats.org/drawingml/2006/main">
            <a:off x="4852988" y="2471738"/>
            <a:ext cx="9525" cy="9525"/>
          </a:xfrm>
          <a:prstGeom xmlns:a="http://schemas.openxmlformats.org/drawingml/2006/main" prst="rect">
            <a:avLst/>
          </a:prstGeom>
          <a:noFill xmlns:a="http://schemas.openxmlformats.org/drawingml/2006/main"/>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F09E5C5-4BDD-4909-9DFE-AFD07F05344C}"/>
              </a:ext>
            </a:extLst>
          </p:cNvPr>
          <p:cNvSpPr>
            <a:spLocks xmlns:a="http://schemas.openxmlformats.org/drawingml/2006/main" noGrp="1"/>
          </p:cNvSpPr>
          <p:nvPr/>
        </p:nvSpPr>
        <p:spPr>
          <a:xfrm xmlns:a="http://schemas.openxmlformats.org/drawingml/2006/main">
            <a:off x="4329113" y="2471738"/>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0B96BB8-D750-48F2-8F5F-57C9DCD45F91}"/>
              </a:ext>
            </a:extLst>
          </p:cNvPr>
          <p:cNvSpPr>
            <a:spLocks xmlns:a="http://schemas.openxmlformats.org/drawingml/2006/main" noGrp="1"/>
          </p:cNvSpPr>
          <p:nvPr/>
        </p:nvSpPr>
        <p:spPr>
          <a:xfrm xmlns:a="http://schemas.openxmlformats.org/drawingml/2006/main">
            <a:off x="4329113" y="1757363"/>
            <a:ext cx="9525" cy="9525"/>
          </a:xfrm>
          <a:prstGeom xmlns:a="http://schemas.openxmlformats.org/drawingml/2006/main" prst="rect">
            <a:avLst/>
          </a:prstGeom>
          <a:noFill xmlns:a="http://schemas.openxmlformats.org/drawingml/2006/main"/>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9E37B04-2F44-4271-9E94-9E445B982F60}"/>
              </a:ext>
            </a:extLst>
          </p:cNvPr>
          <p:cNvSpPr>
            <a:spLocks xmlns:a="http://schemas.openxmlformats.org/drawingml/2006/main" noGrp="1"/>
          </p:cNvSpPr>
          <p:nvPr/>
        </p:nvSpPr>
        <p:spPr>
          <a:xfrm xmlns:a="http://schemas.openxmlformats.org/drawingml/2006/main">
            <a:off x="4329113" y="1757363"/>
            <a:ext cx="9525" cy="9525"/>
          </a:xfrm>
          <a:prstGeom xmlns:a="http://schemas.openxmlformats.org/drawingml/2006/main" prst="rect">
            <a:avLst/>
          </a:prstGeom>
          <a:noFill xmlns:a="http://schemas.openxmlformats.org/drawingml/2006/main"/>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A944DC0-B143-466F-A08D-8663D71F2969}"/>
              </a:ext>
            </a:extLst>
          </p:cNvPr>
          <p:cNvSpPr>
            <a:spLocks xmlns:a="http://schemas.openxmlformats.org/drawingml/2006/main" noGrp="1"/>
          </p:cNvSpPr>
          <p:nvPr/>
        </p:nvSpPr>
        <p:spPr>
          <a:xfrm xmlns:a="http://schemas.openxmlformats.org/drawingml/2006/main">
            <a:off x="9996488" y="1757363"/>
            <a:ext cx="9525" cy="9525"/>
          </a:xfrm>
          <a:prstGeom xmlns:a="http://schemas.openxmlformats.org/drawingml/2006/main" prst="rect">
            <a:avLst/>
          </a:prstGeom>
          <a:noFill xmlns:a="http://schemas.openxmlformats.org/drawingml/2006/main"/>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9828722-8464-487D-837B-5E13B747580D}"/>
              </a:ext>
            </a:extLst>
          </p:cNvPr>
          <p:cNvSpPr>
            <a:spLocks xmlns:a="http://schemas.openxmlformats.org/drawingml/2006/main" noGrp="1"/>
          </p:cNvSpPr>
          <p:nvPr/>
        </p:nvSpPr>
        <p:spPr>
          <a:xfrm xmlns:a="http://schemas.openxmlformats.org/drawingml/2006/main">
            <a:off x="9996488" y="1757363"/>
            <a:ext cx="9525" cy="9525"/>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4F6FBA7-AF77-47AB-A52F-BCBE11ED0CCB}"/>
              </a:ext>
            </a:extLst>
          </p:cNvPr>
          <p:cNvSpPr>
            <a:spLocks xmlns:a="http://schemas.openxmlformats.org/drawingml/2006/main" noGrp="1"/>
          </p:cNvSpPr>
          <p:nvPr/>
        </p:nvSpPr>
        <p:spPr>
          <a:xfrm xmlns:a="http://schemas.openxmlformats.org/drawingml/2006/main">
            <a:off x="9996488" y="2043113"/>
            <a:ext cx="9525" cy="9525"/>
          </a:xfrm>
          <a:prstGeom xmlns:a="http://schemas.openxmlformats.org/drawingml/2006/main" prst="rect">
            <a:avLst/>
          </a:prstGeom>
          <a:noFill xmlns:a="http://schemas.openxmlformats.org/drawingml/2006/main"/>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CCE2650-E16C-4B38-840B-37841997A938}"/>
              </a:ext>
            </a:extLst>
          </p:cNvPr>
          <p:cNvSpPr>
            <a:spLocks xmlns:a="http://schemas.openxmlformats.org/drawingml/2006/main" noGrp="1"/>
          </p:cNvSpPr>
          <p:nvPr/>
        </p:nvSpPr>
        <p:spPr>
          <a:xfrm xmlns:a="http://schemas.openxmlformats.org/drawingml/2006/main">
            <a:off x="1238250" y="4000500"/>
            <a:ext cx="2857500" cy="104775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30" name="">
            <a:extLst xmlns:a="http://schemas.openxmlformats.org/drawingml/2006/main">
              <a:ext uri="{FF2B5EF4-FFF2-40B4-BE49-F238E27FC236}">
                <a16:creationId xmlns:a16="http://schemas.microsoft.com/office/drawing/2014/main" id="{AEF6052E-004C-4F8C-8C7C-3560ECC62264}"/>
              </a:ext>
            </a:extLst>
          </p:cNvPr>
          <p:cNvSpPr>
            <a:spLocks xmlns:a="http://schemas.openxmlformats.org/drawingml/2006/main" noGrp="1"/>
          </p:cNvSpPr>
          <p:nvPr/>
        </p:nvSpPr>
        <p:spPr>
          <a:xfrm xmlns:a="http://schemas.openxmlformats.org/drawingml/2006/main">
            <a:off x="1409700" y="4133850"/>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N1</a:t>
            </a:r>
          </a:p>
        </p:txBody>
      </p:sp>
      <p:sp>
        <p:nvSpPr>
          <p:cNvPr id="31" name="">
            <a:extLst xmlns:a="http://schemas.openxmlformats.org/drawingml/2006/main">
              <a:ext uri="{FF2B5EF4-FFF2-40B4-BE49-F238E27FC236}">
                <a16:creationId xmlns:a16="http://schemas.microsoft.com/office/drawing/2014/main" id="{D1CECCA7-EB48-4B8E-9348-A0EBFEA5EAD3}"/>
              </a:ext>
            </a:extLst>
          </p:cNvPr>
          <p:cNvSpPr>
            <a:spLocks xmlns:a="http://schemas.openxmlformats.org/drawingml/2006/main" noGrp="1"/>
          </p:cNvSpPr>
          <p:nvPr/>
        </p:nvSpPr>
        <p:spPr>
          <a:xfrm xmlns:a="http://schemas.openxmlformats.org/drawingml/2006/main">
            <a:off x="1409700" y="4581525"/>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Peralihan</a:t>
            </a:r>
          </a:p>
        </p:txBody>
      </p:sp>
      <p:sp>
        <p:nvSpPr>
          <p:cNvPr id="32" name="">
            <a:extLst xmlns:a="http://schemas.openxmlformats.org/drawingml/2006/main">
              <a:ext uri="{FF2B5EF4-FFF2-40B4-BE49-F238E27FC236}">
                <a16:creationId xmlns:a16="http://schemas.microsoft.com/office/drawing/2014/main" id="{FE5EB234-4FEC-48AF-913E-49A85DC569A8}"/>
              </a:ext>
            </a:extLst>
          </p:cNvPr>
          <p:cNvSpPr>
            <a:spLocks xmlns:a="http://schemas.openxmlformats.org/drawingml/2006/main" noGrp="1"/>
          </p:cNvSpPr>
          <p:nvPr/>
        </p:nvSpPr>
        <p:spPr>
          <a:xfrm xmlns:a="http://schemas.openxmlformats.org/drawingml/2006/main">
            <a:off x="4667250" y="4000500"/>
            <a:ext cx="2857500" cy="104775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33" name="">
            <a:extLst xmlns:a="http://schemas.openxmlformats.org/drawingml/2006/main">
              <a:ext uri="{FF2B5EF4-FFF2-40B4-BE49-F238E27FC236}">
                <a16:creationId xmlns:a16="http://schemas.microsoft.com/office/drawing/2014/main" id="{F0210770-F32B-4BB4-B116-52DF784EC708}"/>
              </a:ext>
            </a:extLst>
          </p:cNvPr>
          <p:cNvSpPr>
            <a:spLocks xmlns:a="http://schemas.openxmlformats.org/drawingml/2006/main" noGrp="1"/>
          </p:cNvSpPr>
          <p:nvPr/>
        </p:nvSpPr>
        <p:spPr>
          <a:xfrm xmlns:a="http://schemas.openxmlformats.org/drawingml/2006/main">
            <a:off x="4838700" y="4133850"/>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N2</a:t>
            </a:r>
          </a:p>
        </p:txBody>
      </p:sp>
      <p:sp>
        <p:nvSpPr>
          <p:cNvPr id="34" name="">
            <a:extLst xmlns:a="http://schemas.openxmlformats.org/drawingml/2006/main">
              <a:ext uri="{FF2B5EF4-FFF2-40B4-BE49-F238E27FC236}">
                <a16:creationId xmlns:a16="http://schemas.microsoft.com/office/drawing/2014/main" id="{528EE792-BD21-4CA8-97B2-AA7424662D65}"/>
              </a:ext>
            </a:extLst>
          </p:cNvPr>
          <p:cNvSpPr>
            <a:spLocks xmlns:a="http://schemas.openxmlformats.org/drawingml/2006/main" noGrp="1"/>
          </p:cNvSpPr>
          <p:nvPr/>
        </p:nvSpPr>
        <p:spPr>
          <a:xfrm xmlns:a="http://schemas.openxmlformats.org/drawingml/2006/main">
            <a:off x="4838700" y="4581525"/>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Tidur menetap</a:t>
            </a:r>
          </a:p>
        </p:txBody>
      </p:sp>
      <p:sp>
        <p:nvSpPr>
          <p:cNvPr id="35" name="">
            <a:extLst xmlns:a="http://schemas.openxmlformats.org/drawingml/2006/main">
              <a:ext uri="{FF2B5EF4-FFF2-40B4-BE49-F238E27FC236}">
                <a16:creationId xmlns:a16="http://schemas.microsoft.com/office/drawing/2014/main" id="{1444A6CE-F1E0-4EA6-93BB-CC733B2AEA26}"/>
              </a:ext>
            </a:extLst>
          </p:cNvPr>
          <p:cNvSpPr>
            <a:spLocks xmlns:a="http://schemas.openxmlformats.org/drawingml/2006/main" noGrp="1"/>
          </p:cNvSpPr>
          <p:nvPr/>
        </p:nvSpPr>
        <p:spPr>
          <a:xfrm xmlns:a="http://schemas.openxmlformats.org/drawingml/2006/main">
            <a:off x="8096250" y="4000500"/>
            <a:ext cx="2857500" cy="104775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36" name="">
            <a:extLst xmlns:a="http://schemas.openxmlformats.org/drawingml/2006/main">
              <a:ext uri="{FF2B5EF4-FFF2-40B4-BE49-F238E27FC236}">
                <a16:creationId xmlns:a16="http://schemas.microsoft.com/office/drawing/2014/main" id="{F6CDD09B-5A4A-4229-A08F-BE28944B29BE}"/>
              </a:ext>
            </a:extLst>
          </p:cNvPr>
          <p:cNvSpPr>
            <a:spLocks xmlns:a="http://schemas.openxmlformats.org/drawingml/2006/main" noGrp="1"/>
          </p:cNvSpPr>
          <p:nvPr/>
        </p:nvSpPr>
        <p:spPr>
          <a:xfrm xmlns:a="http://schemas.openxmlformats.org/drawingml/2006/main">
            <a:off x="8267700" y="4133850"/>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N3</a:t>
            </a:r>
          </a:p>
        </p:txBody>
      </p:sp>
      <p:sp>
        <p:nvSpPr>
          <p:cNvPr id="37" name="">
            <a:extLst xmlns:a="http://schemas.openxmlformats.org/drawingml/2006/main">
              <a:ext uri="{FF2B5EF4-FFF2-40B4-BE49-F238E27FC236}">
                <a16:creationId xmlns:a16="http://schemas.microsoft.com/office/drawing/2014/main" id="{189A8B9A-A3EE-4638-9299-51A91B76AA66}"/>
              </a:ext>
            </a:extLst>
          </p:cNvPr>
          <p:cNvSpPr>
            <a:spLocks xmlns:a="http://schemas.openxmlformats.org/drawingml/2006/main" noGrp="1"/>
          </p:cNvSpPr>
          <p:nvPr/>
        </p:nvSpPr>
        <p:spPr>
          <a:xfrm xmlns:a="http://schemas.openxmlformats.org/drawingml/2006/main">
            <a:off x="8267700" y="4581525"/>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Tidur dalam</a:t>
            </a:r>
          </a:p>
        </p:txBody>
      </p:sp>
      <p:sp>
        <p:nvSpPr>
          <p:cNvPr id="38" name="">
            <a:extLst xmlns:a="http://schemas.openxmlformats.org/drawingml/2006/main">
              <a:ext uri="{FF2B5EF4-FFF2-40B4-BE49-F238E27FC236}">
                <a16:creationId xmlns:a16="http://schemas.microsoft.com/office/drawing/2014/main" id="{E1133251-0AF6-4623-8163-5C6C24026CBA}"/>
              </a:ext>
            </a:extLst>
          </p:cNvPr>
          <p:cNvSpPr>
            <a:spLocks xmlns:a="http://schemas.openxmlformats.org/drawingml/2006/main" noGrp="1"/>
          </p:cNvSpPr>
          <p:nvPr/>
        </p:nvSpPr>
        <p:spPr>
          <a:xfrm xmlns:a="http://schemas.openxmlformats.org/drawingml/2006/main">
            <a:off x="6043613" y="2947988"/>
            <a:ext cx="9525" cy="9525"/>
          </a:xfrm>
          <a:prstGeom xmlns:a="http://schemas.openxmlformats.org/drawingml/2006/main" prst="rect">
            <a:avLst/>
          </a:prstGeom>
          <a:noFill xmlns:a="http://schemas.openxmlformats.org/drawingml/2006/main"/>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EEA0460C-CEC7-486D-859B-E2004621D6D9}"/>
              </a:ext>
            </a:extLst>
          </p:cNvPr>
          <p:cNvSpPr>
            <a:spLocks xmlns:a="http://schemas.openxmlformats.org/drawingml/2006/main" noGrp="1"/>
          </p:cNvSpPr>
          <p:nvPr/>
        </p:nvSpPr>
        <p:spPr>
          <a:xfrm xmlns:a="http://schemas.openxmlformats.org/drawingml/2006/main">
            <a:off x="6043613" y="3519488"/>
            <a:ext cx="9525" cy="9525"/>
          </a:xfrm>
          <a:prstGeom xmlns:a="http://schemas.openxmlformats.org/drawingml/2006/main" prst="rect">
            <a:avLst/>
          </a:prstGeom>
          <a:noFill xmlns:a="http://schemas.openxmlformats.org/drawingml/2006/main"/>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A684EE7-E7B2-41F2-897F-18B36F37F112}"/>
              </a:ext>
            </a:extLst>
          </p:cNvPr>
          <p:cNvSpPr>
            <a:spLocks xmlns:a="http://schemas.openxmlformats.org/drawingml/2006/main" noGrp="1"/>
          </p:cNvSpPr>
          <p:nvPr/>
        </p:nvSpPr>
        <p:spPr>
          <a:xfrm xmlns:a="http://schemas.openxmlformats.org/drawingml/2006/main">
            <a:off x="2662238" y="3519488"/>
            <a:ext cx="9525" cy="9525"/>
          </a:xfrm>
          <a:prstGeom xmlns:a="http://schemas.openxmlformats.org/drawingml/2006/main" prst="rect">
            <a:avLst/>
          </a:prstGeom>
          <a:noFill xmlns:a="http://schemas.openxmlformats.org/drawingml/2006/main"/>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38645BF-B6B6-4789-A1DF-5F6FA1092BBD}"/>
              </a:ext>
            </a:extLst>
          </p:cNvPr>
          <p:cNvSpPr>
            <a:spLocks xmlns:a="http://schemas.openxmlformats.org/drawingml/2006/main" noGrp="1"/>
          </p:cNvSpPr>
          <p:nvPr/>
        </p:nvSpPr>
        <p:spPr>
          <a:xfrm xmlns:a="http://schemas.openxmlformats.org/drawingml/2006/main">
            <a:off x="9520238" y="3519488"/>
            <a:ext cx="9525" cy="9525"/>
          </a:xfrm>
          <a:prstGeom xmlns:a="http://schemas.openxmlformats.org/drawingml/2006/main" prst="rect">
            <a:avLst/>
          </a:prstGeom>
          <a:noFill xmlns:a="http://schemas.openxmlformats.org/drawingml/2006/main"/>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04D1E814-80D0-4E03-B77C-93AF4E66019E}"/>
              </a:ext>
            </a:extLst>
          </p:cNvPr>
          <p:cNvSpPr>
            <a:spLocks xmlns:a="http://schemas.openxmlformats.org/drawingml/2006/main" noGrp="1"/>
          </p:cNvSpPr>
          <p:nvPr/>
        </p:nvSpPr>
        <p:spPr>
          <a:xfrm xmlns:a="http://schemas.openxmlformats.org/drawingml/2006/main">
            <a:off x="2662238" y="3519488"/>
            <a:ext cx="9525" cy="9525"/>
          </a:xfrm>
          <a:prstGeom xmlns:a="http://schemas.openxmlformats.org/drawingml/2006/main" prst="rect">
            <a:avLst/>
          </a:prstGeom>
          <a:noFill xmlns:a="http://schemas.openxmlformats.org/drawingml/2006/main"/>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EE18B93-3A61-41C1-8201-C1DF9755CF29}"/>
              </a:ext>
            </a:extLst>
          </p:cNvPr>
          <p:cNvSpPr>
            <a:spLocks xmlns:a="http://schemas.openxmlformats.org/drawingml/2006/main" noGrp="1"/>
          </p:cNvSpPr>
          <p:nvPr/>
        </p:nvSpPr>
        <p:spPr>
          <a:xfrm xmlns:a="http://schemas.openxmlformats.org/drawingml/2006/main">
            <a:off x="2662238" y="3995738"/>
            <a:ext cx="9525" cy="9525"/>
          </a:xfrm>
          <a:prstGeom xmlns:a="http://schemas.openxmlformats.org/drawingml/2006/main" prst="rect">
            <a:avLst/>
          </a:prstGeom>
          <a:noFill xmlns:a="http://schemas.openxmlformats.org/drawingml/2006/main"/>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57EA1C81-41AC-44B1-85B1-3203499989B9}"/>
              </a:ext>
            </a:extLst>
          </p:cNvPr>
          <p:cNvSpPr>
            <a:spLocks xmlns:a="http://schemas.openxmlformats.org/drawingml/2006/main" noGrp="1"/>
          </p:cNvSpPr>
          <p:nvPr/>
        </p:nvSpPr>
        <p:spPr>
          <a:xfrm xmlns:a="http://schemas.openxmlformats.org/drawingml/2006/main">
            <a:off x="6091238" y="3519488"/>
            <a:ext cx="9525" cy="9525"/>
          </a:xfrm>
          <a:prstGeom xmlns:a="http://schemas.openxmlformats.org/drawingml/2006/main" prst="rect">
            <a:avLst/>
          </a:prstGeom>
          <a:noFill xmlns:a="http://schemas.openxmlformats.org/drawingml/2006/main"/>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21B92B31-C26F-49C5-AA36-3FF8D172B1DD}"/>
              </a:ext>
            </a:extLst>
          </p:cNvPr>
          <p:cNvSpPr>
            <a:spLocks xmlns:a="http://schemas.openxmlformats.org/drawingml/2006/main" noGrp="1"/>
          </p:cNvSpPr>
          <p:nvPr/>
        </p:nvSpPr>
        <p:spPr>
          <a:xfrm xmlns:a="http://schemas.openxmlformats.org/drawingml/2006/main">
            <a:off x="6091238" y="3995738"/>
            <a:ext cx="9525" cy="9525"/>
          </a:xfrm>
          <a:prstGeom xmlns:a="http://schemas.openxmlformats.org/drawingml/2006/main" prst="rect">
            <a:avLst/>
          </a:prstGeom>
          <a:noFill xmlns:a="http://schemas.openxmlformats.org/drawingml/2006/main"/>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ADA3D75E-69D1-4ED0-BE0F-F42B2A1C366D}"/>
              </a:ext>
            </a:extLst>
          </p:cNvPr>
          <p:cNvSpPr>
            <a:spLocks xmlns:a="http://schemas.openxmlformats.org/drawingml/2006/main" noGrp="1"/>
          </p:cNvSpPr>
          <p:nvPr/>
        </p:nvSpPr>
        <p:spPr>
          <a:xfrm xmlns:a="http://schemas.openxmlformats.org/drawingml/2006/main">
            <a:off x="9520238" y="3519488"/>
            <a:ext cx="9525" cy="9525"/>
          </a:xfrm>
          <a:prstGeom xmlns:a="http://schemas.openxmlformats.org/drawingml/2006/main" prst="rect">
            <a:avLst/>
          </a:prstGeom>
          <a:noFill xmlns:a="http://schemas.openxmlformats.org/drawingml/2006/main"/>
          <a:ln xmlns:a="http://schemas.openxmlformats.org/drawingml/2006/main" w="0">
            <a:noFill/>
          </a:ln>
        </p:spPr>
      </p:sp>
      <p:sp>
        <p:nvSpPr>
          <p:cNvPr id="51" name="">
            <a:extLst xmlns:a="http://schemas.openxmlformats.org/drawingml/2006/main">
              <a:ext uri="{FF2B5EF4-FFF2-40B4-BE49-F238E27FC236}">
                <a16:creationId xmlns:a16="http://schemas.microsoft.com/office/drawing/2014/main" id="{04B3A962-7BBC-4C27-99D0-3F88B60C6437}"/>
              </a:ext>
            </a:extLst>
          </p:cNvPr>
          <p:cNvSpPr>
            <a:spLocks xmlns:a="http://schemas.openxmlformats.org/drawingml/2006/main" noGrp="1"/>
          </p:cNvSpPr>
          <p:nvPr/>
        </p:nvSpPr>
        <p:spPr>
          <a:xfrm xmlns:a="http://schemas.openxmlformats.org/drawingml/2006/main">
            <a:off x="9520238" y="3995738"/>
            <a:ext cx="9525" cy="9525"/>
          </a:xfrm>
          <a:prstGeom xmlns:a="http://schemas.openxmlformats.org/drawingml/2006/main" prst="rect">
            <a:avLst/>
          </a:prstGeom>
          <a:noFill xmlns:a="http://schemas.openxmlformats.org/drawingml/2006/main"/>
          <a:ln xmlns:a="http://schemas.openxmlformats.org/drawingml/2006/main" w="0">
            <a:noFill/>
          </a:ln>
        </p:spPr>
      </p:sp>
      <p:sp>
        <p:nvSpPr>
          <p:cNvPr id="53" name="">
            <a:extLst xmlns:a="http://schemas.openxmlformats.org/drawingml/2006/main">
              <a:ext uri="{FF2B5EF4-FFF2-40B4-BE49-F238E27FC236}">
                <a16:creationId xmlns:a16="http://schemas.microsoft.com/office/drawing/2014/main" id="{0B12D32C-4BD3-4C87-BC64-05CA876AEAF6}"/>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N1, N2, dan N3 termasuk NREM; NREM dan REM berulang sepanjang malam.</a:t>
            </a:r>
          </a:p>
        </p:txBody>
      </p:sp>
      <p:sp>
        <p:nvSpPr>
          <p:cNvPr id="54" name="">
            <a:extLst xmlns:a="http://schemas.openxmlformats.org/drawingml/2006/main">
              <a:ext uri="{FF2B5EF4-FFF2-40B4-BE49-F238E27FC236}">
                <a16:creationId xmlns:a16="http://schemas.microsoft.com/office/drawing/2014/main" id="{F7F4179D-E2F6-4D71-82EF-36DFC79C9F31}"/>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NHLBI · sumber pada catatan</a:t>
            </a:r>
          </a:p>
        </p:txBody>
      </p:sp>
      <p:sp>
        <p:nvSpPr>
          <p:cNvPr id="55" name="">
            <a:extLst xmlns:a="http://schemas.openxmlformats.org/drawingml/2006/main">
              <a:ext uri="{FF2B5EF4-FFF2-40B4-BE49-F238E27FC236}">
                <a16:creationId xmlns:a16="http://schemas.microsoft.com/office/drawing/2014/main" id="{70C053E1-9AD4-4599-8BC6-2E0AA7A84919}"/>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56" name="">
            <a:extLst xmlns:a="http://schemas.openxmlformats.org/drawingml/2006/main">
              <a:ext uri="{FF2B5EF4-FFF2-40B4-BE49-F238E27FC236}">
                <a16:creationId xmlns:a16="http://schemas.microsoft.com/office/drawing/2014/main" id="{A3D9315D-68F0-4B1F-ACC4-5D545ED21CA2}"/>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06 / 28</a:t>
            </a:r>
          </a:p>
        </p:txBody>
      </p:sp>
    </p:spTree>
    <p:extLst>
      <p:ext uri="{BB962C8B-B14F-4D97-AF65-F5344CB8AC3E}">
        <p14:creationId xmlns:p14="http://schemas.microsoft.com/office/powerpoint/2010/main" val="1310589265"/>
      </p:ext>
    </p:extLst>
  </p:cSld>
</p:sld>
</file>

<file path=ppt/slides/slide7.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6E955F-C8A4-4FFF-84A4-E567E5715D77}"/>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220DBE44-6252-4BA3-83AA-3AABC68F67CA}"/>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Kebutuhan tidur dewasa</a:t>
            </a:r>
          </a:p>
        </p:txBody>
      </p:sp>
      <p:pic>
        <p:nvPicPr>
          <p:cNvPr id="3" name="">
            <a:extLst xmlns:a="http://schemas.openxmlformats.org/drawingml/2006/main">
              <a:ext uri="{FF2B5EF4-FFF2-40B4-BE49-F238E27FC236}">
                <a16:creationId xmlns:a16="http://schemas.microsoft.com/office/drawing/2014/main" id="{1094A798-6F71-49D2-B55E-953C354832FC}"/>
              </a:ext>
            </a:extLst>
          </p:cNvPr>
          <p:cNvPicPr>
            <a:picLocks xmlns:a="http://schemas.openxmlformats.org/drawingml/2006/main" noChangeAspect="1"/>
          </p:cNvPicPr>
          <p:nvPr/>
        </p:nvPicPr>
        <p:blipFill>
          <a:blip xmlns:r="http://schemas.openxmlformats.org/officeDocument/2006/relationships" xmlns:a="http://schemas.openxmlformats.org/drawingml/2006/main" r:embed="Rcef1f8d794a34af7"/>
          <a:stretch xmlns:a="http://schemas.openxmlformats.org/drawingml/2006/main"/>
        </p:blipFill>
        <p:spPr>
          <a:xfrm xmlns:a="http://schemas.openxmlformats.org/drawingml/2006/main">
            <a:off x="7715250" y="2143125"/>
            <a:ext cx="2476500" cy="3095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21D803E-D5CD-4172-AC35-29F4B9EE51F8}"/>
              </a:ext>
            </a:extLst>
          </p:cNvPr>
          <p:cNvSpPr>
            <a:spLocks xmlns:a="http://schemas.openxmlformats.org/drawingml/2006/main" noGrp="1"/>
          </p:cNvSpPr>
          <p:nvPr/>
        </p:nvSpPr>
        <p:spPr>
          <a:xfrm xmlns:a="http://schemas.openxmlformats.org/drawingml/2006/main">
            <a:off x="6477000" y="5343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Imogenisla · CC BY-SA 3.0</a:t>
            </a:r>
          </a:p>
        </p:txBody>
      </p:sp>
      <p:sp>
        <p:nvSpPr>
          <p:cNvPr id="5" name="">
            <a:extLst xmlns:a="http://schemas.openxmlformats.org/drawingml/2006/main">
              <a:ext uri="{FF2B5EF4-FFF2-40B4-BE49-F238E27FC236}">
                <a16:creationId xmlns:a16="http://schemas.microsoft.com/office/drawing/2014/main" id="{F81E9C77-C990-41E5-AE2E-433091C0DD9E}"/>
              </a:ext>
            </a:extLst>
          </p:cNvPr>
          <p:cNvSpPr>
            <a:spLocks xmlns:a="http://schemas.openxmlformats.org/drawingml/2006/main" noGrp="1"/>
          </p:cNvSpPr>
          <p:nvPr/>
        </p:nvSpPr>
        <p:spPr>
          <a:xfrm xmlns:a="http://schemas.openxmlformats.org/drawingml/2006/main">
            <a:off x="762000" y="2190750"/>
            <a:ext cx="4953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F1F1B"/>
                </a:solidFill>
                <a:latin typeface="Arial"/>
                <a:ea typeface="Arial"/>
                <a:cs typeface="Arial"/>
              </a:defRPr>
            </a:defPPr>
            <a:lvl1pPr>
              <a:defRPr sz="2025" b="0">
                <a:solidFill>
                  <a:srgbClr val="1F1F1B"/>
                </a:solidFill>
                <a:latin typeface="Arial"/>
                <a:ea typeface="Arial"/>
                <a:cs typeface="Arial"/>
              </a:defRPr>
            </a:lvl1pPr>
            <a:lvl2pPr>
              <a:defRPr sz="2025" b="0">
                <a:solidFill>
                  <a:srgbClr val="1F1F1B"/>
                </a:solidFill>
                <a:latin typeface="Arial"/>
                <a:ea typeface="Arial"/>
                <a:cs typeface="Arial"/>
              </a:defRPr>
            </a:lvl2pPr>
            <a:lvl3pPr>
              <a:defRPr sz="2025" b="0">
                <a:solidFill>
                  <a:srgbClr val="1F1F1B"/>
                </a:solidFill>
                <a:latin typeface="Arial"/>
                <a:ea typeface="Arial"/>
                <a:cs typeface="Arial"/>
              </a:defRPr>
            </a:lvl3pPr>
            <a:lvl4pPr>
              <a:defRPr sz="2025" b="0">
                <a:solidFill>
                  <a:srgbClr val="1F1F1B"/>
                </a:solidFill>
                <a:latin typeface="Arial"/>
                <a:ea typeface="Arial"/>
                <a:cs typeface="Arial"/>
              </a:defRPr>
            </a:lvl4pPr>
            <a:lvl5pPr>
              <a:defRPr sz="2025" b="0">
                <a:solidFill>
                  <a:srgbClr val="1F1F1B"/>
                </a:solidFill>
                <a:latin typeface="Arial"/>
                <a:ea typeface="Arial"/>
                <a:cs typeface="Arial"/>
              </a:defRPr>
            </a:lvl5pPr>
            <a:lvl6pPr>
              <a:defRPr sz="2025" b="0">
                <a:solidFill>
                  <a:srgbClr val="1F1F1B"/>
                </a:solidFill>
                <a:latin typeface="Arial"/>
                <a:ea typeface="Arial"/>
                <a:cs typeface="Arial"/>
              </a:defRPr>
            </a:lvl6pPr>
            <a:lvl7pPr>
              <a:defRPr sz="2025" b="0">
                <a:solidFill>
                  <a:srgbClr val="1F1F1B"/>
                </a:solidFill>
                <a:latin typeface="Arial"/>
                <a:ea typeface="Arial"/>
                <a:cs typeface="Arial"/>
              </a:defRPr>
            </a:lvl7pPr>
            <a:lvl8pPr>
              <a:defRPr sz="2025" b="0">
                <a:solidFill>
                  <a:srgbClr val="1F1F1B"/>
                </a:solidFill>
                <a:latin typeface="Arial"/>
                <a:ea typeface="Arial"/>
                <a:cs typeface="Arial"/>
              </a:defRPr>
            </a:lvl8pPr>
            <a:lvl9pPr>
              <a:defRPr sz="2025" b="0">
                <a:solidFill>
                  <a:srgbClr val="1F1F1B"/>
                </a:solidFill>
                <a:latin typeface="Arial"/>
                <a:ea typeface="Arial"/>
                <a:cs typeface="Arial"/>
              </a:defRPr>
            </a:lvl9pPr>
          </a:lstStyle>
          <a:p xmlns:a="http://schemas.openxmlformats.org/drawingml/2006/main">
            <a:pPr>
              <a:defRPr sz="2025" b="0">
                <a:solidFill>
                  <a:srgbClr val="1F1F1B"/>
                </a:solidFill>
                <a:latin typeface="Arial"/>
                <a:ea typeface="Arial"/>
                <a:cs typeface="Arial"/>
              </a:defRPr>
            </a:pPr>
            <a:r>
              <a:rPr sz="2025" b="0">
                <a:solidFill>
                  <a:srgbClr val="1F1F1B"/>
                </a:solidFill>
                <a:latin typeface="Arial"/>
                <a:ea typeface="Arial"/>
                <a:cs typeface="Arial"/>
              </a:rPr>
              <a:t>Usia 18–60 tahun: rekomendasi umum sedikitnya 7 jam per malam.</a:t>
            </a:r>
          </a:p>
        </p:txBody>
      </p:sp>
      <p:sp>
        <p:nvSpPr>
          <p:cNvPr id="6" name="">
            <a:extLst xmlns:a="http://schemas.openxmlformats.org/drawingml/2006/main">
              <a:ext uri="{FF2B5EF4-FFF2-40B4-BE49-F238E27FC236}">
                <a16:creationId xmlns:a16="http://schemas.microsoft.com/office/drawing/2014/main" id="{84E2D042-524D-4E5C-8A2F-B0C62333868D}"/>
              </a:ext>
            </a:extLst>
          </p:cNvPr>
          <p:cNvSpPr>
            <a:spLocks xmlns:a="http://schemas.openxmlformats.org/drawingml/2006/main" noGrp="1"/>
          </p:cNvSpPr>
          <p:nvPr/>
        </p:nvSpPr>
        <p:spPr>
          <a:xfrm xmlns:a="http://schemas.openxmlformats.org/drawingml/2006/main">
            <a:off x="762000" y="3352800"/>
            <a:ext cx="4953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F1F1B"/>
                </a:solidFill>
                <a:latin typeface="Arial"/>
                <a:ea typeface="Arial"/>
                <a:cs typeface="Arial"/>
              </a:defRPr>
            </a:defPPr>
            <a:lvl1pPr>
              <a:defRPr sz="2025" b="0">
                <a:solidFill>
                  <a:srgbClr val="1F1F1B"/>
                </a:solidFill>
                <a:latin typeface="Arial"/>
                <a:ea typeface="Arial"/>
                <a:cs typeface="Arial"/>
              </a:defRPr>
            </a:lvl1pPr>
            <a:lvl2pPr>
              <a:defRPr sz="2025" b="0">
                <a:solidFill>
                  <a:srgbClr val="1F1F1B"/>
                </a:solidFill>
                <a:latin typeface="Arial"/>
                <a:ea typeface="Arial"/>
                <a:cs typeface="Arial"/>
              </a:defRPr>
            </a:lvl2pPr>
            <a:lvl3pPr>
              <a:defRPr sz="2025" b="0">
                <a:solidFill>
                  <a:srgbClr val="1F1F1B"/>
                </a:solidFill>
                <a:latin typeface="Arial"/>
                <a:ea typeface="Arial"/>
                <a:cs typeface="Arial"/>
              </a:defRPr>
            </a:lvl3pPr>
            <a:lvl4pPr>
              <a:defRPr sz="2025" b="0">
                <a:solidFill>
                  <a:srgbClr val="1F1F1B"/>
                </a:solidFill>
                <a:latin typeface="Arial"/>
                <a:ea typeface="Arial"/>
                <a:cs typeface="Arial"/>
              </a:defRPr>
            </a:lvl4pPr>
            <a:lvl5pPr>
              <a:defRPr sz="2025" b="0">
                <a:solidFill>
                  <a:srgbClr val="1F1F1B"/>
                </a:solidFill>
                <a:latin typeface="Arial"/>
                <a:ea typeface="Arial"/>
                <a:cs typeface="Arial"/>
              </a:defRPr>
            </a:lvl5pPr>
            <a:lvl6pPr>
              <a:defRPr sz="2025" b="0">
                <a:solidFill>
                  <a:srgbClr val="1F1F1B"/>
                </a:solidFill>
                <a:latin typeface="Arial"/>
                <a:ea typeface="Arial"/>
                <a:cs typeface="Arial"/>
              </a:defRPr>
            </a:lvl6pPr>
            <a:lvl7pPr>
              <a:defRPr sz="2025" b="0">
                <a:solidFill>
                  <a:srgbClr val="1F1F1B"/>
                </a:solidFill>
                <a:latin typeface="Arial"/>
                <a:ea typeface="Arial"/>
                <a:cs typeface="Arial"/>
              </a:defRPr>
            </a:lvl7pPr>
            <a:lvl8pPr>
              <a:defRPr sz="2025" b="0">
                <a:solidFill>
                  <a:srgbClr val="1F1F1B"/>
                </a:solidFill>
                <a:latin typeface="Arial"/>
                <a:ea typeface="Arial"/>
                <a:cs typeface="Arial"/>
              </a:defRPr>
            </a:lvl8pPr>
            <a:lvl9pPr>
              <a:defRPr sz="2025" b="0">
                <a:solidFill>
                  <a:srgbClr val="1F1F1B"/>
                </a:solidFill>
                <a:latin typeface="Arial"/>
                <a:ea typeface="Arial"/>
                <a:cs typeface="Arial"/>
              </a:defRPr>
            </a:lvl9pPr>
          </a:lstStyle>
          <a:p xmlns:a="http://schemas.openxmlformats.org/drawingml/2006/main">
            <a:pPr>
              <a:defRPr sz="2025" b="0">
                <a:solidFill>
                  <a:srgbClr val="1F1F1B"/>
                </a:solidFill>
                <a:latin typeface="Arial"/>
                <a:ea typeface="Arial"/>
                <a:cs typeface="Arial"/>
              </a:defRPr>
            </a:pPr>
            <a:r>
              <a:rPr sz="2025" b="0">
                <a:solidFill>
                  <a:srgbClr val="1F1F1B"/>
                </a:solidFill>
                <a:latin typeface="Arial"/>
                <a:ea typeface="Arial"/>
                <a:cs typeface="Arial"/>
              </a:rPr>
              <a:t>Kualitas tidur dan kondisi saat terjaga juga perlu diperhatikan.</a:t>
            </a:r>
          </a:p>
        </p:txBody>
      </p:sp>
      <p:sp>
        <p:nvSpPr>
          <p:cNvPr id="7" name="">
            <a:extLst xmlns:a="http://schemas.openxmlformats.org/drawingml/2006/main">
              <a:ext uri="{FF2B5EF4-FFF2-40B4-BE49-F238E27FC236}">
                <a16:creationId xmlns:a16="http://schemas.microsoft.com/office/drawing/2014/main" id="{6350DB3E-3734-4813-B39D-83E0ED48BD85}"/>
              </a:ext>
            </a:extLst>
          </p:cNvPr>
          <p:cNvSpPr>
            <a:spLocks xmlns:a="http://schemas.openxmlformats.org/drawingml/2006/main" noGrp="1"/>
          </p:cNvSpPr>
          <p:nvPr/>
        </p:nvSpPr>
        <p:spPr>
          <a:xfrm xmlns:a="http://schemas.openxmlformats.org/drawingml/2006/main">
            <a:off x="762000" y="4514850"/>
            <a:ext cx="4953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F1F1B"/>
                </a:solidFill>
                <a:latin typeface="Arial"/>
                <a:ea typeface="Arial"/>
                <a:cs typeface="Arial"/>
              </a:defRPr>
            </a:defPPr>
            <a:lvl1pPr>
              <a:defRPr sz="2025" b="0">
                <a:solidFill>
                  <a:srgbClr val="1F1F1B"/>
                </a:solidFill>
                <a:latin typeface="Arial"/>
                <a:ea typeface="Arial"/>
                <a:cs typeface="Arial"/>
              </a:defRPr>
            </a:lvl1pPr>
            <a:lvl2pPr>
              <a:defRPr sz="2025" b="0">
                <a:solidFill>
                  <a:srgbClr val="1F1F1B"/>
                </a:solidFill>
                <a:latin typeface="Arial"/>
                <a:ea typeface="Arial"/>
                <a:cs typeface="Arial"/>
              </a:defRPr>
            </a:lvl2pPr>
            <a:lvl3pPr>
              <a:defRPr sz="2025" b="0">
                <a:solidFill>
                  <a:srgbClr val="1F1F1B"/>
                </a:solidFill>
                <a:latin typeface="Arial"/>
                <a:ea typeface="Arial"/>
                <a:cs typeface="Arial"/>
              </a:defRPr>
            </a:lvl3pPr>
            <a:lvl4pPr>
              <a:defRPr sz="2025" b="0">
                <a:solidFill>
                  <a:srgbClr val="1F1F1B"/>
                </a:solidFill>
                <a:latin typeface="Arial"/>
                <a:ea typeface="Arial"/>
                <a:cs typeface="Arial"/>
              </a:defRPr>
            </a:lvl4pPr>
            <a:lvl5pPr>
              <a:defRPr sz="2025" b="0">
                <a:solidFill>
                  <a:srgbClr val="1F1F1B"/>
                </a:solidFill>
                <a:latin typeface="Arial"/>
                <a:ea typeface="Arial"/>
                <a:cs typeface="Arial"/>
              </a:defRPr>
            </a:lvl5pPr>
            <a:lvl6pPr>
              <a:defRPr sz="2025" b="0">
                <a:solidFill>
                  <a:srgbClr val="1F1F1B"/>
                </a:solidFill>
                <a:latin typeface="Arial"/>
                <a:ea typeface="Arial"/>
                <a:cs typeface="Arial"/>
              </a:defRPr>
            </a:lvl6pPr>
            <a:lvl7pPr>
              <a:defRPr sz="2025" b="0">
                <a:solidFill>
                  <a:srgbClr val="1F1F1B"/>
                </a:solidFill>
                <a:latin typeface="Arial"/>
                <a:ea typeface="Arial"/>
                <a:cs typeface="Arial"/>
              </a:defRPr>
            </a:lvl7pPr>
            <a:lvl8pPr>
              <a:defRPr sz="2025" b="0">
                <a:solidFill>
                  <a:srgbClr val="1F1F1B"/>
                </a:solidFill>
                <a:latin typeface="Arial"/>
                <a:ea typeface="Arial"/>
                <a:cs typeface="Arial"/>
              </a:defRPr>
            </a:lvl8pPr>
            <a:lvl9pPr>
              <a:defRPr sz="2025" b="0">
                <a:solidFill>
                  <a:srgbClr val="1F1F1B"/>
                </a:solidFill>
                <a:latin typeface="Arial"/>
                <a:ea typeface="Arial"/>
                <a:cs typeface="Arial"/>
              </a:defRPr>
            </a:lvl9pPr>
          </a:lstStyle>
          <a:p xmlns:a="http://schemas.openxmlformats.org/drawingml/2006/main">
            <a:pPr>
              <a:defRPr sz="2025" b="0">
                <a:solidFill>
                  <a:srgbClr val="1F1F1B"/>
                </a:solidFill>
                <a:latin typeface="Arial"/>
                <a:ea typeface="Arial"/>
                <a:cs typeface="Arial"/>
              </a:defRPr>
            </a:pPr>
            <a:r>
              <a:rPr sz="2025" b="0">
                <a:solidFill>
                  <a:srgbClr val="1F1F1B"/>
                </a:solidFill>
                <a:latin typeface="Arial"/>
                <a:ea typeface="Arial"/>
                <a:cs typeface="Arial"/>
              </a:rPr>
              <a:t>Lima jam bukan target rutin yang memadai.</a:t>
            </a:r>
          </a:p>
        </p:txBody>
      </p:sp>
      <p:sp>
        <p:nvSpPr>
          <p:cNvPr id="8" name="">
            <a:extLst xmlns:a="http://schemas.openxmlformats.org/drawingml/2006/main">
              <a:ext uri="{FF2B5EF4-FFF2-40B4-BE49-F238E27FC236}">
                <a16:creationId xmlns:a16="http://schemas.microsoft.com/office/drawing/2014/main" id="{5EAF7EDC-A70E-4937-A754-9EFE6F27EEF2}"/>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CDC · sumber pada catatan</a:t>
            </a:r>
          </a:p>
        </p:txBody>
      </p:sp>
      <p:sp>
        <p:nvSpPr>
          <p:cNvPr id="9" name="">
            <a:extLst xmlns:a="http://schemas.openxmlformats.org/drawingml/2006/main">
              <a:ext uri="{FF2B5EF4-FFF2-40B4-BE49-F238E27FC236}">
                <a16:creationId xmlns:a16="http://schemas.microsoft.com/office/drawing/2014/main" id="{696A5887-397F-4611-ADC2-E645D357ECBD}"/>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10" name="">
            <a:extLst xmlns:a="http://schemas.openxmlformats.org/drawingml/2006/main">
              <a:ext uri="{FF2B5EF4-FFF2-40B4-BE49-F238E27FC236}">
                <a16:creationId xmlns:a16="http://schemas.microsoft.com/office/drawing/2014/main" id="{A898335C-4108-47CA-B223-DADA4A235EA6}"/>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07 / 28</a:t>
            </a:r>
          </a:p>
        </p:txBody>
      </p:sp>
    </p:spTree>
    <p:extLst>
      <p:ext uri="{BB962C8B-B14F-4D97-AF65-F5344CB8AC3E}">
        <p14:creationId xmlns:p14="http://schemas.microsoft.com/office/powerpoint/2010/main" val="1301646875"/>
      </p:ext>
    </p:extLst>
  </p:cSld>
</p:sld>
</file>

<file path=ppt/slides/slide8.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8B83B8-E853-47B4-A034-AAB819FE6D2D}"/>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C7FB191F-E8C8-48A0-8ABA-8B9D0FA69A5A}"/>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Kelelahan pada pekerjaan geofisika</a:t>
            </a:r>
          </a:p>
        </p:txBody>
      </p:sp>
      <p:sp>
        <p:nvSpPr>
          <p:cNvPr id="3" name="">
            <a:extLst xmlns:a="http://schemas.openxmlformats.org/drawingml/2006/main">
              <a:ext uri="{FF2B5EF4-FFF2-40B4-BE49-F238E27FC236}">
                <a16:creationId xmlns:a16="http://schemas.microsoft.com/office/drawing/2014/main" id="{22FC1D1C-93A8-49F8-BC4E-E8AB04219357}"/>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Salah memasukkan nomor elektroda atau identitas stasiun.</a:t>
            </a:r>
          </a:p>
        </p:txBody>
      </p:sp>
      <p:sp>
        <p:nvSpPr>
          <p:cNvPr id="4" name="">
            <a:extLst xmlns:a="http://schemas.openxmlformats.org/drawingml/2006/main">
              <a:ext uri="{FF2B5EF4-FFF2-40B4-BE49-F238E27FC236}">
                <a16:creationId xmlns:a16="http://schemas.microsoft.com/office/drawing/2014/main" id="{D2662897-74D9-4201-8E21-D9264138694C}"/>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Melewatkan konfirmasi radio sebelum tahap berbahaya.</a:t>
            </a:r>
          </a:p>
        </p:txBody>
      </p:sp>
      <p:sp>
        <p:nvSpPr>
          <p:cNvPr id="5" name="">
            <a:extLst xmlns:a="http://schemas.openxmlformats.org/drawingml/2006/main">
              <a:ext uri="{FF2B5EF4-FFF2-40B4-BE49-F238E27FC236}">
                <a16:creationId xmlns:a16="http://schemas.microsoft.com/office/drawing/2014/main" id="{78F43DE4-06F3-405E-AE7B-F5A4CAD15CB1}"/>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Lengah saat melepas alat atau selama perjalanan pulang.</a:t>
            </a:r>
          </a:p>
        </p:txBody>
      </p:sp>
      <p:sp>
        <p:nvSpPr>
          <p:cNvPr id="6" name="">
            <a:extLst xmlns:a="http://schemas.openxmlformats.org/drawingml/2006/main">
              <a:ext uri="{FF2B5EF4-FFF2-40B4-BE49-F238E27FC236}">
                <a16:creationId xmlns:a16="http://schemas.microsoft.com/office/drawing/2014/main" id="{0FA71D09-4333-401E-8280-14285367BC19}"/>
              </a:ext>
            </a:extLst>
          </p:cNvPr>
          <p:cNvSpPr>
            <a:spLocks xmlns:a="http://schemas.openxmlformats.org/drawingml/2006/main" noGrp="1"/>
          </p:cNvSpPr>
          <p:nvPr/>
        </p:nvSpPr>
        <p:spPr>
          <a:xfrm xmlns:a="http://schemas.openxmlformats.org/drawingml/2006/main">
            <a:off x="762000" y="5895975"/>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NIOSH · sumber pada catatan</a:t>
            </a:r>
          </a:p>
        </p:txBody>
      </p:sp>
      <p:sp>
        <p:nvSpPr>
          <p:cNvPr id="7" name="">
            <a:extLst xmlns:a="http://schemas.openxmlformats.org/drawingml/2006/main">
              <a:ext uri="{FF2B5EF4-FFF2-40B4-BE49-F238E27FC236}">
                <a16:creationId xmlns:a16="http://schemas.microsoft.com/office/drawing/2014/main" id="{C38EAC99-ED17-435A-9EC9-90B6A9351DF4}"/>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8" name="">
            <a:extLst xmlns:a="http://schemas.openxmlformats.org/drawingml/2006/main">
              <a:ext uri="{FF2B5EF4-FFF2-40B4-BE49-F238E27FC236}">
                <a16:creationId xmlns:a16="http://schemas.microsoft.com/office/drawing/2014/main" id="{649CF576-496C-432C-9AC3-192923295EC6}"/>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08 / 28</a:t>
            </a:r>
          </a:p>
        </p:txBody>
      </p:sp>
    </p:spTree>
    <p:extLst>
      <p:ext uri="{BB962C8B-B14F-4D97-AF65-F5344CB8AC3E}">
        <p14:creationId xmlns:p14="http://schemas.microsoft.com/office/powerpoint/2010/main" val="1922220769"/>
      </p:ext>
    </p:extLst>
  </p:cSld>
</p:sld>
</file>

<file path=ppt/slides/slide9.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3E2411-4767-4867-A41D-6AF515B72530}"/>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C4103C4E-B37B-4CE3-849D-842BA11C6F6D}"/>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Laporan kondisi dan tindakan tim</a:t>
            </a:r>
          </a:p>
        </p:txBody>
      </p:sp>
      <p:sp>
        <p:nvSpPr>
          <p:cNvPr id="3" name="">
            <a:extLst xmlns:a="http://schemas.openxmlformats.org/drawingml/2006/main">
              <a:ext uri="{FF2B5EF4-FFF2-40B4-BE49-F238E27FC236}">
                <a16:creationId xmlns:a16="http://schemas.microsoft.com/office/drawing/2014/main" id="{156C3D64-FD97-4E5E-84C5-5C79C10E712A}"/>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Mengantuk berat, konsentrasi berulang kali terputus, atau gerak tidak stabil perlu ditanggapi.</a:t>
            </a:r>
          </a:p>
        </p:txBody>
      </p:sp>
      <p:sp>
        <p:nvSpPr>
          <p:cNvPr id="4" name="">
            <a:extLst xmlns:a="http://schemas.openxmlformats.org/drawingml/2006/main">
              <a:ext uri="{FF2B5EF4-FFF2-40B4-BE49-F238E27FC236}">
                <a16:creationId xmlns:a16="http://schemas.microsoft.com/office/drawing/2014/main" id="{DF555658-CAF2-4666-9A8A-3A2E3B5BFB5A}"/>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Hentikan tahap yang bergantung pada kewaspadaan tersebut.</a:t>
            </a:r>
          </a:p>
        </p:txBody>
      </p:sp>
      <p:sp>
        <p:nvSpPr>
          <p:cNvPr id="5" name="">
            <a:extLst xmlns:a="http://schemas.openxmlformats.org/drawingml/2006/main">
              <a:ext uri="{FF2B5EF4-FFF2-40B4-BE49-F238E27FC236}">
                <a16:creationId xmlns:a16="http://schemas.microsoft.com/office/drawing/2014/main" id="{58CC67A9-5A5D-4793-B1D5-10993BEA2A1A}"/>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Atur pengganti, pemulihan, atau penundaan dan nilai ulang syarat aman.</a:t>
            </a:r>
          </a:p>
        </p:txBody>
      </p:sp>
      <p:sp>
        <p:nvSpPr>
          <p:cNvPr id="6" name="">
            <a:extLst xmlns:a="http://schemas.openxmlformats.org/drawingml/2006/main">
              <a:ext uri="{FF2B5EF4-FFF2-40B4-BE49-F238E27FC236}">
                <a16:creationId xmlns:a16="http://schemas.microsoft.com/office/drawing/2014/main" id="{7FD9AB60-20BE-4A14-A2AC-BF62AC3196A1}"/>
              </a:ext>
            </a:extLst>
          </p:cNvPr>
          <p:cNvSpPr>
            <a:spLocks xmlns:a="http://schemas.openxmlformats.org/drawingml/2006/main" noGrp="1"/>
          </p:cNvSpPr>
          <p:nvPr/>
        </p:nvSpPr>
        <p:spPr>
          <a:xfrm xmlns:a="http://schemas.openxmlformats.org/drawingml/2006/main">
            <a:off x="762000" y="5895975"/>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NIOSH · sumber pada catatan</a:t>
            </a:r>
          </a:p>
        </p:txBody>
      </p:sp>
      <p:sp>
        <p:nvSpPr>
          <p:cNvPr id="7" name="">
            <a:extLst xmlns:a="http://schemas.openxmlformats.org/drawingml/2006/main">
              <a:ext uri="{FF2B5EF4-FFF2-40B4-BE49-F238E27FC236}">
                <a16:creationId xmlns:a16="http://schemas.microsoft.com/office/drawing/2014/main" id="{976F72D1-4D9F-4B23-9CB4-393158959CA7}"/>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8" name="">
            <a:extLst xmlns:a="http://schemas.openxmlformats.org/drawingml/2006/main">
              <a:ext uri="{FF2B5EF4-FFF2-40B4-BE49-F238E27FC236}">
                <a16:creationId xmlns:a16="http://schemas.microsoft.com/office/drawing/2014/main" id="{E1E33BC1-3075-4DF3-93CB-D136A0EA744D}"/>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09 / 28</a:t>
            </a:r>
          </a:p>
        </p:txBody>
      </p:sp>
    </p:spTree>
    <p:extLst>
      <p:ext uri="{BB962C8B-B14F-4D97-AF65-F5344CB8AC3E}">
        <p14:creationId xmlns:p14="http://schemas.microsoft.com/office/powerpoint/2010/main" val="1840945828"/>
      </p:ext>
    </p:extLst>
  </p:cSld>
</p:sld>
</file>

<file path=ppt/slides/slide10.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9E67CE77-AAEE-4008-AC03-1E43B38F6261}"/>
              </a:ext>
            </a:extLst>
          </p:cNvPr>
          <p:cNvCxnSpPr>
            <a:stCxn xmlns:a="http://schemas.openxmlformats.org/drawingml/2006/main" id="24" idx="3"/>
            <a:endCxn xmlns:a="http://schemas.openxmlformats.org/drawingml/2006/main" id="25" idx="1"/>
          </p:cNvCxnSpPr>
          <p:nvPr/>
        </p:nvCxnSpPr>
        <p:spPr>
          <a:xfrm xmlns:a="http://schemas.openxmlformats.org/drawingml/2006/main">
            <a:off x="9268778" y="3409951"/>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20" name="">
            <a:extLst xmlns:a="http://schemas.openxmlformats.org/drawingml/2006/main">
              <a:ext uri="{FF2B5EF4-FFF2-40B4-BE49-F238E27FC236}">
                <a16:creationId xmlns:a16="http://schemas.microsoft.com/office/drawing/2014/main" id="{047B1AC5-7BDA-4F6C-92B3-750938000231}"/>
              </a:ext>
            </a:extLst>
          </p:cNvPr>
          <p:cNvCxnSpPr>
            <a:stCxn xmlns:a="http://schemas.openxmlformats.org/drawingml/2006/main" id="18" idx="3"/>
            <a:endCxn xmlns:a="http://schemas.openxmlformats.org/drawingml/2006/main" id="19" idx="1"/>
          </p:cNvCxnSpPr>
          <p:nvPr/>
        </p:nvCxnSpPr>
        <p:spPr>
          <a:xfrm xmlns:a="http://schemas.openxmlformats.org/drawingml/2006/main">
            <a:off x="7055167" y="3409951"/>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14" name="">
            <a:extLst xmlns:a="http://schemas.openxmlformats.org/drawingml/2006/main">
              <a:ext uri="{FF2B5EF4-FFF2-40B4-BE49-F238E27FC236}">
                <a16:creationId xmlns:a16="http://schemas.microsoft.com/office/drawing/2014/main" id="{95761E3F-1820-4182-AECC-CC9C52BA873A}"/>
              </a:ext>
            </a:extLst>
          </p:cNvPr>
          <p:cNvCxnSpPr>
            <a:stCxn xmlns:a="http://schemas.openxmlformats.org/drawingml/2006/main" id="12" idx="3"/>
            <a:endCxn xmlns:a="http://schemas.openxmlformats.org/drawingml/2006/main" id="13" idx="1"/>
          </p:cNvCxnSpPr>
          <p:nvPr/>
        </p:nvCxnSpPr>
        <p:spPr>
          <a:xfrm xmlns:a="http://schemas.openxmlformats.org/drawingml/2006/main">
            <a:off x="4841558" y="3409951"/>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8" name="">
            <a:extLst xmlns:a="http://schemas.openxmlformats.org/drawingml/2006/main">
              <a:ext uri="{FF2B5EF4-FFF2-40B4-BE49-F238E27FC236}">
                <a16:creationId xmlns:a16="http://schemas.microsoft.com/office/drawing/2014/main" id="{1AE49F19-62C2-42B6-A79B-B962E7290CFE}"/>
              </a:ext>
            </a:extLst>
          </p:cNvPr>
          <p:cNvCxnSpPr>
            <a:stCxn xmlns:a="http://schemas.openxmlformats.org/drawingml/2006/main" id="6" idx="3"/>
            <a:endCxn xmlns:a="http://schemas.openxmlformats.org/drawingml/2006/main" id="7" idx="1"/>
          </p:cNvCxnSpPr>
          <p:nvPr/>
        </p:nvCxnSpPr>
        <p:spPr>
          <a:xfrm xmlns:a="http://schemas.openxmlformats.org/drawingml/2006/main">
            <a:off x="2627948" y="3409951"/>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sp>
        <p:nvSpPr>
          <p:cNvPr id="34" name="">
            <a:extLst xmlns:a="http://schemas.openxmlformats.org/drawingml/2006/main">
              <a:ext uri="{FF2B5EF4-FFF2-40B4-BE49-F238E27FC236}">
                <a16:creationId xmlns:a16="http://schemas.microsoft.com/office/drawing/2014/main" id="{EC0C36CE-1936-4ADA-8F03-6050463B3002}"/>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E19132EC-B8DF-4037-BC51-F5322057BFF6}"/>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Waktu kerja mencakup seluruh perjalanan</a:t>
            </a:r>
          </a:p>
        </p:txBody>
      </p:sp>
      <p:sp>
        <p:nvSpPr>
          <p:cNvPr id="3" name="">
            <a:extLst xmlns:a="http://schemas.openxmlformats.org/drawingml/2006/main">
              <a:ext uri="{FF2B5EF4-FFF2-40B4-BE49-F238E27FC236}">
                <a16:creationId xmlns:a16="http://schemas.microsoft.com/office/drawing/2014/main" id="{D2EBB34C-91FE-46C3-8313-BCE4F4469BC6}"/>
              </a:ext>
            </a:extLst>
          </p:cNvPr>
          <p:cNvSpPr>
            <a:spLocks xmlns:a="http://schemas.openxmlformats.org/drawingml/2006/main" noGrp="1"/>
          </p:cNvSpPr>
          <p:nvPr/>
        </p:nvSpPr>
        <p:spPr>
          <a:xfrm xmlns:a="http://schemas.openxmlformats.org/drawingml/2006/main">
            <a:off x="762000" y="2714625"/>
            <a:ext cx="181356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4" name="">
            <a:extLst xmlns:a="http://schemas.openxmlformats.org/drawingml/2006/main">
              <a:ext uri="{FF2B5EF4-FFF2-40B4-BE49-F238E27FC236}">
                <a16:creationId xmlns:a16="http://schemas.microsoft.com/office/drawing/2014/main" id="{9029C48B-DD94-45E1-97AE-EFAB1AA4D764}"/>
              </a:ext>
            </a:extLst>
          </p:cNvPr>
          <p:cNvSpPr>
            <a:spLocks xmlns:a="http://schemas.openxmlformats.org/drawingml/2006/main" noGrp="1"/>
          </p:cNvSpPr>
          <p:nvPr/>
        </p:nvSpPr>
        <p:spPr>
          <a:xfrm xmlns:a="http://schemas.openxmlformats.org/drawingml/2006/main">
            <a:off x="933450" y="2847975"/>
            <a:ext cx="147066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Persiapan</a:t>
            </a:r>
          </a:p>
        </p:txBody>
      </p:sp>
      <p:sp>
        <p:nvSpPr>
          <p:cNvPr id="5" name="">
            <a:extLst xmlns:a="http://schemas.openxmlformats.org/drawingml/2006/main">
              <a:ext uri="{FF2B5EF4-FFF2-40B4-BE49-F238E27FC236}">
                <a16:creationId xmlns:a16="http://schemas.microsoft.com/office/drawing/2014/main" id="{FAFB09E3-8B93-4AAB-A5D7-EA5E96CF54CA}"/>
              </a:ext>
            </a:extLst>
          </p:cNvPr>
          <p:cNvSpPr>
            <a:spLocks xmlns:a="http://schemas.openxmlformats.org/drawingml/2006/main" noGrp="1"/>
          </p:cNvSpPr>
          <p:nvPr/>
        </p:nvSpPr>
        <p:spPr>
          <a:xfrm xmlns:a="http://schemas.openxmlformats.org/drawingml/2006/main">
            <a:off x="933450" y="3295650"/>
            <a:ext cx="147066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Personel dan</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alat</a:t>
            </a:r>
          </a:p>
        </p:txBody>
      </p:sp>
      <p:sp>
        <p:nvSpPr>
          <p:cNvPr id="6" name="">
            <a:extLst xmlns:a="http://schemas.openxmlformats.org/drawingml/2006/main">
              <a:ext uri="{FF2B5EF4-FFF2-40B4-BE49-F238E27FC236}">
                <a16:creationId xmlns:a16="http://schemas.microsoft.com/office/drawing/2014/main" id="{CC69069F-9055-4142-83E1-F357D9866CF6}"/>
              </a:ext>
            </a:extLst>
          </p:cNvPr>
          <p:cNvSpPr>
            <a:spLocks xmlns:a="http://schemas.openxmlformats.org/drawingml/2006/main" noGrp="1"/>
          </p:cNvSpPr>
          <p:nvPr/>
        </p:nvSpPr>
        <p:spPr>
          <a:xfrm xmlns:a="http://schemas.openxmlformats.org/drawingml/2006/main">
            <a:off x="2618423" y="3405188"/>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F0E810D-E12F-4B77-8877-5DCA7636DA97}"/>
              </a:ext>
            </a:extLst>
          </p:cNvPr>
          <p:cNvSpPr>
            <a:spLocks xmlns:a="http://schemas.openxmlformats.org/drawingml/2006/main" noGrp="1"/>
          </p:cNvSpPr>
          <p:nvPr/>
        </p:nvSpPr>
        <p:spPr>
          <a:xfrm xmlns:a="http://schemas.openxmlformats.org/drawingml/2006/main">
            <a:off x="2913698" y="3405188"/>
            <a:ext cx="9525" cy="9525"/>
          </a:xfrm>
          <a:prstGeom xmlns:a="http://schemas.openxmlformats.org/drawingml/2006/main" prst="rect">
            <a:avLst/>
          </a:prstGeom>
          <a:noFill xmlns:a="http://schemas.openxmlformats.org/drawingml/2006/main"/>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5BFA36-F318-4CF4-AEA2-2743981C8E9E}"/>
              </a:ext>
            </a:extLst>
          </p:cNvPr>
          <p:cNvSpPr>
            <a:spLocks xmlns:a="http://schemas.openxmlformats.org/drawingml/2006/main" noGrp="1"/>
          </p:cNvSpPr>
          <p:nvPr/>
        </p:nvSpPr>
        <p:spPr>
          <a:xfrm xmlns:a="http://schemas.openxmlformats.org/drawingml/2006/main">
            <a:off x="2975610" y="2714625"/>
            <a:ext cx="181356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0" name="">
            <a:extLst xmlns:a="http://schemas.openxmlformats.org/drawingml/2006/main">
              <a:ext uri="{FF2B5EF4-FFF2-40B4-BE49-F238E27FC236}">
                <a16:creationId xmlns:a16="http://schemas.microsoft.com/office/drawing/2014/main" id="{8C4EE3AE-49FE-4DB3-A0E7-7F288860B9F2}"/>
              </a:ext>
            </a:extLst>
          </p:cNvPr>
          <p:cNvSpPr>
            <a:spLocks xmlns:a="http://schemas.openxmlformats.org/drawingml/2006/main" noGrp="1"/>
          </p:cNvSpPr>
          <p:nvPr/>
        </p:nvSpPr>
        <p:spPr>
          <a:xfrm xmlns:a="http://schemas.openxmlformats.org/drawingml/2006/main">
            <a:off x="3147060" y="2847975"/>
            <a:ext cx="147066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Akses</a:t>
            </a:r>
          </a:p>
        </p:txBody>
      </p:sp>
      <p:sp>
        <p:nvSpPr>
          <p:cNvPr id="11" name="">
            <a:extLst xmlns:a="http://schemas.openxmlformats.org/drawingml/2006/main">
              <a:ext uri="{FF2B5EF4-FFF2-40B4-BE49-F238E27FC236}">
                <a16:creationId xmlns:a16="http://schemas.microsoft.com/office/drawing/2014/main" id="{4C4A4CB8-5099-45C9-B3BA-9DB41E3D199F}"/>
              </a:ext>
            </a:extLst>
          </p:cNvPr>
          <p:cNvSpPr>
            <a:spLocks xmlns:a="http://schemas.openxmlformats.org/drawingml/2006/main" noGrp="1"/>
          </p:cNvSpPr>
          <p:nvPr/>
        </p:nvSpPr>
        <p:spPr>
          <a:xfrm xmlns:a="http://schemas.openxmlformats.org/drawingml/2006/main">
            <a:off x="3147060" y="3295650"/>
            <a:ext cx="147066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Waktu tempuh</a:t>
            </a:r>
          </a:p>
        </p:txBody>
      </p:sp>
      <p:sp>
        <p:nvSpPr>
          <p:cNvPr id="12" name="">
            <a:extLst xmlns:a="http://schemas.openxmlformats.org/drawingml/2006/main">
              <a:ext uri="{FF2B5EF4-FFF2-40B4-BE49-F238E27FC236}">
                <a16:creationId xmlns:a16="http://schemas.microsoft.com/office/drawing/2014/main" id="{D4D3F04B-88D5-4953-9B8C-519E1E5621A0}"/>
              </a:ext>
            </a:extLst>
          </p:cNvPr>
          <p:cNvSpPr>
            <a:spLocks xmlns:a="http://schemas.openxmlformats.org/drawingml/2006/main" noGrp="1"/>
          </p:cNvSpPr>
          <p:nvPr/>
        </p:nvSpPr>
        <p:spPr>
          <a:xfrm xmlns:a="http://schemas.openxmlformats.org/drawingml/2006/main">
            <a:off x="4832033" y="3405188"/>
            <a:ext cx="9525" cy="9525"/>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226BAE7-A152-4FEE-BC8F-BC424E0FF842}"/>
              </a:ext>
            </a:extLst>
          </p:cNvPr>
          <p:cNvSpPr>
            <a:spLocks xmlns:a="http://schemas.openxmlformats.org/drawingml/2006/main" noGrp="1"/>
          </p:cNvSpPr>
          <p:nvPr/>
        </p:nvSpPr>
        <p:spPr>
          <a:xfrm xmlns:a="http://schemas.openxmlformats.org/drawingml/2006/main">
            <a:off x="5127308" y="3405188"/>
            <a:ext cx="9525" cy="9525"/>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E75820E-37F5-460E-9DB8-1CB0989F5FF8}"/>
              </a:ext>
            </a:extLst>
          </p:cNvPr>
          <p:cNvSpPr>
            <a:spLocks xmlns:a="http://schemas.openxmlformats.org/drawingml/2006/main" noGrp="1"/>
          </p:cNvSpPr>
          <p:nvPr/>
        </p:nvSpPr>
        <p:spPr>
          <a:xfrm xmlns:a="http://schemas.openxmlformats.org/drawingml/2006/main">
            <a:off x="5189220" y="2714625"/>
            <a:ext cx="181356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6" name="">
            <a:extLst xmlns:a="http://schemas.openxmlformats.org/drawingml/2006/main">
              <a:ext uri="{FF2B5EF4-FFF2-40B4-BE49-F238E27FC236}">
                <a16:creationId xmlns:a16="http://schemas.microsoft.com/office/drawing/2014/main" id="{50AB35D0-4645-46D7-9A41-F669E8BFE862}"/>
              </a:ext>
            </a:extLst>
          </p:cNvPr>
          <p:cNvSpPr>
            <a:spLocks xmlns:a="http://schemas.openxmlformats.org/drawingml/2006/main" noGrp="1"/>
          </p:cNvSpPr>
          <p:nvPr/>
        </p:nvSpPr>
        <p:spPr>
          <a:xfrm xmlns:a="http://schemas.openxmlformats.org/drawingml/2006/main">
            <a:off x="5360670" y="2847975"/>
            <a:ext cx="147066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Akuisisi</a:t>
            </a:r>
          </a:p>
        </p:txBody>
      </p:sp>
      <p:sp>
        <p:nvSpPr>
          <p:cNvPr id="17" name="">
            <a:extLst xmlns:a="http://schemas.openxmlformats.org/drawingml/2006/main">
              <a:ext uri="{FF2B5EF4-FFF2-40B4-BE49-F238E27FC236}">
                <a16:creationId xmlns:a16="http://schemas.microsoft.com/office/drawing/2014/main" id="{78A61A7D-60DA-450D-B15A-7154BE5A6F41}"/>
              </a:ext>
            </a:extLst>
          </p:cNvPr>
          <p:cNvSpPr>
            <a:spLocks xmlns:a="http://schemas.openxmlformats.org/drawingml/2006/main" noGrp="1"/>
          </p:cNvSpPr>
          <p:nvPr/>
        </p:nvSpPr>
        <p:spPr>
          <a:xfrm xmlns:a="http://schemas.openxmlformats.org/drawingml/2006/main">
            <a:off x="5360670" y="3295650"/>
            <a:ext cx="147066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Tuntutan</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kerja</a:t>
            </a:r>
          </a:p>
        </p:txBody>
      </p:sp>
      <p:sp>
        <p:nvSpPr>
          <p:cNvPr id="18" name="">
            <a:extLst xmlns:a="http://schemas.openxmlformats.org/drawingml/2006/main">
              <a:ext uri="{FF2B5EF4-FFF2-40B4-BE49-F238E27FC236}">
                <a16:creationId xmlns:a16="http://schemas.microsoft.com/office/drawing/2014/main" id="{67433898-2771-4574-8B2F-111D87DFE17D}"/>
              </a:ext>
            </a:extLst>
          </p:cNvPr>
          <p:cNvSpPr>
            <a:spLocks xmlns:a="http://schemas.openxmlformats.org/drawingml/2006/main" noGrp="1"/>
          </p:cNvSpPr>
          <p:nvPr/>
        </p:nvSpPr>
        <p:spPr>
          <a:xfrm xmlns:a="http://schemas.openxmlformats.org/drawingml/2006/main">
            <a:off x="7045642" y="3405188"/>
            <a:ext cx="9525" cy="9525"/>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9DE1534-71DF-46EF-B39E-B0520F037866}"/>
              </a:ext>
            </a:extLst>
          </p:cNvPr>
          <p:cNvSpPr>
            <a:spLocks xmlns:a="http://schemas.openxmlformats.org/drawingml/2006/main" noGrp="1"/>
          </p:cNvSpPr>
          <p:nvPr/>
        </p:nvSpPr>
        <p:spPr>
          <a:xfrm xmlns:a="http://schemas.openxmlformats.org/drawingml/2006/main">
            <a:off x="7340917" y="3405188"/>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6F38F78-01F8-43BE-8862-D73F18B44B75}"/>
              </a:ext>
            </a:extLst>
          </p:cNvPr>
          <p:cNvSpPr>
            <a:spLocks xmlns:a="http://schemas.openxmlformats.org/drawingml/2006/main" noGrp="1"/>
          </p:cNvSpPr>
          <p:nvPr/>
        </p:nvSpPr>
        <p:spPr>
          <a:xfrm xmlns:a="http://schemas.openxmlformats.org/drawingml/2006/main">
            <a:off x="7402830" y="2714625"/>
            <a:ext cx="181356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22" name="">
            <a:extLst xmlns:a="http://schemas.openxmlformats.org/drawingml/2006/main">
              <a:ext uri="{FF2B5EF4-FFF2-40B4-BE49-F238E27FC236}">
                <a16:creationId xmlns:a16="http://schemas.microsoft.com/office/drawing/2014/main" id="{841F4C59-03E2-4C3C-BF27-8DFAFBE53149}"/>
              </a:ext>
            </a:extLst>
          </p:cNvPr>
          <p:cNvSpPr>
            <a:spLocks xmlns:a="http://schemas.openxmlformats.org/drawingml/2006/main" noGrp="1"/>
          </p:cNvSpPr>
          <p:nvPr/>
        </p:nvSpPr>
        <p:spPr>
          <a:xfrm xmlns:a="http://schemas.openxmlformats.org/drawingml/2006/main">
            <a:off x="7574280" y="2847975"/>
            <a:ext cx="147066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Bongkar</a:t>
            </a:r>
          </a:p>
        </p:txBody>
      </p:sp>
      <p:sp>
        <p:nvSpPr>
          <p:cNvPr id="23" name="">
            <a:extLst xmlns:a="http://schemas.openxmlformats.org/drawingml/2006/main">
              <a:ext uri="{FF2B5EF4-FFF2-40B4-BE49-F238E27FC236}">
                <a16:creationId xmlns:a16="http://schemas.microsoft.com/office/drawing/2014/main" id="{69A0B24D-9DDC-4AA4-894E-6498C3694709}"/>
              </a:ext>
            </a:extLst>
          </p:cNvPr>
          <p:cNvSpPr>
            <a:spLocks xmlns:a="http://schemas.openxmlformats.org/drawingml/2006/main" noGrp="1"/>
          </p:cNvSpPr>
          <p:nvPr/>
        </p:nvSpPr>
        <p:spPr>
          <a:xfrm xmlns:a="http://schemas.openxmlformats.org/drawingml/2006/main">
            <a:off x="7574280" y="3295650"/>
            <a:ext cx="147066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Sisa energi</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dan waktu</a:t>
            </a:r>
          </a:p>
        </p:txBody>
      </p:sp>
      <p:sp>
        <p:nvSpPr>
          <p:cNvPr id="24" name="">
            <a:extLst xmlns:a="http://schemas.openxmlformats.org/drawingml/2006/main">
              <a:ext uri="{FF2B5EF4-FFF2-40B4-BE49-F238E27FC236}">
                <a16:creationId xmlns:a16="http://schemas.microsoft.com/office/drawing/2014/main" id="{6A23D720-CA8D-4FF7-9B21-FB252CED50F1}"/>
              </a:ext>
            </a:extLst>
          </p:cNvPr>
          <p:cNvSpPr>
            <a:spLocks xmlns:a="http://schemas.openxmlformats.org/drawingml/2006/main" noGrp="1"/>
          </p:cNvSpPr>
          <p:nvPr/>
        </p:nvSpPr>
        <p:spPr>
          <a:xfrm xmlns:a="http://schemas.openxmlformats.org/drawingml/2006/main">
            <a:off x="9259253" y="3405188"/>
            <a:ext cx="9525" cy="9525"/>
          </a:xfrm>
          <a:prstGeom xmlns:a="http://schemas.openxmlformats.org/drawingml/2006/main" prst="rect">
            <a:avLst/>
          </a:prstGeom>
          <a:noFill xmlns:a="http://schemas.openxmlformats.org/drawingml/2006/main"/>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76E9E67-B425-4738-B254-274D00A9F115}"/>
              </a:ext>
            </a:extLst>
          </p:cNvPr>
          <p:cNvSpPr>
            <a:spLocks xmlns:a="http://schemas.openxmlformats.org/drawingml/2006/main" noGrp="1"/>
          </p:cNvSpPr>
          <p:nvPr/>
        </p:nvSpPr>
        <p:spPr>
          <a:xfrm xmlns:a="http://schemas.openxmlformats.org/drawingml/2006/main">
            <a:off x="9554528" y="3405188"/>
            <a:ext cx="9525" cy="9525"/>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64FDBF9-FEE1-4E69-B1C7-F30215C49CE7}"/>
              </a:ext>
            </a:extLst>
          </p:cNvPr>
          <p:cNvSpPr>
            <a:spLocks xmlns:a="http://schemas.openxmlformats.org/drawingml/2006/main" noGrp="1"/>
          </p:cNvSpPr>
          <p:nvPr/>
        </p:nvSpPr>
        <p:spPr>
          <a:xfrm xmlns:a="http://schemas.openxmlformats.org/drawingml/2006/main">
            <a:off x="9616440" y="2714625"/>
            <a:ext cx="181356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28" name="">
            <a:extLst xmlns:a="http://schemas.openxmlformats.org/drawingml/2006/main">
              <a:ext uri="{FF2B5EF4-FFF2-40B4-BE49-F238E27FC236}">
                <a16:creationId xmlns:a16="http://schemas.microsoft.com/office/drawing/2014/main" id="{34C9CBD2-CFFA-4FC4-9AB0-1222A26ADF05}"/>
              </a:ext>
            </a:extLst>
          </p:cNvPr>
          <p:cNvSpPr>
            <a:spLocks xmlns:a="http://schemas.openxmlformats.org/drawingml/2006/main" noGrp="1"/>
          </p:cNvSpPr>
          <p:nvPr/>
        </p:nvSpPr>
        <p:spPr>
          <a:xfrm xmlns:a="http://schemas.openxmlformats.org/drawingml/2006/main">
            <a:off x="9787890" y="2847975"/>
            <a:ext cx="147066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Pulang</a:t>
            </a:r>
          </a:p>
        </p:txBody>
      </p:sp>
      <p:sp>
        <p:nvSpPr>
          <p:cNvPr id="29" name="">
            <a:extLst xmlns:a="http://schemas.openxmlformats.org/drawingml/2006/main">
              <a:ext uri="{FF2B5EF4-FFF2-40B4-BE49-F238E27FC236}">
                <a16:creationId xmlns:a16="http://schemas.microsoft.com/office/drawing/2014/main" id="{27C42ED8-67FF-4F35-8869-AA79471F2610}"/>
              </a:ext>
            </a:extLst>
          </p:cNvPr>
          <p:cNvSpPr>
            <a:spLocks xmlns:a="http://schemas.openxmlformats.org/drawingml/2006/main" noGrp="1"/>
          </p:cNvSpPr>
          <p:nvPr/>
        </p:nvSpPr>
        <p:spPr>
          <a:xfrm xmlns:a="http://schemas.openxmlformats.org/drawingml/2006/main">
            <a:off x="9787890" y="3295650"/>
            <a:ext cx="147066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Kewaspadaan</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pengemudi</a:t>
            </a:r>
          </a:p>
        </p:txBody>
      </p:sp>
      <p:sp>
        <p:nvSpPr>
          <p:cNvPr id="30" name="">
            <a:extLst xmlns:a="http://schemas.openxmlformats.org/drawingml/2006/main">
              <a:ext uri="{FF2B5EF4-FFF2-40B4-BE49-F238E27FC236}">
                <a16:creationId xmlns:a16="http://schemas.microsoft.com/office/drawing/2014/main" id="{647DCCCC-1AAD-4612-A305-3989E8E66EF6}"/>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Rencana tugas mencakup seluruh perjalanan dan kesempatan pemulihan.</a:t>
            </a:r>
          </a:p>
        </p:txBody>
      </p:sp>
      <p:sp>
        <p:nvSpPr>
          <p:cNvPr id="31" name="">
            <a:extLst xmlns:a="http://schemas.openxmlformats.org/drawingml/2006/main">
              <a:ext uri="{FF2B5EF4-FFF2-40B4-BE49-F238E27FC236}">
                <a16:creationId xmlns:a16="http://schemas.microsoft.com/office/drawing/2014/main" id="{33D0756D-7A87-4143-A8A5-7F1B5A57051A}"/>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NIOSH · sumber pada catatan</a:t>
            </a:r>
          </a:p>
        </p:txBody>
      </p:sp>
      <p:sp>
        <p:nvSpPr>
          <p:cNvPr id="32" name="">
            <a:extLst xmlns:a="http://schemas.openxmlformats.org/drawingml/2006/main">
              <a:ext uri="{FF2B5EF4-FFF2-40B4-BE49-F238E27FC236}">
                <a16:creationId xmlns:a16="http://schemas.microsoft.com/office/drawing/2014/main" id="{B71144A4-028A-4BB0-85EC-6D9504DDCF9D}"/>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33" name="">
            <a:extLst xmlns:a="http://schemas.openxmlformats.org/drawingml/2006/main">
              <a:ext uri="{FF2B5EF4-FFF2-40B4-BE49-F238E27FC236}">
                <a16:creationId xmlns:a16="http://schemas.microsoft.com/office/drawing/2014/main" id="{E78750B4-C142-4DA5-9662-C10945C33950}"/>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10 / 28</a:t>
            </a:r>
          </a:p>
        </p:txBody>
      </p:sp>
    </p:spTree>
    <p:extLst>
      <p:ext uri="{BB962C8B-B14F-4D97-AF65-F5344CB8AC3E}">
        <p14:creationId xmlns:p14="http://schemas.microsoft.com/office/powerpoint/2010/main" val="242029346"/>
      </p:ext>
    </p:extLst>
  </p:cSld>
</p:sld>
</file>

<file path=ppt/slides/slide11.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47C6347-7AFD-4603-812A-ED15D88F7A3A}"/>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9189C741-8BEA-445F-9500-B27ABF16B4A1}"/>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Kerja malam perlu alasan dan dukungan</a:t>
            </a:r>
          </a:p>
        </p:txBody>
      </p:sp>
      <p:pic>
        <p:nvPicPr>
          <p:cNvPr id="3" name="">
            <a:extLst xmlns:a="http://schemas.openxmlformats.org/drawingml/2006/main">
              <a:ext uri="{FF2B5EF4-FFF2-40B4-BE49-F238E27FC236}">
                <a16:creationId xmlns:a16="http://schemas.microsoft.com/office/drawing/2014/main" id="{3DCE8221-192D-4BF0-85E4-EAE10099E566}"/>
              </a:ext>
            </a:extLst>
          </p:cNvPr>
          <p:cNvPicPr>
            <a:picLocks xmlns:a="http://schemas.openxmlformats.org/drawingml/2006/main" noChangeAspect="1"/>
          </p:cNvPicPr>
          <p:nvPr/>
        </p:nvPicPr>
        <p:blipFill>
          <a:blip xmlns:r="http://schemas.openxmlformats.org/officeDocument/2006/relationships" xmlns:a="http://schemas.openxmlformats.org/drawingml/2006/main" r:embed="R06ad86e0190144da"/>
          <a:stretch xmlns:a="http://schemas.openxmlformats.org/drawingml/2006/main"/>
        </p:blipFill>
        <p:spPr>
          <a:xfrm xmlns:a="http://schemas.openxmlformats.org/drawingml/2006/main">
            <a:off x="768626" y="1981200"/>
            <a:ext cx="10654748" cy="19145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A8F10F2-2036-4193-88C6-9E2C7F9FC68B}"/>
              </a:ext>
            </a:extLst>
          </p:cNvPr>
          <p:cNvSpPr>
            <a:spLocks xmlns:a="http://schemas.openxmlformats.org/drawingml/2006/main" noGrp="1"/>
          </p:cNvSpPr>
          <p:nvPr/>
        </p:nvSpPr>
        <p:spPr>
          <a:xfrm xmlns:a="http://schemas.openxmlformats.org/drawingml/2006/main">
            <a:off x="762000" y="3981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Gyan Bahadur Khattri · CC BY-SA 4.0</a:t>
            </a:r>
          </a:p>
        </p:txBody>
      </p:sp>
      <p:sp>
        <p:nvSpPr>
          <p:cNvPr id="5" name="">
            <a:extLst xmlns:a="http://schemas.openxmlformats.org/drawingml/2006/main">
              <a:ext uri="{FF2B5EF4-FFF2-40B4-BE49-F238E27FC236}">
                <a16:creationId xmlns:a16="http://schemas.microsoft.com/office/drawing/2014/main" id="{CCD43651-6B44-48FF-8450-29924CDEE0D3}"/>
              </a:ext>
            </a:extLst>
          </p:cNvPr>
          <p:cNvSpPr>
            <a:spLocks xmlns:a="http://schemas.openxmlformats.org/drawingml/2006/main" noGrp="1"/>
          </p:cNvSpPr>
          <p:nvPr/>
        </p:nvSpPr>
        <p:spPr>
          <a:xfrm xmlns:a="http://schemas.openxmlformats.org/drawingml/2006/main">
            <a:off x="762000" y="44386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F1F1B"/>
                </a:solidFill>
                <a:latin typeface="Arial"/>
                <a:ea typeface="Arial"/>
                <a:cs typeface="Arial"/>
              </a:defRPr>
            </a:defPPr>
            <a:lvl1pPr>
              <a:defRPr sz="2025" b="0">
                <a:solidFill>
                  <a:srgbClr val="1F1F1B"/>
                </a:solidFill>
                <a:latin typeface="Arial"/>
                <a:ea typeface="Arial"/>
                <a:cs typeface="Arial"/>
              </a:defRPr>
            </a:lvl1pPr>
            <a:lvl2pPr>
              <a:defRPr sz="2025" b="0">
                <a:solidFill>
                  <a:srgbClr val="1F1F1B"/>
                </a:solidFill>
                <a:latin typeface="Arial"/>
                <a:ea typeface="Arial"/>
                <a:cs typeface="Arial"/>
              </a:defRPr>
            </a:lvl2pPr>
            <a:lvl3pPr>
              <a:defRPr sz="2025" b="0">
                <a:solidFill>
                  <a:srgbClr val="1F1F1B"/>
                </a:solidFill>
                <a:latin typeface="Arial"/>
                <a:ea typeface="Arial"/>
                <a:cs typeface="Arial"/>
              </a:defRPr>
            </a:lvl3pPr>
            <a:lvl4pPr>
              <a:defRPr sz="2025" b="0">
                <a:solidFill>
                  <a:srgbClr val="1F1F1B"/>
                </a:solidFill>
                <a:latin typeface="Arial"/>
                <a:ea typeface="Arial"/>
                <a:cs typeface="Arial"/>
              </a:defRPr>
            </a:lvl4pPr>
            <a:lvl5pPr>
              <a:defRPr sz="2025" b="0">
                <a:solidFill>
                  <a:srgbClr val="1F1F1B"/>
                </a:solidFill>
                <a:latin typeface="Arial"/>
                <a:ea typeface="Arial"/>
                <a:cs typeface="Arial"/>
              </a:defRPr>
            </a:lvl5pPr>
            <a:lvl6pPr>
              <a:defRPr sz="2025" b="0">
                <a:solidFill>
                  <a:srgbClr val="1F1F1B"/>
                </a:solidFill>
                <a:latin typeface="Arial"/>
                <a:ea typeface="Arial"/>
                <a:cs typeface="Arial"/>
              </a:defRPr>
            </a:lvl6pPr>
            <a:lvl7pPr>
              <a:defRPr sz="2025" b="0">
                <a:solidFill>
                  <a:srgbClr val="1F1F1B"/>
                </a:solidFill>
                <a:latin typeface="Arial"/>
                <a:ea typeface="Arial"/>
                <a:cs typeface="Arial"/>
              </a:defRPr>
            </a:lvl7pPr>
            <a:lvl8pPr>
              <a:defRPr sz="2025" b="0">
                <a:solidFill>
                  <a:srgbClr val="1F1F1B"/>
                </a:solidFill>
                <a:latin typeface="Arial"/>
                <a:ea typeface="Arial"/>
                <a:cs typeface="Arial"/>
              </a:defRPr>
            </a:lvl8pPr>
            <a:lvl9pPr>
              <a:defRPr sz="2025" b="0">
                <a:solidFill>
                  <a:srgbClr val="1F1F1B"/>
                </a:solidFill>
                <a:latin typeface="Arial"/>
                <a:ea typeface="Arial"/>
                <a:cs typeface="Arial"/>
              </a:defRPr>
            </a:lvl9pPr>
          </a:lstStyle>
          <a:p xmlns:a="http://schemas.openxmlformats.org/drawingml/2006/main">
            <a:pPr>
              <a:defRPr sz="2025" b="0">
                <a:solidFill>
                  <a:srgbClr val="1F1F1B"/>
                </a:solidFill>
                <a:latin typeface="Arial"/>
                <a:ea typeface="Arial"/>
                <a:cs typeface="Arial"/>
              </a:defRPr>
            </a:pPr>
            <a:r>
              <a:rPr sz="2025" b="0">
                <a:solidFill>
                  <a:srgbClr val="1F1F1B"/>
                </a:solidFill>
                <a:latin typeface="Arial"/>
                <a:ea typeface="Arial"/>
                <a:cs typeface="Arial"/>
              </a:rPr>
              <a:t>Pertimbangkan alternatif waktu atau metode.</a:t>
            </a:r>
          </a:p>
        </p:txBody>
      </p:sp>
      <p:sp>
        <p:nvSpPr>
          <p:cNvPr id="6" name="">
            <a:extLst xmlns:a="http://schemas.openxmlformats.org/drawingml/2006/main">
              <a:ext uri="{FF2B5EF4-FFF2-40B4-BE49-F238E27FC236}">
                <a16:creationId xmlns:a16="http://schemas.microsoft.com/office/drawing/2014/main" id="{AF3D8DC4-7105-4CFC-896E-1AA12003EB4E}"/>
              </a:ext>
            </a:extLst>
          </p:cNvPr>
          <p:cNvSpPr>
            <a:spLocks xmlns:a="http://schemas.openxmlformats.org/drawingml/2006/main" noGrp="1"/>
          </p:cNvSpPr>
          <p:nvPr/>
        </p:nvSpPr>
        <p:spPr>
          <a:xfrm xmlns:a="http://schemas.openxmlformats.org/drawingml/2006/main">
            <a:off x="762000" y="50673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F1F1B"/>
                </a:solidFill>
                <a:latin typeface="Arial"/>
                <a:ea typeface="Arial"/>
                <a:cs typeface="Arial"/>
              </a:defRPr>
            </a:defPPr>
            <a:lvl1pPr>
              <a:defRPr sz="2025" b="0">
                <a:solidFill>
                  <a:srgbClr val="1F1F1B"/>
                </a:solidFill>
                <a:latin typeface="Arial"/>
                <a:ea typeface="Arial"/>
                <a:cs typeface="Arial"/>
              </a:defRPr>
            </a:lvl1pPr>
            <a:lvl2pPr>
              <a:defRPr sz="2025" b="0">
                <a:solidFill>
                  <a:srgbClr val="1F1F1B"/>
                </a:solidFill>
                <a:latin typeface="Arial"/>
                <a:ea typeface="Arial"/>
                <a:cs typeface="Arial"/>
              </a:defRPr>
            </a:lvl2pPr>
            <a:lvl3pPr>
              <a:defRPr sz="2025" b="0">
                <a:solidFill>
                  <a:srgbClr val="1F1F1B"/>
                </a:solidFill>
                <a:latin typeface="Arial"/>
                <a:ea typeface="Arial"/>
                <a:cs typeface="Arial"/>
              </a:defRPr>
            </a:lvl3pPr>
            <a:lvl4pPr>
              <a:defRPr sz="2025" b="0">
                <a:solidFill>
                  <a:srgbClr val="1F1F1B"/>
                </a:solidFill>
                <a:latin typeface="Arial"/>
                <a:ea typeface="Arial"/>
                <a:cs typeface="Arial"/>
              </a:defRPr>
            </a:lvl4pPr>
            <a:lvl5pPr>
              <a:defRPr sz="2025" b="0">
                <a:solidFill>
                  <a:srgbClr val="1F1F1B"/>
                </a:solidFill>
                <a:latin typeface="Arial"/>
                <a:ea typeface="Arial"/>
                <a:cs typeface="Arial"/>
              </a:defRPr>
            </a:lvl5pPr>
            <a:lvl6pPr>
              <a:defRPr sz="2025" b="0">
                <a:solidFill>
                  <a:srgbClr val="1F1F1B"/>
                </a:solidFill>
                <a:latin typeface="Arial"/>
                <a:ea typeface="Arial"/>
                <a:cs typeface="Arial"/>
              </a:defRPr>
            </a:lvl6pPr>
            <a:lvl7pPr>
              <a:defRPr sz="2025" b="0">
                <a:solidFill>
                  <a:srgbClr val="1F1F1B"/>
                </a:solidFill>
                <a:latin typeface="Arial"/>
                <a:ea typeface="Arial"/>
                <a:cs typeface="Arial"/>
              </a:defRPr>
            </a:lvl7pPr>
            <a:lvl8pPr>
              <a:defRPr sz="2025" b="0">
                <a:solidFill>
                  <a:srgbClr val="1F1F1B"/>
                </a:solidFill>
                <a:latin typeface="Arial"/>
                <a:ea typeface="Arial"/>
                <a:cs typeface="Arial"/>
              </a:defRPr>
            </a:lvl8pPr>
            <a:lvl9pPr>
              <a:defRPr sz="2025" b="0">
                <a:solidFill>
                  <a:srgbClr val="1F1F1B"/>
                </a:solidFill>
                <a:latin typeface="Arial"/>
                <a:ea typeface="Arial"/>
                <a:cs typeface="Arial"/>
              </a:defRPr>
            </a:lvl9pPr>
          </a:lstStyle>
          <a:p xmlns:a="http://schemas.openxmlformats.org/drawingml/2006/main">
            <a:pPr>
              <a:defRPr sz="2025" b="0">
                <a:solidFill>
                  <a:srgbClr val="1F1F1B"/>
                </a:solidFill>
                <a:latin typeface="Arial"/>
                <a:ea typeface="Arial"/>
                <a:cs typeface="Arial"/>
              </a:defRPr>
            </a:pPr>
            <a:r>
              <a:rPr sz="2025" b="0">
                <a:solidFill>
                  <a:srgbClr val="1F1F1B"/>
                </a:solidFill>
                <a:latin typeface="Arial"/>
                <a:ea typeface="Arial"/>
                <a:cs typeface="Arial"/>
              </a:rPr>
              <a:t>Rencanakan pencahayaan, personel, komunikasi, dan perjalanan pulang.</a:t>
            </a:r>
          </a:p>
        </p:txBody>
      </p:sp>
      <p:sp>
        <p:nvSpPr>
          <p:cNvPr id="7" name="">
            <a:extLst xmlns:a="http://schemas.openxmlformats.org/drawingml/2006/main">
              <a:ext uri="{FF2B5EF4-FFF2-40B4-BE49-F238E27FC236}">
                <a16:creationId xmlns:a16="http://schemas.microsoft.com/office/drawing/2014/main" id="{0951FE00-E506-4039-A72D-EC83FDBCA875}"/>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NIOSH · sumber pada catatan</a:t>
            </a:r>
          </a:p>
        </p:txBody>
      </p:sp>
      <p:sp>
        <p:nvSpPr>
          <p:cNvPr id="8" name="">
            <a:extLst xmlns:a="http://schemas.openxmlformats.org/drawingml/2006/main">
              <a:ext uri="{FF2B5EF4-FFF2-40B4-BE49-F238E27FC236}">
                <a16:creationId xmlns:a16="http://schemas.microsoft.com/office/drawing/2014/main" id="{9263FB52-2AD7-4EDF-862F-4F2BFE82949F}"/>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9" name="">
            <a:extLst xmlns:a="http://schemas.openxmlformats.org/drawingml/2006/main">
              <a:ext uri="{FF2B5EF4-FFF2-40B4-BE49-F238E27FC236}">
                <a16:creationId xmlns:a16="http://schemas.microsoft.com/office/drawing/2014/main" id="{64BC2A3C-328D-46C9-9D24-C829D79EF43D}"/>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11 / 28</a:t>
            </a:r>
          </a:p>
        </p:txBody>
      </p:sp>
    </p:spTree>
    <p:extLst>
      <p:ext uri="{BB962C8B-B14F-4D97-AF65-F5344CB8AC3E}">
        <p14:creationId xmlns:p14="http://schemas.microsoft.com/office/powerpoint/2010/main" val="73051343"/>
      </p:ext>
    </p:extLst>
  </p:cSld>
</p:sld>
</file>

<file path=ppt/slides/slide12.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39B0C18B-4DD5-4149-A1AB-66318D8468C5}"/>
              </a:ext>
            </a:extLst>
          </p:cNvPr>
          <p:cNvCxnSpPr>
            <a:stCxn xmlns:a="http://schemas.openxmlformats.org/drawingml/2006/main" id="24" idx="3"/>
            <a:endCxn xmlns:a="http://schemas.openxmlformats.org/drawingml/2006/main" id="25" idx="1"/>
          </p:cNvCxnSpPr>
          <p:nvPr/>
        </p:nvCxnSpPr>
        <p:spPr>
          <a:xfrm xmlns:a="http://schemas.openxmlformats.org/drawingml/2006/main">
            <a:off x="5576888" y="3810001"/>
            <a:ext cx="895350" cy="0"/>
          </a:xfrm>
          <a:prstGeom xmlns:a="http://schemas.openxmlformats.org/drawingml/2006/main" prst="straightConnector1">
            <a:avLst/>
          </a:prstGeom>
          <a:ln xmlns:a="http://schemas.openxmlformats.org/drawingml/2006/main" w="38100">
            <a:solidFill>
              <a:srgbClr val="8A2D1F"/>
            </a:solidFill>
            <a:tailEnd type="triangle" w="sm" len="sm"/>
          </a:ln>
        </p:spPr>
      </p:cxnSp>
      <p:cxnSp>
        <p:nvCxnSpPr>
          <p:cNvPr id="23" name="">
            <a:extLst xmlns:a="http://schemas.openxmlformats.org/drawingml/2006/main">
              <a:ext uri="{FF2B5EF4-FFF2-40B4-BE49-F238E27FC236}">
                <a16:creationId xmlns:a16="http://schemas.microsoft.com/office/drawing/2014/main" id="{FC2F836D-28E7-4D10-9CC6-595B4798A2DB}"/>
              </a:ext>
            </a:extLst>
          </p:cNvPr>
          <p:cNvCxnSpPr>
            <a:stCxn xmlns:a="http://schemas.openxmlformats.org/drawingml/2006/main" id="21" idx="0"/>
            <a:endCxn xmlns:a="http://schemas.openxmlformats.org/drawingml/2006/main" id="22" idx="2"/>
          </p:cNvCxnSpPr>
          <p:nvPr/>
        </p:nvCxnSpPr>
        <p:spPr>
          <a:xfrm xmlns:a="http://schemas.openxmlformats.org/drawingml/2006/main" flipV="1">
            <a:off x="5572126" y="3814763"/>
            <a:ext cx="0" cy="847725"/>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20" name="">
            <a:extLst xmlns:a="http://schemas.openxmlformats.org/drawingml/2006/main">
              <a:ext uri="{FF2B5EF4-FFF2-40B4-BE49-F238E27FC236}">
                <a16:creationId xmlns:a16="http://schemas.microsoft.com/office/drawing/2014/main" id="{7568A42A-9BE4-49B9-9598-965A9617F620}"/>
              </a:ext>
            </a:extLst>
          </p:cNvPr>
          <p:cNvCxnSpPr>
            <a:stCxn xmlns:a="http://schemas.openxmlformats.org/drawingml/2006/main" id="18" idx="3"/>
            <a:endCxn xmlns:a="http://schemas.openxmlformats.org/drawingml/2006/main" id="19" idx="1"/>
          </p:cNvCxnSpPr>
          <p:nvPr/>
        </p:nvCxnSpPr>
        <p:spPr>
          <a:xfrm xmlns:a="http://schemas.openxmlformats.org/drawingml/2006/main">
            <a:off x="4672013" y="4667251"/>
            <a:ext cx="895350" cy="0"/>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17" name="">
            <a:extLst xmlns:a="http://schemas.openxmlformats.org/drawingml/2006/main">
              <a:ext uri="{FF2B5EF4-FFF2-40B4-BE49-F238E27FC236}">
                <a16:creationId xmlns:a16="http://schemas.microsoft.com/office/drawing/2014/main" id="{421EE064-38A0-475B-A81E-D25100E9C6B9}"/>
              </a:ext>
            </a:extLst>
          </p:cNvPr>
          <p:cNvCxnSpPr>
            <a:stCxn xmlns:a="http://schemas.openxmlformats.org/drawingml/2006/main" id="15" idx="2"/>
            <a:endCxn xmlns:a="http://schemas.openxmlformats.org/drawingml/2006/main" id="16" idx="0"/>
          </p:cNvCxnSpPr>
          <p:nvPr/>
        </p:nvCxnSpPr>
        <p:spPr>
          <a:xfrm xmlns:a="http://schemas.openxmlformats.org/drawingml/2006/main">
            <a:off x="5572126" y="2957513"/>
            <a:ext cx="0" cy="847725"/>
          </a:xfrm>
          <a:prstGeom xmlns:a="http://schemas.openxmlformats.org/drawingml/2006/main" prst="straightConnector1">
            <a:avLst/>
          </a:prstGeom>
          <a:ln xmlns:a="http://schemas.openxmlformats.org/drawingml/2006/main" w="28575">
            <a:solidFill>
              <a:srgbClr val="2F5D62"/>
            </a:solidFill>
            <a:tailEnd type="none" w="med" len="med"/>
          </a:ln>
        </p:spPr>
      </p:cxnSp>
      <p:cxnSp>
        <p:nvCxnSpPr>
          <p:cNvPr id="14" name="">
            <a:extLst xmlns:a="http://schemas.openxmlformats.org/drawingml/2006/main">
              <a:ext uri="{FF2B5EF4-FFF2-40B4-BE49-F238E27FC236}">
                <a16:creationId xmlns:a16="http://schemas.microsoft.com/office/drawing/2014/main" id="{2D127180-655C-4E8E-ADD1-24BA56F77514}"/>
              </a:ext>
            </a:extLst>
          </p:cNvPr>
          <p:cNvCxnSpPr>
            <a:stCxn xmlns:a="http://schemas.openxmlformats.org/drawingml/2006/main" id="12" idx="3"/>
            <a:endCxn xmlns:a="http://schemas.openxmlformats.org/drawingml/2006/main" id="13" idx="1"/>
          </p:cNvCxnSpPr>
          <p:nvPr/>
        </p:nvCxnSpPr>
        <p:spPr>
          <a:xfrm xmlns:a="http://schemas.openxmlformats.org/drawingml/2006/main">
            <a:off x="4672013" y="2952751"/>
            <a:ext cx="895350" cy="0"/>
          </a:xfrm>
          <a:prstGeom xmlns:a="http://schemas.openxmlformats.org/drawingml/2006/main" prst="straightConnector1">
            <a:avLst/>
          </a:prstGeom>
          <a:ln xmlns:a="http://schemas.openxmlformats.org/drawingml/2006/main" w="28575">
            <a:solidFill>
              <a:srgbClr val="2F5D62"/>
            </a:solidFill>
            <a:tailEnd type="none" w="med" len="med"/>
          </a:ln>
        </p:spPr>
      </p:cxnSp>
      <p:sp>
        <p:nvSpPr>
          <p:cNvPr id="31" name="">
            <a:extLst xmlns:a="http://schemas.openxmlformats.org/drawingml/2006/main">
              <a:ext uri="{FF2B5EF4-FFF2-40B4-BE49-F238E27FC236}">
                <a16:creationId xmlns:a16="http://schemas.microsoft.com/office/drawing/2014/main" id="{DA1E4C29-86A8-4884-9AC5-574A55EE1281}"/>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A581E854-2D63-4AEC-BCC5-68462FB8306A}"/>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Panas menambah tuntutan fisiologis</a:t>
            </a:r>
          </a:p>
        </p:txBody>
      </p:sp>
      <p:sp>
        <p:nvSpPr>
          <p:cNvPr id="3" name="">
            <a:extLst xmlns:a="http://schemas.openxmlformats.org/drawingml/2006/main">
              <a:ext uri="{FF2B5EF4-FFF2-40B4-BE49-F238E27FC236}">
                <a16:creationId xmlns:a16="http://schemas.microsoft.com/office/drawing/2014/main" id="{C1D76BEC-130A-4504-BA4F-41C605D5D6E1}"/>
              </a:ext>
            </a:extLst>
          </p:cNvPr>
          <p:cNvSpPr>
            <a:spLocks xmlns:a="http://schemas.openxmlformats.org/drawingml/2006/main" noGrp="1"/>
          </p:cNvSpPr>
          <p:nvPr/>
        </p:nvSpPr>
        <p:spPr>
          <a:xfrm xmlns:a="http://schemas.openxmlformats.org/drawingml/2006/main">
            <a:off x="952500" y="2381250"/>
            <a:ext cx="3714750" cy="114300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4" name="">
            <a:extLst xmlns:a="http://schemas.openxmlformats.org/drawingml/2006/main">
              <a:ext uri="{FF2B5EF4-FFF2-40B4-BE49-F238E27FC236}">
                <a16:creationId xmlns:a16="http://schemas.microsoft.com/office/drawing/2014/main" id="{BC5141FA-251A-4BEB-A247-77D88C72B3DB}"/>
              </a:ext>
            </a:extLst>
          </p:cNvPr>
          <p:cNvSpPr>
            <a:spLocks xmlns:a="http://schemas.openxmlformats.org/drawingml/2006/main" noGrp="1"/>
          </p:cNvSpPr>
          <p:nvPr/>
        </p:nvSpPr>
        <p:spPr>
          <a:xfrm xmlns:a="http://schemas.openxmlformats.org/drawingml/2006/main">
            <a:off x="1123950" y="2514600"/>
            <a:ext cx="3371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Panas lingkungan</a:t>
            </a:r>
          </a:p>
        </p:txBody>
      </p:sp>
      <p:sp>
        <p:nvSpPr>
          <p:cNvPr id="5" name="">
            <a:extLst xmlns:a="http://schemas.openxmlformats.org/drawingml/2006/main">
              <a:ext uri="{FF2B5EF4-FFF2-40B4-BE49-F238E27FC236}">
                <a16:creationId xmlns:a16="http://schemas.microsoft.com/office/drawing/2014/main" id="{7AC6031F-594F-4DA3-BECE-8465872D670F}"/>
              </a:ext>
            </a:extLst>
          </p:cNvPr>
          <p:cNvSpPr>
            <a:spLocks xmlns:a="http://schemas.openxmlformats.org/drawingml/2006/main" noGrp="1"/>
          </p:cNvSpPr>
          <p:nvPr/>
        </p:nvSpPr>
        <p:spPr>
          <a:xfrm xmlns:a="http://schemas.openxmlformats.org/drawingml/2006/main">
            <a:off x="1123950" y="2962275"/>
            <a:ext cx="3371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Cuaca dan kondisi lokasi</a:t>
            </a:r>
          </a:p>
        </p:txBody>
      </p:sp>
      <p:sp>
        <p:nvSpPr>
          <p:cNvPr id="6" name="">
            <a:extLst xmlns:a="http://schemas.openxmlformats.org/drawingml/2006/main">
              <a:ext uri="{FF2B5EF4-FFF2-40B4-BE49-F238E27FC236}">
                <a16:creationId xmlns:a16="http://schemas.microsoft.com/office/drawing/2014/main" id="{C70461E1-3BAF-4A41-9AD9-25C8DFFEFFB8}"/>
              </a:ext>
            </a:extLst>
          </p:cNvPr>
          <p:cNvSpPr>
            <a:spLocks xmlns:a="http://schemas.openxmlformats.org/drawingml/2006/main" noGrp="1"/>
          </p:cNvSpPr>
          <p:nvPr/>
        </p:nvSpPr>
        <p:spPr>
          <a:xfrm xmlns:a="http://schemas.openxmlformats.org/drawingml/2006/main">
            <a:off x="952500" y="4095750"/>
            <a:ext cx="3714750" cy="114300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7" name="">
            <a:extLst xmlns:a="http://schemas.openxmlformats.org/drawingml/2006/main">
              <a:ext uri="{FF2B5EF4-FFF2-40B4-BE49-F238E27FC236}">
                <a16:creationId xmlns:a16="http://schemas.microsoft.com/office/drawing/2014/main" id="{8E328738-55C2-4997-96F3-2CE82414BB01}"/>
              </a:ext>
            </a:extLst>
          </p:cNvPr>
          <p:cNvSpPr>
            <a:spLocks xmlns:a="http://schemas.openxmlformats.org/drawingml/2006/main" noGrp="1"/>
          </p:cNvSpPr>
          <p:nvPr/>
        </p:nvSpPr>
        <p:spPr>
          <a:xfrm xmlns:a="http://schemas.openxmlformats.org/drawingml/2006/main">
            <a:off x="1123950" y="4229100"/>
            <a:ext cx="3371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Panas metabolik</a:t>
            </a:r>
          </a:p>
        </p:txBody>
      </p:sp>
      <p:sp>
        <p:nvSpPr>
          <p:cNvPr id="8" name="">
            <a:extLst xmlns:a="http://schemas.openxmlformats.org/drawingml/2006/main">
              <a:ext uri="{FF2B5EF4-FFF2-40B4-BE49-F238E27FC236}">
                <a16:creationId xmlns:a16="http://schemas.microsoft.com/office/drawing/2014/main" id="{E30986D9-ECC9-423D-8DDB-CABDDAD9A95C}"/>
              </a:ext>
            </a:extLst>
          </p:cNvPr>
          <p:cNvSpPr>
            <a:spLocks xmlns:a="http://schemas.openxmlformats.org/drawingml/2006/main" noGrp="1"/>
          </p:cNvSpPr>
          <p:nvPr/>
        </p:nvSpPr>
        <p:spPr>
          <a:xfrm xmlns:a="http://schemas.openxmlformats.org/drawingml/2006/main">
            <a:off x="1123950" y="4676775"/>
            <a:ext cx="3371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Aktivitas fisik</a:t>
            </a:r>
          </a:p>
        </p:txBody>
      </p:sp>
      <p:sp>
        <p:nvSpPr>
          <p:cNvPr id="9" name="">
            <a:extLst xmlns:a="http://schemas.openxmlformats.org/drawingml/2006/main">
              <a:ext uri="{FF2B5EF4-FFF2-40B4-BE49-F238E27FC236}">
                <a16:creationId xmlns:a16="http://schemas.microsoft.com/office/drawing/2014/main" id="{3A0D5AB1-5B14-44B3-8E62-1F4D4664D96A}"/>
              </a:ext>
            </a:extLst>
          </p:cNvPr>
          <p:cNvSpPr>
            <a:spLocks xmlns:a="http://schemas.openxmlformats.org/drawingml/2006/main" noGrp="1"/>
          </p:cNvSpPr>
          <p:nvPr/>
        </p:nvSpPr>
        <p:spPr>
          <a:xfrm xmlns:a="http://schemas.openxmlformats.org/drawingml/2006/main">
            <a:off x="6477000" y="3095625"/>
            <a:ext cx="4572000" cy="1428750"/>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0" name="">
            <a:extLst xmlns:a="http://schemas.openxmlformats.org/drawingml/2006/main">
              <a:ext uri="{FF2B5EF4-FFF2-40B4-BE49-F238E27FC236}">
                <a16:creationId xmlns:a16="http://schemas.microsoft.com/office/drawing/2014/main" id="{E63B7A06-72DA-4D9F-8FB7-511D0B8BFE98}"/>
              </a:ext>
            </a:extLst>
          </p:cNvPr>
          <p:cNvSpPr>
            <a:spLocks xmlns:a="http://schemas.openxmlformats.org/drawingml/2006/main" noGrp="1"/>
          </p:cNvSpPr>
          <p:nvPr/>
        </p:nvSpPr>
        <p:spPr>
          <a:xfrm xmlns:a="http://schemas.openxmlformats.org/drawingml/2006/main">
            <a:off x="6648450" y="3228975"/>
            <a:ext cx="4229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Beban panas</a:t>
            </a:r>
          </a:p>
        </p:txBody>
      </p:sp>
      <p:sp>
        <p:nvSpPr>
          <p:cNvPr id="11" name="">
            <a:extLst xmlns:a="http://schemas.openxmlformats.org/drawingml/2006/main">
              <a:ext uri="{FF2B5EF4-FFF2-40B4-BE49-F238E27FC236}">
                <a16:creationId xmlns:a16="http://schemas.microsoft.com/office/drawing/2014/main" id="{431356AC-FED4-42F4-ACF8-9F7FD079CF4B}"/>
              </a:ext>
            </a:extLst>
          </p:cNvPr>
          <p:cNvSpPr>
            <a:spLocks xmlns:a="http://schemas.openxmlformats.org/drawingml/2006/main" noGrp="1"/>
          </p:cNvSpPr>
          <p:nvPr/>
        </p:nvSpPr>
        <p:spPr>
          <a:xfrm xmlns:a="http://schemas.openxmlformats.org/drawingml/2006/main">
            <a:off x="6648450" y="3676650"/>
            <a:ext cx="4229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Tugas, pakaian, dan APD ikut</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berpengaruh</a:t>
            </a:r>
          </a:p>
        </p:txBody>
      </p:sp>
      <p:sp>
        <p:nvSpPr>
          <p:cNvPr id="12" name="">
            <a:extLst xmlns:a="http://schemas.openxmlformats.org/drawingml/2006/main">
              <a:ext uri="{FF2B5EF4-FFF2-40B4-BE49-F238E27FC236}">
                <a16:creationId xmlns:a16="http://schemas.microsoft.com/office/drawing/2014/main" id="{C650B006-E001-4498-852C-1761B74E634C}"/>
              </a:ext>
            </a:extLst>
          </p:cNvPr>
          <p:cNvSpPr>
            <a:spLocks xmlns:a="http://schemas.openxmlformats.org/drawingml/2006/main" noGrp="1"/>
          </p:cNvSpPr>
          <p:nvPr/>
        </p:nvSpPr>
        <p:spPr>
          <a:xfrm xmlns:a="http://schemas.openxmlformats.org/drawingml/2006/main">
            <a:off x="4662488" y="2947988"/>
            <a:ext cx="9525" cy="9525"/>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B319A08-60E1-4BD2-86D6-8514663C7243}"/>
              </a:ext>
            </a:extLst>
          </p:cNvPr>
          <p:cNvSpPr>
            <a:spLocks xmlns:a="http://schemas.openxmlformats.org/drawingml/2006/main" noGrp="1"/>
          </p:cNvSpPr>
          <p:nvPr/>
        </p:nvSpPr>
        <p:spPr>
          <a:xfrm xmlns:a="http://schemas.openxmlformats.org/drawingml/2006/main">
            <a:off x="5567363" y="2947988"/>
            <a:ext cx="9525" cy="9525"/>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28F1819-2831-449C-908B-4A74092C1A62}"/>
              </a:ext>
            </a:extLst>
          </p:cNvPr>
          <p:cNvSpPr>
            <a:spLocks xmlns:a="http://schemas.openxmlformats.org/drawingml/2006/main" noGrp="1"/>
          </p:cNvSpPr>
          <p:nvPr/>
        </p:nvSpPr>
        <p:spPr>
          <a:xfrm xmlns:a="http://schemas.openxmlformats.org/drawingml/2006/main">
            <a:off x="5567363" y="2947988"/>
            <a:ext cx="9525" cy="9525"/>
          </a:xfrm>
          <a:prstGeom xmlns:a="http://schemas.openxmlformats.org/drawingml/2006/main" prst="rect">
            <a:avLst/>
          </a:prstGeom>
          <a:noFill xmlns:a="http://schemas.openxmlformats.org/drawingml/2006/main"/>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1AF9A6C-0111-4A7A-B506-8C1A4212CF6B}"/>
              </a:ext>
            </a:extLst>
          </p:cNvPr>
          <p:cNvSpPr>
            <a:spLocks xmlns:a="http://schemas.openxmlformats.org/drawingml/2006/main" noGrp="1"/>
          </p:cNvSpPr>
          <p:nvPr/>
        </p:nvSpPr>
        <p:spPr>
          <a:xfrm xmlns:a="http://schemas.openxmlformats.org/drawingml/2006/main">
            <a:off x="5567363" y="38052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F80442A-404A-43EC-B756-1820D110B60A}"/>
              </a:ext>
            </a:extLst>
          </p:cNvPr>
          <p:cNvSpPr>
            <a:spLocks xmlns:a="http://schemas.openxmlformats.org/drawingml/2006/main" noGrp="1"/>
          </p:cNvSpPr>
          <p:nvPr/>
        </p:nvSpPr>
        <p:spPr>
          <a:xfrm xmlns:a="http://schemas.openxmlformats.org/drawingml/2006/main">
            <a:off x="4662488" y="4662488"/>
            <a:ext cx="9525" cy="9525"/>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6537398-1B34-4AAE-AF57-7DCC6BC69DDB}"/>
              </a:ext>
            </a:extLst>
          </p:cNvPr>
          <p:cNvSpPr>
            <a:spLocks xmlns:a="http://schemas.openxmlformats.org/drawingml/2006/main" noGrp="1"/>
          </p:cNvSpPr>
          <p:nvPr/>
        </p:nvSpPr>
        <p:spPr>
          <a:xfrm xmlns:a="http://schemas.openxmlformats.org/drawingml/2006/main">
            <a:off x="5567363" y="4662488"/>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C9D2F4F-32CF-4B88-A0A9-147828A7FB3A}"/>
              </a:ext>
            </a:extLst>
          </p:cNvPr>
          <p:cNvSpPr>
            <a:spLocks xmlns:a="http://schemas.openxmlformats.org/drawingml/2006/main" noGrp="1"/>
          </p:cNvSpPr>
          <p:nvPr/>
        </p:nvSpPr>
        <p:spPr>
          <a:xfrm xmlns:a="http://schemas.openxmlformats.org/drawingml/2006/main">
            <a:off x="5567363" y="4662488"/>
            <a:ext cx="9525" cy="9525"/>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A8DA3BC-D157-41A1-9F88-AEAA40064136}"/>
              </a:ext>
            </a:extLst>
          </p:cNvPr>
          <p:cNvSpPr>
            <a:spLocks xmlns:a="http://schemas.openxmlformats.org/drawingml/2006/main" noGrp="1"/>
          </p:cNvSpPr>
          <p:nvPr/>
        </p:nvSpPr>
        <p:spPr>
          <a:xfrm xmlns:a="http://schemas.openxmlformats.org/drawingml/2006/main">
            <a:off x="5567363" y="3805238"/>
            <a:ext cx="9525" cy="9525"/>
          </a:xfrm>
          <a:prstGeom xmlns:a="http://schemas.openxmlformats.org/drawingml/2006/main" prst="rect">
            <a:avLst/>
          </a:prstGeom>
          <a:noFill xmlns:a="http://schemas.openxmlformats.org/drawingml/2006/main"/>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C755A93-E924-485A-8D6E-7F87CFB06D2C}"/>
              </a:ext>
            </a:extLst>
          </p:cNvPr>
          <p:cNvSpPr>
            <a:spLocks xmlns:a="http://schemas.openxmlformats.org/drawingml/2006/main" noGrp="1"/>
          </p:cNvSpPr>
          <p:nvPr/>
        </p:nvSpPr>
        <p:spPr>
          <a:xfrm xmlns:a="http://schemas.openxmlformats.org/drawingml/2006/main">
            <a:off x="5567363" y="3805238"/>
            <a:ext cx="9525" cy="9525"/>
          </a:xfrm>
          <a:prstGeom xmlns:a="http://schemas.openxmlformats.org/drawingml/2006/main" prst="rect">
            <a:avLst/>
          </a:prstGeom>
          <a:noFill xmlns:a="http://schemas.openxmlformats.org/drawingml/2006/main"/>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51E65EE-CB20-45E2-B871-398D63E165B3}"/>
              </a:ext>
            </a:extLst>
          </p:cNvPr>
          <p:cNvSpPr>
            <a:spLocks xmlns:a="http://schemas.openxmlformats.org/drawingml/2006/main" noGrp="1"/>
          </p:cNvSpPr>
          <p:nvPr/>
        </p:nvSpPr>
        <p:spPr>
          <a:xfrm xmlns:a="http://schemas.openxmlformats.org/drawingml/2006/main">
            <a:off x="6472238" y="3805238"/>
            <a:ext cx="9525" cy="9525"/>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80C52F7-6AF2-4259-986B-AAEA669E5B1D}"/>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Kebugaran membantu, tetapi paparan dan pemulihan tetap perlu dikendalikan.</a:t>
            </a:r>
          </a:p>
        </p:txBody>
      </p:sp>
      <p:sp>
        <p:nvSpPr>
          <p:cNvPr id="28" name="">
            <a:extLst xmlns:a="http://schemas.openxmlformats.org/drawingml/2006/main">
              <a:ext uri="{FF2B5EF4-FFF2-40B4-BE49-F238E27FC236}">
                <a16:creationId xmlns:a16="http://schemas.microsoft.com/office/drawing/2014/main" id="{F402C9AC-DEC0-44B2-870F-BC6319899E71}"/>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NIOSH · sumber pada catatan</a:t>
            </a:r>
          </a:p>
        </p:txBody>
      </p:sp>
      <p:sp>
        <p:nvSpPr>
          <p:cNvPr id="29" name="">
            <a:extLst xmlns:a="http://schemas.openxmlformats.org/drawingml/2006/main">
              <a:ext uri="{FF2B5EF4-FFF2-40B4-BE49-F238E27FC236}">
                <a16:creationId xmlns:a16="http://schemas.microsoft.com/office/drawing/2014/main" id="{FFBC00B9-CB72-4305-8CD4-3678397FD522}"/>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30" name="">
            <a:extLst xmlns:a="http://schemas.openxmlformats.org/drawingml/2006/main">
              <a:ext uri="{FF2B5EF4-FFF2-40B4-BE49-F238E27FC236}">
                <a16:creationId xmlns:a16="http://schemas.microsoft.com/office/drawing/2014/main" id="{C0228917-C8FE-4CEF-857A-3E57D979E04C}"/>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12 / 28</a:t>
            </a:r>
          </a:p>
        </p:txBody>
      </p:sp>
    </p:spTree>
    <p:extLst>
      <p:ext uri="{BB962C8B-B14F-4D97-AF65-F5344CB8AC3E}">
        <p14:creationId xmlns:p14="http://schemas.microsoft.com/office/powerpoint/2010/main" val="1930486513"/>
      </p:ext>
    </p:extLst>
  </p:cSld>
</p:sld>
</file>

<file path=ppt/slides/slide13.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DF25E8A-4DD7-4A78-B3DC-9AB0A6834A2A}"/>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B0E9A3BD-C93F-4AE8-8060-789E6D96341A}"/>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Aklimatisasi berlangsung bertahap</a:t>
            </a:r>
          </a:p>
        </p:txBody>
      </p:sp>
      <p:sp>
        <p:nvSpPr>
          <p:cNvPr id="3" name="">
            <a:extLst xmlns:a="http://schemas.openxmlformats.org/drawingml/2006/main">
              <a:ext uri="{FF2B5EF4-FFF2-40B4-BE49-F238E27FC236}">
                <a16:creationId xmlns:a16="http://schemas.microsoft.com/office/drawing/2014/main" id="{D02CF110-03A0-4C67-9040-C859D58C8F9B}"/>
              </a:ext>
            </a:extLst>
          </p:cNvPr>
          <p:cNvSpPr>
            <a:spLocks xmlns:a="http://schemas.openxmlformats.org/drawingml/2006/main" noGrp="1"/>
          </p:cNvSpPr>
          <p:nvPr/>
        </p:nvSpPr>
        <p:spPr>
          <a:xfrm xmlns:a="http://schemas.openxmlformats.org/drawingml/2006/main">
            <a:off x="1047750" y="4286250"/>
            <a:ext cx="2000250" cy="714375"/>
          </a:xfrm>
          <a:prstGeom xmlns:a="http://schemas.openxmlformats.org/drawingml/2006/main" prst="rect">
            <a:avLst/>
          </a:prstGeom>
          <a:solidFill xmlns:a="http://schemas.openxmlformats.org/drawingml/2006/main">
            <a:srgbClr val="DFE8E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FE0F64-C5BD-435F-AD5B-4ED75BB3C161}"/>
              </a:ext>
            </a:extLst>
          </p:cNvPr>
          <p:cNvSpPr>
            <a:spLocks xmlns:a="http://schemas.openxmlformats.org/drawingml/2006/main" noGrp="1"/>
          </p:cNvSpPr>
          <p:nvPr/>
        </p:nvSpPr>
        <p:spPr>
          <a:xfrm xmlns:a="http://schemas.openxmlformats.org/drawingml/2006/main">
            <a:off x="3429000" y="3714750"/>
            <a:ext cx="2000250" cy="1285875"/>
          </a:xfrm>
          <a:prstGeom xmlns:a="http://schemas.openxmlformats.org/drawingml/2006/main" prst="rect">
            <a:avLst/>
          </a:prstGeom>
          <a:solidFill xmlns:a="http://schemas.openxmlformats.org/drawingml/2006/main">
            <a:srgbClr val="B7CDC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54DDE0-E61F-4202-AFBF-55FDB1981E6F}"/>
              </a:ext>
            </a:extLst>
          </p:cNvPr>
          <p:cNvSpPr>
            <a:spLocks xmlns:a="http://schemas.openxmlformats.org/drawingml/2006/main" noGrp="1"/>
          </p:cNvSpPr>
          <p:nvPr/>
        </p:nvSpPr>
        <p:spPr>
          <a:xfrm xmlns:a="http://schemas.openxmlformats.org/drawingml/2006/main">
            <a:off x="5810250" y="3095625"/>
            <a:ext cx="2000250" cy="1905000"/>
          </a:xfrm>
          <a:prstGeom xmlns:a="http://schemas.openxmlformats.org/drawingml/2006/main" prst="rect">
            <a:avLst/>
          </a:prstGeom>
          <a:solidFill xmlns:a="http://schemas.openxmlformats.org/drawingml/2006/main">
            <a:srgbClr val="7DA7A4"/>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830E28-D49D-4D4F-963B-15D02FA9D404}"/>
              </a:ext>
            </a:extLst>
          </p:cNvPr>
          <p:cNvSpPr>
            <a:spLocks xmlns:a="http://schemas.openxmlformats.org/drawingml/2006/main" noGrp="1"/>
          </p:cNvSpPr>
          <p:nvPr/>
        </p:nvSpPr>
        <p:spPr>
          <a:xfrm xmlns:a="http://schemas.openxmlformats.org/drawingml/2006/main">
            <a:off x="8191500" y="2476500"/>
            <a:ext cx="2000250" cy="2524125"/>
          </a:xfrm>
          <a:prstGeom xmlns:a="http://schemas.openxmlformats.org/drawingml/2006/main" prst="rect">
            <a:avLst/>
          </a:prstGeom>
          <a:solidFill xmlns:a="http://schemas.openxmlformats.org/drawingml/2006/main">
            <a:srgbClr val="2F5D6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8F8AEFE-EA51-4C10-9F4E-0AD0F5139E02}"/>
              </a:ext>
            </a:extLst>
          </p:cNvPr>
          <p:cNvSpPr>
            <a:spLocks xmlns:a="http://schemas.openxmlformats.org/drawingml/2006/main" noGrp="1"/>
          </p:cNvSpPr>
          <p:nvPr/>
        </p:nvSpPr>
        <p:spPr>
          <a:xfrm xmlns:a="http://schemas.openxmlformats.org/drawingml/2006/main">
            <a:off x="1095375" y="5095875"/>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F1F1B"/>
                </a:solidFill>
                <a:latin typeface="Arial"/>
                <a:ea typeface="Arial"/>
                <a:cs typeface="Arial"/>
              </a:defRPr>
            </a:defPPr>
            <a:lvl1pPr>
              <a:defRPr sz="1875" b="0">
                <a:solidFill>
                  <a:srgbClr val="1F1F1B"/>
                </a:solidFill>
                <a:latin typeface="Arial"/>
                <a:ea typeface="Arial"/>
                <a:cs typeface="Arial"/>
              </a:defRPr>
            </a:lvl1pPr>
            <a:lvl2pPr>
              <a:defRPr sz="1875" b="0">
                <a:solidFill>
                  <a:srgbClr val="1F1F1B"/>
                </a:solidFill>
                <a:latin typeface="Arial"/>
                <a:ea typeface="Arial"/>
                <a:cs typeface="Arial"/>
              </a:defRPr>
            </a:lvl2pPr>
            <a:lvl3pPr>
              <a:defRPr sz="1875" b="0">
                <a:solidFill>
                  <a:srgbClr val="1F1F1B"/>
                </a:solidFill>
                <a:latin typeface="Arial"/>
                <a:ea typeface="Arial"/>
                <a:cs typeface="Arial"/>
              </a:defRPr>
            </a:lvl3pPr>
            <a:lvl4pPr>
              <a:defRPr sz="1875" b="0">
                <a:solidFill>
                  <a:srgbClr val="1F1F1B"/>
                </a:solidFill>
                <a:latin typeface="Arial"/>
                <a:ea typeface="Arial"/>
                <a:cs typeface="Arial"/>
              </a:defRPr>
            </a:lvl4pPr>
            <a:lvl5pPr>
              <a:defRPr sz="1875" b="0">
                <a:solidFill>
                  <a:srgbClr val="1F1F1B"/>
                </a:solidFill>
                <a:latin typeface="Arial"/>
                <a:ea typeface="Arial"/>
                <a:cs typeface="Arial"/>
              </a:defRPr>
            </a:lvl5pPr>
            <a:lvl6pPr>
              <a:defRPr sz="1875" b="0">
                <a:solidFill>
                  <a:srgbClr val="1F1F1B"/>
                </a:solidFill>
                <a:latin typeface="Arial"/>
                <a:ea typeface="Arial"/>
                <a:cs typeface="Arial"/>
              </a:defRPr>
            </a:lvl6pPr>
            <a:lvl7pPr>
              <a:defRPr sz="1875" b="0">
                <a:solidFill>
                  <a:srgbClr val="1F1F1B"/>
                </a:solidFill>
                <a:latin typeface="Arial"/>
                <a:ea typeface="Arial"/>
                <a:cs typeface="Arial"/>
              </a:defRPr>
            </a:lvl7pPr>
            <a:lvl8pPr>
              <a:defRPr sz="1875" b="0">
                <a:solidFill>
                  <a:srgbClr val="1F1F1B"/>
                </a:solidFill>
                <a:latin typeface="Arial"/>
                <a:ea typeface="Arial"/>
                <a:cs typeface="Arial"/>
              </a:defRPr>
            </a:lvl8pPr>
            <a:lvl9pPr>
              <a:defRPr sz="1875" b="0">
                <a:solidFill>
                  <a:srgbClr val="1F1F1B"/>
                </a:solidFill>
                <a:latin typeface="Arial"/>
                <a:ea typeface="Arial"/>
                <a:cs typeface="Arial"/>
              </a:defRPr>
            </a:lvl9pPr>
          </a:lstStyle>
          <a:p xmlns:a="http://schemas.openxmlformats.org/drawingml/2006/main">
            <a:pPr>
              <a:defRPr sz="1875" b="0">
                <a:solidFill>
                  <a:srgbClr val="1F1F1B"/>
                </a:solidFill>
                <a:latin typeface="Arial"/>
                <a:ea typeface="Arial"/>
                <a:cs typeface="Arial"/>
              </a:defRPr>
            </a:pPr>
            <a:r>
              <a:rPr sz="1875" b="0">
                <a:solidFill>
                  <a:srgbClr val="1F1F1B"/>
                </a:solidFill>
                <a:latin typeface="Arial"/>
                <a:ea typeface="Arial"/>
                <a:cs typeface="Arial"/>
              </a:rPr>
              <a:t>Awal</a:t>
            </a:r>
          </a:p>
        </p:txBody>
      </p:sp>
      <p:sp>
        <p:nvSpPr>
          <p:cNvPr id="8" name="">
            <a:extLst xmlns:a="http://schemas.openxmlformats.org/drawingml/2006/main">
              <a:ext uri="{FF2B5EF4-FFF2-40B4-BE49-F238E27FC236}">
                <a16:creationId xmlns:a16="http://schemas.microsoft.com/office/drawing/2014/main" id="{31333226-16BE-455E-8F8A-9BFE82608FB3}"/>
              </a:ext>
            </a:extLst>
          </p:cNvPr>
          <p:cNvSpPr>
            <a:spLocks xmlns:a="http://schemas.openxmlformats.org/drawingml/2006/main" noGrp="1"/>
          </p:cNvSpPr>
          <p:nvPr/>
        </p:nvSpPr>
        <p:spPr>
          <a:xfrm xmlns:a="http://schemas.openxmlformats.org/drawingml/2006/main">
            <a:off x="3524250" y="5095875"/>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F1F1B"/>
                </a:solidFill>
                <a:latin typeface="Arial"/>
                <a:ea typeface="Arial"/>
                <a:cs typeface="Arial"/>
              </a:defRPr>
            </a:defPPr>
            <a:lvl1pPr>
              <a:defRPr sz="1875" b="0">
                <a:solidFill>
                  <a:srgbClr val="1F1F1B"/>
                </a:solidFill>
                <a:latin typeface="Arial"/>
                <a:ea typeface="Arial"/>
                <a:cs typeface="Arial"/>
              </a:defRPr>
            </a:lvl1pPr>
            <a:lvl2pPr>
              <a:defRPr sz="1875" b="0">
                <a:solidFill>
                  <a:srgbClr val="1F1F1B"/>
                </a:solidFill>
                <a:latin typeface="Arial"/>
                <a:ea typeface="Arial"/>
                <a:cs typeface="Arial"/>
              </a:defRPr>
            </a:lvl2pPr>
            <a:lvl3pPr>
              <a:defRPr sz="1875" b="0">
                <a:solidFill>
                  <a:srgbClr val="1F1F1B"/>
                </a:solidFill>
                <a:latin typeface="Arial"/>
                <a:ea typeface="Arial"/>
                <a:cs typeface="Arial"/>
              </a:defRPr>
            </a:lvl3pPr>
            <a:lvl4pPr>
              <a:defRPr sz="1875" b="0">
                <a:solidFill>
                  <a:srgbClr val="1F1F1B"/>
                </a:solidFill>
                <a:latin typeface="Arial"/>
                <a:ea typeface="Arial"/>
                <a:cs typeface="Arial"/>
              </a:defRPr>
            </a:lvl4pPr>
            <a:lvl5pPr>
              <a:defRPr sz="1875" b="0">
                <a:solidFill>
                  <a:srgbClr val="1F1F1B"/>
                </a:solidFill>
                <a:latin typeface="Arial"/>
                <a:ea typeface="Arial"/>
                <a:cs typeface="Arial"/>
              </a:defRPr>
            </a:lvl5pPr>
            <a:lvl6pPr>
              <a:defRPr sz="1875" b="0">
                <a:solidFill>
                  <a:srgbClr val="1F1F1B"/>
                </a:solidFill>
                <a:latin typeface="Arial"/>
                <a:ea typeface="Arial"/>
                <a:cs typeface="Arial"/>
              </a:defRPr>
            </a:lvl6pPr>
            <a:lvl7pPr>
              <a:defRPr sz="1875" b="0">
                <a:solidFill>
                  <a:srgbClr val="1F1F1B"/>
                </a:solidFill>
                <a:latin typeface="Arial"/>
                <a:ea typeface="Arial"/>
                <a:cs typeface="Arial"/>
              </a:defRPr>
            </a:lvl7pPr>
            <a:lvl8pPr>
              <a:defRPr sz="1875" b="0">
                <a:solidFill>
                  <a:srgbClr val="1F1F1B"/>
                </a:solidFill>
                <a:latin typeface="Arial"/>
                <a:ea typeface="Arial"/>
                <a:cs typeface="Arial"/>
              </a:defRPr>
            </a:lvl8pPr>
            <a:lvl9pPr>
              <a:defRPr sz="1875" b="0">
                <a:solidFill>
                  <a:srgbClr val="1F1F1B"/>
                </a:solidFill>
                <a:latin typeface="Arial"/>
                <a:ea typeface="Arial"/>
                <a:cs typeface="Arial"/>
              </a:defRPr>
            </a:lvl9pPr>
          </a:lstStyle>
          <a:p xmlns:a="http://schemas.openxmlformats.org/drawingml/2006/main">
            <a:pPr>
              <a:defRPr sz="1875" b="0">
                <a:solidFill>
                  <a:srgbClr val="1F1F1B"/>
                </a:solidFill>
                <a:latin typeface="Arial"/>
                <a:ea typeface="Arial"/>
                <a:cs typeface="Arial"/>
              </a:defRPr>
            </a:pPr>
            <a:r>
              <a:rPr sz="1875" b="0">
                <a:solidFill>
                  <a:srgbClr val="1F1F1B"/>
                </a:solidFill>
                <a:latin typeface="Arial"/>
                <a:ea typeface="Arial"/>
                <a:cs typeface="Arial"/>
              </a:rPr>
              <a:t>Bertahap</a:t>
            </a:r>
          </a:p>
        </p:txBody>
      </p:sp>
      <p:sp>
        <p:nvSpPr>
          <p:cNvPr id="9" name="">
            <a:extLst xmlns:a="http://schemas.openxmlformats.org/drawingml/2006/main">
              <a:ext uri="{FF2B5EF4-FFF2-40B4-BE49-F238E27FC236}">
                <a16:creationId xmlns:a16="http://schemas.microsoft.com/office/drawing/2014/main" id="{B52D43F2-5E8B-4497-8E13-ADE03A786FC3}"/>
              </a:ext>
            </a:extLst>
          </p:cNvPr>
          <p:cNvSpPr>
            <a:spLocks xmlns:a="http://schemas.openxmlformats.org/drawingml/2006/main" noGrp="1"/>
          </p:cNvSpPr>
          <p:nvPr/>
        </p:nvSpPr>
        <p:spPr>
          <a:xfrm xmlns:a="http://schemas.openxmlformats.org/drawingml/2006/main">
            <a:off x="6000750" y="5095875"/>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F1F1B"/>
                </a:solidFill>
                <a:latin typeface="Arial"/>
                <a:ea typeface="Arial"/>
                <a:cs typeface="Arial"/>
              </a:defRPr>
            </a:defPPr>
            <a:lvl1pPr>
              <a:defRPr sz="1875" b="0">
                <a:solidFill>
                  <a:srgbClr val="1F1F1B"/>
                </a:solidFill>
                <a:latin typeface="Arial"/>
                <a:ea typeface="Arial"/>
                <a:cs typeface="Arial"/>
              </a:defRPr>
            </a:lvl1pPr>
            <a:lvl2pPr>
              <a:defRPr sz="1875" b="0">
                <a:solidFill>
                  <a:srgbClr val="1F1F1B"/>
                </a:solidFill>
                <a:latin typeface="Arial"/>
                <a:ea typeface="Arial"/>
                <a:cs typeface="Arial"/>
              </a:defRPr>
            </a:lvl2pPr>
            <a:lvl3pPr>
              <a:defRPr sz="1875" b="0">
                <a:solidFill>
                  <a:srgbClr val="1F1F1B"/>
                </a:solidFill>
                <a:latin typeface="Arial"/>
                <a:ea typeface="Arial"/>
                <a:cs typeface="Arial"/>
              </a:defRPr>
            </a:lvl3pPr>
            <a:lvl4pPr>
              <a:defRPr sz="1875" b="0">
                <a:solidFill>
                  <a:srgbClr val="1F1F1B"/>
                </a:solidFill>
                <a:latin typeface="Arial"/>
                <a:ea typeface="Arial"/>
                <a:cs typeface="Arial"/>
              </a:defRPr>
            </a:lvl4pPr>
            <a:lvl5pPr>
              <a:defRPr sz="1875" b="0">
                <a:solidFill>
                  <a:srgbClr val="1F1F1B"/>
                </a:solidFill>
                <a:latin typeface="Arial"/>
                <a:ea typeface="Arial"/>
                <a:cs typeface="Arial"/>
              </a:defRPr>
            </a:lvl5pPr>
            <a:lvl6pPr>
              <a:defRPr sz="1875" b="0">
                <a:solidFill>
                  <a:srgbClr val="1F1F1B"/>
                </a:solidFill>
                <a:latin typeface="Arial"/>
                <a:ea typeface="Arial"/>
                <a:cs typeface="Arial"/>
              </a:defRPr>
            </a:lvl6pPr>
            <a:lvl7pPr>
              <a:defRPr sz="1875" b="0">
                <a:solidFill>
                  <a:srgbClr val="1F1F1B"/>
                </a:solidFill>
                <a:latin typeface="Arial"/>
                <a:ea typeface="Arial"/>
                <a:cs typeface="Arial"/>
              </a:defRPr>
            </a:lvl7pPr>
            <a:lvl8pPr>
              <a:defRPr sz="1875" b="0">
                <a:solidFill>
                  <a:srgbClr val="1F1F1B"/>
                </a:solidFill>
                <a:latin typeface="Arial"/>
                <a:ea typeface="Arial"/>
                <a:cs typeface="Arial"/>
              </a:defRPr>
            </a:lvl8pPr>
            <a:lvl9pPr>
              <a:defRPr sz="1875" b="0">
                <a:solidFill>
                  <a:srgbClr val="1F1F1B"/>
                </a:solidFill>
                <a:latin typeface="Arial"/>
                <a:ea typeface="Arial"/>
                <a:cs typeface="Arial"/>
              </a:defRPr>
            </a:lvl9pPr>
          </a:lstStyle>
          <a:p xmlns:a="http://schemas.openxmlformats.org/drawingml/2006/main">
            <a:pPr>
              <a:defRPr sz="1875" b="0">
                <a:solidFill>
                  <a:srgbClr val="1F1F1B"/>
                </a:solidFill>
                <a:latin typeface="Arial"/>
                <a:ea typeface="Arial"/>
                <a:cs typeface="Arial"/>
              </a:defRPr>
            </a:pPr>
            <a:r>
              <a:rPr sz="1875" b="0">
                <a:solidFill>
                  <a:srgbClr val="1F1F1B"/>
                </a:solidFill>
                <a:latin typeface="Arial"/>
                <a:ea typeface="Arial"/>
                <a:cs typeface="Arial"/>
              </a:rPr>
              <a:t>Ditinjau ulang</a:t>
            </a:r>
          </a:p>
        </p:txBody>
      </p:sp>
      <p:sp>
        <p:nvSpPr>
          <p:cNvPr id="10" name="">
            <a:extLst xmlns:a="http://schemas.openxmlformats.org/drawingml/2006/main">
              <a:ext uri="{FF2B5EF4-FFF2-40B4-BE49-F238E27FC236}">
                <a16:creationId xmlns:a16="http://schemas.microsoft.com/office/drawing/2014/main" id="{AF69F6C0-7FF7-49F6-A8A4-2235139EF5B9}"/>
              </a:ext>
            </a:extLst>
          </p:cNvPr>
          <p:cNvSpPr>
            <a:spLocks xmlns:a="http://schemas.openxmlformats.org/drawingml/2006/main" noGrp="1"/>
          </p:cNvSpPr>
          <p:nvPr/>
        </p:nvSpPr>
        <p:spPr>
          <a:xfrm xmlns:a="http://schemas.openxmlformats.org/drawingml/2006/main">
            <a:off x="8286750" y="5095875"/>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F1F1B"/>
                </a:solidFill>
                <a:latin typeface="Arial"/>
                <a:ea typeface="Arial"/>
                <a:cs typeface="Arial"/>
              </a:defRPr>
            </a:defPPr>
            <a:lvl1pPr>
              <a:defRPr sz="1875" b="0">
                <a:solidFill>
                  <a:srgbClr val="1F1F1B"/>
                </a:solidFill>
                <a:latin typeface="Arial"/>
                <a:ea typeface="Arial"/>
                <a:cs typeface="Arial"/>
              </a:defRPr>
            </a:lvl1pPr>
            <a:lvl2pPr>
              <a:defRPr sz="1875" b="0">
                <a:solidFill>
                  <a:srgbClr val="1F1F1B"/>
                </a:solidFill>
                <a:latin typeface="Arial"/>
                <a:ea typeface="Arial"/>
                <a:cs typeface="Arial"/>
              </a:defRPr>
            </a:lvl2pPr>
            <a:lvl3pPr>
              <a:defRPr sz="1875" b="0">
                <a:solidFill>
                  <a:srgbClr val="1F1F1B"/>
                </a:solidFill>
                <a:latin typeface="Arial"/>
                <a:ea typeface="Arial"/>
                <a:cs typeface="Arial"/>
              </a:defRPr>
            </a:lvl3pPr>
            <a:lvl4pPr>
              <a:defRPr sz="1875" b="0">
                <a:solidFill>
                  <a:srgbClr val="1F1F1B"/>
                </a:solidFill>
                <a:latin typeface="Arial"/>
                <a:ea typeface="Arial"/>
                <a:cs typeface="Arial"/>
              </a:defRPr>
            </a:lvl4pPr>
            <a:lvl5pPr>
              <a:defRPr sz="1875" b="0">
                <a:solidFill>
                  <a:srgbClr val="1F1F1B"/>
                </a:solidFill>
                <a:latin typeface="Arial"/>
                <a:ea typeface="Arial"/>
                <a:cs typeface="Arial"/>
              </a:defRPr>
            </a:lvl5pPr>
            <a:lvl6pPr>
              <a:defRPr sz="1875" b="0">
                <a:solidFill>
                  <a:srgbClr val="1F1F1B"/>
                </a:solidFill>
                <a:latin typeface="Arial"/>
                <a:ea typeface="Arial"/>
                <a:cs typeface="Arial"/>
              </a:defRPr>
            </a:lvl6pPr>
            <a:lvl7pPr>
              <a:defRPr sz="1875" b="0">
                <a:solidFill>
                  <a:srgbClr val="1F1F1B"/>
                </a:solidFill>
                <a:latin typeface="Arial"/>
                <a:ea typeface="Arial"/>
                <a:cs typeface="Arial"/>
              </a:defRPr>
            </a:lvl7pPr>
            <a:lvl8pPr>
              <a:defRPr sz="1875" b="0">
                <a:solidFill>
                  <a:srgbClr val="1F1F1B"/>
                </a:solidFill>
                <a:latin typeface="Arial"/>
                <a:ea typeface="Arial"/>
                <a:cs typeface="Arial"/>
              </a:defRPr>
            </a:lvl8pPr>
            <a:lvl9pPr>
              <a:defRPr sz="1875" b="0">
                <a:solidFill>
                  <a:srgbClr val="1F1F1B"/>
                </a:solidFill>
                <a:latin typeface="Arial"/>
                <a:ea typeface="Arial"/>
                <a:cs typeface="Arial"/>
              </a:defRPr>
            </a:lvl9pPr>
          </a:lstStyle>
          <a:p xmlns:a="http://schemas.openxmlformats.org/drawingml/2006/main">
            <a:pPr>
              <a:defRPr sz="1875" b="0">
                <a:solidFill>
                  <a:srgbClr val="1F1F1B"/>
                </a:solidFill>
                <a:latin typeface="Arial"/>
                <a:ea typeface="Arial"/>
                <a:cs typeface="Arial"/>
              </a:defRPr>
            </a:pPr>
            <a:r>
              <a:rPr sz="1875" b="0">
                <a:solidFill>
                  <a:srgbClr val="1F1F1B"/>
                </a:solidFill>
                <a:latin typeface="Arial"/>
                <a:ea typeface="Arial"/>
                <a:cs typeface="Arial"/>
              </a:rPr>
              <a:t>Sesuai kondisi</a:t>
            </a:r>
          </a:p>
        </p:txBody>
      </p:sp>
      <p:sp>
        <p:nvSpPr>
          <p:cNvPr id="11" name="">
            <a:extLst xmlns:a="http://schemas.openxmlformats.org/drawingml/2006/main">
              <a:ext uri="{FF2B5EF4-FFF2-40B4-BE49-F238E27FC236}">
                <a16:creationId xmlns:a16="http://schemas.microsoft.com/office/drawing/2014/main" id="{25624ED8-B4E7-41CF-BA91-EA35127074C1}"/>
              </a:ext>
            </a:extLst>
          </p:cNvPr>
          <p:cNvSpPr>
            <a:spLocks xmlns:a="http://schemas.openxmlformats.org/drawingml/2006/main" noGrp="1"/>
          </p:cNvSpPr>
          <p:nvPr/>
        </p:nvSpPr>
        <p:spPr>
          <a:xfrm xmlns:a="http://schemas.openxmlformats.org/drawingml/2006/main">
            <a:off x="1095375" y="204787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F5D62"/>
                </a:solidFill>
                <a:latin typeface="Arial"/>
                <a:ea typeface="Arial"/>
                <a:cs typeface="Arial"/>
              </a:defRPr>
            </a:defPPr>
            <a:lvl1pPr>
              <a:defRPr sz="2550" b="1">
                <a:solidFill>
                  <a:srgbClr val="2F5D62"/>
                </a:solidFill>
                <a:latin typeface="Arial"/>
                <a:ea typeface="Arial"/>
                <a:cs typeface="Arial"/>
              </a:defRPr>
            </a:lvl1pPr>
            <a:lvl2pPr>
              <a:defRPr sz="2550" b="1">
                <a:solidFill>
                  <a:srgbClr val="2F5D62"/>
                </a:solidFill>
                <a:latin typeface="Arial"/>
                <a:ea typeface="Arial"/>
                <a:cs typeface="Arial"/>
              </a:defRPr>
            </a:lvl2pPr>
            <a:lvl3pPr>
              <a:defRPr sz="2550" b="1">
                <a:solidFill>
                  <a:srgbClr val="2F5D62"/>
                </a:solidFill>
                <a:latin typeface="Arial"/>
                <a:ea typeface="Arial"/>
                <a:cs typeface="Arial"/>
              </a:defRPr>
            </a:lvl3pPr>
            <a:lvl4pPr>
              <a:defRPr sz="2550" b="1">
                <a:solidFill>
                  <a:srgbClr val="2F5D62"/>
                </a:solidFill>
                <a:latin typeface="Arial"/>
                <a:ea typeface="Arial"/>
                <a:cs typeface="Arial"/>
              </a:defRPr>
            </a:lvl4pPr>
            <a:lvl5pPr>
              <a:defRPr sz="2550" b="1">
                <a:solidFill>
                  <a:srgbClr val="2F5D62"/>
                </a:solidFill>
                <a:latin typeface="Arial"/>
                <a:ea typeface="Arial"/>
                <a:cs typeface="Arial"/>
              </a:defRPr>
            </a:lvl5pPr>
            <a:lvl6pPr>
              <a:defRPr sz="2550" b="1">
                <a:solidFill>
                  <a:srgbClr val="2F5D62"/>
                </a:solidFill>
                <a:latin typeface="Arial"/>
                <a:ea typeface="Arial"/>
                <a:cs typeface="Arial"/>
              </a:defRPr>
            </a:lvl6pPr>
            <a:lvl7pPr>
              <a:defRPr sz="2550" b="1">
                <a:solidFill>
                  <a:srgbClr val="2F5D62"/>
                </a:solidFill>
                <a:latin typeface="Arial"/>
                <a:ea typeface="Arial"/>
                <a:cs typeface="Arial"/>
              </a:defRPr>
            </a:lvl7pPr>
            <a:lvl8pPr>
              <a:defRPr sz="2550" b="1">
                <a:solidFill>
                  <a:srgbClr val="2F5D62"/>
                </a:solidFill>
                <a:latin typeface="Arial"/>
                <a:ea typeface="Arial"/>
                <a:cs typeface="Arial"/>
              </a:defRPr>
            </a:lvl8pPr>
            <a:lvl9pPr>
              <a:defRPr sz="2550" b="1">
                <a:solidFill>
                  <a:srgbClr val="2F5D62"/>
                </a:solidFill>
                <a:latin typeface="Arial"/>
                <a:ea typeface="Arial"/>
                <a:cs typeface="Arial"/>
              </a:defRPr>
            </a:lvl9pPr>
          </a:lstStyle>
          <a:p xmlns:a="http://schemas.openxmlformats.org/drawingml/2006/main">
            <a:pPr>
              <a:defRPr sz="2550" b="1">
                <a:solidFill>
                  <a:srgbClr val="2F5D62"/>
                </a:solidFill>
                <a:latin typeface="Arial"/>
                <a:ea typeface="Arial"/>
                <a:cs typeface="Arial"/>
              </a:defRPr>
            </a:pPr>
            <a:r>
              <a:rPr sz="2550" b="1">
                <a:solidFill>
                  <a:srgbClr val="2F5D62"/>
                </a:solidFill>
                <a:latin typeface="Arial"/>
                <a:ea typeface="Arial"/>
                <a:cs typeface="Arial"/>
              </a:rPr>
              <a:t>Paparan dinaikkan bertahap selama 7–14 hari</a:t>
            </a:r>
          </a:p>
        </p:txBody>
      </p:sp>
      <p:sp>
        <p:nvSpPr>
          <p:cNvPr id="12" name="">
            <a:extLst xmlns:a="http://schemas.openxmlformats.org/drawingml/2006/main">
              <a:ext uri="{FF2B5EF4-FFF2-40B4-BE49-F238E27FC236}">
                <a16:creationId xmlns:a16="http://schemas.microsoft.com/office/drawing/2014/main" id="{404FFD40-504F-4840-AAAA-5478678358F3}"/>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Tinggi batang hanya skema tahapan, bukan persentase atau jadwal baku.</a:t>
            </a:r>
          </a:p>
        </p:txBody>
      </p:sp>
      <p:sp>
        <p:nvSpPr>
          <p:cNvPr id="13" name="">
            <a:extLst xmlns:a="http://schemas.openxmlformats.org/drawingml/2006/main">
              <a:ext uri="{FF2B5EF4-FFF2-40B4-BE49-F238E27FC236}">
                <a16:creationId xmlns:a16="http://schemas.microsoft.com/office/drawing/2014/main" id="{2DD75B70-4869-4944-8429-F28E34FD6E32}"/>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NIOSH · sumber pada catatan</a:t>
            </a:r>
          </a:p>
        </p:txBody>
      </p:sp>
      <p:sp>
        <p:nvSpPr>
          <p:cNvPr id="14" name="">
            <a:extLst xmlns:a="http://schemas.openxmlformats.org/drawingml/2006/main">
              <a:ext uri="{FF2B5EF4-FFF2-40B4-BE49-F238E27FC236}">
                <a16:creationId xmlns:a16="http://schemas.microsoft.com/office/drawing/2014/main" id="{E2DE95A5-4929-47D0-BFB5-59D274211B9C}"/>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15" name="">
            <a:extLst xmlns:a="http://schemas.openxmlformats.org/drawingml/2006/main">
              <a:ext uri="{FF2B5EF4-FFF2-40B4-BE49-F238E27FC236}">
                <a16:creationId xmlns:a16="http://schemas.microsoft.com/office/drawing/2014/main" id="{D671AD15-8E17-403D-9809-6D84BD767AE1}"/>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13 / 28</a:t>
            </a:r>
          </a:p>
        </p:txBody>
      </p:sp>
    </p:spTree>
    <p:extLst>
      <p:ext uri="{BB962C8B-B14F-4D97-AF65-F5344CB8AC3E}">
        <p14:creationId xmlns:p14="http://schemas.microsoft.com/office/powerpoint/2010/main" val="1571488853"/>
      </p:ext>
    </p:extLst>
  </p:cSld>
</p:sld>
</file>

<file path=ppt/slides/slide14.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DB8C6FB-CB0D-4C2B-A4B8-1068C4531B65}"/>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4CCCDB4F-9D8E-4E0F-98EA-0A82025247AE}"/>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Pemulihan dalam panas</a:t>
            </a:r>
          </a:p>
        </p:txBody>
      </p:sp>
      <p:sp>
        <p:nvSpPr>
          <p:cNvPr id="3" name="">
            <a:extLst xmlns:a="http://schemas.openxmlformats.org/drawingml/2006/main">
              <a:ext uri="{FF2B5EF4-FFF2-40B4-BE49-F238E27FC236}">
                <a16:creationId xmlns:a16="http://schemas.microsoft.com/office/drawing/2014/main" id="{04B61114-3A25-4941-A40D-00B402B9874F}"/>
              </a:ext>
            </a:extLst>
          </p:cNvPr>
          <p:cNvSpPr>
            <a:spLocks xmlns:a="http://schemas.openxmlformats.org/drawingml/2006/main" noGrp="1"/>
          </p:cNvSpPr>
          <p:nvPr/>
        </p:nvSpPr>
        <p:spPr>
          <a:xfrm xmlns:a="http://schemas.openxmlformats.org/drawingml/2006/main">
            <a:off x="762000" y="261937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4" name="">
            <a:extLst xmlns:a="http://schemas.openxmlformats.org/drawingml/2006/main">
              <a:ext uri="{FF2B5EF4-FFF2-40B4-BE49-F238E27FC236}">
                <a16:creationId xmlns:a16="http://schemas.microsoft.com/office/drawing/2014/main" id="{9C941C15-02BA-4D75-8F44-66D4EEEBE1D6}"/>
              </a:ext>
            </a:extLst>
          </p:cNvPr>
          <p:cNvSpPr>
            <a:spLocks xmlns:a="http://schemas.openxmlformats.org/drawingml/2006/main" noGrp="1"/>
          </p:cNvSpPr>
          <p:nvPr/>
        </p:nvSpPr>
        <p:spPr>
          <a:xfrm xmlns:a="http://schemas.openxmlformats.org/drawingml/2006/main">
            <a:off x="933450" y="275272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Air minum</a:t>
            </a:r>
          </a:p>
        </p:txBody>
      </p:sp>
      <p:sp>
        <p:nvSpPr>
          <p:cNvPr id="5" name="">
            <a:extLst xmlns:a="http://schemas.openxmlformats.org/drawingml/2006/main">
              <a:ext uri="{FF2B5EF4-FFF2-40B4-BE49-F238E27FC236}">
                <a16:creationId xmlns:a16="http://schemas.microsoft.com/office/drawing/2014/main" id="{376D5A4A-EAFF-4CDA-B740-9DFBFAADD535}"/>
              </a:ext>
            </a:extLst>
          </p:cNvPr>
          <p:cNvSpPr>
            <a:spLocks xmlns:a="http://schemas.openxmlformats.org/drawingml/2006/main" noGrp="1"/>
          </p:cNvSpPr>
          <p:nvPr/>
        </p:nvSpPr>
        <p:spPr>
          <a:xfrm xmlns:a="http://schemas.openxmlformats.org/drawingml/2006/main">
            <a:off x="933450" y="320040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Mudah dijangkau</a:t>
            </a:r>
          </a:p>
        </p:txBody>
      </p:sp>
      <p:sp>
        <p:nvSpPr>
          <p:cNvPr id="6" name="">
            <a:extLst xmlns:a="http://schemas.openxmlformats.org/drawingml/2006/main">
              <a:ext uri="{FF2B5EF4-FFF2-40B4-BE49-F238E27FC236}">
                <a16:creationId xmlns:a16="http://schemas.microsoft.com/office/drawing/2014/main" id="{B119C7B8-100D-4686-B983-355DA9DA1BA3}"/>
              </a:ext>
            </a:extLst>
          </p:cNvPr>
          <p:cNvSpPr>
            <a:spLocks xmlns:a="http://schemas.openxmlformats.org/drawingml/2006/main" noGrp="1"/>
          </p:cNvSpPr>
          <p:nvPr/>
        </p:nvSpPr>
        <p:spPr>
          <a:xfrm xmlns:a="http://schemas.openxmlformats.org/drawingml/2006/main">
            <a:off x="4451350" y="261937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7" name="">
            <a:extLst xmlns:a="http://schemas.openxmlformats.org/drawingml/2006/main">
              <a:ext uri="{FF2B5EF4-FFF2-40B4-BE49-F238E27FC236}">
                <a16:creationId xmlns:a16="http://schemas.microsoft.com/office/drawing/2014/main" id="{ABF5886E-22E4-4989-8945-06BAF70AE143}"/>
              </a:ext>
            </a:extLst>
          </p:cNvPr>
          <p:cNvSpPr>
            <a:spLocks xmlns:a="http://schemas.openxmlformats.org/drawingml/2006/main" noGrp="1"/>
          </p:cNvSpPr>
          <p:nvPr/>
        </p:nvSpPr>
        <p:spPr>
          <a:xfrm xmlns:a="http://schemas.openxmlformats.org/drawingml/2006/main">
            <a:off x="4622800" y="275272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Tempat pulih</a:t>
            </a:r>
          </a:p>
        </p:txBody>
      </p:sp>
      <p:sp>
        <p:nvSpPr>
          <p:cNvPr id="8" name="">
            <a:extLst xmlns:a="http://schemas.openxmlformats.org/drawingml/2006/main">
              <a:ext uri="{FF2B5EF4-FFF2-40B4-BE49-F238E27FC236}">
                <a16:creationId xmlns:a16="http://schemas.microsoft.com/office/drawing/2014/main" id="{4784FFEE-D49B-4208-AC57-ACEC411DE971}"/>
              </a:ext>
            </a:extLst>
          </p:cNvPr>
          <p:cNvSpPr>
            <a:spLocks xmlns:a="http://schemas.openxmlformats.org/drawingml/2006/main" noGrp="1"/>
          </p:cNvSpPr>
          <p:nvPr/>
        </p:nvSpPr>
        <p:spPr>
          <a:xfrm xmlns:a="http://schemas.openxmlformats.org/drawingml/2006/main">
            <a:off x="4622800" y="320040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Lebih sejuk atau teduh</a:t>
            </a:r>
          </a:p>
        </p:txBody>
      </p:sp>
      <p:sp>
        <p:nvSpPr>
          <p:cNvPr id="9" name="">
            <a:extLst xmlns:a="http://schemas.openxmlformats.org/drawingml/2006/main">
              <a:ext uri="{FF2B5EF4-FFF2-40B4-BE49-F238E27FC236}">
                <a16:creationId xmlns:a16="http://schemas.microsoft.com/office/drawing/2014/main" id="{0C439E61-A91C-4F4F-8381-717CDBAD05BC}"/>
              </a:ext>
            </a:extLst>
          </p:cNvPr>
          <p:cNvSpPr>
            <a:spLocks xmlns:a="http://schemas.openxmlformats.org/drawingml/2006/main" noGrp="1"/>
          </p:cNvSpPr>
          <p:nvPr/>
        </p:nvSpPr>
        <p:spPr>
          <a:xfrm xmlns:a="http://schemas.openxmlformats.org/drawingml/2006/main">
            <a:off x="8140700" y="261937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0" name="">
            <a:extLst xmlns:a="http://schemas.openxmlformats.org/drawingml/2006/main">
              <a:ext uri="{FF2B5EF4-FFF2-40B4-BE49-F238E27FC236}">
                <a16:creationId xmlns:a16="http://schemas.microsoft.com/office/drawing/2014/main" id="{C1F7CCB0-0F83-475F-AC25-C9AF95F107C0}"/>
              </a:ext>
            </a:extLst>
          </p:cNvPr>
          <p:cNvSpPr>
            <a:spLocks xmlns:a="http://schemas.openxmlformats.org/drawingml/2006/main" noGrp="1"/>
          </p:cNvSpPr>
          <p:nvPr/>
        </p:nvSpPr>
        <p:spPr>
          <a:xfrm xmlns:a="http://schemas.openxmlformats.org/drawingml/2006/main">
            <a:off x="8312150" y="275272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Paparan</a:t>
            </a:r>
          </a:p>
        </p:txBody>
      </p:sp>
      <p:sp>
        <p:nvSpPr>
          <p:cNvPr id="11" name="">
            <a:extLst xmlns:a="http://schemas.openxmlformats.org/drawingml/2006/main">
              <a:ext uri="{FF2B5EF4-FFF2-40B4-BE49-F238E27FC236}">
                <a16:creationId xmlns:a16="http://schemas.microsoft.com/office/drawing/2014/main" id="{37A70460-92ED-4DBE-A549-1E74F0CDB4AC}"/>
              </a:ext>
            </a:extLst>
          </p:cNvPr>
          <p:cNvSpPr>
            <a:spLocks xmlns:a="http://schemas.openxmlformats.org/drawingml/2006/main" noGrp="1"/>
          </p:cNvSpPr>
          <p:nvPr/>
        </p:nvSpPr>
        <p:spPr>
          <a:xfrm xmlns:a="http://schemas.openxmlformats.org/drawingml/2006/main">
            <a:off x="8312150" y="320040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Tugas dan durasi</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disesuaikan</a:t>
            </a:r>
          </a:p>
        </p:txBody>
      </p:sp>
      <p:sp>
        <p:nvSpPr>
          <p:cNvPr id="12" name="">
            <a:extLst xmlns:a="http://schemas.openxmlformats.org/drawingml/2006/main">
              <a:ext uri="{FF2B5EF4-FFF2-40B4-BE49-F238E27FC236}">
                <a16:creationId xmlns:a16="http://schemas.microsoft.com/office/drawing/2014/main" id="{3564E164-D594-4566-A810-0995F20F6D71}"/>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Ketiga dukungan ini perlu tersedia bersama dalam rencana kerja panas.</a:t>
            </a:r>
          </a:p>
        </p:txBody>
      </p:sp>
      <p:sp>
        <p:nvSpPr>
          <p:cNvPr id="13" name="">
            <a:extLst xmlns:a="http://schemas.openxmlformats.org/drawingml/2006/main">
              <a:ext uri="{FF2B5EF4-FFF2-40B4-BE49-F238E27FC236}">
                <a16:creationId xmlns:a16="http://schemas.microsoft.com/office/drawing/2014/main" id="{25F6A0D5-3A93-41CB-86B2-D25846ED7E50}"/>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NIOSH · sumber pada catatan</a:t>
            </a:r>
          </a:p>
        </p:txBody>
      </p:sp>
      <p:sp>
        <p:nvSpPr>
          <p:cNvPr id="14" name="">
            <a:extLst xmlns:a="http://schemas.openxmlformats.org/drawingml/2006/main">
              <a:ext uri="{FF2B5EF4-FFF2-40B4-BE49-F238E27FC236}">
                <a16:creationId xmlns:a16="http://schemas.microsoft.com/office/drawing/2014/main" id="{5E6CC4F8-AF37-480A-A5A3-8E471E8BFCBD}"/>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15" name="">
            <a:extLst xmlns:a="http://schemas.openxmlformats.org/drawingml/2006/main">
              <a:ext uri="{FF2B5EF4-FFF2-40B4-BE49-F238E27FC236}">
                <a16:creationId xmlns:a16="http://schemas.microsoft.com/office/drawing/2014/main" id="{D93BE9EA-AE2B-4703-A0CC-925A6B00AB09}"/>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14 / 28</a:t>
            </a:r>
          </a:p>
        </p:txBody>
      </p:sp>
    </p:spTree>
    <p:extLst>
      <p:ext uri="{BB962C8B-B14F-4D97-AF65-F5344CB8AC3E}">
        <p14:creationId xmlns:p14="http://schemas.microsoft.com/office/powerpoint/2010/main" val="1419428851"/>
      </p:ext>
    </p:extLst>
  </p:cSld>
</p:sld>
</file>

<file path=ppt/slides/slide15.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0A92DB-971F-477A-A934-829A2457931E}"/>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CEC1B1B9-895D-4ABB-B916-467C0F624AD8}"/>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Tanda bahaya saat bekerja dalam panas</a:t>
            </a:r>
          </a:p>
        </p:txBody>
      </p:sp>
      <p:sp>
        <p:nvSpPr>
          <p:cNvPr id="3" name="">
            <a:extLst xmlns:a="http://schemas.openxmlformats.org/drawingml/2006/main">
              <a:ext uri="{FF2B5EF4-FFF2-40B4-BE49-F238E27FC236}">
                <a16:creationId xmlns:a16="http://schemas.microsoft.com/office/drawing/2014/main" id="{483CB640-4005-4955-A359-6452F1AFEC22}"/>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Kebingungan, bicara pelo, kejang, atau hilang kesadaran memerlukan respons darurat.</a:t>
            </a:r>
          </a:p>
        </p:txBody>
      </p:sp>
      <p:sp>
        <p:nvSpPr>
          <p:cNvPr id="4" name="">
            <a:extLst xmlns:a="http://schemas.openxmlformats.org/drawingml/2006/main">
              <a:ext uri="{FF2B5EF4-FFF2-40B4-BE49-F238E27FC236}">
                <a16:creationId xmlns:a16="http://schemas.microsoft.com/office/drawing/2014/main" id="{69E66F32-03DC-4BEF-A9F2-45A94DAEEE52}"/>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Hentikan kerja, aktifkan bantuan medis setempat, dan mulai pendinginan segera bila aman.</a:t>
            </a:r>
          </a:p>
        </p:txBody>
      </p:sp>
      <p:sp>
        <p:nvSpPr>
          <p:cNvPr id="5" name="">
            <a:extLst xmlns:a="http://schemas.openxmlformats.org/drawingml/2006/main">
              <a:ext uri="{FF2B5EF4-FFF2-40B4-BE49-F238E27FC236}">
                <a16:creationId xmlns:a16="http://schemas.microsoft.com/office/drawing/2014/main" id="{527579BD-2616-4D11-AD12-B9A1EEE1D0F8}"/>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Dampingi korban; jangan berikan minuman bila tidak sadar atau sulit menelan.</a:t>
            </a:r>
          </a:p>
        </p:txBody>
      </p:sp>
      <p:sp>
        <p:nvSpPr>
          <p:cNvPr id="6" name="">
            <a:extLst xmlns:a="http://schemas.openxmlformats.org/drawingml/2006/main">
              <a:ext uri="{FF2B5EF4-FFF2-40B4-BE49-F238E27FC236}">
                <a16:creationId xmlns:a16="http://schemas.microsoft.com/office/drawing/2014/main" id="{631CA1E9-5897-4654-9077-485379CA0B57}"/>
              </a:ext>
            </a:extLst>
          </p:cNvPr>
          <p:cNvSpPr>
            <a:spLocks xmlns:a="http://schemas.openxmlformats.org/drawingml/2006/main" noGrp="1"/>
          </p:cNvSpPr>
          <p:nvPr/>
        </p:nvSpPr>
        <p:spPr>
          <a:xfrm xmlns:a="http://schemas.openxmlformats.org/drawingml/2006/main">
            <a:off x="762000" y="5895975"/>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NIOSH · sumber pada catatan</a:t>
            </a:r>
          </a:p>
        </p:txBody>
      </p:sp>
      <p:sp>
        <p:nvSpPr>
          <p:cNvPr id="7" name="">
            <a:extLst xmlns:a="http://schemas.openxmlformats.org/drawingml/2006/main">
              <a:ext uri="{FF2B5EF4-FFF2-40B4-BE49-F238E27FC236}">
                <a16:creationId xmlns:a16="http://schemas.microsoft.com/office/drawing/2014/main" id="{96F294D1-D65A-4AC4-A45F-A8C8480A903C}"/>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8" name="">
            <a:extLst xmlns:a="http://schemas.openxmlformats.org/drawingml/2006/main">
              <a:ext uri="{FF2B5EF4-FFF2-40B4-BE49-F238E27FC236}">
                <a16:creationId xmlns:a16="http://schemas.microsoft.com/office/drawing/2014/main" id="{B6DC9F1E-0668-4631-BC2C-C974277BAB2F}"/>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15 / 28</a:t>
            </a:r>
          </a:p>
        </p:txBody>
      </p:sp>
    </p:spTree>
    <p:extLst>
      <p:ext uri="{BB962C8B-B14F-4D97-AF65-F5344CB8AC3E}">
        <p14:creationId xmlns:p14="http://schemas.microsoft.com/office/powerpoint/2010/main" val="1287148426"/>
      </p:ext>
    </p:extLst>
  </p:cSld>
</p:sld>
</file>

<file path=ppt/slides/slide16.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DD5FC4-E91A-49EC-A27D-F72F3347905F}"/>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98EB0D1A-2B2C-4FE1-8E6E-46BDC9A41279}"/>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Rencana kerja dengan ruang pemulihan</a:t>
            </a:r>
          </a:p>
        </p:txBody>
      </p:sp>
      <p:sp>
        <p:nvSpPr>
          <p:cNvPr id="3" name="">
            <a:extLst xmlns:a="http://schemas.openxmlformats.org/drawingml/2006/main">
              <a:ext uri="{FF2B5EF4-FFF2-40B4-BE49-F238E27FC236}">
                <a16:creationId xmlns:a16="http://schemas.microsoft.com/office/drawing/2014/main" id="{D3FF96B5-0F2A-43F8-8E71-52C1C12AD72D}"/>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Tentukan tahap berat, waktu paparan, dan titik istirahat.</a:t>
            </a:r>
          </a:p>
        </p:txBody>
      </p:sp>
      <p:sp>
        <p:nvSpPr>
          <p:cNvPr id="4" name="">
            <a:extLst xmlns:a="http://schemas.openxmlformats.org/drawingml/2006/main">
              <a:ext uri="{FF2B5EF4-FFF2-40B4-BE49-F238E27FC236}">
                <a16:creationId xmlns:a16="http://schemas.microsoft.com/office/drawing/2014/main" id="{0DE3E6B6-BD14-4CF3-8666-229FAA2DA0C2}"/>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Siapkan personel pengganti serta waktu cadangan.</a:t>
            </a:r>
          </a:p>
        </p:txBody>
      </p:sp>
      <p:sp>
        <p:nvSpPr>
          <p:cNvPr id="5" name="">
            <a:extLst xmlns:a="http://schemas.openxmlformats.org/drawingml/2006/main">
              <a:ext uri="{FF2B5EF4-FFF2-40B4-BE49-F238E27FC236}">
                <a16:creationId xmlns:a16="http://schemas.microsoft.com/office/drawing/2014/main" id="{ABB0C49D-9EE5-4FD9-B253-0D363819660F}"/>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Tinjau ulang rencana ketika cuaca, kondisi orang, atau akses berubah.</a:t>
            </a:r>
          </a:p>
        </p:txBody>
      </p:sp>
      <p:sp>
        <p:nvSpPr>
          <p:cNvPr id="6" name="">
            <a:extLst xmlns:a="http://schemas.openxmlformats.org/drawingml/2006/main">
              <a:ext uri="{FF2B5EF4-FFF2-40B4-BE49-F238E27FC236}">
                <a16:creationId xmlns:a16="http://schemas.microsoft.com/office/drawing/2014/main" id="{D3C0F857-CDF9-443D-A435-430074CEB0FE}"/>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744E91E3-8A11-44AE-908D-DCC7159AAC0F}"/>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16 / 28</a:t>
            </a:r>
          </a:p>
        </p:txBody>
      </p:sp>
    </p:spTree>
    <p:extLst>
      <p:ext uri="{BB962C8B-B14F-4D97-AF65-F5344CB8AC3E}">
        <p14:creationId xmlns:p14="http://schemas.microsoft.com/office/powerpoint/2010/main" val="1730325501"/>
      </p:ext>
    </p:extLst>
  </p:cSld>
</p:sld>
</file>

<file path=ppt/slides/slide17.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3341327-488C-40A8-A6F0-D95A6EED3D12}"/>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2A169B61-DB9C-4729-A0C4-E39734F76FA5}"/>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Bahaya, kejadian, dan akibat</a:t>
            </a:r>
          </a:p>
        </p:txBody>
      </p:sp>
      <p:graphicFrame>
        <p:nvGraphicFramePr>
          <p:cNvPr id="3" name="">
            <a:extLst xmlns:a="http://schemas.openxmlformats.org/drawingml/2006/main">
              <a:ext uri="{FF2B5EF4-FFF2-40B4-BE49-F238E27FC236}">
                <a16:creationId xmlns:a16="http://schemas.microsoft.com/office/drawing/2014/main" id="{0E4C48DA-C780-482A-BDD7-C122F6961708}"/>
              </a:ext>
            </a:extLst>
          </p:cNvPr>
          <p:cNvGraphicFramePr/>
          <p:nvPr/>
        </p:nvGraphicFramePr>
        <p:xfrm>
          <a:off xmlns:a="http://schemas.openxmlformats.org/drawingml/2006/main" x="762000" y="2114550"/>
          <a:ext xmlns:a="http://schemas.openxmlformats.org/drawingml/2006/main" cx="10668000" cy="2743200"/>
        </p:xfrm>
        <a:graphic xmlns:a="http://schemas.openxmlformats.org/drawingml/2006/main">
          <a:graphicData uri="http://schemas.openxmlformats.org/drawingml/2006/table">
            <a:tbl>
              <a:tblPr/>
              <a:tblGrid>
                <a:gridCol w="2667000"/>
                <a:gridCol w="3619500"/>
                <a:gridCol w="4381500"/>
              </a:tblGrid>
              <a:tr h="685800">
                <a:tc>
                  <a:txBody>
                    <a:bodyPr/>
                    <a:lstStyle/>
                    <a:p>
                      <a:r>
                        <a:rPr sz="1800" b="1">
                          <a:solidFill>
                            <a:srgbClr val="2F5D62"/>
                          </a:solidFill>
                          <a:latin typeface="Arial"/>
                          <a:ea typeface="Arial"/>
                          <a:cs typeface="Arial"/>
                        </a:rPr>
                        <a:t>Bahaya atau kondisi</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Kejadian</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Akibat</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00" b="0">
                          <a:solidFill>
                            <a:srgbClr val="1F1F1B"/>
                          </a:solidFill>
                          <a:latin typeface="Arial"/>
                          <a:ea typeface="Arial"/>
                          <a:cs typeface="Arial"/>
                        </a:rPr>
                        <a:t>Kabel melintang</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Kaki tersangkut</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Jatuh dan cedera</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Energi injeksi listrik</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Kontak bagian berbahaya</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Sengatan</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Kelelahan operator</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Konfirmasi terlewat</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Paparan bahaya tidak terkendali</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103D94A3-7692-4A71-A876-C8DF55E5C448}"/>
              </a:ext>
            </a:extLst>
          </p:cNvPr>
          <p:cNvSpPr>
            <a:spLocks xmlns:a="http://schemas.openxmlformats.org/drawingml/2006/main" noGrp="1"/>
          </p:cNvSpPr>
          <p:nvPr/>
        </p:nvSpPr>
        <p:spPr>
          <a:xfrm xmlns:a="http://schemas.openxmlformats.org/drawingml/2006/main">
            <a:off x="762000" y="5895975"/>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OSHA · sumber pada catatan</a:t>
            </a:r>
          </a:p>
        </p:txBody>
      </p:sp>
      <p:sp>
        <p:nvSpPr>
          <p:cNvPr id="5" name="">
            <a:extLst xmlns:a="http://schemas.openxmlformats.org/drawingml/2006/main">
              <a:ext uri="{FF2B5EF4-FFF2-40B4-BE49-F238E27FC236}">
                <a16:creationId xmlns:a16="http://schemas.microsoft.com/office/drawing/2014/main" id="{A1A2E827-0FC7-469A-B870-5F1120B0BD69}"/>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0C3EB31A-E2DA-42E2-9067-E64766460C9E}"/>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17 / 28</a:t>
            </a:r>
          </a:p>
        </p:txBody>
      </p:sp>
    </p:spTree>
    <p:extLst>
      <p:ext uri="{BB962C8B-B14F-4D97-AF65-F5344CB8AC3E}">
        <p14:creationId xmlns:p14="http://schemas.microsoft.com/office/powerpoint/2010/main" val="1664628624"/>
      </p:ext>
    </p:extLst>
  </p:cSld>
</p:sld>
</file>

<file path=ppt/slides/slide18.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cxnSp>
        <p:nvCxnSpPr>
          <p:cNvPr id="29" name="">
            <a:extLst xmlns:a="http://schemas.openxmlformats.org/drawingml/2006/main">
              <a:ext uri="{FF2B5EF4-FFF2-40B4-BE49-F238E27FC236}">
                <a16:creationId xmlns:a16="http://schemas.microsoft.com/office/drawing/2014/main" id="{CF8D5758-0A27-48AD-936D-8E9D28AB0AD4}"/>
              </a:ext>
            </a:extLst>
          </p:cNvPr>
          <p:cNvCxnSpPr>
            <a:stCxn xmlns:a="http://schemas.openxmlformats.org/drawingml/2006/main" id="27" idx="3"/>
            <a:endCxn xmlns:a="http://schemas.openxmlformats.org/drawingml/2006/main" id="28" idx="1"/>
          </p:cNvCxnSpPr>
          <p:nvPr/>
        </p:nvCxnSpPr>
        <p:spPr>
          <a:xfrm xmlns:a="http://schemas.openxmlformats.org/drawingml/2006/main">
            <a:off x="7793038" y="4552951"/>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23" name="">
            <a:extLst xmlns:a="http://schemas.openxmlformats.org/drawingml/2006/main">
              <a:ext uri="{FF2B5EF4-FFF2-40B4-BE49-F238E27FC236}">
                <a16:creationId xmlns:a16="http://schemas.microsoft.com/office/drawing/2014/main" id="{2283F731-A452-4966-8FB5-41643725730D}"/>
              </a:ext>
            </a:extLst>
          </p:cNvPr>
          <p:cNvCxnSpPr>
            <a:stCxn xmlns:a="http://schemas.openxmlformats.org/drawingml/2006/main" id="21" idx="3"/>
            <a:endCxn xmlns:a="http://schemas.openxmlformats.org/drawingml/2006/main" id="22" idx="1"/>
          </p:cNvCxnSpPr>
          <p:nvPr/>
        </p:nvCxnSpPr>
        <p:spPr>
          <a:xfrm xmlns:a="http://schemas.openxmlformats.org/drawingml/2006/main">
            <a:off x="4103688" y="4552951"/>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14" name="">
            <a:extLst xmlns:a="http://schemas.openxmlformats.org/drawingml/2006/main">
              <a:ext uri="{FF2B5EF4-FFF2-40B4-BE49-F238E27FC236}">
                <a16:creationId xmlns:a16="http://schemas.microsoft.com/office/drawing/2014/main" id="{63832FCD-8185-46FE-BC36-5AD8C622DB4D}"/>
              </a:ext>
            </a:extLst>
          </p:cNvPr>
          <p:cNvCxnSpPr>
            <a:stCxn xmlns:a="http://schemas.openxmlformats.org/drawingml/2006/main" id="12" idx="3"/>
            <a:endCxn xmlns:a="http://schemas.openxmlformats.org/drawingml/2006/main" id="13" idx="1"/>
          </p:cNvCxnSpPr>
          <p:nvPr/>
        </p:nvCxnSpPr>
        <p:spPr>
          <a:xfrm xmlns:a="http://schemas.openxmlformats.org/drawingml/2006/main">
            <a:off x="7793038" y="2743201"/>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8" name="">
            <a:extLst xmlns:a="http://schemas.openxmlformats.org/drawingml/2006/main">
              <a:ext uri="{FF2B5EF4-FFF2-40B4-BE49-F238E27FC236}">
                <a16:creationId xmlns:a16="http://schemas.microsoft.com/office/drawing/2014/main" id="{4B83A654-F494-440F-87A3-27D09B20EC6E}"/>
              </a:ext>
            </a:extLst>
          </p:cNvPr>
          <p:cNvCxnSpPr>
            <a:stCxn xmlns:a="http://schemas.openxmlformats.org/drawingml/2006/main" id="6" idx="3"/>
            <a:endCxn xmlns:a="http://schemas.openxmlformats.org/drawingml/2006/main" id="7" idx="1"/>
          </p:cNvCxnSpPr>
          <p:nvPr/>
        </p:nvCxnSpPr>
        <p:spPr>
          <a:xfrm xmlns:a="http://schemas.openxmlformats.org/drawingml/2006/main">
            <a:off x="4103688" y="2743201"/>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sp>
        <p:nvSpPr>
          <p:cNvPr id="37" name="">
            <a:extLst xmlns:a="http://schemas.openxmlformats.org/drawingml/2006/main">
              <a:ext uri="{FF2B5EF4-FFF2-40B4-BE49-F238E27FC236}">
                <a16:creationId xmlns:a16="http://schemas.microsoft.com/office/drawing/2014/main" id="{EF4A39CD-75A0-4A54-8885-1AFDCA29CCC0}"/>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71AC3FFC-0F96-4827-B3FA-5AB96604067D}"/>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JSA menghubungkan rencana dengan bukti</a:t>
            </a:r>
          </a:p>
        </p:txBody>
      </p:sp>
      <p:sp>
        <p:nvSpPr>
          <p:cNvPr id="3" name="">
            <a:extLst xmlns:a="http://schemas.openxmlformats.org/drawingml/2006/main">
              <a:ext uri="{FF2B5EF4-FFF2-40B4-BE49-F238E27FC236}">
                <a16:creationId xmlns:a16="http://schemas.microsoft.com/office/drawing/2014/main" id="{E12929F8-A9D3-4E81-BA94-978B4ADF7D46}"/>
              </a:ext>
            </a:extLst>
          </p:cNvPr>
          <p:cNvSpPr>
            <a:spLocks xmlns:a="http://schemas.openxmlformats.org/drawingml/2006/main" noGrp="1"/>
          </p:cNvSpPr>
          <p:nvPr/>
        </p:nvSpPr>
        <p:spPr>
          <a:xfrm xmlns:a="http://schemas.openxmlformats.org/drawingml/2006/main">
            <a:off x="762000" y="204787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4" name="">
            <a:extLst xmlns:a="http://schemas.openxmlformats.org/drawingml/2006/main">
              <a:ext uri="{FF2B5EF4-FFF2-40B4-BE49-F238E27FC236}">
                <a16:creationId xmlns:a16="http://schemas.microsoft.com/office/drawing/2014/main" id="{02815E66-9DD4-400E-BCC3-F2E5AB5E59E1}"/>
              </a:ext>
            </a:extLst>
          </p:cNvPr>
          <p:cNvSpPr>
            <a:spLocks xmlns:a="http://schemas.openxmlformats.org/drawingml/2006/main" noGrp="1"/>
          </p:cNvSpPr>
          <p:nvPr/>
        </p:nvSpPr>
        <p:spPr>
          <a:xfrm xmlns:a="http://schemas.openxmlformats.org/drawingml/2006/main">
            <a:off x="933450" y="218122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Langkah</a:t>
            </a:r>
          </a:p>
        </p:txBody>
      </p:sp>
      <p:sp>
        <p:nvSpPr>
          <p:cNvPr id="5" name="">
            <a:extLst xmlns:a="http://schemas.openxmlformats.org/drawingml/2006/main">
              <a:ext uri="{FF2B5EF4-FFF2-40B4-BE49-F238E27FC236}">
                <a16:creationId xmlns:a16="http://schemas.microsoft.com/office/drawing/2014/main" id="{1DF53DB8-58B0-4E7C-A326-26F95B600A1D}"/>
              </a:ext>
            </a:extLst>
          </p:cNvPr>
          <p:cNvSpPr>
            <a:spLocks xmlns:a="http://schemas.openxmlformats.org/drawingml/2006/main" noGrp="1"/>
          </p:cNvSpPr>
          <p:nvPr/>
        </p:nvSpPr>
        <p:spPr>
          <a:xfrm xmlns:a="http://schemas.openxmlformats.org/drawingml/2006/main">
            <a:off x="933450" y="262890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Apa yang dikerjakan?</a:t>
            </a:r>
          </a:p>
        </p:txBody>
      </p:sp>
      <p:sp>
        <p:nvSpPr>
          <p:cNvPr id="6" name="">
            <a:extLst xmlns:a="http://schemas.openxmlformats.org/drawingml/2006/main">
              <a:ext uri="{FF2B5EF4-FFF2-40B4-BE49-F238E27FC236}">
                <a16:creationId xmlns:a16="http://schemas.microsoft.com/office/drawing/2014/main" id="{F02B3F4B-D07D-46C6-B8E0-A6C19FD2EF5B}"/>
              </a:ext>
            </a:extLst>
          </p:cNvPr>
          <p:cNvSpPr>
            <a:spLocks xmlns:a="http://schemas.openxmlformats.org/drawingml/2006/main" noGrp="1"/>
          </p:cNvSpPr>
          <p:nvPr/>
        </p:nvSpPr>
        <p:spPr>
          <a:xfrm xmlns:a="http://schemas.openxmlformats.org/drawingml/2006/main">
            <a:off x="4094163" y="2738438"/>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86E0DBD-FC6E-4A3C-8103-FD031BF984B5}"/>
              </a:ext>
            </a:extLst>
          </p:cNvPr>
          <p:cNvSpPr>
            <a:spLocks xmlns:a="http://schemas.openxmlformats.org/drawingml/2006/main" noGrp="1"/>
          </p:cNvSpPr>
          <p:nvPr/>
        </p:nvSpPr>
        <p:spPr>
          <a:xfrm xmlns:a="http://schemas.openxmlformats.org/drawingml/2006/main">
            <a:off x="4389438" y="2738438"/>
            <a:ext cx="9525" cy="9525"/>
          </a:xfrm>
          <a:prstGeom xmlns:a="http://schemas.openxmlformats.org/drawingml/2006/main" prst="rect">
            <a:avLst/>
          </a:prstGeom>
          <a:noFill xmlns:a="http://schemas.openxmlformats.org/drawingml/2006/main"/>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DF30AD-2987-4857-B3A9-3F0881775FF1}"/>
              </a:ext>
            </a:extLst>
          </p:cNvPr>
          <p:cNvSpPr>
            <a:spLocks xmlns:a="http://schemas.openxmlformats.org/drawingml/2006/main" noGrp="1"/>
          </p:cNvSpPr>
          <p:nvPr/>
        </p:nvSpPr>
        <p:spPr>
          <a:xfrm xmlns:a="http://schemas.openxmlformats.org/drawingml/2006/main">
            <a:off x="4451350" y="204787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0" name="">
            <a:extLst xmlns:a="http://schemas.openxmlformats.org/drawingml/2006/main">
              <a:ext uri="{FF2B5EF4-FFF2-40B4-BE49-F238E27FC236}">
                <a16:creationId xmlns:a16="http://schemas.microsoft.com/office/drawing/2014/main" id="{761E6434-B90D-4CD4-A9A2-D6B07E45F684}"/>
              </a:ext>
            </a:extLst>
          </p:cNvPr>
          <p:cNvSpPr>
            <a:spLocks xmlns:a="http://schemas.openxmlformats.org/drawingml/2006/main" noGrp="1"/>
          </p:cNvSpPr>
          <p:nvPr/>
        </p:nvSpPr>
        <p:spPr>
          <a:xfrm xmlns:a="http://schemas.openxmlformats.org/drawingml/2006/main">
            <a:off x="4622800" y="218122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Bahaya</a:t>
            </a:r>
          </a:p>
        </p:txBody>
      </p:sp>
      <p:sp>
        <p:nvSpPr>
          <p:cNvPr id="11" name="">
            <a:extLst xmlns:a="http://schemas.openxmlformats.org/drawingml/2006/main">
              <a:ext uri="{FF2B5EF4-FFF2-40B4-BE49-F238E27FC236}">
                <a16:creationId xmlns:a16="http://schemas.microsoft.com/office/drawing/2014/main" id="{387D5510-F008-4CCC-AA03-A4DD5DD8A8FD}"/>
              </a:ext>
            </a:extLst>
          </p:cNvPr>
          <p:cNvSpPr>
            <a:spLocks xmlns:a="http://schemas.openxmlformats.org/drawingml/2006/main" noGrp="1"/>
          </p:cNvSpPr>
          <p:nvPr/>
        </p:nvSpPr>
        <p:spPr>
          <a:xfrm xmlns:a="http://schemas.openxmlformats.org/drawingml/2006/main">
            <a:off x="4622800" y="262890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Sumber potensi cedera</a:t>
            </a:r>
          </a:p>
        </p:txBody>
      </p:sp>
      <p:sp>
        <p:nvSpPr>
          <p:cNvPr id="12" name="">
            <a:extLst xmlns:a="http://schemas.openxmlformats.org/drawingml/2006/main">
              <a:ext uri="{FF2B5EF4-FFF2-40B4-BE49-F238E27FC236}">
                <a16:creationId xmlns:a16="http://schemas.microsoft.com/office/drawing/2014/main" id="{C5D1C851-4495-43BF-8745-E0CD1840F6A6}"/>
              </a:ext>
            </a:extLst>
          </p:cNvPr>
          <p:cNvSpPr>
            <a:spLocks xmlns:a="http://schemas.openxmlformats.org/drawingml/2006/main" noGrp="1"/>
          </p:cNvSpPr>
          <p:nvPr/>
        </p:nvSpPr>
        <p:spPr>
          <a:xfrm xmlns:a="http://schemas.openxmlformats.org/drawingml/2006/main">
            <a:off x="7783513" y="2738438"/>
            <a:ext cx="9525" cy="9525"/>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2A6E530-AEB3-4B34-AEA2-6B98F26C71C9}"/>
              </a:ext>
            </a:extLst>
          </p:cNvPr>
          <p:cNvSpPr>
            <a:spLocks xmlns:a="http://schemas.openxmlformats.org/drawingml/2006/main" noGrp="1"/>
          </p:cNvSpPr>
          <p:nvPr/>
        </p:nvSpPr>
        <p:spPr>
          <a:xfrm xmlns:a="http://schemas.openxmlformats.org/drawingml/2006/main">
            <a:off x="8078788" y="2738438"/>
            <a:ext cx="9525" cy="9525"/>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D60BD2C-2263-47C2-A063-547DD50D0FB5}"/>
              </a:ext>
            </a:extLst>
          </p:cNvPr>
          <p:cNvSpPr>
            <a:spLocks xmlns:a="http://schemas.openxmlformats.org/drawingml/2006/main" noGrp="1"/>
          </p:cNvSpPr>
          <p:nvPr/>
        </p:nvSpPr>
        <p:spPr>
          <a:xfrm xmlns:a="http://schemas.openxmlformats.org/drawingml/2006/main">
            <a:off x="8140700" y="204787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6" name="">
            <a:extLst xmlns:a="http://schemas.openxmlformats.org/drawingml/2006/main">
              <a:ext uri="{FF2B5EF4-FFF2-40B4-BE49-F238E27FC236}">
                <a16:creationId xmlns:a16="http://schemas.microsoft.com/office/drawing/2014/main" id="{BF28C710-C212-495C-BC06-38D71F5FEFA5}"/>
              </a:ext>
            </a:extLst>
          </p:cNvPr>
          <p:cNvSpPr>
            <a:spLocks xmlns:a="http://schemas.openxmlformats.org/drawingml/2006/main" noGrp="1"/>
          </p:cNvSpPr>
          <p:nvPr/>
        </p:nvSpPr>
        <p:spPr>
          <a:xfrm xmlns:a="http://schemas.openxmlformats.org/drawingml/2006/main">
            <a:off x="8312150" y="218122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Kejadian</a:t>
            </a:r>
          </a:p>
        </p:txBody>
      </p:sp>
      <p:sp>
        <p:nvSpPr>
          <p:cNvPr id="17" name="">
            <a:extLst xmlns:a="http://schemas.openxmlformats.org/drawingml/2006/main">
              <a:ext uri="{FF2B5EF4-FFF2-40B4-BE49-F238E27FC236}">
                <a16:creationId xmlns:a16="http://schemas.microsoft.com/office/drawing/2014/main" id="{BD3B80DA-2B70-4707-9FC5-685DC9F62ED7}"/>
              </a:ext>
            </a:extLst>
          </p:cNvPr>
          <p:cNvSpPr>
            <a:spLocks xmlns:a="http://schemas.openxmlformats.org/drawingml/2006/main" noGrp="1"/>
          </p:cNvSpPr>
          <p:nvPr/>
        </p:nvSpPr>
        <p:spPr>
          <a:xfrm xmlns:a="http://schemas.openxmlformats.org/drawingml/2006/main">
            <a:off x="8312150" y="262890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Bagaimana paparan</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terjadi?</a:t>
            </a:r>
          </a:p>
        </p:txBody>
      </p:sp>
      <p:sp>
        <p:nvSpPr>
          <p:cNvPr id="18" name="">
            <a:extLst xmlns:a="http://schemas.openxmlformats.org/drawingml/2006/main">
              <a:ext uri="{FF2B5EF4-FFF2-40B4-BE49-F238E27FC236}">
                <a16:creationId xmlns:a16="http://schemas.microsoft.com/office/drawing/2014/main" id="{829EE902-0E37-4428-A09E-A12896E15C07}"/>
              </a:ext>
            </a:extLst>
          </p:cNvPr>
          <p:cNvSpPr>
            <a:spLocks xmlns:a="http://schemas.openxmlformats.org/drawingml/2006/main" noGrp="1"/>
          </p:cNvSpPr>
          <p:nvPr/>
        </p:nvSpPr>
        <p:spPr>
          <a:xfrm xmlns:a="http://schemas.openxmlformats.org/drawingml/2006/main">
            <a:off x="762000" y="385762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9" name="">
            <a:extLst xmlns:a="http://schemas.openxmlformats.org/drawingml/2006/main">
              <a:ext uri="{FF2B5EF4-FFF2-40B4-BE49-F238E27FC236}">
                <a16:creationId xmlns:a16="http://schemas.microsoft.com/office/drawing/2014/main" id="{7EB433B8-1BE3-4F4F-B645-34CD8F5710CA}"/>
              </a:ext>
            </a:extLst>
          </p:cNvPr>
          <p:cNvSpPr>
            <a:spLocks xmlns:a="http://schemas.openxmlformats.org/drawingml/2006/main" noGrp="1"/>
          </p:cNvSpPr>
          <p:nvPr/>
        </p:nvSpPr>
        <p:spPr>
          <a:xfrm xmlns:a="http://schemas.openxmlformats.org/drawingml/2006/main">
            <a:off x="933450" y="399097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Kendali</a:t>
            </a:r>
          </a:p>
        </p:txBody>
      </p:sp>
      <p:sp>
        <p:nvSpPr>
          <p:cNvPr id="20" name="">
            <a:extLst xmlns:a="http://schemas.openxmlformats.org/drawingml/2006/main">
              <a:ext uri="{FF2B5EF4-FFF2-40B4-BE49-F238E27FC236}">
                <a16:creationId xmlns:a16="http://schemas.microsoft.com/office/drawing/2014/main" id="{6A788EC4-B0B4-4ABE-B101-23FEA3C32A65}"/>
              </a:ext>
            </a:extLst>
          </p:cNvPr>
          <p:cNvSpPr>
            <a:spLocks xmlns:a="http://schemas.openxmlformats.org/drawingml/2006/main" noGrp="1"/>
          </p:cNvSpPr>
          <p:nvPr/>
        </p:nvSpPr>
        <p:spPr>
          <a:xfrm xmlns:a="http://schemas.openxmlformats.org/drawingml/2006/main">
            <a:off x="933450" y="443865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Apa yang diubah?</a:t>
            </a:r>
          </a:p>
        </p:txBody>
      </p:sp>
      <p:sp>
        <p:nvSpPr>
          <p:cNvPr id="21" name="">
            <a:extLst xmlns:a="http://schemas.openxmlformats.org/drawingml/2006/main">
              <a:ext uri="{FF2B5EF4-FFF2-40B4-BE49-F238E27FC236}">
                <a16:creationId xmlns:a16="http://schemas.microsoft.com/office/drawing/2014/main" id="{3DAA53DA-CEC3-4B15-8C5E-2E98B780CEA9}"/>
              </a:ext>
            </a:extLst>
          </p:cNvPr>
          <p:cNvSpPr>
            <a:spLocks xmlns:a="http://schemas.openxmlformats.org/drawingml/2006/main" noGrp="1"/>
          </p:cNvSpPr>
          <p:nvPr/>
        </p:nvSpPr>
        <p:spPr>
          <a:xfrm xmlns:a="http://schemas.openxmlformats.org/drawingml/2006/main">
            <a:off x="4094163" y="4548188"/>
            <a:ext cx="9525" cy="9525"/>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8E6E4AC-2818-498B-B5B3-DAAD2A87A016}"/>
              </a:ext>
            </a:extLst>
          </p:cNvPr>
          <p:cNvSpPr>
            <a:spLocks xmlns:a="http://schemas.openxmlformats.org/drawingml/2006/main" noGrp="1"/>
          </p:cNvSpPr>
          <p:nvPr/>
        </p:nvSpPr>
        <p:spPr>
          <a:xfrm xmlns:a="http://schemas.openxmlformats.org/drawingml/2006/main">
            <a:off x="4389438" y="4548188"/>
            <a:ext cx="9525" cy="9525"/>
          </a:xfrm>
          <a:prstGeom xmlns:a="http://schemas.openxmlformats.org/drawingml/2006/main" prst="rect">
            <a:avLst/>
          </a:prstGeom>
          <a:noFill xmlns:a="http://schemas.openxmlformats.org/drawingml/2006/main"/>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95627D0-88E1-4458-A08F-F327E6F33885}"/>
              </a:ext>
            </a:extLst>
          </p:cNvPr>
          <p:cNvSpPr>
            <a:spLocks xmlns:a="http://schemas.openxmlformats.org/drawingml/2006/main" noGrp="1"/>
          </p:cNvSpPr>
          <p:nvPr/>
        </p:nvSpPr>
        <p:spPr>
          <a:xfrm xmlns:a="http://schemas.openxmlformats.org/drawingml/2006/main">
            <a:off x="4451350" y="385762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25" name="">
            <a:extLst xmlns:a="http://schemas.openxmlformats.org/drawingml/2006/main">
              <a:ext uri="{FF2B5EF4-FFF2-40B4-BE49-F238E27FC236}">
                <a16:creationId xmlns:a16="http://schemas.microsoft.com/office/drawing/2014/main" id="{5D27F685-0713-48AE-83E5-13D97C7484DE}"/>
              </a:ext>
            </a:extLst>
          </p:cNvPr>
          <p:cNvSpPr>
            <a:spLocks xmlns:a="http://schemas.openxmlformats.org/drawingml/2006/main" noGrp="1"/>
          </p:cNvSpPr>
          <p:nvPr/>
        </p:nvSpPr>
        <p:spPr>
          <a:xfrm xmlns:a="http://schemas.openxmlformats.org/drawingml/2006/main">
            <a:off x="4622800" y="399097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PIC</a:t>
            </a:r>
          </a:p>
        </p:txBody>
      </p:sp>
      <p:sp>
        <p:nvSpPr>
          <p:cNvPr id="26" name="">
            <a:extLst xmlns:a="http://schemas.openxmlformats.org/drawingml/2006/main">
              <a:ext uri="{FF2B5EF4-FFF2-40B4-BE49-F238E27FC236}">
                <a16:creationId xmlns:a16="http://schemas.microsoft.com/office/drawing/2014/main" id="{973D6FD0-D1B0-4140-9D7B-62E93490CB0E}"/>
              </a:ext>
            </a:extLst>
          </p:cNvPr>
          <p:cNvSpPr>
            <a:spLocks xmlns:a="http://schemas.openxmlformats.org/drawingml/2006/main" noGrp="1"/>
          </p:cNvSpPr>
          <p:nvPr/>
        </p:nvSpPr>
        <p:spPr>
          <a:xfrm xmlns:a="http://schemas.openxmlformats.org/drawingml/2006/main">
            <a:off x="4622800" y="443865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Siapa bertanggung jawab?</a:t>
            </a:r>
          </a:p>
        </p:txBody>
      </p:sp>
      <p:sp>
        <p:nvSpPr>
          <p:cNvPr id="27" name="">
            <a:extLst xmlns:a="http://schemas.openxmlformats.org/drawingml/2006/main">
              <a:ext uri="{FF2B5EF4-FFF2-40B4-BE49-F238E27FC236}">
                <a16:creationId xmlns:a16="http://schemas.microsoft.com/office/drawing/2014/main" id="{47E6895D-74B3-4996-9B1C-1FFC99BDD360}"/>
              </a:ext>
            </a:extLst>
          </p:cNvPr>
          <p:cNvSpPr>
            <a:spLocks xmlns:a="http://schemas.openxmlformats.org/drawingml/2006/main" noGrp="1"/>
          </p:cNvSpPr>
          <p:nvPr/>
        </p:nvSpPr>
        <p:spPr>
          <a:xfrm xmlns:a="http://schemas.openxmlformats.org/drawingml/2006/main">
            <a:off x="7783513" y="4548188"/>
            <a:ext cx="9525" cy="9525"/>
          </a:xfrm>
          <a:prstGeom xmlns:a="http://schemas.openxmlformats.org/drawingml/2006/main" prst="rect">
            <a:avLst/>
          </a:prstGeom>
          <a:noFill xmlns:a="http://schemas.openxmlformats.org/drawingml/2006/main"/>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54042EE6-6402-410B-AD77-F34E3A1E4F5E}"/>
              </a:ext>
            </a:extLst>
          </p:cNvPr>
          <p:cNvSpPr>
            <a:spLocks xmlns:a="http://schemas.openxmlformats.org/drawingml/2006/main" noGrp="1"/>
          </p:cNvSpPr>
          <p:nvPr/>
        </p:nvSpPr>
        <p:spPr>
          <a:xfrm xmlns:a="http://schemas.openxmlformats.org/drawingml/2006/main">
            <a:off x="8078788" y="4548188"/>
            <a:ext cx="9525" cy="9525"/>
          </a:xfrm>
          <a:prstGeom xmlns:a="http://schemas.openxmlformats.org/drawingml/2006/main" prst="rect">
            <a:avLst/>
          </a:prstGeom>
          <a:noFill xmlns:a="http://schemas.openxmlformats.org/drawingml/2006/main"/>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3711DBA-8C7E-42CD-8EC5-34371FB6F353}"/>
              </a:ext>
            </a:extLst>
          </p:cNvPr>
          <p:cNvSpPr>
            <a:spLocks xmlns:a="http://schemas.openxmlformats.org/drawingml/2006/main" noGrp="1"/>
          </p:cNvSpPr>
          <p:nvPr/>
        </p:nvSpPr>
        <p:spPr>
          <a:xfrm xmlns:a="http://schemas.openxmlformats.org/drawingml/2006/main">
            <a:off x="8140700" y="3857625"/>
            <a:ext cx="3289300"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31" name="">
            <a:extLst xmlns:a="http://schemas.openxmlformats.org/drawingml/2006/main">
              <a:ext uri="{FF2B5EF4-FFF2-40B4-BE49-F238E27FC236}">
                <a16:creationId xmlns:a16="http://schemas.microsoft.com/office/drawing/2014/main" id="{E29A0030-1F49-48B5-98C9-B7DD7E4F8BF2}"/>
              </a:ext>
            </a:extLst>
          </p:cNvPr>
          <p:cNvSpPr>
            <a:spLocks xmlns:a="http://schemas.openxmlformats.org/drawingml/2006/main" noGrp="1"/>
          </p:cNvSpPr>
          <p:nvPr/>
        </p:nvSpPr>
        <p:spPr>
          <a:xfrm xmlns:a="http://schemas.openxmlformats.org/drawingml/2006/main">
            <a:off x="8312150" y="3990975"/>
            <a:ext cx="294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Verifikasi</a:t>
            </a:r>
          </a:p>
        </p:txBody>
      </p:sp>
      <p:sp>
        <p:nvSpPr>
          <p:cNvPr id="32" name="">
            <a:extLst xmlns:a="http://schemas.openxmlformats.org/drawingml/2006/main">
              <a:ext uri="{FF2B5EF4-FFF2-40B4-BE49-F238E27FC236}">
                <a16:creationId xmlns:a16="http://schemas.microsoft.com/office/drawing/2014/main" id="{9EB62977-E8DF-41A4-B728-70E3BA5E780D}"/>
              </a:ext>
            </a:extLst>
          </p:cNvPr>
          <p:cNvSpPr>
            <a:spLocks xmlns:a="http://schemas.openxmlformats.org/drawingml/2006/main" noGrp="1"/>
          </p:cNvSpPr>
          <p:nvPr/>
        </p:nvSpPr>
        <p:spPr>
          <a:xfrm xmlns:a="http://schemas.openxmlformats.org/drawingml/2006/main">
            <a:off x="8312150" y="4438650"/>
            <a:ext cx="2946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Apa bukti syarat</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terpenuhi?</a:t>
            </a:r>
          </a:p>
        </p:txBody>
      </p:sp>
      <p:sp>
        <p:nvSpPr>
          <p:cNvPr id="33" name="">
            <a:extLst xmlns:a="http://schemas.openxmlformats.org/drawingml/2006/main">
              <a:ext uri="{FF2B5EF4-FFF2-40B4-BE49-F238E27FC236}">
                <a16:creationId xmlns:a16="http://schemas.microsoft.com/office/drawing/2014/main" id="{6C5DB116-6464-43AD-A681-A1914892267F}"/>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JSA juga mencatat akibat, kondisi berhenti, serta syarat mulai kembali.</a:t>
            </a:r>
          </a:p>
        </p:txBody>
      </p:sp>
      <p:sp>
        <p:nvSpPr>
          <p:cNvPr id="34" name="">
            <a:extLst xmlns:a="http://schemas.openxmlformats.org/drawingml/2006/main">
              <a:ext uri="{FF2B5EF4-FFF2-40B4-BE49-F238E27FC236}">
                <a16:creationId xmlns:a16="http://schemas.microsoft.com/office/drawing/2014/main" id="{071D8E07-1295-40DA-A503-4E15589357E2}"/>
              </a:ext>
            </a:extLst>
          </p:cNvPr>
          <p:cNvSpPr>
            <a:spLocks xmlns:a="http://schemas.openxmlformats.org/drawingml/2006/main" noGrp="1"/>
          </p:cNvSpPr>
          <p:nvPr/>
        </p:nvSpPr>
        <p:spPr>
          <a:xfrm xmlns:a="http://schemas.openxmlformats.org/drawingml/2006/main">
            <a:off x="762000" y="6096000"/>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F625C"/>
                </a:solidFill>
                <a:latin typeface="Arial"/>
                <a:ea typeface="Arial"/>
                <a:cs typeface="Arial"/>
              </a:defRPr>
            </a:defPPr>
            <a:lvl1pPr>
              <a:defRPr sz="975" b="0">
                <a:solidFill>
                  <a:srgbClr val="5F625C"/>
                </a:solidFill>
                <a:latin typeface="Arial"/>
                <a:ea typeface="Arial"/>
                <a:cs typeface="Arial"/>
              </a:defRPr>
            </a:lvl1pPr>
            <a:lvl2pPr>
              <a:defRPr sz="975" b="0">
                <a:solidFill>
                  <a:srgbClr val="5F625C"/>
                </a:solidFill>
                <a:latin typeface="Arial"/>
                <a:ea typeface="Arial"/>
                <a:cs typeface="Arial"/>
              </a:defRPr>
            </a:lvl2pPr>
            <a:lvl3pPr>
              <a:defRPr sz="975" b="0">
                <a:solidFill>
                  <a:srgbClr val="5F625C"/>
                </a:solidFill>
                <a:latin typeface="Arial"/>
                <a:ea typeface="Arial"/>
                <a:cs typeface="Arial"/>
              </a:defRPr>
            </a:lvl3pPr>
            <a:lvl4pPr>
              <a:defRPr sz="975" b="0">
                <a:solidFill>
                  <a:srgbClr val="5F625C"/>
                </a:solidFill>
                <a:latin typeface="Arial"/>
                <a:ea typeface="Arial"/>
                <a:cs typeface="Arial"/>
              </a:defRPr>
            </a:lvl4pPr>
            <a:lvl5pPr>
              <a:defRPr sz="975" b="0">
                <a:solidFill>
                  <a:srgbClr val="5F625C"/>
                </a:solidFill>
                <a:latin typeface="Arial"/>
                <a:ea typeface="Arial"/>
                <a:cs typeface="Arial"/>
              </a:defRPr>
            </a:lvl5pPr>
            <a:lvl6pPr>
              <a:defRPr sz="975" b="0">
                <a:solidFill>
                  <a:srgbClr val="5F625C"/>
                </a:solidFill>
                <a:latin typeface="Arial"/>
                <a:ea typeface="Arial"/>
                <a:cs typeface="Arial"/>
              </a:defRPr>
            </a:lvl6pPr>
            <a:lvl7pPr>
              <a:defRPr sz="975" b="0">
                <a:solidFill>
                  <a:srgbClr val="5F625C"/>
                </a:solidFill>
                <a:latin typeface="Arial"/>
                <a:ea typeface="Arial"/>
                <a:cs typeface="Arial"/>
              </a:defRPr>
            </a:lvl7pPr>
            <a:lvl8pPr>
              <a:defRPr sz="975" b="0">
                <a:solidFill>
                  <a:srgbClr val="5F625C"/>
                </a:solidFill>
                <a:latin typeface="Arial"/>
                <a:ea typeface="Arial"/>
                <a:cs typeface="Arial"/>
              </a:defRPr>
            </a:lvl8pPr>
            <a:lvl9pPr>
              <a:defRPr sz="975" b="0">
                <a:solidFill>
                  <a:srgbClr val="5F625C"/>
                </a:solidFill>
                <a:latin typeface="Arial"/>
                <a:ea typeface="Arial"/>
                <a:cs typeface="Arial"/>
              </a:defRPr>
            </a:lvl9pPr>
          </a:lstStyle>
          <a:p xmlns:a="http://schemas.openxmlformats.org/drawingml/2006/main">
            <a:pPr>
              <a:defRPr sz="975" b="0">
                <a:solidFill>
                  <a:srgbClr val="5F625C"/>
                </a:solidFill>
                <a:latin typeface="Arial"/>
                <a:ea typeface="Arial"/>
                <a:cs typeface="Arial"/>
              </a:defRPr>
            </a:pPr>
            <a:r>
              <a:rPr sz="975" b="0">
                <a:solidFill>
                  <a:srgbClr val="5F625C"/>
                </a:solidFill>
                <a:latin typeface="Arial"/>
                <a:ea typeface="Arial"/>
                <a:cs typeface="Arial"/>
              </a:rPr>
              <a:t>OSHA · sumber pada catatan</a:t>
            </a:r>
          </a:p>
        </p:txBody>
      </p:sp>
      <p:sp>
        <p:nvSpPr>
          <p:cNvPr id="35" name="">
            <a:extLst xmlns:a="http://schemas.openxmlformats.org/drawingml/2006/main">
              <a:ext uri="{FF2B5EF4-FFF2-40B4-BE49-F238E27FC236}">
                <a16:creationId xmlns:a16="http://schemas.microsoft.com/office/drawing/2014/main" id="{6DC6AA4C-2E22-41FC-B392-24C2097FB860}"/>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36" name="">
            <a:extLst xmlns:a="http://schemas.openxmlformats.org/drawingml/2006/main">
              <a:ext uri="{FF2B5EF4-FFF2-40B4-BE49-F238E27FC236}">
                <a16:creationId xmlns:a16="http://schemas.microsoft.com/office/drawing/2014/main" id="{AB2A3A78-CD41-47E9-8FA1-BA9F1E495998}"/>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18 / 28</a:t>
            </a:r>
          </a:p>
        </p:txBody>
      </p:sp>
    </p:spTree>
    <p:extLst>
      <p:ext uri="{BB962C8B-B14F-4D97-AF65-F5344CB8AC3E}">
        <p14:creationId xmlns:p14="http://schemas.microsoft.com/office/powerpoint/2010/main" val="1092422537"/>
      </p:ext>
    </p:extLst>
  </p:cSld>
</p:sld>
</file>

<file path=ppt/slides/slide19.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AE6D08-810F-45DB-BB22-D5F78A2968CB}"/>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673FADD6-7EBF-4A67-BFF1-ABD3AE05FE79}"/>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Hierarki pengendalian dalam rencana</a:t>
            </a:r>
          </a:p>
        </p:txBody>
      </p:sp>
      <p:graphicFrame>
        <p:nvGraphicFramePr>
          <p:cNvPr id="3" name="">
            <a:extLst xmlns:a="http://schemas.openxmlformats.org/drawingml/2006/main">
              <a:ext uri="{FF2B5EF4-FFF2-40B4-BE49-F238E27FC236}">
                <a16:creationId xmlns:a16="http://schemas.microsoft.com/office/drawing/2014/main" id="{7488B86E-4FDD-41BC-BF0E-D18651FB96A3}"/>
              </a:ext>
            </a:extLst>
          </p:cNvPr>
          <p:cNvGraphicFramePr/>
          <p:nvPr/>
        </p:nvGraphicFramePr>
        <p:xfrm>
          <a:off xmlns:a="http://schemas.openxmlformats.org/drawingml/2006/main" x="762000" y="2114550"/>
          <a:ext xmlns:a="http://schemas.openxmlformats.org/drawingml/2006/main" cx="10668000" cy="3429000"/>
        </p:xfrm>
        <a:graphic xmlns:a="http://schemas.openxmlformats.org/drawingml/2006/main">
          <a:graphicData uri="http://schemas.openxmlformats.org/drawingml/2006/table">
            <a:tbl>
              <a:tblPr/>
              <a:tblGrid>
                <a:gridCol w="2857500"/>
                <a:gridCol w="7810500"/>
              </a:tblGrid>
              <a:tr h="685800">
                <a:tc>
                  <a:txBody>
                    <a:bodyPr/>
                    <a:lstStyle/>
                    <a:p>
                      <a:r>
                        <a:rPr sz="1875" b="1">
                          <a:solidFill>
                            <a:srgbClr val="2F5D62"/>
                          </a:solidFill>
                          <a:latin typeface="Arial"/>
                          <a:ea typeface="Arial"/>
                          <a:cs typeface="Arial"/>
                        </a:rPr>
                        <a:t>Prioritas</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75" b="1">
                          <a:solidFill>
                            <a:srgbClr val="2F5D62"/>
                          </a:solidFill>
                          <a:latin typeface="Arial"/>
                          <a:ea typeface="Arial"/>
                          <a:cs typeface="Arial"/>
                        </a:rPr>
                        <a:t>Penerapan pada kasus</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75" b="0">
                          <a:solidFill>
                            <a:srgbClr val="1F1F1B"/>
                          </a:solidFill>
                          <a:latin typeface="Arial"/>
                          <a:ea typeface="Arial"/>
                          <a:cs typeface="Arial"/>
                        </a:rPr>
                        <a:t>Eliminasi / substitusi</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Ubah titik atau metode bila paparan dapat dikurangi</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Rekayasa</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Alat bantu, pembatas zona, penataan akses</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Administratif</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SOP, komunikasi, peran, dan pemulihan</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APD</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Perlindungan pribadi sesuai bahaya</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B5667006-BB29-4692-AC26-0EF0DB975265}"/>
              </a:ext>
            </a:extLst>
          </p:cNvPr>
          <p:cNvSpPr>
            <a:spLocks xmlns:a="http://schemas.openxmlformats.org/drawingml/2006/main" noGrp="1"/>
          </p:cNvSpPr>
          <p:nvPr/>
        </p:nvSpPr>
        <p:spPr>
          <a:xfrm xmlns:a="http://schemas.openxmlformats.org/drawingml/2006/main">
            <a:off x="762000" y="5895975"/>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OSHA · sumber pada catatan</a:t>
            </a:r>
          </a:p>
        </p:txBody>
      </p:sp>
      <p:sp>
        <p:nvSpPr>
          <p:cNvPr id="5" name="">
            <a:extLst xmlns:a="http://schemas.openxmlformats.org/drawingml/2006/main">
              <a:ext uri="{FF2B5EF4-FFF2-40B4-BE49-F238E27FC236}">
                <a16:creationId xmlns:a16="http://schemas.microsoft.com/office/drawing/2014/main" id="{E923DA01-B8B1-4CA0-9C25-C3D4154282D3}"/>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55F4EC87-D7D1-4DF3-8C3A-1759430C74A4}"/>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19 / 28</a:t>
            </a:r>
          </a:p>
        </p:txBody>
      </p:sp>
    </p:spTree>
    <p:extLst>
      <p:ext uri="{BB962C8B-B14F-4D97-AF65-F5344CB8AC3E}">
        <p14:creationId xmlns:p14="http://schemas.microsoft.com/office/powerpoint/2010/main" val="1161029069"/>
      </p:ext>
    </p:extLst>
  </p:cSld>
</p:sld>
</file>

<file path=ppt/slides/slide20.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19C702-1A2F-42F9-B396-53A2D5302D74}"/>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7DC1FF23-40C0-4026-8C97-51FDCD072775}"/>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Contoh JSA: akses dan alat</a:t>
            </a:r>
          </a:p>
        </p:txBody>
      </p:sp>
      <p:graphicFrame>
        <p:nvGraphicFramePr>
          <p:cNvPr id="3" name="">
            <a:extLst xmlns:a="http://schemas.openxmlformats.org/drawingml/2006/main">
              <a:ext uri="{FF2B5EF4-FFF2-40B4-BE49-F238E27FC236}">
                <a16:creationId xmlns:a16="http://schemas.microsoft.com/office/drawing/2014/main" id="{C037AF24-1E0D-4E47-B61F-949C0D2A1BFD}"/>
              </a:ext>
            </a:extLst>
          </p:cNvPr>
          <p:cNvGraphicFramePr/>
          <p:nvPr/>
        </p:nvGraphicFramePr>
        <p:xfrm>
          <a:off xmlns:a="http://schemas.openxmlformats.org/drawingml/2006/main" x="762000" y="2114550"/>
          <a:ext xmlns:a="http://schemas.openxmlformats.org/drawingml/2006/main" cx="10668000" cy="2743200"/>
        </p:xfrm>
        <a:graphic xmlns:a="http://schemas.openxmlformats.org/drawingml/2006/main">
          <a:graphicData uri="http://schemas.openxmlformats.org/drawingml/2006/table">
            <a:tbl>
              <a:tblPr/>
              <a:tblGrid>
                <a:gridCol w="2667000"/>
                <a:gridCol w="3619500"/>
                <a:gridCol w="4381500"/>
              </a:tblGrid>
              <a:tr h="685800">
                <a:tc>
                  <a:txBody>
                    <a:bodyPr/>
                    <a:lstStyle/>
                    <a:p>
                      <a:r>
                        <a:rPr sz="1800" b="1">
                          <a:solidFill>
                            <a:srgbClr val="2F5D62"/>
                          </a:solidFill>
                          <a:latin typeface="Arial"/>
                          <a:ea typeface="Arial"/>
                          <a:cs typeface="Arial"/>
                        </a:rPr>
                        <a:t>Langkah</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Kendali</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Verifikasi / PIC</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00" b="0">
                          <a:solidFill>
                            <a:srgbClr val="1F1F1B"/>
                          </a:solidFill>
                          <a:latin typeface="Arial"/>
                          <a:ea typeface="Arial"/>
                          <a:cs typeface="Arial"/>
                        </a:rPr>
                        <a:t>Tinjau rute</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Pilih akses layak; tunda jika tidak ada</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Ketua menunjukkan rute yang diperiksa</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Siapkan kotak</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Periksa berat, isi, dan pegangan</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PIC alat mengonfirmasi kondisi</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Pindahkan alat</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Pilih bantuan sesuai medan dan tugas</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Tim menyepakati metode dan aba-aba</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2F176194-C47A-4670-ACFE-0CEEFC882372}"/>
              </a:ext>
            </a:extLst>
          </p:cNvPr>
          <p:cNvSpPr>
            <a:spLocks xmlns:a="http://schemas.openxmlformats.org/drawingml/2006/main" noGrp="1"/>
          </p:cNvSpPr>
          <p:nvPr/>
        </p:nvSpPr>
        <p:spPr>
          <a:xfrm xmlns:a="http://schemas.openxmlformats.org/drawingml/2006/main">
            <a:off x="762000" y="5895975"/>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OSHA · NIOSH · sumber pada catatan</a:t>
            </a:r>
          </a:p>
        </p:txBody>
      </p:sp>
      <p:sp>
        <p:nvSpPr>
          <p:cNvPr id="5" name="">
            <a:extLst xmlns:a="http://schemas.openxmlformats.org/drawingml/2006/main">
              <a:ext uri="{FF2B5EF4-FFF2-40B4-BE49-F238E27FC236}">
                <a16:creationId xmlns:a16="http://schemas.microsoft.com/office/drawing/2014/main" id="{9E9799C6-DBB5-4DA7-A122-1D0FD4B83289}"/>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5830F739-D5F9-4A95-AD5F-41311E5954EE}"/>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20 / 28</a:t>
            </a:r>
          </a:p>
        </p:txBody>
      </p:sp>
    </p:spTree>
    <p:extLst>
      <p:ext uri="{BB962C8B-B14F-4D97-AF65-F5344CB8AC3E}">
        <p14:creationId xmlns:p14="http://schemas.microsoft.com/office/powerpoint/2010/main" val="695393626"/>
      </p:ext>
    </p:extLst>
  </p:cSld>
</p:sld>
</file>

<file path=ppt/slides/slide21.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C2B890-A197-496C-ADF1-5FF595F53BC9}"/>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84E5599D-24D2-4EE6-8F1E-B972CFFF24B0}"/>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Contoh JSA: ukur dan pulang</a:t>
            </a:r>
          </a:p>
        </p:txBody>
      </p:sp>
      <p:graphicFrame>
        <p:nvGraphicFramePr>
          <p:cNvPr id="3" name="">
            <a:extLst xmlns:a="http://schemas.openxmlformats.org/drawingml/2006/main">
              <a:ext uri="{FF2B5EF4-FFF2-40B4-BE49-F238E27FC236}">
                <a16:creationId xmlns:a16="http://schemas.microsoft.com/office/drawing/2014/main" id="{73C11A99-76A8-487C-8FDC-988C73F907AA}"/>
              </a:ext>
            </a:extLst>
          </p:cNvPr>
          <p:cNvGraphicFramePr/>
          <p:nvPr/>
        </p:nvGraphicFramePr>
        <p:xfrm>
          <a:off xmlns:a="http://schemas.openxmlformats.org/drawingml/2006/main" x="762000" y="2114550"/>
          <a:ext xmlns:a="http://schemas.openxmlformats.org/drawingml/2006/main" cx="10668000" cy="2743200"/>
        </p:xfrm>
        <a:graphic xmlns:a="http://schemas.openxmlformats.org/drawingml/2006/main">
          <a:graphicData uri="http://schemas.openxmlformats.org/drawingml/2006/table">
            <a:tbl>
              <a:tblPr/>
              <a:tblGrid>
                <a:gridCol w="2667000"/>
                <a:gridCol w="3619500"/>
                <a:gridCol w="4381500"/>
              </a:tblGrid>
              <a:tr h="685800">
                <a:tc>
                  <a:txBody>
                    <a:bodyPr/>
                    <a:lstStyle/>
                    <a:p>
                      <a:r>
                        <a:rPr sz="1800" b="1">
                          <a:solidFill>
                            <a:srgbClr val="2F5D62"/>
                          </a:solidFill>
                          <a:latin typeface="Arial"/>
                          <a:ea typeface="Arial"/>
                          <a:cs typeface="Arial"/>
                        </a:rPr>
                        <a:t>Langkah</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Kendali</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Verifikasi / PIC</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00" b="0">
                          <a:solidFill>
                            <a:srgbClr val="1F1F1B"/>
                          </a:solidFill>
                          <a:latin typeface="Arial"/>
                          <a:ea typeface="Arial"/>
                          <a:cs typeface="Arial"/>
                        </a:rPr>
                        <a:t>Siapkan pengukuran</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Zona aman dan komunikasi sesuai SOP</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Operator menerima seluruh konfirmasi</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Ubah konfigurasi</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Hentikan dan amankan energi sesuai manual</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Operator memverifikasi sebelum penanganan</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Bongkar dan pulang</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Evaluasi kelelahan dan transportasi</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Ketua memastikan rencana pulang layak</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CC9725F4-A98E-4473-9AD2-CD0A82657881}"/>
              </a:ext>
            </a:extLst>
          </p:cNvPr>
          <p:cNvSpPr>
            <a:spLocks xmlns:a="http://schemas.openxmlformats.org/drawingml/2006/main" noGrp="1"/>
          </p:cNvSpPr>
          <p:nvPr/>
        </p:nvSpPr>
        <p:spPr>
          <a:xfrm xmlns:a="http://schemas.openxmlformats.org/drawingml/2006/main">
            <a:off x="762000" y="5895975"/>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OSHA · sumber pada catatan</a:t>
            </a:r>
          </a:p>
        </p:txBody>
      </p:sp>
      <p:sp>
        <p:nvSpPr>
          <p:cNvPr id="5" name="">
            <a:extLst xmlns:a="http://schemas.openxmlformats.org/drawingml/2006/main">
              <a:ext uri="{FF2B5EF4-FFF2-40B4-BE49-F238E27FC236}">
                <a16:creationId xmlns:a16="http://schemas.microsoft.com/office/drawing/2014/main" id="{B189FE0C-DA02-4BB1-8120-F9FBCA63C7C8}"/>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FBAD62AD-42E2-447A-9B00-E822E9514D07}"/>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21 / 28</a:t>
            </a:r>
          </a:p>
        </p:txBody>
      </p:sp>
    </p:spTree>
    <p:extLst>
      <p:ext uri="{BB962C8B-B14F-4D97-AF65-F5344CB8AC3E}">
        <p14:creationId xmlns:p14="http://schemas.microsoft.com/office/powerpoint/2010/main" val="1216709448"/>
      </p:ext>
    </p:extLst>
  </p:cSld>
</p:sld>
</file>

<file path=ppt/slides/slide22.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B979820F-BD2E-4489-95A8-0C441CBDA0EC}"/>
              </a:ext>
            </a:extLst>
          </p:cNvPr>
          <p:cNvCxnSpPr>
            <a:stCxn xmlns:a="http://schemas.openxmlformats.org/drawingml/2006/main" id="18" idx="3"/>
            <a:endCxn xmlns:a="http://schemas.openxmlformats.org/drawingml/2006/main" id="19" idx="1"/>
          </p:cNvCxnSpPr>
          <p:nvPr/>
        </p:nvCxnSpPr>
        <p:spPr>
          <a:xfrm xmlns:a="http://schemas.openxmlformats.org/drawingml/2006/main">
            <a:off x="8715375" y="3362326"/>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14" name="">
            <a:extLst xmlns:a="http://schemas.openxmlformats.org/drawingml/2006/main">
              <a:ext uri="{FF2B5EF4-FFF2-40B4-BE49-F238E27FC236}">
                <a16:creationId xmlns:a16="http://schemas.microsoft.com/office/drawing/2014/main" id="{2E389250-E274-45F6-8943-66B7598EA6DB}"/>
              </a:ext>
            </a:extLst>
          </p:cNvPr>
          <p:cNvCxnSpPr>
            <a:stCxn xmlns:a="http://schemas.openxmlformats.org/drawingml/2006/main" id="12" idx="3"/>
            <a:endCxn xmlns:a="http://schemas.openxmlformats.org/drawingml/2006/main" id="13" idx="1"/>
          </p:cNvCxnSpPr>
          <p:nvPr/>
        </p:nvCxnSpPr>
        <p:spPr>
          <a:xfrm xmlns:a="http://schemas.openxmlformats.org/drawingml/2006/main">
            <a:off x="5948363" y="3362326"/>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cxnSp>
        <p:nvCxnSpPr>
          <p:cNvPr id="8" name="">
            <a:extLst xmlns:a="http://schemas.openxmlformats.org/drawingml/2006/main">
              <a:ext uri="{FF2B5EF4-FFF2-40B4-BE49-F238E27FC236}">
                <a16:creationId xmlns:a16="http://schemas.microsoft.com/office/drawing/2014/main" id="{210F1669-0E45-44EE-A303-8D8462607C0F}"/>
              </a:ext>
            </a:extLst>
          </p:cNvPr>
          <p:cNvCxnSpPr>
            <a:stCxn xmlns:a="http://schemas.openxmlformats.org/drawingml/2006/main" id="6" idx="3"/>
            <a:endCxn xmlns:a="http://schemas.openxmlformats.org/drawingml/2006/main" id="7" idx="1"/>
          </p:cNvCxnSpPr>
          <p:nvPr/>
        </p:nvCxnSpPr>
        <p:spPr>
          <a:xfrm xmlns:a="http://schemas.openxmlformats.org/drawingml/2006/main">
            <a:off x="3181350" y="3362326"/>
            <a:ext cx="285750" cy="0"/>
          </a:xfrm>
          <a:prstGeom xmlns:a="http://schemas.openxmlformats.org/drawingml/2006/main" prst="straightConnector1">
            <a:avLst/>
          </a:prstGeom>
          <a:ln xmlns:a="http://schemas.openxmlformats.org/drawingml/2006/main" w="28575">
            <a:solidFill>
              <a:srgbClr val="2F5D62"/>
            </a:solidFill>
            <a:tailEnd type="triangle" w="sm" len="sm"/>
          </a:ln>
        </p:spPr>
      </p:cxnSp>
      <p:sp>
        <p:nvSpPr>
          <p:cNvPr id="27" name="">
            <a:extLst xmlns:a="http://schemas.openxmlformats.org/drawingml/2006/main">
              <a:ext uri="{FF2B5EF4-FFF2-40B4-BE49-F238E27FC236}">
                <a16:creationId xmlns:a16="http://schemas.microsoft.com/office/drawing/2014/main" id="{2D900206-43AF-413A-849B-A36220682766}"/>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6B4AFD07-87DE-4522-A573-D39B7D119F89}"/>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Kondisi berhenti dan mulai kembali</a:t>
            </a:r>
          </a:p>
        </p:txBody>
      </p:sp>
      <p:sp>
        <p:nvSpPr>
          <p:cNvPr id="3" name="">
            <a:extLst xmlns:a="http://schemas.openxmlformats.org/drawingml/2006/main">
              <a:ext uri="{FF2B5EF4-FFF2-40B4-BE49-F238E27FC236}">
                <a16:creationId xmlns:a16="http://schemas.microsoft.com/office/drawing/2014/main" id="{D833B68B-4D4B-4104-866D-AD04F2A0C5AC}"/>
              </a:ext>
            </a:extLst>
          </p:cNvPr>
          <p:cNvSpPr>
            <a:spLocks xmlns:a="http://schemas.openxmlformats.org/drawingml/2006/main" noGrp="1"/>
          </p:cNvSpPr>
          <p:nvPr/>
        </p:nvSpPr>
        <p:spPr>
          <a:xfrm xmlns:a="http://schemas.openxmlformats.org/drawingml/2006/main">
            <a:off x="762000" y="2667000"/>
            <a:ext cx="2366963"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4" name="">
            <a:extLst xmlns:a="http://schemas.openxmlformats.org/drawingml/2006/main">
              <a:ext uri="{FF2B5EF4-FFF2-40B4-BE49-F238E27FC236}">
                <a16:creationId xmlns:a16="http://schemas.microsoft.com/office/drawing/2014/main" id="{CEDE3A65-985E-4CEC-BF53-A62257789842}"/>
              </a:ext>
            </a:extLst>
          </p:cNvPr>
          <p:cNvSpPr>
            <a:spLocks xmlns:a="http://schemas.openxmlformats.org/drawingml/2006/main" noGrp="1"/>
          </p:cNvSpPr>
          <p:nvPr/>
        </p:nvSpPr>
        <p:spPr>
          <a:xfrm xmlns:a="http://schemas.openxmlformats.org/drawingml/2006/main">
            <a:off x="933450" y="2800350"/>
            <a:ext cx="2024063"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Hentikan</a:t>
            </a:r>
          </a:p>
        </p:txBody>
      </p:sp>
      <p:sp>
        <p:nvSpPr>
          <p:cNvPr id="5" name="">
            <a:extLst xmlns:a="http://schemas.openxmlformats.org/drawingml/2006/main">
              <a:ext uri="{FF2B5EF4-FFF2-40B4-BE49-F238E27FC236}">
                <a16:creationId xmlns:a16="http://schemas.microsoft.com/office/drawing/2014/main" id="{4DB7B23C-E17F-4DA0-B89D-0B11EF22569C}"/>
              </a:ext>
            </a:extLst>
          </p:cNvPr>
          <p:cNvSpPr>
            <a:spLocks xmlns:a="http://schemas.openxmlformats.org/drawingml/2006/main" noGrp="1"/>
          </p:cNvSpPr>
          <p:nvPr/>
        </p:nvSpPr>
        <p:spPr>
          <a:xfrm xmlns:a="http://schemas.openxmlformats.org/drawingml/2006/main">
            <a:off x="933450" y="3248025"/>
            <a:ext cx="2024063"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Kendali kritis</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gagal</a:t>
            </a:r>
          </a:p>
        </p:txBody>
      </p:sp>
      <p:sp>
        <p:nvSpPr>
          <p:cNvPr id="6" name="">
            <a:extLst xmlns:a="http://schemas.openxmlformats.org/drawingml/2006/main">
              <a:ext uri="{FF2B5EF4-FFF2-40B4-BE49-F238E27FC236}">
                <a16:creationId xmlns:a16="http://schemas.microsoft.com/office/drawing/2014/main" id="{507D4060-C744-4AC7-A37D-C9C3B3A61D56}"/>
              </a:ext>
            </a:extLst>
          </p:cNvPr>
          <p:cNvSpPr>
            <a:spLocks xmlns:a="http://schemas.openxmlformats.org/drawingml/2006/main" noGrp="1"/>
          </p:cNvSpPr>
          <p:nvPr/>
        </p:nvSpPr>
        <p:spPr>
          <a:xfrm xmlns:a="http://schemas.openxmlformats.org/drawingml/2006/main">
            <a:off x="3171825" y="3357563"/>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6506EFC-4548-4B98-8680-4EF3DF7744F0}"/>
              </a:ext>
            </a:extLst>
          </p:cNvPr>
          <p:cNvSpPr>
            <a:spLocks xmlns:a="http://schemas.openxmlformats.org/drawingml/2006/main" noGrp="1"/>
          </p:cNvSpPr>
          <p:nvPr/>
        </p:nvSpPr>
        <p:spPr>
          <a:xfrm xmlns:a="http://schemas.openxmlformats.org/drawingml/2006/main">
            <a:off x="3467100" y="3357563"/>
            <a:ext cx="9525" cy="9525"/>
          </a:xfrm>
          <a:prstGeom xmlns:a="http://schemas.openxmlformats.org/drawingml/2006/main" prst="rect">
            <a:avLst/>
          </a:prstGeom>
          <a:noFill xmlns:a="http://schemas.openxmlformats.org/drawingml/2006/main"/>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8648FCA-383F-4D2A-8E5E-84A12DFF8760}"/>
              </a:ext>
            </a:extLst>
          </p:cNvPr>
          <p:cNvSpPr>
            <a:spLocks xmlns:a="http://schemas.openxmlformats.org/drawingml/2006/main" noGrp="1"/>
          </p:cNvSpPr>
          <p:nvPr/>
        </p:nvSpPr>
        <p:spPr>
          <a:xfrm xmlns:a="http://schemas.openxmlformats.org/drawingml/2006/main">
            <a:off x="3529013" y="2667000"/>
            <a:ext cx="2366963"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0" name="">
            <a:extLst xmlns:a="http://schemas.openxmlformats.org/drawingml/2006/main">
              <a:ext uri="{FF2B5EF4-FFF2-40B4-BE49-F238E27FC236}">
                <a16:creationId xmlns:a16="http://schemas.microsoft.com/office/drawing/2014/main" id="{CE860188-07D8-4991-9C26-1F241DC2235B}"/>
              </a:ext>
            </a:extLst>
          </p:cNvPr>
          <p:cNvSpPr>
            <a:spLocks xmlns:a="http://schemas.openxmlformats.org/drawingml/2006/main" noGrp="1"/>
          </p:cNvSpPr>
          <p:nvPr/>
        </p:nvSpPr>
        <p:spPr>
          <a:xfrm xmlns:a="http://schemas.openxmlformats.org/drawingml/2006/main">
            <a:off x="3700463" y="2800350"/>
            <a:ext cx="2024063"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Amankan</a:t>
            </a:r>
          </a:p>
        </p:txBody>
      </p:sp>
      <p:sp>
        <p:nvSpPr>
          <p:cNvPr id="11" name="">
            <a:extLst xmlns:a="http://schemas.openxmlformats.org/drawingml/2006/main">
              <a:ext uri="{FF2B5EF4-FFF2-40B4-BE49-F238E27FC236}">
                <a16:creationId xmlns:a16="http://schemas.microsoft.com/office/drawing/2014/main" id="{60F69E73-481C-441F-BED9-50105F748CDE}"/>
              </a:ext>
            </a:extLst>
          </p:cNvPr>
          <p:cNvSpPr>
            <a:spLocks xmlns:a="http://schemas.openxmlformats.org/drawingml/2006/main" noGrp="1"/>
          </p:cNvSpPr>
          <p:nvPr/>
        </p:nvSpPr>
        <p:spPr>
          <a:xfrm xmlns:a="http://schemas.openxmlformats.org/drawingml/2006/main">
            <a:off x="3700463" y="3248025"/>
            <a:ext cx="2024063"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Pekerjaan dan</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energi</a:t>
            </a:r>
          </a:p>
        </p:txBody>
      </p:sp>
      <p:sp>
        <p:nvSpPr>
          <p:cNvPr id="12" name="">
            <a:extLst xmlns:a="http://schemas.openxmlformats.org/drawingml/2006/main">
              <a:ext uri="{FF2B5EF4-FFF2-40B4-BE49-F238E27FC236}">
                <a16:creationId xmlns:a16="http://schemas.microsoft.com/office/drawing/2014/main" id="{2F04BECE-421F-4E7C-A3D1-223206F2F56A}"/>
              </a:ext>
            </a:extLst>
          </p:cNvPr>
          <p:cNvSpPr>
            <a:spLocks xmlns:a="http://schemas.openxmlformats.org/drawingml/2006/main" noGrp="1"/>
          </p:cNvSpPr>
          <p:nvPr/>
        </p:nvSpPr>
        <p:spPr>
          <a:xfrm xmlns:a="http://schemas.openxmlformats.org/drawingml/2006/main">
            <a:off x="5938838" y="3357563"/>
            <a:ext cx="9525" cy="9525"/>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0ECEB4D-2966-4DE5-839C-921E805C171A}"/>
              </a:ext>
            </a:extLst>
          </p:cNvPr>
          <p:cNvSpPr>
            <a:spLocks xmlns:a="http://schemas.openxmlformats.org/drawingml/2006/main" noGrp="1"/>
          </p:cNvSpPr>
          <p:nvPr/>
        </p:nvSpPr>
        <p:spPr>
          <a:xfrm xmlns:a="http://schemas.openxmlformats.org/drawingml/2006/main">
            <a:off x="6234113" y="3357563"/>
            <a:ext cx="9525" cy="9525"/>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9998DE9-1431-4984-AD43-EEAF039B8733}"/>
              </a:ext>
            </a:extLst>
          </p:cNvPr>
          <p:cNvSpPr>
            <a:spLocks xmlns:a="http://schemas.openxmlformats.org/drawingml/2006/main" noGrp="1"/>
          </p:cNvSpPr>
          <p:nvPr/>
        </p:nvSpPr>
        <p:spPr>
          <a:xfrm xmlns:a="http://schemas.openxmlformats.org/drawingml/2006/main">
            <a:off x="6296025" y="2667000"/>
            <a:ext cx="2366963"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16" name="">
            <a:extLst xmlns:a="http://schemas.openxmlformats.org/drawingml/2006/main">
              <a:ext uri="{FF2B5EF4-FFF2-40B4-BE49-F238E27FC236}">
                <a16:creationId xmlns:a16="http://schemas.microsoft.com/office/drawing/2014/main" id="{E670A3AD-29A7-4FA3-9A8C-88DD3E2CB8FE}"/>
              </a:ext>
            </a:extLst>
          </p:cNvPr>
          <p:cNvSpPr>
            <a:spLocks xmlns:a="http://schemas.openxmlformats.org/drawingml/2006/main" noGrp="1"/>
          </p:cNvSpPr>
          <p:nvPr/>
        </p:nvSpPr>
        <p:spPr>
          <a:xfrm xmlns:a="http://schemas.openxmlformats.org/drawingml/2006/main">
            <a:off x="6467475" y="2800350"/>
            <a:ext cx="2024063"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Nilai ulang</a:t>
            </a:r>
          </a:p>
        </p:txBody>
      </p:sp>
      <p:sp>
        <p:nvSpPr>
          <p:cNvPr id="17" name="">
            <a:extLst xmlns:a="http://schemas.openxmlformats.org/drawingml/2006/main">
              <a:ext uri="{FF2B5EF4-FFF2-40B4-BE49-F238E27FC236}">
                <a16:creationId xmlns:a16="http://schemas.microsoft.com/office/drawing/2014/main" id="{BDFF1008-2595-4A09-8B8F-DB5BC6480678}"/>
              </a:ext>
            </a:extLst>
          </p:cNvPr>
          <p:cNvSpPr>
            <a:spLocks xmlns:a="http://schemas.openxmlformats.org/drawingml/2006/main" noGrp="1"/>
          </p:cNvSpPr>
          <p:nvPr/>
        </p:nvSpPr>
        <p:spPr>
          <a:xfrm xmlns:a="http://schemas.openxmlformats.org/drawingml/2006/main">
            <a:off x="6467475" y="3248025"/>
            <a:ext cx="2024063"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Pulihkan kendali</a:t>
            </a:r>
          </a:p>
        </p:txBody>
      </p:sp>
      <p:sp>
        <p:nvSpPr>
          <p:cNvPr id="18" name="">
            <a:extLst xmlns:a="http://schemas.openxmlformats.org/drawingml/2006/main">
              <a:ext uri="{FF2B5EF4-FFF2-40B4-BE49-F238E27FC236}">
                <a16:creationId xmlns:a16="http://schemas.microsoft.com/office/drawing/2014/main" id="{A9744849-677F-401B-9E6E-E67267192C43}"/>
              </a:ext>
            </a:extLst>
          </p:cNvPr>
          <p:cNvSpPr>
            <a:spLocks xmlns:a="http://schemas.openxmlformats.org/drawingml/2006/main" noGrp="1"/>
          </p:cNvSpPr>
          <p:nvPr/>
        </p:nvSpPr>
        <p:spPr>
          <a:xfrm xmlns:a="http://schemas.openxmlformats.org/drawingml/2006/main">
            <a:off x="8705850" y="3357563"/>
            <a:ext cx="9525" cy="9525"/>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0CBDB62-523E-4EB8-8492-B4D0051C8E45}"/>
              </a:ext>
            </a:extLst>
          </p:cNvPr>
          <p:cNvSpPr>
            <a:spLocks xmlns:a="http://schemas.openxmlformats.org/drawingml/2006/main" noGrp="1"/>
          </p:cNvSpPr>
          <p:nvPr/>
        </p:nvSpPr>
        <p:spPr>
          <a:xfrm xmlns:a="http://schemas.openxmlformats.org/drawingml/2006/main">
            <a:off x="9001125" y="3357563"/>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9F36307-4EC1-40DA-AAB6-9D7AF6C15112}"/>
              </a:ext>
            </a:extLst>
          </p:cNvPr>
          <p:cNvSpPr>
            <a:spLocks xmlns:a="http://schemas.openxmlformats.org/drawingml/2006/main" noGrp="1"/>
          </p:cNvSpPr>
          <p:nvPr/>
        </p:nvSpPr>
        <p:spPr>
          <a:xfrm xmlns:a="http://schemas.openxmlformats.org/drawingml/2006/main">
            <a:off x="9063038" y="2667000"/>
            <a:ext cx="2366963" cy="1381125"/>
          </a:xfrm>
          <a:prstGeom xmlns:a="http://schemas.openxmlformats.org/drawingml/2006/main" prst="rect">
            <a:avLst/>
          </a:prstGeom>
          <a:solidFill xmlns:a="http://schemas.openxmlformats.org/drawingml/2006/main">
            <a:srgbClr val="F8F6F1"/>
          </a:solidFill>
          <a:ln xmlns:a="http://schemas.openxmlformats.org/drawingml/2006/main" w="9525">
            <a:solidFill>
              <a:srgbClr val="2F5D62"/>
            </a:solidFill>
          </a:ln>
        </p:spPr>
      </p:sp>
      <p:sp>
        <p:nvSpPr>
          <p:cNvPr id="22" name="">
            <a:extLst xmlns:a="http://schemas.openxmlformats.org/drawingml/2006/main">
              <a:ext uri="{FF2B5EF4-FFF2-40B4-BE49-F238E27FC236}">
                <a16:creationId xmlns:a16="http://schemas.microsoft.com/office/drawing/2014/main" id="{9E78A2D8-F7FE-4C8B-B6F8-61FDF034B8B7}"/>
              </a:ext>
            </a:extLst>
          </p:cNvPr>
          <p:cNvSpPr>
            <a:spLocks xmlns:a="http://schemas.openxmlformats.org/drawingml/2006/main" noGrp="1"/>
          </p:cNvSpPr>
          <p:nvPr/>
        </p:nvSpPr>
        <p:spPr>
          <a:xfrm xmlns:a="http://schemas.openxmlformats.org/drawingml/2006/main">
            <a:off x="9234488" y="2800350"/>
            <a:ext cx="2024063"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F5D62"/>
                </a:solidFill>
                <a:latin typeface="Arial"/>
                <a:ea typeface="Arial"/>
                <a:cs typeface="Arial"/>
              </a:defRPr>
            </a:defPPr>
            <a:lvl1pPr>
              <a:defRPr sz="2175" b="1">
                <a:solidFill>
                  <a:srgbClr val="2F5D62"/>
                </a:solidFill>
                <a:latin typeface="Arial"/>
                <a:ea typeface="Arial"/>
                <a:cs typeface="Arial"/>
              </a:defRPr>
            </a:lvl1pPr>
            <a:lvl2pPr>
              <a:defRPr sz="2175" b="1">
                <a:solidFill>
                  <a:srgbClr val="2F5D62"/>
                </a:solidFill>
                <a:latin typeface="Arial"/>
                <a:ea typeface="Arial"/>
                <a:cs typeface="Arial"/>
              </a:defRPr>
            </a:lvl2pPr>
            <a:lvl3pPr>
              <a:defRPr sz="2175" b="1">
                <a:solidFill>
                  <a:srgbClr val="2F5D62"/>
                </a:solidFill>
                <a:latin typeface="Arial"/>
                <a:ea typeface="Arial"/>
                <a:cs typeface="Arial"/>
              </a:defRPr>
            </a:lvl3pPr>
            <a:lvl4pPr>
              <a:defRPr sz="2175" b="1">
                <a:solidFill>
                  <a:srgbClr val="2F5D62"/>
                </a:solidFill>
                <a:latin typeface="Arial"/>
                <a:ea typeface="Arial"/>
                <a:cs typeface="Arial"/>
              </a:defRPr>
            </a:lvl4pPr>
            <a:lvl5pPr>
              <a:defRPr sz="2175" b="1">
                <a:solidFill>
                  <a:srgbClr val="2F5D62"/>
                </a:solidFill>
                <a:latin typeface="Arial"/>
                <a:ea typeface="Arial"/>
                <a:cs typeface="Arial"/>
              </a:defRPr>
            </a:lvl5pPr>
            <a:lvl6pPr>
              <a:defRPr sz="2175" b="1">
                <a:solidFill>
                  <a:srgbClr val="2F5D62"/>
                </a:solidFill>
                <a:latin typeface="Arial"/>
                <a:ea typeface="Arial"/>
                <a:cs typeface="Arial"/>
              </a:defRPr>
            </a:lvl6pPr>
            <a:lvl7pPr>
              <a:defRPr sz="2175" b="1">
                <a:solidFill>
                  <a:srgbClr val="2F5D62"/>
                </a:solidFill>
                <a:latin typeface="Arial"/>
                <a:ea typeface="Arial"/>
                <a:cs typeface="Arial"/>
              </a:defRPr>
            </a:lvl7pPr>
            <a:lvl8pPr>
              <a:defRPr sz="2175" b="1">
                <a:solidFill>
                  <a:srgbClr val="2F5D62"/>
                </a:solidFill>
                <a:latin typeface="Arial"/>
                <a:ea typeface="Arial"/>
                <a:cs typeface="Arial"/>
              </a:defRPr>
            </a:lvl8pPr>
            <a:lvl9pPr>
              <a:defRPr sz="2175" b="1">
                <a:solidFill>
                  <a:srgbClr val="2F5D62"/>
                </a:solidFill>
                <a:latin typeface="Arial"/>
                <a:ea typeface="Arial"/>
                <a:cs typeface="Arial"/>
              </a:defRPr>
            </a:lvl9pPr>
          </a:lstStyle>
          <a:p xmlns:a="http://schemas.openxmlformats.org/drawingml/2006/main">
            <a:pPr>
              <a:defRPr sz="2175" b="1">
                <a:solidFill>
                  <a:srgbClr val="2F5D62"/>
                </a:solidFill>
                <a:latin typeface="Arial"/>
                <a:ea typeface="Arial"/>
                <a:cs typeface="Arial"/>
              </a:defRPr>
            </a:pPr>
            <a:r>
              <a:rPr sz="2175" b="1">
                <a:solidFill>
                  <a:srgbClr val="2F5D62"/>
                </a:solidFill>
                <a:latin typeface="Arial"/>
                <a:ea typeface="Arial"/>
                <a:cs typeface="Arial"/>
              </a:rPr>
              <a:t>Konfirmasi</a:t>
            </a:r>
          </a:p>
        </p:txBody>
      </p:sp>
      <p:sp>
        <p:nvSpPr>
          <p:cNvPr id="23" name="">
            <a:extLst xmlns:a="http://schemas.openxmlformats.org/drawingml/2006/main">
              <a:ext uri="{FF2B5EF4-FFF2-40B4-BE49-F238E27FC236}">
                <a16:creationId xmlns:a16="http://schemas.microsoft.com/office/drawing/2014/main" id="{AA602C7F-4E8D-4758-A9FF-65BB45EFDC87}"/>
              </a:ext>
            </a:extLst>
          </p:cNvPr>
          <p:cNvSpPr>
            <a:spLocks xmlns:a="http://schemas.openxmlformats.org/drawingml/2006/main" noGrp="1"/>
          </p:cNvSpPr>
          <p:nvPr/>
        </p:nvSpPr>
        <p:spPr>
          <a:xfrm xmlns:a="http://schemas.openxmlformats.org/drawingml/2006/main">
            <a:off x="9234488" y="3248025"/>
            <a:ext cx="2024063"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F625C"/>
                </a:solidFill>
                <a:latin typeface="Arial"/>
                <a:ea typeface="Arial"/>
                <a:cs typeface="Arial"/>
              </a:defRPr>
            </a:defPPr>
            <a:lvl1pPr>
              <a:defRPr sz="1725" b="0">
                <a:solidFill>
                  <a:srgbClr val="5F625C"/>
                </a:solidFill>
                <a:latin typeface="Arial"/>
                <a:ea typeface="Arial"/>
                <a:cs typeface="Arial"/>
              </a:defRPr>
            </a:lvl1pPr>
            <a:lvl2pPr>
              <a:defRPr sz="1725" b="0">
                <a:solidFill>
                  <a:srgbClr val="5F625C"/>
                </a:solidFill>
                <a:latin typeface="Arial"/>
                <a:ea typeface="Arial"/>
                <a:cs typeface="Arial"/>
              </a:defRPr>
            </a:lvl2pPr>
            <a:lvl3pPr>
              <a:defRPr sz="1725" b="0">
                <a:solidFill>
                  <a:srgbClr val="5F625C"/>
                </a:solidFill>
                <a:latin typeface="Arial"/>
                <a:ea typeface="Arial"/>
                <a:cs typeface="Arial"/>
              </a:defRPr>
            </a:lvl3pPr>
            <a:lvl4pPr>
              <a:defRPr sz="1725" b="0">
                <a:solidFill>
                  <a:srgbClr val="5F625C"/>
                </a:solidFill>
                <a:latin typeface="Arial"/>
                <a:ea typeface="Arial"/>
                <a:cs typeface="Arial"/>
              </a:defRPr>
            </a:lvl4pPr>
            <a:lvl5pPr>
              <a:defRPr sz="1725" b="0">
                <a:solidFill>
                  <a:srgbClr val="5F625C"/>
                </a:solidFill>
                <a:latin typeface="Arial"/>
                <a:ea typeface="Arial"/>
                <a:cs typeface="Arial"/>
              </a:defRPr>
            </a:lvl5pPr>
            <a:lvl6pPr>
              <a:defRPr sz="1725" b="0">
                <a:solidFill>
                  <a:srgbClr val="5F625C"/>
                </a:solidFill>
                <a:latin typeface="Arial"/>
                <a:ea typeface="Arial"/>
                <a:cs typeface="Arial"/>
              </a:defRPr>
            </a:lvl6pPr>
            <a:lvl7pPr>
              <a:defRPr sz="1725" b="0">
                <a:solidFill>
                  <a:srgbClr val="5F625C"/>
                </a:solidFill>
                <a:latin typeface="Arial"/>
                <a:ea typeface="Arial"/>
                <a:cs typeface="Arial"/>
              </a:defRPr>
            </a:lvl7pPr>
            <a:lvl8pPr>
              <a:defRPr sz="1725" b="0">
                <a:solidFill>
                  <a:srgbClr val="5F625C"/>
                </a:solidFill>
                <a:latin typeface="Arial"/>
                <a:ea typeface="Arial"/>
                <a:cs typeface="Arial"/>
              </a:defRPr>
            </a:lvl8pPr>
            <a:lvl9pPr>
              <a:defRPr sz="1725" b="0">
                <a:solidFill>
                  <a:srgbClr val="5F625C"/>
                </a:solidFill>
                <a:latin typeface="Arial"/>
                <a:ea typeface="Arial"/>
                <a:cs typeface="Arial"/>
              </a:defRPr>
            </a:lvl9pPr>
          </a:lstStyle>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Syarat aman</a:t>
            </a:r>
          </a:p>
          <a:p xmlns:a="http://schemas.openxmlformats.org/drawingml/2006/main">
            <a:pPr>
              <a:defRPr sz="1725" b="0">
                <a:solidFill>
                  <a:srgbClr val="5F625C"/>
                </a:solidFill>
                <a:latin typeface="Arial"/>
                <a:ea typeface="Arial"/>
                <a:cs typeface="Arial"/>
              </a:defRPr>
            </a:pPr>
            <a:r>
              <a:rPr sz="1725" b="0">
                <a:solidFill>
                  <a:srgbClr val="5F625C"/>
                </a:solidFill>
                <a:latin typeface="Arial"/>
                <a:ea typeface="Arial"/>
                <a:cs typeface="Arial"/>
              </a:rPr>
              <a:t>sebelum mulai</a:t>
            </a:r>
          </a:p>
        </p:txBody>
      </p:sp>
      <p:sp>
        <p:nvSpPr>
          <p:cNvPr id="24" name="">
            <a:extLst xmlns:a="http://schemas.openxmlformats.org/drawingml/2006/main">
              <a:ext uri="{FF2B5EF4-FFF2-40B4-BE49-F238E27FC236}">
                <a16:creationId xmlns:a16="http://schemas.microsoft.com/office/drawing/2014/main" id="{C733885B-8CBE-4921-9CCB-92B3CB73F01B}"/>
              </a:ext>
            </a:extLst>
          </p:cNvPr>
          <p:cNvSpPr>
            <a:spLocks xmlns:a="http://schemas.openxmlformats.org/drawingml/2006/main" noGrp="1"/>
          </p:cNvSpPr>
          <p:nvPr/>
        </p:nvSpPr>
        <p:spPr>
          <a:xfrm xmlns:a="http://schemas.openxmlformats.org/drawingml/2006/main">
            <a:off x="762000" y="54387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F5D62"/>
                </a:solidFill>
                <a:latin typeface="Arial"/>
                <a:ea typeface="Arial"/>
                <a:cs typeface="Arial"/>
              </a:defRPr>
            </a:defPPr>
            <a:lvl1pPr>
              <a:defRPr sz="1725" b="0">
                <a:solidFill>
                  <a:srgbClr val="2F5D62"/>
                </a:solidFill>
                <a:latin typeface="Arial"/>
                <a:ea typeface="Arial"/>
                <a:cs typeface="Arial"/>
              </a:defRPr>
            </a:lvl1pPr>
            <a:lvl2pPr>
              <a:defRPr sz="1725" b="0">
                <a:solidFill>
                  <a:srgbClr val="2F5D62"/>
                </a:solidFill>
                <a:latin typeface="Arial"/>
                <a:ea typeface="Arial"/>
                <a:cs typeface="Arial"/>
              </a:defRPr>
            </a:lvl2pPr>
            <a:lvl3pPr>
              <a:defRPr sz="1725" b="0">
                <a:solidFill>
                  <a:srgbClr val="2F5D62"/>
                </a:solidFill>
                <a:latin typeface="Arial"/>
                <a:ea typeface="Arial"/>
                <a:cs typeface="Arial"/>
              </a:defRPr>
            </a:lvl3pPr>
            <a:lvl4pPr>
              <a:defRPr sz="1725" b="0">
                <a:solidFill>
                  <a:srgbClr val="2F5D62"/>
                </a:solidFill>
                <a:latin typeface="Arial"/>
                <a:ea typeface="Arial"/>
                <a:cs typeface="Arial"/>
              </a:defRPr>
            </a:lvl4pPr>
            <a:lvl5pPr>
              <a:defRPr sz="1725" b="0">
                <a:solidFill>
                  <a:srgbClr val="2F5D62"/>
                </a:solidFill>
                <a:latin typeface="Arial"/>
                <a:ea typeface="Arial"/>
                <a:cs typeface="Arial"/>
              </a:defRPr>
            </a:lvl5pPr>
            <a:lvl6pPr>
              <a:defRPr sz="1725" b="0">
                <a:solidFill>
                  <a:srgbClr val="2F5D62"/>
                </a:solidFill>
                <a:latin typeface="Arial"/>
                <a:ea typeface="Arial"/>
                <a:cs typeface="Arial"/>
              </a:defRPr>
            </a:lvl6pPr>
            <a:lvl7pPr>
              <a:defRPr sz="1725" b="0">
                <a:solidFill>
                  <a:srgbClr val="2F5D62"/>
                </a:solidFill>
                <a:latin typeface="Arial"/>
                <a:ea typeface="Arial"/>
                <a:cs typeface="Arial"/>
              </a:defRPr>
            </a:lvl7pPr>
            <a:lvl8pPr>
              <a:defRPr sz="1725" b="0">
                <a:solidFill>
                  <a:srgbClr val="2F5D62"/>
                </a:solidFill>
                <a:latin typeface="Arial"/>
                <a:ea typeface="Arial"/>
                <a:cs typeface="Arial"/>
              </a:defRPr>
            </a:lvl8pPr>
            <a:lvl9pPr>
              <a:defRPr sz="1725" b="0">
                <a:solidFill>
                  <a:srgbClr val="2F5D62"/>
                </a:solidFill>
                <a:latin typeface="Arial"/>
                <a:ea typeface="Arial"/>
                <a:cs typeface="Arial"/>
              </a:defRPr>
            </a:lvl9pPr>
          </a:lstStyle>
          <a:p xmlns:a="http://schemas.openxmlformats.org/drawingml/2006/main">
            <a:pPr>
              <a:defRPr sz="1725" b="0">
                <a:solidFill>
                  <a:srgbClr val="2F5D62"/>
                </a:solidFill>
                <a:latin typeface="Arial"/>
                <a:ea typeface="Arial"/>
                <a:cs typeface="Arial"/>
              </a:defRPr>
            </a:pPr>
            <a:r>
              <a:rPr sz="1725" b="0">
                <a:solidFill>
                  <a:srgbClr val="2F5D62"/>
                </a:solidFill>
                <a:latin typeface="Arial"/>
                <a:ea typeface="Arial"/>
                <a:cs typeface="Arial"/>
              </a:rPr>
              <a:t>Pekerjaan dimulai kembali setelah otorisasi sesuai SOP, bukan karena target.</a:t>
            </a:r>
          </a:p>
        </p:txBody>
      </p:sp>
      <p:sp>
        <p:nvSpPr>
          <p:cNvPr id="25" name="">
            <a:extLst xmlns:a="http://schemas.openxmlformats.org/drawingml/2006/main">
              <a:ext uri="{FF2B5EF4-FFF2-40B4-BE49-F238E27FC236}">
                <a16:creationId xmlns:a16="http://schemas.microsoft.com/office/drawing/2014/main" id="{441533F5-9622-4C77-A1D5-112B17E97CD0}"/>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26" name="">
            <a:extLst xmlns:a="http://schemas.openxmlformats.org/drawingml/2006/main">
              <a:ext uri="{FF2B5EF4-FFF2-40B4-BE49-F238E27FC236}">
                <a16:creationId xmlns:a16="http://schemas.microsoft.com/office/drawing/2014/main" id="{04AE8EAA-571C-4823-A0FC-6A1FAF0F6C99}"/>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22 / 28</a:t>
            </a:r>
          </a:p>
        </p:txBody>
      </p:sp>
    </p:spTree>
    <p:extLst>
      <p:ext uri="{BB962C8B-B14F-4D97-AF65-F5344CB8AC3E}">
        <p14:creationId xmlns:p14="http://schemas.microsoft.com/office/powerpoint/2010/main" val="191061205"/>
      </p:ext>
    </p:extLst>
  </p:cSld>
</p:sld>
</file>

<file path=ppt/slides/slide23.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7AB483-0E9F-4266-B3C4-BE7E0EB28821}"/>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283B56D7-D098-42F0-ABEE-89D63B7BA2E5}"/>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Simulasi kelompok</a:t>
            </a:r>
          </a:p>
        </p:txBody>
      </p:sp>
      <p:sp>
        <p:nvSpPr>
          <p:cNvPr id="3" name="">
            <a:extLst xmlns:a="http://schemas.openxmlformats.org/drawingml/2006/main">
              <a:ext uri="{FF2B5EF4-FFF2-40B4-BE49-F238E27FC236}">
                <a16:creationId xmlns:a16="http://schemas.microsoft.com/office/drawing/2014/main" id="{F778CFB5-F3E5-4D62-84B8-6E1111FC4388}"/>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Survei geolistrik di perbukitan, lintasan 400 m.</a:t>
            </a:r>
          </a:p>
        </p:txBody>
      </p:sp>
      <p:sp>
        <p:nvSpPr>
          <p:cNvPr id="4" name="">
            <a:extLst xmlns:a="http://schemas.openxmlformats.org/drawingml/2006/main">
              <a:ext uri="{FF2B5EF4-FFF2-40B4-BE49-F238E27FC236}">
                <a16:creationId xmlns:a16="http://schemas.microsoft.com/office/drawing/2014/main" id="{E5C010A4-61C9-43B7-B54C-C55073A58E60}"/>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Berat kotak belum terverifikasi; waktu mulai terlambat.</a:t>
            </a:r>
          </a:p>
        </p:txBody>
      </p:sp>
      <p:sp>
        <p:nvSpPr>
          <p:cNvPr id="5" name="">
            <a:extLst xmlns:a="http://schemas.openxmlformats.org/drawingml/2006/main">
              <a:ext uri="{FF2B5EF4-FFF2-40B4-BE49-F238E27FC236}">
                <a16:creationId xmlns:a16="http://schemas.microsoft.com/office/drawing/2014/main" id="{83CBE9D7-0A24-4788-A835-7CC6A0F8C7F8}"/>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Susun JSA 4–6 langkah dari akses sampai perjalanan pulang.</a:t>
            </a:r>
          </a:p>
        </p:txBody>
      </p:sp>
      <p:sp>
        <p:nvSpPr>
          <p:cNvPr id="6" name="">
            <a:extLst xmlns:a="http://schemas.openxmlformats.org/drawingml/2006/main">
              <a:ext uri="{FF2B5EF4-FFF2-40B4-BE49-F238E27FC236}">
                <a16:creationId xmlns:a16="http://schemas.microsoft.com/office/drawing/2014/main" id="{E8A7B881-E415-41FD-A6D4-352FCEF5EF9B}"/>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4F81D433-0942-4FC7-BE1F-3F46103BBB6E}"/>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23 / 28</a:t>
            </a:r>
          </a:p>
        </p:txBody>
      </p:sp>
    </p:spTree>
    <p:extLst>
      <p:ext uri="{BB962C8B-B14F-4D97-AF65-F5344CB8AC3E}">
        <p14:creationId xmlns:p14="http://schemas.microsoft.com/office/powerpoint/2010/main" val="1958801773"/>
      </p:ext>
    </p:extLst>
  </p:cSld>
</p:sld>
</file>

<file path=ppt/slides/slide24.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8E7FB55-94B4-4633-BDAB-8278D0567B90}"/>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AD8DD2FB-98E0-4B02-A946-5898961EF448}"/>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Kartu perubahan kondisi</a:t>
            </a:r>
          </a:p>
        </p:txBody>
      </p:sp>
      <p:graphicFrame>
        <p:nvGraphicFramePr>
          <p:cNvPr id="3" name="">
            <a:extLst xmlns:a="http://schemas.openxmlformats.org/drawingml/2006/main">
              <a:ext uri="{FF2B5EF4-FFF2-40B4-BE49-F238E27FC236}">
                <a16:creationId xmlns:a16="http://schemas.microsoft.com/office/drawing/2014/main" id="{6E671DBC-B324-496A-8068-34061D76A350}"/>
              </a:ext>
            </a:extLst>
          </p:cNvPr>
          <p:cNvGraphicFramePr/>
          <p:nvPr/>
        </p:nvGraphicFramePr>
        <p:xfrm>
          <a:off xmlns:a="http://schemas.openxmlformats.org/drawingml/2006/main" x="762000" y="2114550"/>
          <a:ext xmlns:a="http://schemas.openxmlformats.org/drawingml/2006/main" cx="10668000" cy="3429000"/>
        </p:xfrm>
        <a:graphic xmlns:a="http://schemas.openxmlformats.org/drawingml/2006/main">
          <a:graphicData uri="http://schemas.openxmlformats.org/drawingml/2006/table">
            <a:tbl>
              <a:tblPr/>
              <a:tblGrid>
                <a:gridCol w="2857500"/>
                <a:gridCol w="7810500"/>
              </a:tblGrid>
              <a:tr h="685800">
                <a:tc>
                  <a:txBody>
                    <a:bodyPr/>
                    <a:lstStyle/>
                    <a:p>
                      <a:r>
                        <a:rPr sz="1875" b="1">
                          <a:solidFill>
                            <a:srgbClr val="2F5D62"/>
                          </a:solidFill>
                          <a:latin typeface="Arial"/>
                          <a:ea typeface="Arial"/>
                          <a:cs typeface="Arial"/>
                        </a:rPr>
                        <a:t>Perubahan</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75" b="1">
                          <a:solidFill>
                            <a:srgbClr val="2F5D62"/>
                          </a:solidFill>
                          <a:latin typeface="Arial"/>
                          <a:ea typeface="Arial"/>
                          <a:cs typeface="Arial"/>
                        </a:rPr>
                        <a:t>Keputusan yang harus dijelaskan</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75" b="0">
                          <a:solidFill>
                            <a:srgbClr val="1F1F1B"/>
                          </a:solidFill>
                          <a:latin typeface="Arial"/>
                          <a:ea typeface="Arial"/>
                          <a:cs typeface="Arial"/>
                        </a:rPr>
                        <a:t>Radio gagal</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Tahap mana berhenti dan kapan boleh dimulai?</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Hujan, akses licin</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Siapa menilai ulang akses dan metode angkut?</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Anggota mengantuk</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Bagaimana tugas dan perjalanan pulang diubah?</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Panas meningkat</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Bagaimana paparan dan pemulihan disesuaikan?</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8456AEA4-CB64-4BD5-BF78-C94BD4B09B38}"/>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5" name="">
            <a:extLst xmlns:a="http://schemas.openxmlformats.org/drawingml/2006/main">
              <a:ext uri="{FF2B5EF4-FFF2-40B4-BE49-F238E27FC236}">
                <a16:creationId xmlns:a16="http://schemas.microsoft.com/office/drawing/2014/main" id="{AD79B521-3388-45D5-B24E-7CEA9B83D413}"/>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24 / 28</a:t>
            </a:r>
          </a:p>
        </p:txBody>
      </p:sp>
    </p:spTree>
    <p:extLst>
      <p:ext uri="{BB962C8B-B14F-4D97-AF65-F5344CB8AC3E}">
        <p14:creationId xmlns:p14="http://schemas.microsoft.com/office/powerpoint/2010/main" val="927239313"/>
      </p:ext>
    </p:extLst>
  </p:cSld>
</p:sld>
</file>

<file path=ppt/slides/slide25.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6F0C44-DA2F-4F2E-9E97-A1D3F98B09E8}"/>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3087A0C6-2D15-44E5-892B-F16995818128}"/>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Toolbox talk 60 detik</a:t>
            </a:r>
          </a:p>
        </p:txBody>
      </p:sp>
      <p:sp>
        <p:nvSpPr>
          <p:cNvPr id="3" name="">
            <a:extLst xmlns:a="http://schemas.openxmlformats.org/drawingml/2006/main">
              <a:ext uri="{FF2B5EF4-FFF2-40B4-BE49-F238E27FC236}">
                <a16:creationId xmlns:a16="http://schemas.microsoft.com/office/drawing/2014/main" id="{0ECEE70B-EFD1-4393-B6FC-2A120D0FBFE3}"/>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Pekerjaan dan bahaya utama.</a:t>
            </a:r>
          </a:p>
        </p:txBody>
      </p:sp>
      <p:sp>
        <p:nvSpPr>
          <p:cNvPr id="4" name="">
            <a:extLst xmlns:a="http://schemas.openxmlformats.org/drawingml/2006/main">
              <a:ext uri="{FF2B5EF4-FFF2-40B4-BE49-F238E27FC236}">
                <a16:creationId xmlns:a16="http://schemas.microsoft.com/office/drawing/2014/main" id="{801F1809-68F5-4BF3-8456-E8F1FE78E85F}"/>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Kendali yang telah diperiksa serta pembagian peran.</a:t>
            </a:r>
          </a:p>
        </p:txBody>
      </p:sp>
      <p:sp>
        <p:nvSpPr>
          <p:cNvPr id="5" name="">
            <a:extLst xmlns:a="http://schemas.openxmlformats.org/drawingml/2006/main">
              <a:ext uri="{FF2B5EF4-FFF2-40B4-BE49-F238E27FC236}">
                <a16:creationId xmlns:a16="http://schemas.microsoft.com/office/drawing/2014/main" id="{91101DC7-A055-4B07-8998-11FC9D9CCFC7}"/>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Cara konfirmasi, kondisi berhenti, dan cara meminta bantuan.</a:t>
            </a:r>
          </a:p>
        </p:txBody>
      </p:sp>
      <p:sp>
        <p:nvSpPr>
          <p:cNvPr id="6" name="">
            <a:extLst xmlns:a="http://schemas.openxmlformats.org/drawingml/2006/main">
              <a:ext uri="{FF2B5EF4-FFF2-40B4-BE49-F238E27FC236}">
                <a16:creationId xmlns:a16="http://schemas.microsoft.com/office/drawing/2014/main" id="{A1C2EC84-130F-4C69-A923-AF5512CA2FAF}"/>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67C53144-762F-473A-8587-3B097E1B2430}"/>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25 / 28</a:t>
            </a:r>
          </a:p>
        </p:txBody>
      </p:sp>
    </p:spTree>
    <p:extLst>
      <p:ext uri="{BB962C8B-B14F-4D97-AF65-F5344CB8AC3E}">
        <p14:creationId xmlns:p14="http://schemas.microsoft.com/office/powerpoint/2010/main" val="1871302743"/>
      </p:ext>
    </p:extLst>
  </p:cSld>
</p:sld>
</file>

<file path=ppt/slides/slide26.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C67E08-303F-4C88-861C-5B300C2CA65D}"/>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0A090490-A8CF-4ED3-83EA-C245CA31D635}"/>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Exit ticket individu</a:t>
            </a:r>
          </a:p>
        </p:txBody>
      </p:sp>
      <p:sp>
        <p:nvSpPr>
          <p:cNvPr id="3" name="">
            <a:extLst xmlns:a="http://schemas.openxmlformats.org/drawingml/2006/main">
              <a:ext uri="{FF2B5EF4-FFF2-40B4-BE49-F238E27FC236}">
                <a16:creationId xmlns:a16="http://schemas.microsoft.com/office/drawing/2014/main" id="{371F4E52-D00D-40BB-91A6-AAB951342E6A}"/>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Mengapa tidur lima jam tidak dijadikan target rutin?</a:t>
            </a:r>
          </a:p>
        </p:txBody>
      </p:sp>
      <p:sp>
        <p:nvSpPr>
          <p:cNvPr id="4" name="">
            <a:extLst xmlns:a="http://schemas.openxmlformats.org/drawingml/2006/main">
              <a:ext uri="{FF2B5EF4-FFF2-40B4-BE49-F238E27FC236}">
                <a16:creationId xmlns:a16="http://schemas.microsoft.com/office/drawing/2014/main" id="{BF5CAFC8-E9B2-4B1E-A931-80D08B64BB4C}"/>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Apa kendali dan verifikasi ketika radio gagal?</a:t>
            </a:r>
          </a:p>
        </p:txBody>
      </p:sp>
      <p:sp>
        <p:nvSpPr>
          <p:cNvPr id="5" name="">
            <a:extLst xmlns:a="http://schemas.openxmlformats.org/drawingml/2006/main">
              <a:ext uri="{FF2B5EF4-FFF2-40B4-BE49-F238E27FC236}">
                <a16:creationId xmlns:a16="http://schemas.microsoft.com/office/drawing/2014/main" id="{468B3B58-3152-40D7-B8B0-E06562740370}"/>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Sebut satu kondisi berhenti serta syarat mulai kembali.</a:t>
            </a:r>
          </a:p>
        </p:txBody>
      </p:sp>
      <p:sp>
        <p:nvSpPr>
          <p:cNvPr id="6" name="">
            <a:extLst xmlns:a="http://schemas.openxmlformats.org/drawingml/2006/main">
              <a:ext uri="{FF2B5EF4-FFF2-40B4-BE49-F238E27FC236}">
                <a16:creationId xmlns:a16="http://schemas.microsoft.com/office/drawing/2014/main" id="{AC77A361-62E5-419B-80A4-D3E1B7C1AF74}"/>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59118F3C-45C1-4B88-ACF3-E1E7112A8483}"/>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26 / 28</a:t>
            </a:r>
          </a:p>
        </p:txBody>
      </p:sp>
    </p:spTree>
    <p:extLst>
      <p:ext uri="{BB962C8B-B14F-4D97-AF65-F5344CB8AC3E}">
        <p14:creationId xmlns:p14="http://schemas.microsoft.com/office/powerpoint/2010/main" val="1374721297"/>
      </p:ext>
    </p:extLst>
  </p:cSld>
</p:sld>
</file>

<file path=ppt/slides/slide27.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8A6F7D-B47F-4D19-9217-97817F9520CB}"/>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F39C125A-CE95-4FBF-BC43-5515D0255BD5}"/>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Tugas dan asesmen</a:t>
            </a:r>
          </a:p>
        </p:txBody>
      </p:sp>
      <p:sp>
        <p:nvSpPr>
          <p:cNvPr id="3" name="">
            <a:extLst xmlns:a="http://schemas.openxmlformats.org/drawingml/2006/main">
              <a:ext uri="{FF2B5EF4-FFF2-40B4-BE49-F238E27FC236}">
                <a16:creationId xmlns:a16="http://schemas.microsoft.com/office/drawing/2014/main" id="{8D687FB6-6798-4822-95DF-710F2AE34064}"/>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Sempurnakan JSA satu halaman dengan PIC dan bukti verifikasi.</a:t>
            </a:r>
          </a:p>
        </p:txBody>
      </p:sp>
      <p:sp>
        <p:nvSpPr>
          <p:cNvPr id="4" name="">
            <a:extLst xmlns:a="http://schemas.openxmlformats.org/drawingml/2006/main">
              <a:ext uri="{FF2B5EF4-FFF2-40B4-BE49-F238E27FC236}">
                <a16:creationId xmlns:a16="http://schemas.microsoft.com/office/drawing/2014/main" id="{A308F7A7-E4AE-4DF6-9D0F-A32EE395CFC2}"/>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Tambahkan rencana pemulihan serta perjalanan pulang.</a:t>
            </a:r>
          </a:p>
        </p:txBody>
      </p:sp>
      <p:sp>
        <p:nvSpPr>
          <p:cNvPr id="5" name="">
            <a:extLst xmlns:a="http://schemas.openxmlformats.org/drawingml/2006/main">
              <a:ext uri="{FF2B5EF4-FFF2-40B4-BE49-F238E27FC236}">
                <a16:creationId xmlns:a16="http://schemas.microsoft.com/office/drawing/2014/main" id="{6ECD155C-76B9-45E2-9E5F-524BD065099D}"/>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Jelaskan satu keputusan secara langsung pada kelas berikutnya.</a:t>
            </a:r>
          </a:p>
        </p:txBody>
      </p:sp>
      <p:sp>
        <p:nvSpPr>
          <p:cNvPr id="6" name="">
            <a:extLst xmlns:a="http://schemas.openxmlformats.org/drawingml/2006/main">
              <a:ext uri="{FF2B5EF4-FFF2-40B4-BE49-F238E27FC236}">
                <a16:creationId xmlns:a16="http://schemas.microsoft.com/office/drawing/2014/main" id="{4BE6743F-17D7-47BE-AD11-B71E39A4A67F}"/>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7CF82064-2BF6-422A-873B-BCA59EC73D34}"/>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27 / 28</a:t>
            </a:r>
          </a:p>
        </p:txBody>
      </p:sp>
    </p:spTree>
    <p:extLst>
      <p:ext uri="{BB962C8B-B14F-4D97-AF65-F5344CB8AC3E}">
        <p14:creationId xmlns:p14="http://schemas.microsoft.com/office/powerpoint/2010/main" val="1870109089"/>
      </p:ext>
    </p:extLst>
  </p:cSld>
</p:sld>
</file>

<file path=ppt/slides/slide28.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5D9E73-BCDA-4A57-A84A-A9ED2550F01E}"/>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3</a:t>
            </a:r>
          </a:p>
        </p:txBody>
      </p:sp>
      <p:sp>
        <p:nvSpPr>
          <p:cNvPr id="2" name="">
            <a:extLst xmlns:a="http://schemas.openxmlformats.org/drawingml/2006/main">
              <a:ext uri="{FF2B5EF4-FFF2-40B4-BE49-F238E27FC236}">
                <a16:creationId xmlns:a16="http://schemas.microsoft.com/office/drawing/2014/main" id="{9E3A68EA-66D4-495E-A440-E3934CBBAD83}"/>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Referensi dan acuan lapangan</a:t>
            </a:r>
          </a:p>
        </p:txBody>
      </p:sp>
      <p:sp>
        <p:nvSpPr>
          <p:cNvPr id="3" name="">
            <a:extLst xmlns:a="http://schemas.openxmlformats.org/drawingml/2006/main">
              <a:ext uri="{FF2B5EF4-FFF2-40B4-BE49-F238E27FC236}">
                <a16:creationId xmlns:a16="http://schemas.microsoft.com/office/drawing/2014/main" id="{74BA0863-9BB8-4CA3-B9EE-8DB279893415}"/>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CDC dan NHLBI: tidur serta tahap tidur.</a:t>
            </a:r>
          </a:p>
        </p:txBody>
      </p:sp>
      <p:sp>
        <p:nvSpPr>
          <p:cNvPr id="4" name="">
            <a:extLst xmlns:a="http://schemas.openxmlformats.org/drawingml/2006/main">
              <a:ext uri="{FF2B5EF4-FFF2-40B4-BE49-F238E27FC236}">
                <a16:creationId xmlns:a16="http://schemas.microsoft.com/office/drawing/2014/main" id="{A73BF42D-62C2-43CF-8068-105FC2989A0F}"/>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NIOSH: kelelahan, panas, dan aklimatisasi.</a:t>
            </a:r>
          </a:p>
        </p:txBody>
      </p:sp>
      <p:sp>
        <p:nvSpPr>
          <p:cNvPr id="5" name="">
            <a:extLst xmlns:a="http://schemas.openxmlformats.org/drawingml/2006/main">
              <a:ext uri="{FF2B5EF4-FFF2-40B4-BE49-F238E27FC236}">
                <a16:creationId xmlns:a16="http://schemas.microsoft.com/office/drawing/2014/main" id="{16231A3E-07D1-4546-8083-9CB8B770FF8F}"/>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OSHA: JSA dan hierarki pengendalian.</a:t>
            </a:r>
          </a:p>
        </p:txBody>
      </p:sp>
      <p:sp>
        <p:nvSpPr>
          <p:cNvPr id="6" name="">
            <a:extLst xmlns:a="http://schemas.openxmlformats.org/drawingml/2006/main">
              <a:ext uri="{FF2B5EF4-FFF2-40B4-BE49-F238E27FC236}">
                <a16:creationId xmlns:a16="http://schemas.microsoft.com/office/drawing/2014/main" id="{107ED90A-4551-4C57-90C5-8A474A2D2171}"/>
              </a:ext>
            </a:extLst>
          </p:cNvPr>
          <p:cNvSpPr>
            <a:spLocks xmlns:a="http://schemas.openxmlformats.org/drawingml/2006/main" noGrp="1"/>
          </p:cNvSpPr>
          <p:nvPr/>
        </p:nvSpPr>
        <p:spPr>
          <a:xfrm xmlns:a="http://schemas.openxmlformats.org/drawingml/2006/main">
            <a:off x="762000" y="5895975"/>
            <a:ext cx="1047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CDC · NHLBI · NIOSH · OSHA · sumber pada catatan</a:t>
            </a:r>
          </a:p>
        </p:txBody>
      </p:sp>
      <p:sp>
        <p:nvSpPr>
          <p:cNvPr id="7" name="">
            <a:extLst xmlns:a="http://schemas.openxmlformats.org/drawingml/2006/main">
              <a:ext uri="{FF2B5EF4-FFF2-40B4-BE49-F238E27FC236}">
                <a16:creationId xmlns:a16="http://schemas.microsoft.com/office/drawing/2014/main" id="{C027CC0D-FA34-4752-99C2-C78260EFDE76}"/>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8" name="">
            <a:extLst xmlns:a="http://schemas.openxmlformats.org/drawingml/2006/main">
              <a:ext uri="{FF2B5EF4-FFF2-40B4-BE49-F238E27FC236}">
                <a16:creationId xmlns:a16="http://schemas.microsoft.com/office/drawing/2014/main" id="{9C07A710-BE5F-49CA-849B-2DEDD2CB3CCB}"/>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28 / 28</a:t>
            </a:r>
          </a:p>
        </p:txBody>
      </p:sp>
    </p:spTree>
    <p:extLst>
      <p:ext uri="{BB962C8B-B14F-4D97-AF65-F5344CB8AC3E}">
        <p14:creationId xmlns:p14="http://schemas.microsoft.com/office/powerpoint/2010/main" val="17086865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2026-10-27T23:18:56.6340000Z</dcterms:created>
  <dcterms:modified xsi:type="dcterms:W3CDTF">2026-10-27T23:18:56.6340000Z</dcterms:modified>
</coreProperties>
</file>