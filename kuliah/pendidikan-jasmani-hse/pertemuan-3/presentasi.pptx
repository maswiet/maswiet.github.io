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241747beda6420e" /><Relationship Type="http://schemas.openxmlformats.org/officeDocument/2006/relationships/extended-properties" Target="/docProps/app.xml" Id="R1f2e3380c09c43f6" /><Relationship Type="http://schemas.openxmlformats.org/officeDocument/2006/relationships/officeDocument" Target="/ppt/presentation.xml" Id="R5f179385b9324d47" /></Relationships>
</file>

<file path=ppt/presentation.xml><?xml version="1.0" encoding="utf-8"?>
<p:presentation xmlns:p="http://schemas.openxmlformats.org/presentationml/2006/main">
  <p:sldMasterIdLst>
    <p:sldMasterId xmlns:r="http://schemas.openxmlformats.org/officeDocument/2006/relationships" id="2147483648" r:id="Rf600993c52f54ea9"/>
  </p:sldMasterIdLst>
  <p:notesMasterIdLst>
    <p:notesMasterId xmlns:r="http://schemas.openxmlformats.org/officeDocument/2006/relationships" r:id="R80518835138b4196"/>
  </p:notesMasterIdLst>
  <p:sldIdLst>
    <p:sldId xmlns:r="http://schemas.openxmlformats.org/officeDocument/2006/relationships" id="256" r:id="R37ec916b60bc4d90"/>
    <p:sldId xmlns:r="http://schemas.openxmlformats.org/officeDocument/2006/relationships" id="257" r:id="R72c00dddae704efb"/>
    <p:sldId xmlns:r="http://schemas.openxmlformats.org/officeDocument/2006/relationships" id="258" r:id="R5b7ea9741b284c4c"/>
    <p:sldId xmlns:r="http://schemas.openxmlformats.org/officeDocument/2006/relationships" id="259" r:id="R3a95479d1433416d"/>
    <p:sldId xmlns:r="http://schemas.openxmlformats.org/officeDocument/2006/relationships" id="260" r:id="R2191dae3156b4c4a"/>
    <p:sldId xmlns:r="http://schemas.openxmlformats.org/officeDocument/2006/relationships" id="261" r:id="Ra89eeac07fff4792"/>
    <p:sldId xmlns:r="http://schemas.openxmlformats.org/officeDocument/2006/relationships" id="262" r:id="R0d610fedfc2243e8"/>
    <p:sldId xmlns:r="http://schemas.openxmlformats.org/officeDocument/2006/relationships" id="263" r:id="Rbfef4b299fa84f3c"/>
    <p:sldId xmlns:r="http://schemas.openxmlformats.org/officeDocument/2006/relationships" id="264" r:id="R94acfd87a9fb4430"/>
    <p:sldId xmlns:r="http://schemas.openxmlformats.org/officeDocument/2006/relationships" id="265" r:id="R548974d993b54854"/>
    <p:sldId xmlns:r="http://schemas.openxmlformats.org/officeDocument/2006/relationships" id="266" r:id="R42affb6ca3754054"/>
    <p:sldId xmlns:r="http://schemas.openxmlformats.org/officeDocument/2006/relationships" id="267" r:id="R069c94db8f1e464d"/>
    <p:sldId xmlns:r="http://schemas.openxmlformats.org/officeDocument/2006/relationships" id="268" r:id="Rbc71e798a0ec4842"/>
    <p:sldId xmlns:r="http://schemas.openxmlformats.org/officeDocument/2006/relationships" id="269" r:id="R6333bd809d1e4eab"/>
    <p:sldId xmlns:r="http://schemas.openxmlformats.org/officeDocument/2006/relationships" id="270" r:id="R7937719f1fe646b1"/>
    <p:sldId xmlns:r="http://schemas.openxmlformats.org/officeDocument/2006/relationships" id="271" r:id="Rf8bbc5b1aef04ff2"/>
    <p:sldId xmlns:r="http://schemas.openxmlformats.org/officeDocument/2006/relationships" id="272" r:id="R51808162083c4369"/>
    <p:sldId xmlns:r="http://schemas.openxmlformats.org/officeDocument/2006/relationships" id="273" r:id="R6b990589f4214c77"/>
    <p:sldId xmlns:r="http://schemas.openxmlformats.org/officeDocument/2006/relationships" id="274" r:id="R86a13359063245d5"/>
    <p:sldId xmlns:r="http://schemas.openxmlformats.org/officeDocument/2006/relationships" id="275" r:id="Rf429d76d734e4604"/>
    <p:sldId xmlns:r="http://schemas.openxmlformats.org/officeDocument/2006/relationships" id="276" r:id="R0df5810bc2dd4391"/>
    <p:sldId xmlns:r="http://schemas.openxmlformats.org/officeDocument/2006/relationships" id="277" r:id="Refdc8fa8f9274186"/>
    <p:sldId xmlns:r="http://schemas.openxmlformats.org/officeDocument/2006/relationships" id="278" r:id="R031ff31b3c3f48b4"/>
    <p:sldId xmlns:r="http://schemas.openxmlformats.org/officeDocument/2006/relationships" id="279" r:id="R7e46d43f2c244ac2"/>
    <p:sldId xmlns:r="http://schemas.openxmlformats.org/officeDocument/2006/relationships" id="280" r:id="Ree941db5c58343df"/>
    <p:sldId xmlns:r="http://schemas.openxmlformats.org/officeDocument/2006/relationships" id="281" r:id="R8215b88db91f4147"/>
    <p:sldId xmlns:r="http://schemas.openxmlformats.org/officeDocument/2006/relationships" id="282" r:id="Reec96e4c2be341cd"/>
    <p:sldId xmlns:r="http://schemas.openxmlformats.org/officeDocument/2006/relationships" id="283" r:id="R188f0b95861248f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079025fcb4c43a7" /><Relationship Type="http://schemas.openxmlformats.org/officeDocument/2006/relationships/slideMaster" Target="/ppt/slideMasters/slideMaster1.xml" Id="Rf600993c52f54ea9" /><Relationship Type="http://schemas.openxmlformats.org/officeDocument/2006/relationships/notesMaster" Target="/ppt/notesMasters/notesMaster1.xml" Id="R80518835138b4196" /><Relationship Type="http://schemas.openxmlformats.org/officeDocument/2006/relationships/presProps" Target="/ppt/presProps.xml" Id="Rf147e0483b8d4a59" /><Relationship Type="http://schemas.openxmlformats.org/officeDocument/2006/relationships/tableStyles" Target="/ppt/tableStyles.xml" Id="Rdd8aa147e7bc4ee8" /><Relationship Type="http://schemas.openxmlformats.org/officeDocument/2006/relationships/slide" Target="/ppt/slides/slide1.xml" Id="R37ec916b60bc4d90" /><Relationship Type="http://schemas.openxmlformats.org/officeDocument/2006/relationships/slide" Target="/ppt/slides/slide2.xml" Id="R72c00dddae704efb" /><Relationship Type="http://schemas.openxmlformats.org/officeDocument/2006/relationships/slide" Target="/ppt/slides/slide3.xml" Id="R5b7ea9741b284c4c" /><Relationship Type="http://schemas.openxmlformats.org/officeDocument/2006/relationships/slide" Target="/ppt/slides/slide4.xml" Id="R3a95479d1433416d" /><Relationship Type="http://schemas.openxmlformats.org/officeDocument/2006/relationships/slide" Target="/ppt/slides/slide5.xml" Id="R2191dae3156b4c4a" /><Relationship Type="http://schemas.openxmlformats.org/officeDocument/2006/relationships/slide" Target="/ppt/slides/slide6.xml" Id="Ra89eeac07fff4792" /><Relationship Type="http://schemas.openxmlformats.org/officeDocument/2006/relationships/slide" Target="/ppt/slides/slide7.xml" Id="R0d610fedfc2243e8" /><Relationship Type="http://schemas.openxmlformats.org/officeDocument/2006/relationships/slide" Target="/ppt/slides/slide8.xml" Id="Rbfef4b299fa84f3c" /><Relationship Type="http://schemas.openxmlformats.org/officeDocument/2006/relationships/slide" Target="/ppt/slides/slide9.xml" Id="R94acfd87a9fb4430" /><Relationship Type="http://schemas.openxmlformats.org/officeDocument/2006/relationships/slide" Target="/ppt/slides/slide10.xml" Id="R548974d993b54854" /><Relationship Type="http://schemas.openxmlformats.org/officeDocument/2006/relationships/slide" Target="/ppt/slides/slide11.xml" Id="R42affb6ca3754054" /><Relationship Type="http://schemas.openxmlformats.org/officeDocument/2006/relationships/slide" Target="/ppt/slides/slide12.xml" Id="R069c94db8f1e464d" /><Relationship Type="http://schemas.openxmlformats.org/officeDocument/2006/relationships/slide" Target="/ppt/slides/slide13.xml" Id="Rbc71e798a0ec4842" /><Relationship Type="http://schemas.openxmlformats.org/officeDocument/2006/relationships/slide" Target="/ppt/slides/slide14.xml" Id="R6333bd809d1e4eab" /><Relationship Type="http://schemas.openxmlformats.org/officeDocument/2006/relationships/slide" Target="/ppt/slides/slide15.xml" Id="R7937719f1fe646b1" /><Relationship Type="http://schemas.openxmlformats.org/officeDocument/2006/relationships/slide" Target="/ppt/slides/slide16.xml" Id="Rf8bbc5b1aef04ff2" /><Relationship Type="http://schemas.openxmlformats.org/officeDocument/2006/relationships/slide" Target="/ppt/slides/slide17.xml" Id="R51808162083c4369" /><Relationship Type="http://schemas.openxmlformats.org/officeDocument/2006/relationships/slide" Target="/ppt/slides/slide18.xml" Id="R6b990589f4214c77" /><Relationship Type="http://schemas.openxmlformats.org/officeDocument/2006/relationships/slide" Target="/ppt/slides/slide19.xml" Id="R86a13359063245d5" /><Relationship Type="http://schemas.openxmlformats.org/officeDocument/2006/relationships/slide" Target="/ppt/slides/slide20.xml" Id="Rf429d76d734e4604" /><Relationship Type="http://schemas.openxmlformats.org/officeDocument/2006/relationships/slide" Target="/ppt/slides/slide21.xml" Id="R0df5810bc2dd4391" /><Relationship Type="http://schemas.openxmlformats.org/officeDocument/2006/relationships/slide" Target="/ppt/slides/slide22.xml" Id="Refdc8fa8f9274186" /><Relationship Type="http://schemas.openxmlformats.org/officeDocument/2006/relationships/slide" Target="/ppt/slides/slide23.xml" Id="R031ff31b3c3f48b4" /><Relationship Type="http://schemas.openxmlformats.org/officeDocument/2006/relationships/slide" Target="/ppt/slides/slide24.xml" Id="R7e46d43f2c244ac2" /><Relationship Type="http://schemas.openxmlformats.org/officeDocument/2006/relationships/slide" Target="/ppt/slides/slide25.xml" Id="Ree941db5c58343df" /><Relationship Type="http://schemas.openxmlformats.org/officeDocument/2006/relationships/slide" Target="/ppt/slides/slide26.xml" Id="R8215b88db91f4147" /><Relationship Type="http://schemas.openxmlformats.org/officeDocument/2006/relationships/slide" Target="/ppt/slides/slide27.xml" Id="Reec96e4c2be341cd" /><Relationship Type="http://schemas.openxmlformats.org/officeDocument/2006/relationships/slide" Target="/ppt/slides/slide28.xml" Id="R188f0b95861248f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1a19eca660442b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c0099a93c7d24dcc" /><Relationship Type="http://schemas.openxmlformats.org/officeDocument/2006/relationships/notesMaster" Target="/ppt/notesMasters/notesMaster1.xml" Id="R1dad20c85e6e466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13d2388ce84b96" /><Relationship Type="http://schemas.openxmlformats.org/officeDocument/2006/relationships/notesMaster" Target="/ppt/notesMasters/notesMaster1.xml" Id="Rd04e38cc1da9479c" /></Relationships>
</file>

<file path=ppt/notesSlides/_rels/notesSlide3.xml.rels>&#65279;<?xml version="1.0" encoding="utf-8"?><Relationships xmlns="http://schemas.openxmlformats.org/package/2006/relationships"><Relationship Type="http://schemas.openxmlformats.org/officeDocument/2006/relationships/slide" Target="/ppt/slides/slide3.xml" Id="Ra1d72dc5484b49b8" /><Relationship Type="http://schemas.openxmlformats.org/officeDocument/2006/relationships/notesMaster" Target="/ppt/notesMasters/notesMaster1.xml" Id="R8696ae2cac6f4cd9" /></Relationships>
</file>

<file path=ppt/notesSlides/_rels/notesSlide4.xml.rels>&#65279;<?xml version="1.0" encoding="utf-8"?><Relationships xmlns="http://schemas.openxmlformats.org/package/2006/relationships"><Relationship Type="http://schemas.openxmlformats.org/officeDocument/2006/relationships/slide" Target="/ppt/slides/slide4.xml" Id="Rb468ecdfa4524917" /><Relationship Type="http://schemas.openxmlformats.org/officeDocument/2006/relationships/notesMaster" Target="/ppt/notesMasters/notesMaster1.xml" Id="Rf9ee1f08d950491d" /></Relationships>
</file>

<file path=ppt/notesSlides/_rels/notesSlide5.xml.rels>&#65279;<?xml version="1.0" encoding="utf-8"?><Relationships xmlns="http://schemas.openxmlformats.org/package/2006/relationships"><Relationship Type="http://schemas.openxmlformats.org/officeDocument/2006/relationships/slide" Target="/ppt/slides/slide5.xml" Id="R637786d21bdf4177" /><Relationship Type="http://schemas.openxmlformats.org/officeDocument/2006/relationships/notesMaster" Target="/ppt/notesMasters/notesMaster1.xml" Id="R35827367adc947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5f85463caca4abe" /><Relationship Type="http://schemas.openxmlformats.org/officeDocument/2006/relationships/notesMaster" Target="/ppt/notesMasters/notesMaster1.xml" Id="Raf86928fc4fb422d" /></Relationships>
</file>

<file path=ppt/notesSlides/_rels/notesSlide7.xml.rels>&#65279;<?xml version="1.0" encoding="utf-8"?><Relationships xmlns="http://schemas.openxmlformats.org/package/2006/relationships"><Relationship Type="http://schemas.openxmlformats.org/officeDocument/2006/relationships/slide" Target="/ppt/slides/slide7.xml" Id="Racdf78d5f7804c44" /><Relationship Type="http://schemas.openxmlformats.org/officeDocument/2006/relationships/notesMaster" Target="/ppt/notesMasters/notesMaster1.xml" Id="R39e92f14d9e441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e5e1cc49dfbb4fd9" /><Relationship Type="http://schemas.openxmlformats.org/officeDocument/2006/relationships/notesMaster" Target="/ppt/notesMasters/notesMaster1.xml" Id="R39887f5d640741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a7189f55f0214a0a" /><Relationship Type="http://schemas.openxmlformats.org/officeDocument/2006/relationships/notesMaster" Target="/ppt/notesMasters/notesMaster1.xml" Id="R7875ddecda7846b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e9a6c530b2344a7" /><Relationship Type="http://schemas.openxmlformats.org/officeDocument/2006/relationships/notesMaster" Target="/ppt/notesMasters/notesMaster1.xml" Id="R12743346accf4743"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2660b4e24be4097" /><Relationship Type="http://schemas.openxmlformats.org/officeDocument/2006/relationships/notesMaster" Target="/ppt/notesMasters/notesMaster1.xml" Id="R11904db9c022468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74cef447e85483c" /><Relationship Type="http://schemas.openxmlformats.org/officeDocument/2006/relationships/notesMaster" Target="/ppt/notesMasters/notesMaster1.xml" Id="R4e18b4b0e5064ea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fee68d47acd41dc" /><Relationship Type="http://schemas.openxmlformats.org/officeDocument/2006/relationships/notesMaster" Target="/ppt/notesMasters/notesMaster1.xml" Id="R193cc9bae5494c3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6de8d6fe007143f2" /><Relationship Type="http://schemas.openxmlformats.org/officeDocument/2006/relationships/notesMaster" Target="/ppt/notesMasters/notesMaster1.xml" Id="Rac44884a79bd45cc"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40ec20156cb34d96" /><Relationship Type="http://schemas.openxmlformats.org/officeDocument/2006/relationships/notesMaster" Target="/ppt/notesMasters/notesMaster1.xml" Id="Rfe4fdb069e4648f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c7ef0a0252a9402f" /><Relationship Type="http://schemas.openxmlformats.org/officeDocument/2006/relationships/notesMaster" Target="/ppt/notesMasters/notesMaster1.xml" Id="R0b669c02d04944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20f732b727bd4495" /><Relationship Type="http://schemas.openxmlformats.org/officeDocument/2006/relationships/notesMaster" Target="/ppt/notesMasters/notesMaster1.xml" Id="Raa60df6a0ada4503"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0b1163f3ff994331" /><Relationship Type="http://schemas.openxmlformats.org/officeDocument/2006/relationships/notesMaster" Target="/ppt/notesMasters/notesMaster1.xml" Id="R9d1ab30e9ebb4c5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315028176e68478a" /><Relationship Type="http://schemas.openxmlformats.org/officeDocument/2006/relationships/notesMaster" Target="/ppt/notesMasters/notesMaster1.xml" Id="R23994646d58343a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974be12b6a63442d" /><Relationship Type="http://schemas.openxmlformats.org/officeDocument/2006/relationships/notesMaster" Target="/ppt/notesMasters/notesMaster1.xml" Id="Rd0578121fac8410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5f0f9660f444ae2" /><Relationship Type="http://schemas.openxmlformats.org/officeDocument/2006/relationships/notesMaster" Target="/ppt/notesMasters/notesMaster1.xml" Id="R6a28b2842c124947"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fc8c03b0f002419d" /><Relationship Type="http://schemas.openxmlformats.org/officeDocument/2006/relationships/notesMaster" Target="/ppt/notesMasters/notesMaster1.xml" Id="R2988fb22304a427f"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b586025ea6814241" /><Relationship Type="http://schemas.openxmlformats.org/officeDocument/2006/relationships/notesMaster" Target="/ppt/notesMasters/notesMaster1.xml" Id="R1b579f8751a34ecf"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331888005b74bee" /><Relationship Type="http://schemas.openxmlformats.org/officeDocument/2006/relationships/notesMaster" Target="/ppt/notesMasters/notesMaster1.xml" Id="R6898cc4c8dfb470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88c707b79ade436a" /><Relationship Type="http://schemas.openxmlformats.org/officeDocument/2006/relationships/notesMaster" Target="/ppt/notesMasters/notesMaster1.xml" Id="Rca3064f91d6042e5"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75204fe82208491c" /><Relationship Type="http://schemas.openxmlformats.org/officeDocument/2006/relationships/notesMaster" Target="/ppt/notesMasters/notesMaster1.xml" Id="R2870f3a7b34e4fc0"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833af3d140bd4112" /><Relationship Type="http://schemas.openxmlformats.org/officeDocument/2006/relationships/notesMaster" Target="/ppt/notesMasters/notesMaster1.xml" Id="R3c9207a43e364b09"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9497903d77d84857" /><Relationship Type="http://schemas.openxmlformats.org/officeDocument/2006/relationships/notesMaster" Target="/ppt/notesMasters/notesMaster1.xml" Id="R4774963836b643d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 menit. Minta mahasiswa membuka profil pekerjaan hasil pertemuan kedua. Hari ini profil itu diubah menjadi keputusan tim yang dapat diverifikasi.</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2–6 menit. Kasus simulasi, bukan laporan kejadian nyata. Gali waktu bangun, tidur sebelumnya, durasi tugas, pengemudi, transportasi alternatif, tempat menginap, dan tekanan target. Jangan meminta riwayat pribadi.</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6–10 menit. Hubungkan dengan fisiologi dan ergonomi pertemuan kedua. Bukti belajar: JSA kelompok, penjelasan individu, dan exit ticket.</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10–13 menit. ODP slide 26–42 dan 55–59. Bahas kelelahan sebagai risiko sistem kerja bersama, tanpa menyalahkan kemauan pekerja. Merasa termotivasi tidak membuktikan kinerja bebas kelelahan.</a:t>
            </a:r>
          </a:p>
          <a:p xmlns:a="http://schemas.openxmlformats.org/drawingml/2006/main">
            <a:r>
              <a:t/>
            </a:r>
          </a:p>
          <a:p xmlns:a="http://schemas.openxmlformats.org/drawingml/2006/main">
            <a:r>
              <a:t>NIOSH — Fatigue and Work (2026): https://www.cdc.gov/niosh/fatigue/about/index.html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13–16 menit. ODP slide 27–31. Jam dan besarnya perubahan suhu/denyut bervariasi antarorang. Hindari jam puncak tunggal yang dianggap berlaku bagi semua. Tidak perlu menggeneralisasi seluruh hormon atau siklus menstruasi menjadi 28 hari pasti.</a:t>
            </a:r>
          </a:p>
          <a:p xmlns:a="http://schemas.openxmlformats.org/drawingml/2006/main">
            <a:r>
              <a:t/>
            </a:r>
          </a:p>
          <a:p xmlns:a="http://schemas.openxmlformats.org/drawingml/2006/main">
            <a:r>
              <a:t>NHLBI — Your Sleep/Wake Cycle: https://www.nhlbi.nih.gov/health/sleep/sleep-wake-cycle</a:t>
            </a:r>
          </a:p>
          <a:p xmlns:a="http://schemas.openxmlformats.org/drawingml/2006/main">
            <a:r>
              <a:t>NIOSH — Fatigue and Work (2026): https://www.cdc.gov/niosh/fatigue/about/index.html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16–19 menit. Memperbarui tabel ODP slide 32–34 yang menggunakan pembagian lama. Tidur mencakup NREM dan REM. Detail amplitudo EEG tidak diperlukan untuk keputusan HSE dasar; sumber lama juga mencampur simbol mikrovolt dengan mV.</a:t>
            </a:r>
          </a:p>
          <a:p xmlns:a="http://schemas.openxmlformats.org/drawingml/2006/main">
            <a:r>
              <a:t/>
            </a:r>
          </a:p>
          <a:p xmlns:a="http://schemas.openxmlformats.org/drawingml/2006/main">
            <a:r>
              <a:t>NHLBI — Sleep Phases and Stages: https://www.nhlbi.nih.gov/health/sleep/stages-of-sleep</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19–22 menit. Mengoreksi ODP slide 35. Angka rekomendasi populasi bukan sertifikasi layak mengemudi atau bekerja. Mahasiswa dengan masalah tidur berulang dapat berkonsultasi dengan tenaga kesehatan tanpa perlu mengumumkan kondisi kepada kelas.</a:t>
            </a:r>
          </a:p>
          <a:p xmlns:a="http://schemas.openxmlformats.org/drawingml/2006/main">
            <a:r>
              <a:t/>
            </a:r>
          </a:p>
          <a:p xmlns:a="http://schemas.openxmlformats.org/drawingml/2006/main">
            <a:r>
              <a:t>CDC — About Sleep: https://www.cdc.gov/sleep/about/index.html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22–25 menit. Contoh pedagogis diturunkan dari dampak kelelahan pada perhatian dan ingatan; bukan statistik kejadian. Minta mahasiswa mengusulkan satu lapisan pengendalian untuk tiap contoh.</a:t>
            </a:r>
          </a:p>
          <a:p xmlns:a="http://schemas.openxmlformats.org/drawingml/2006/main">
            <a:r>
              <a:t/>
            </a:r>
          </a:p>
          <a:p xmlns:a="http://schemas.openxmlformats.org/drawingml/2006/main">
            <a:r>
              <a:t>NIOSH — Fatigue and Work (2026): https://www.cdc.gov/niosh/fatigue/about/index.html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25–28 menit. Hindari menjadikan laporan diri sebagai satu-satunya pengendalian. Tanggung jawab ketua tim mencakup kapasitas personel dan transportasi. Data kesehatan disampaikan seperlunya kepada penanggung jawab yang tepat.</a:t>
            </a:r>
          </a:p>
          <a:p xmlns:a="http://schemas.openxmlformats.org/drawingml/2006/main">
            <a:r>
              <a:t/>
            </a:r>
          </a:p>
          <a:p xmlns:a="http://schemas.openxmlformats.org/drawingml/2006/main">
            <a:r>
              <a:t>NIOSH — Fatigue and Work (2026): https://www.cdc.gov/niosh/fatigue/about/index.html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28–30 menit. Kasus pukul 23.00. Tidak menghitung batas aman dari waktu akuisisi saja. Rencana perlu mencakup pengemudi yang layak, opsi menginap, serta waktu cadangan.</a:t>
            </a:r>
          </a:p>
          <a:p xmlns:a="http://schemas.openxmlformats.org/drawingml/2006/main">
            <a:r>
              <a:t/>
            </a:r>
          </a:p>
          <a:p xmlns:a="http://schemas.openxmlformats.org/drawingml/2006/main">
            <a:r>
              <a:t>NIOSH — Basic Information about Sleep and Fatigue: https://archive.cdc.gov/www_cdc_gov/niosh/emres/longhourstraining/sleepfatigue.html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30–33 menit. Contoh konteks geofisika, bukan klaim bahwa mikrotremor selalu harus malam. Jadwal shift dipilih melalui penilaian risiko; anjuran rotasi lama dalam ODP tidak diperlakukan sebagai satu resep terbaik.</a:t>
            </a:r>
          </a:p>
          <a:p xmlns:a="http://schemas.openxmlformats.org/drawingml/2006/main">
            <a:r>
              <a:t/>
            </a:r>
          </a:p>
          <a:p xmlns:a="http://schemas.openxmlformats.org/drawingml/2006/main">
            <a:r>
              <a:t>NIOSH — Fatigue and Work (2026): https://www.cdc.gov/niosh/fatigue/about/index.html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33–35 menit. Hubungkan metabolisme pertemuan kedua dengan kerja di lapangan. Jadwal kerja-istirahat dipengaruhi kondisi lingkungan, tuntutan tugas, APD, dan aklimatisasi.</a:t>
            </a:r>
          </a:p>
          <a:p xmlns:a="http://schemas.openxmlformats.org/drawingml/2006/main">
            <a:r>
              <a:t/>
            </a:r>
          </a:p>
          <a:p xmlns:a="http://schemas.openxmlformats.org/drawingml/2006/main">
            <a:r>
              <a:t>NIOSH — Workplace Recommendations (2026): https://www.cdc.gov/niosh/heat-stress/recommendations/index.html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35–37 menit. Rekomendasi internasional untuk perencanaan, bukan ketentuan hukum Indonesia. Tahapan spesifik mengikuti kondisi lokasi dan penilaian petugas kompeten; dua hari latihan fisik bukan bukti aklimatisasi lengkap.</a:t>
            </a:r>
          </a:p>
          <a:p xmlns:a="http://schemas.openxmlformats.org/drawingml/2006/main">
            <a:r>
              <a:t/>
            </a:r>
          </a:p>
          <a:p xmlns:a="http://schemas.openxmlformats.org/drawingml/2006/main">
            <a:r>
              <a:t>NIOSH — Acclimatization: https://www.cdc.gov/niosh/heat-stress/recommendations/acclimatization.html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37–39 menit. Hindari satu rumus menit istirahat untuk semua situasi. Air, pendinginan, penyesuaian jadwal, dan supervisi bekerja bersama. Jangan memaksa volume minum seragam tanpa mempertimbangkan kondisi individu.</a:t>
            </a:r>
          </a:p>
          <a:p xmlns:a="http://schemas.openxmlformats.org/drawingml/2006/main">
            <a:r>
              <a:t/>
            </a:r>
          </a:p>
          <a:p xmlns:a="http://schemas.openxmlformats.org/drawingml/2006/main">
            <a:r>
              <a:t>NIOSH — Workplace Recommendations (2026): https://www.cdc.gov/niosh/heat-stress/recommendations/index.html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39–42 menit. Hubungi sistem darurat sesuai rencana lokasi, tanpa menyalin nomor 911 dari sumber AS. Pindahkan ke tempat sejuk jika aman, lepaskan lapisan luar berlebih dan lakukan pendinginan sesuai pelatihan sambil menunggu bantuan. Tidak perlu menunggu pembacaan suhu untuk mencari pertolongan.</a:t>
            </a:r>
          </a:p>
          <a:p xmlns:a="http://schemas.openxmlformats.org/drawingml/2006/main">
            <a:r>
              <a:t/>
            </a:r>
          </a:p>
          <a:p xmlns:a="http://schemas.openxmlformats.org/drawingml/2006/main">
            <a:r>
              <a:t>NIOSH — Heat-related Illnesses: https://www.cdc.gov/niosh/heat-stress/about/illnesses.html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42–45 menit. Gunakan profil pekerjaan tugas sebelumnya. Jadwal contoh bukan rasio istirahat baku. Rumus Tw dan TR dari ODP merupakan model dengan asumsi; tidak dipakai menetapkan istirahat operasional secara otomatis.</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45–48 menit. Pertahankan pembedaan dari topik kedua lama. Kelelahan adalah faktor yang dapat memengaruhi kendali, tidak otomatis menjadi penyebab tunggal. Rangkaian kejadian perlu dituliskan spesifik.</a:t>
            </a:r>
          </a:p>
          <a:p xmlns:a="http://schemas.openxmlformats.org/drawingml/2006/main">
            <a:r>
              <a:t/>
            </a:r>
          </a:p>
          <a:p xmlns:a="http://schemas.openxmlformats.org/drawingml/2006/main">
            <a:r>
              <a:t>OSHA — Job Hazard Analysis: https://www.osha.gov/sites/default/files/activities_safety_in_5_jha.pdf</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48–51 menit. JSA berarti Job Safety Analysis, sering disebut juga Job Hazard Analysis (JHA). Minta 4–6 langkah yang cukup rinci. Skor matriks risiko bila digunakan harus mengikuti definisi pertemuan pertama, disertai alasan. Skor rendah tidak mengesahkan kendali kritis yang belum terpenuhi.</a:t>
            </a:r>
          </a:p>
          <a:p xmlns:a="http://schemas.openxmlformats.org/drawingml/2006/main">
            <a:r>
              <a:t/>
            </a:r>
          </a:p>
          <a:p xmlns:a="http://schemas.openxmlformats.org/drawingml/2006/main">
            <a:r>
              <a:t>OSHA — Job Hazard Analysis: https://www.osha.gov/sites/default/files/activities_safety_in_5_jha.pdf</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51–54 menit. Jelaskan lima tingkat penuh: eliminasi, substitusi, rekayasa, administratif, dan APD. Menggabungkan dua tingkat pertama di tabel hanya untuk ringkas. Jangan menyebut briefing atau rotasi sebagai rekayasa.</a:t>
            </a:r>
          </a:p>
          <a:p xmlns:a="http://schemas.openxmlformats.org/drawingml/2006/main">
            <a:r>
              <a:t/>
            </a:r>
          </a:p>
          <a:p xmlns:a="http://schemas.openxmlformats.org/drawingml/2006/main">
            <a:r>
              <a:t>OSHA — Hazard Prevention and Control: https://www.osha.gov/safety-management/hazard-prevention</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54–57 menit. Contoh survei geolistrik di perbukitan. Berat yang belum diketahui harus diverifikasi, bukan dikarang. Sambungkan dengan rancangan ergonomi pertemuan kedua.</a:t>
            </a:r>
          </a:p>
          <a:p xmlns:a="http://schemas.openxmlformats.org/drawingml/2006/main">
            <a:r>
              <a:t/>
            </a:r>
          </a:p>
          <a:p xmlns:a="http://schemas.openxmlformats.org/drawingml/2006/main">
            <a:r>
              <a:t>OSHA — Job Hazard Analysis: https://www.osha.gov/sites/default/files/activities_safety_in_5_jha.pdf</a:t>
            </a:r>
          </a:p>
          <a:p xmlns:a="http://schemas.openxmlformats.org/drawingml/2006/main">
            <a:r>
              <a:t>NIOSH — Revised NIOSH Lifting Equation: https://www.cdc.gov/niosh/ergonomics/about/rnle.html</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57–60 menit. Tidak ada praktik listrik aktif di kelas. Diamnya radio bukan persetujuan aman. Sarung tangan umum bukan perlindungan listrik. Perhatikan energi tersimpan bila relevan pada instrumen.</a:t>
            </a:r>
          </a:p>
          <a:p xmlns:a="http://schemas.openxmlformats.org/drawingml/2006/main">
            <a:r>
              <a:t/>
            </a:r>
          </a:p>
          <a:p xmlns:a="http://schemas.openxmlformats.org/drawingml/2006/main">
            <a:r>
              <a:t>OSHA — Job Hazard Analysis: https://www.osha.gov/sites/default/files/activities_safety_in_5_jha.pdf</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60–63 menit. Contoh radio gagal: hentikan tahap yang bergantung pada konfirmasi, amankan energi sesuai manual, perbaiki komunikasi, uji konfirmasi seluruh tim, lalu operator/penanggung jawab mengotorisasi mulai sesuai SOP.</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63–70 menit. Kelompok 3–4 orang. Angka 400 m adalah skenario kelas. Gunakan profil tugas pertemuan kedua. Setiap kelompok menuliskan bahaya, kejadian, akibat, kendali, PIC, verifikasi, dan kondisi berhenti.</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70–75 menit. Bagikan satu kartu per kelompok, setelah draf JSA ada. Jawaban harus menyebut keputusan, alasan, PIC, dan syarat mulai kembali. Tambahan opsional: pemilik lokasi menolak titik; tim harus menghormati akses dan meninjau desain.</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75–80 menit. Pilih dua atau tiga kelompok. Setelah paparan, minta anggota lain menjawab perubahan kondisi tanpa AI. Syarat keselamatan harus dipahami seluruh anggota, bukan hanya penulis.</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80–87 menit. Kunci: rekomendasi tidur dewasa dan fungsi pemulihan; berhenti pada tahap terkait komunikasi, amankan dan uji ulang; pasangan kondisi serta verifikasi sesuai skenario. Minta alasan, bukan hafalan slogan.</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87–90 menit. Bobot usulan: JSA 50%, penjelasan individu 25%, exit ticket 25%. Rubrik lengkap di lembar kerja. Kesalahan kendali kritis harus diperbaiki walaupun nilai total tinggi. Data kesehatan pribadi tidak dimasukkan ke AI.</a:t>
            </a:r>
          </a:p>
          <a:p xmlns:a="http://schemas.openxmlformats.org/drawingml/2006/main">
            <a:r>
              <a:t/>
            </a:r>
          </a:p>
          <a:p xmlns:a="http://schemas.openxmlformats.org/drawingml/2006/main">
            <a:r>
              <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Acuan pembelajaran ditinjau 28 Oktober 2026. SOP UGM, manual instrumen, aturan lokasi, dan petugas kompeten tetap menjadi acuan operasional. Sumber dasar: ODP yang diberikan pengampu, April 2025.</a:t>
            </a:r>
          </a:p>
          <a:p xmlns:a="http://schemas.openxmlformats.org/drawingml/2006/main">
            <a:r>
              <a:t/>
            </a:r>
          </a:p>
          <a:p xmlns:a="http://schemas.openxmlformats.org/drawingml/2006/main">
            <a:r>
              <a:t>CDC — About Sleep: https://www.cdc.gov/sleep/about/index.html</a:t>
            </a:r>
          </a:p>
          <a:p xmlns:a="http://schemas.openxmlformats.org/drawingml/2006/main">
            <a:r>
              <a:t>NHLBI — Sleep Phases and Stages: https://www.nhlbi.nih.gov/health/sleep/stages-of-sleep</a:t>
            </a:r>
          </a:p>
          <a:p xmlns:a="http://schemas.openxmlformats.org/drawingml/2006/main">
            <a:r>
              <a:t>NIOSH — Fatigue and Work (2026): https://www.cdc.gov/niosh/fatigue/about/index.html</a:t>
            </a:r>
          </a:p>
          <a:p xmlns:a="http://schemas.openxmlformats.org/drawingml/2006/main">
            <a:r>
              <a:t>NIOSH — Workplace Recommendations (2026): https://www.cdc.gov/niosh/heat-stress/recommendations/index.html</a:t>
            </a:r>
          </a:p>
          <a:p xmlns:a="http://schemas.openxmlformats.org/drawingml/2006/main">
            <a:r>
              <a:t>NIOSH — Acclimatization: https://www.cdc.gov/niosh/heat-stress/recommendations/acclimatization.html</a:t>
            </a:r>
          </a:p>
          <a:p xmlns:a="http://schemas.openxmlformats.org/drawingml/2006/main">
            <a:r>
              <a:t>NIOSH — Heat-related Illnesses: https://www.cdc.gov/niosh/heat-stress/about/illnesses.html</a:t>
            </a:r>
          </a:p>
          <a:p xmlns:a="http://schemas.openxmlformats.org/drawingml/2006/main">
            <a:r>
              <a:t>OSHA — Job Hazard Analysis: https://www.osha.gov/sites/default/files/activities_safety_in_5_jha.pdf</a:t>
            </a:r>
          </a:p>
          <a:p xmlns:a="http://schemas.openxmlformats.org/drawingml/2006/main">
            <a:r>
              <a:t>OSHA — Hazard Prevention and Control: https://www.osha.gov/safety-management/hazard-prevention</a:t>
            </a:r>
          </a:p>
          <a:p xmlns:a="http://schemas.openxmlformats.org/drawingml/2006/main">
            <a:r>
              <a:t/>
            </a:r>
          </a:p>
          <a:p xmlns:a="http://schemas.openxmlformats.org/drawingml/2006/main">
            <a:r>
              <a:t>Materi dasar: “Fisiologi manusia kerja”, berkas ODP April 2025 yang diberikan pengampu. Penyesuaian untuk S1 Geofisika dan peninjauan sumber: 28 Oktober 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74e2151d26449e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aa20f0cba1f342c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3e984f8ec5a4fb6"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43c7a3c0df264768"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3356833bbad45a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aec66dc8087497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BFDC05-2500-4892-957B-2053BD16E32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B36695C8-C763-4DB4-8FD4-7000DB85855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012C2F0-2114-4D8F-A358-0C974E571C7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05F8DA1-1D56-4EB5-8869-11D6BB6A7F1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C586B1C-F6F5-4202-B025-BE3BC20726C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D2EBBBED-3795-482B-9A64-288F10A9B2F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D2F457C-54E4-468D-9DD4-A7A0A9A3E35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4864AE2-367D-49F7-9B51-0406456FE13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283F74C-34DF-49B2-B1DE-26DC5223A9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518A41-BF53-4D61-8A87-7C50E6ADF5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fe4e089e0da4cc6" /><Relationship Type="http://schemas.openxmlformats.org/officeDocument/2006/relationships/slideLayout" Target="/ppt/slideLayouts/slideLayout1.xml" Id="Rcb8f6452ebde4165" /><Relationship Type="http://schemas.openxmlformats.org/officeDocument/2006/relationships/slideLayout" Target="/ppt/slideLayouts/slideLayout2.xml" Id="Rba6ca8db714d4311" /><Relationship Type="http://schemas.openxmlformats.org/officeDocument/2006/relationships/slideLayout" Target="/ppt/slideLayouts/slideLayout3.xml" Id="R86c9b93b8e4b4b2f" /><Relationship Type="http://schemas.openxmlformats.org/officeDocument/2006/relationships/slideLayout" Target="/ppt/slideLayouts/slideLayout4.xml" Id="R8d0fcaf32dfe4c5f" /><Relationship Type="http://schemas.openxmlformats.org/officeDocument/2006/relationships/slideLayout" Target="/ppt/slideLayouts/slideLayout5.xml" Id="R1e3e7222a6bf4c34" /><Relationship Type="http://schemas.openxmlformats.org/officeDocument/2006/relationships/slideLayout" Target="/ppt/slideLayouts/slideLayout6.xml" Id="Ra24eea653c67459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b8f6452ebde4165"/>
    <p:sldLayoutId xmlns:r="http://schemas.openxmlformats.org/officeDocument/2006/relationships" id="2147483650" r:id="Rba6ca8db714d4311"/>
    <p:sldLayoutId xmlns:r="http://schemas.openxmlformats.org/officeDocument/2006/relationships" id="2147483651" r:id="R86c9b93b8e4b4b2f"/>
    <p:sldLayoutId xmlns:r="http://schemas.openxmlformats.org/officeDocument/2006/relationships" id="2147483652" r:id="R8d0fcaf32dfe4c5f"/>
    <p:sldLayoutId xmlns:r="http://schemas.openxmlformats.org/officeDocument/2006/relationships" id="2147483653" r:id="R1e3e7222a6bf4c34"/>
    <p:sldLayoutId xmlns:r="http://schemas.openxmlformats.org/officeDocument/2006/relationships" id="2147483654" r:id="Ra24eea653c67459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099b12aa7584313" /><Relationship Type="http://schemas.openxmlformats.org/officeDocument/2006/relationships/notesSlide" Target="/ppt/notesSlides/notesSlide1.xml" Id="Rac6db0400fe2490c"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219cf48805724921" /><Relationship Type="http://schemas.openxmlformats.org/officeDocument/2006/relationships/notesSlide" Target="/ppt/notesSlides/notesSlide2.xml" Id="Re6147f33b7654d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b5c71fb6049446b" /><Relationship Type="http://schemas.openxmlformats.org/officeDocument/2006/relationships/notesSlide" Target="/ppt/notesSlides/notesSlide3.xml" Id="R185447be80a74d1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0c884a433bc479f" /><Relationship Type="http://schemas.openxmlformats.org/officeDocument/2006/relationships/notesSlide" Target="/ppt/notesSlides/notesSlide4.xml" Id="Rb4e6e850b41448b9"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7526ebe257b492f" /><Relationship Type="http://schemas.openxmlformats.org/officeDocument/2006/relationships/notesSlide" Target="/ppt/notesSlides/notesSlide5.xml" Id="Rd2605ee5234c4a1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e0d8648e47e4d24" /><Relationship Type="http://schemas.openxmlformats.org/officeDocument/2006/relationships/notesSlide" Target="/ppt/notesSlides/notesSlide6.xml" Id="R9edd651d9837432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b0945e69fe49e2" /><Relationship Type="http://schemas.openxmlformats.org/officeDocument/2006/relationships/notesSlide" Target="/ppt/notesSlides/notesSlide7.xml" Id="R95c4dd47448d4c4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29cf1759394da5" /><Relationship Type="http://schemas.openxmlformats.org/officeDocument/2006/relationships/notesSlide" Target="/ppt/notesSlides/notesSlide8.xml" Id="Rd3be173dbfb64b7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20e8035160f6446d" /><Relationship Type="http://schemas.openxmlformats.org/officeDocument/2006/relationships/notesSlide" Target="/ppt/notesSlides/notesSlide9.xml" Id="R7f8c78e780f2437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ed3cda8995a44a6" /><Relationship Type="http://schemas.openxmlformats.org/officeDocument/2006/relationships/notesSlide" Target="/ppt/notesSlides/notesSlide10.xml" Id="Rc7a5cf6f9c2846c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ac9f6e9d9ed4327" /><Relationship Type="http://schemas.openxmlformats.org/officeDocument/2006/relationships/notesSlide" Target="/ppt/notesSlides/notesSlide11.xml" Id="R5701bff3a173406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df722ed7aacb4de5" /><Relationship Type="http://schemas.openxmlformats.org/officeDocument/2006/relationships/notesSlide" Target="/ppt/notesSlides/notesSlide12.xml" Id="R9ea38217318e468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75ce6ab150d9485d" /><Relationship Type="http://schemas.openxmlformats.org/officeDocument/2006/relationships/notesSlide" Target="/ppt/notesSlides/notesSlide13.xml" Id="R3925e672918a4d5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1826bd4db5446fc" /><Relationship Type="http://schemas.openxmlformats.org/officeDocument/2006/relationships/notesSlide" Target="/ppt/notesSlides/notesSlide14.xml" Id="Re58e5b304da24e52"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190db45c15e046a6" /><Relationship Type="http://schemas.openxmlformats.org/officeDocument/2006/relationships/notesSlide" Target="/ppt/notesSlides/notesSlide15.xml" Id="R726594fa4a854f8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eaf274450b5404f" /><Relationship Type="http://schemas.openxmlformats.org/officeDocument/2006/relationships/notesSlide" Target="/ppt/notesSlides/notesSlide16.xml" Id="R8c1ee1599dc04095"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7d726c36d32642bc" /><Relationship Type="http://schemas.openxmlformats.org/officeDocument/2006/relationships/notesSlide" Target="/ppt/notesSlides/notesSlide17.xml" Id="R2fe8781464a844e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4b44f4f16a54b1e" /><Relationship Type="http://schemas.openxmlformats.org/officeDocument/2006/relationships/notesSlide" Target="/ppt/notesSlides/notesSlide18.xml" Id="Rf224149ee4234c24"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aa3faa542da540c5" /><Relationship Type="http://schemas.openxmlformats.org/officeDocument/2006/relationships/notesSlide" Target="/ppt/notesSlides/notesSlide19.xml" Id="R253bb01a12a44b9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9a9a99e741634510" /><Relationship Type="http://schemas.openxmlformats.org/officeDocument/2006/relationships/notesSlide" Target="/ppt/notesSlides/notesSlide20.xml" Id="R24eb5de11f72493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fb5b219237646db" /><Relationship Type="http://schemas.openxmlformats.org/officeDocument/2006/relationships/notesSlide" Target="/ppt/notesSlides/notesSlide21.xml" Id="R8ac7415f5c7f417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d587f1f6da26474e" /><Relationship Type="http://schemas.openxmlformats.org/officeDocument/2006/relationships/notesSlide" Target="/ppt/notesSlides/notesSlide22.xml" Id="R8e8d55e679c8460c"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1b55ae29b6a4337" /><Relationship Type="http://schemas.openxmlformats.org/officeDocument/2006/relationships/notesSlide" Target="/ppt/notesSlides/notesSlide23.xml" Id="R2c26346bbc98440e"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6e2c17d9276d4153" /><Relationship Type="http://schemas.openxmlformats.org/officeDocument/2006/relationships/notesSlide" Target="/ppt/notesSlides/notesSlide24.xml" Id="Rf80004a4de07434a"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bce8bb63dec14aaf" /><Relationship Type="http://schemas.openxmlformats.org/officeDocument/2006/relationships/notesSlide" Target="/ppt/notesSlides/notesSlide25.xml" Id="Rc33ac57c466442d8"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9ba9cbcfdf9545ec" /><Relationship Type="http://schemas.openxmlformats.org/officeDocument/2006/relationships/notesSlide" Target="/ppt/notesSlides/notesSlide26.xml" Id="Rcd41b3158ea8425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11febdfcac764904" /><Relationship Type="http://schemas.openxmlformats.org/officeDocument/2006/relationships/notesSlide" Target="/ppt/notesSlides/notesSlide27.xml" Id="R15eee677f064485d"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a30b97816a234254" /><Relationship Type="http://schemas.openxmlformats.org/officeDocument/2006/relationships/notesSlide" Target="/ppt/notesSlides/notesSlide28.xml" Id="R25631f6538bb4854" /></Relationships>
</file>

<file path=ppt/slides/slide1.xml><?xml version="1.0" encoding="utf-8"?>
<p:sld xmlns:p="http://schemas.openxmlformats.org/presentationml/2006/main">
  <p:cSld>
    <p:bg>
      <p:bgPr>
        <a:solidFill xmlns:a="http://schemas.openxmlformats.org/drawingml/2006/main">
          <a:srgbClr val="8A2D1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9016AF-8A5E-4A78-BDDE-6684FD73161D}"/>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FFFFFF"/>
                </a:solidFill>
                <a:latin typeface="Arial"/>
                <a:ea typeface="Arial"/>
                <a:cs typeface="Arial"/>
              </a:defRPr>
            </a:defPPr>
            <a:lvl1pPr>
              <a:defRPr sz="1350" b="0">
                <a:solidFill>
                  <a:srgbClr val="FFFFFF"/>
                </a:solidFill>
                <a:latin typeface="Arial"/>
                <a:ea typeface="Arial"/>
                <a:cs typeface="Arial"/>
              </a:defRPr>
            </a:lvl1pPr>
            <a:lvl2pPr>
              <a:defRPr sz="1350" b="0">
                <a:solidFill>
                  <a:srgbClr val="FFFFFF"/>
                </a:solidFill>
                <a:latin typeface="Arial"/>
                <a:ea typeface="Arial"/>
                <a:cs typeface="Arial"/>
              </a:defRPr>
            </a:lvl2pPr>
            <a:lvl3pPr>
              <a:defRPr sz="1350" b="0">
                <a:solidFill>
                  <a:srgbClr val="FFFFFF"/>
                </a:solidFill>
                <a:latin typeface="Arial"/>
                <a:ea typeface="Arial"/>
                <a:cs typeface="Arial"/>
              </a:defRPr>
            </a:lvl3pPr>
            <a:lvl4pPr>
              <a:defRPr sz="1350" b="0">
                <a:solidFill>
                  <a:srgbClr val="FFFFFF"/>
                </a:solidFill>
                <a:latin typeface="Arial"/>
                <a:ea typeface="Arial"/>
                <a:cs typeface="Arial"/>
              </a:defRPr>
            </a:lvl4pPr>
            <a:lvl5pPr>
              <a:defRPr sz="1350" b="0">
                <a:solidFill>
                  <a:srgbClr val="FFFFFF"/>
                </a:solidFill>
                <a:latin typeface="Arial"/>
                <a:ea typeface="Arial"/>
                <a:cs typeface="Arial"/>
              </a:defRPr>
            </a:lvl5pPr>
            <a:lvl6pPr>
              <a:defRPr sz="1350" b="0">
                <a:solidFill>
                  <a:srgbClr val="FFFFFF"/>
                </a:solidFill>
                <a:latin typeface="Arial"/>
                <a:ea typeface="Arial"/>
                <a:cs typeface="Arial"/>
              </a:defRPr>
            </a:lvl6pPr>
            <a:lvl7pPr>
              <a:defRPr sz="1350" b="0">
                <a:solidFill>
                  <a:srgbClr val="FFFFFF"/>
                </a:solidFill>
                <a:latin typeface="Arial"/>
                <a:ea typeface="Arial"/>
                <a:cs typeface="Arial"/>
              </a:defRPr>
            </a:lvl7pPr>
            <a:lvl8pPr>
              <a:defRPr sz="1350" b="0">
                <a:solidFill>
                  <a:srgbClr val="FFFFFF"/>
                </a:solidFill>
                <a:latin typeface="Arial"/>
                <a:ea typeface="Arial"/>
                <a:cs typeface="Arial"/>
              </a:defRPr>
            </a:lvl8pPr>
            <a:lvl9pPr>
              <a:defRPr sz="1350" b="0">
                <a:solidFill>
                  <a:srgbClr val="FFFFFF"/>
                </a:solidFill>
                <a:latin typeface="Arial"/>
                <a:ea typeface="Arial"/>
                <a:cs typeface="Arial"/>
              </a:defRPr>
            </a:lvl9pPr>
          </a:lstStyle>
          <a:p xmlns:a="http://schemas.openxmlformats.org/drawingml/2006/main">
            <a:pPr>
              <a:defRPr sz="1350" b="0">
                <a:solidFill>
                  <a:srgbClr val="FFFFFF"/>
                </a:solidFill>
                <a:latin typeface="Arial"/>
                <a:ea typeface="Arial"/>
                <a:cs typeface="Arial"/>
              </a:defRPr>
            </a:pPr>
            <a:r>
              <a:rPr sz="1350" b="0">
                <a:solidFill>
                  <a:srgbClr val="FFFFFF"/>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2C643908-BBA0-449D-93D3-30E00FFE0545}"/>
              </a:ext>
            </a:extLst>
          </p:cNvPr>
          <p:cNvSpPr>
            <a:spLocks xmlns:a="http://schemas.openxmlformats.org/drawingml/2006/main" noGrp="1"/>
          </p:cNvSpPr>
          <p:nvPr/>
        </p:nvSpPr>
        <p:spPr>
          <a:xfrm xmlns:a="http://schemas.openxmlformats.org/drawingml/2006/main">
            <a:off x="762000" y="1476375"/>
            <a:ext cx="10668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4800" b="0">
                <a:solidFill>
                  <a:srgbClr val="FFFFFF"/>
                </a:solidFill>
                <a:latin typeface="Georgia"/>
                <a:ea typeface="Georgia"/>
                <a:cs typeface="Georgia"/>
              </a:defRPr>
            </a:defPPr>
            <a:lvl1pPr>
              <a:defRPr sz="4800" b="0">
                <a:solidFill>
                  <a:srgbClr val="FFFFFF"/>
                </a:solidFill>
                <a:latin typeface="Georgia"/>
                <a:ea typeface="Georgia"/>
                <a:cs typeface="Georgia"/>
              </a:defRPr>
            </a:lvl1pPr>
            <a:lvl2pPr>
              <a:defRPr sz="4800" b="0">
                <a:solidFill>
                  <a:srgbClr val="FFFFFF"/>
                </a:solidFill>
                <a:latin typeface="Georgia"/>
                <a:ea typeface="Georgia"/>
                <a:cs typeface="Georgia"/>
              </a:defRPr>
            </a:lvl2pPr>
            <a:lvl3pPr>
              <a:defRPr sz="4800" b="0">
                <a:solidFill>
                  <a:srgbClr val="FFFFFF"/>
                </a:solidFill>
                <a:latin typeface="Georgia"/>
                <a:ea typeface="Georgia"/>
                <a:cs typeface="Georgia"/>
              </a:defRPr>
            </a:lvl3pPr>
            <a:lvl4pPr>
              <a:defRPr sz="4800" b="0">
                <a:solidFill>
                  <a:srgbClr val="FFFFFF"/>
                </a:solidFill>
                <a:latin typeface="Georgia"/>
                <a:ea typeface="Georgia"/>
                <a:cs typeface="Georgia"/>
              </a:defRPr>
            </a:lvl4pPr>
            <a:lvl5pPr>
              <a:defRPr sz="4800" b="0">
                <a:solidFill>
                  <a:srgbClr val="FFFFFF"/>
                </a:solidFill>
                <a:latin typeface="Georgia"/>
                <a:ea typeface="Georgia"/>
                <a:cs typeface="Georgia"/>
              </a:defRPr>
            </a:lvl5pPr>
            <a:lvl6pPr>
              <a:defRPr sz="4800" b="0">
                <a:solidFill>
                  <a:srgbClr val="FFFFFF"/>
                </a:solidFill>
                <a:latin typeface="Georgia"/>
                <a:ea typeface="Georgia"/>
                <a:cs typeface="Georgia"/>
              </a:defRPr>
            </a:lvl6pPr>
            <a:lvl7pPr>
              <a:defRPr sz="4800" b="0">
                <a:solidFill>
                  <a:srgbClr val="FFFFFF"/>
                </a:solidFill>
                <a:latin typeface="Georgia"/>
                <a:ea typeface="Georgia"/>
                <a:cs typeface="Georgia"/>
              </a:defRPr>
            </a:lvl7pPr>
            <a:lvl8pPr>
              <a:defRPr sz="4800" b="0">
                <a:solidFill>
                  <a:srgbClr val="FFFFFF"/>
                </a:solidFill>
                <a:latin typeface="Georgia"/>
                <a:ea typeface="Georgia"/>
                <a:cs typeface="Georgia"/>
              </a:defRPr>
            </a:lvl8pPr>
            <a:lvl9pPr>
              <a:defRPr sz="4800" b="0">
                <a:solidFill>
                  <a:srgbClr val="FFFFFF"/>
                </a:solidFill>
                <a:latin typeface="Georgia"/>
                <a:ea typeface="Georgia"/>
                <a:cs typeface="Georgia"/>
              </a:defRPr>
            </a:lvl9pPr>
          </a:lstStyle>
          <a:p xmlns:a="http://schemas.openxmlformats.org/drawingml/2006/main">
            <a:pPr>
              <a:defRPr sz="4800" b="0">
                <a:solidFill>
                  <a:srgbClr val="FFFFFF"/>
                </a:solidFill>
                <a:latin typeface="Georgia"/>
                <a:ea typeface="Georgia"/>
                <a:cs typeface="Georgia"/>
              </a:defRPr>
            </a:pPr>
            <a:r>
              <a:rPr sz="4800" b="0">
                <a:solidFill>
                  <a:srgbClr val="FFFFFF"/>
                </a:solidFill>
                <a:latin typeface="Georgia"/>
                <a:ea typeface="Georgia"/>
                <a:cs typeface="Georgia"/>
              </a:rPr>
              <a:t>Kelelahan dan perencanaan kerja aman</a:t>
            </a:r>
          </a:p>
        </p:txBody>
      </p:sp>
      <p:sp>
        <p:nvSpPr>
          <p:cNvPr id="3" name="">
            <a:extLst xmlns:a="http://schemas.openxmlformats.org/drawingml/2006/main">
              <a:ext uri="{FF2B5EF4-FFF2-40B4-BE49-F238E27FC236}">
                <a16:creationId xmlns:a16="http://schemas.microsoft.com/office/drawing/2014/main" id="{8E23B917-7816-40FB-B75A-554EA691F0C9}"/>
              </a:ext>
            </a:extLst>
          </p:cNvPr>
          <p:cNvSpPr>
            <a:spLocks xmlns:a="http://schemas.openxmlformats.org/drawingml/2006/main" noGrp="1"/>
          </p:cNvSpPr>
          <p:nvPr/>
        </p:nvSpPr>
        <p:spPr>
          <a:xfrm xmlns:a="http://schemas.openxmlformats.org/drawingml/2006/main">
            <a:off x="762000" y="3638550"/>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Pendidikan Jasmani &amp; HSE Geofisika</a:t>
            </a:r>
          </a:p>
        </p:txBody>
      </p:sp>
      <p:sp>
        <p:nvSpPr>
          <p:cNvPr id="4" name="">
            <a:extLst xmlns:a="http://schemas.openxmlformats.org/drawingml/2006/main">
              <a:ext uri="{FF2B5EF4-FFF2-40B4-BE49-F238E27FC236}">
                <a16:creationId xmlns:a16="http://schemas.microsoft.com/office/drawing/2014/main" id="{057DAE40-2858-430D-80D3-0BD2AB26E07B}"/>
              </a:ext>
            </a:extLst>
          </p:cNvPr>
          <p:cNvSpPr>
            <a:spLocks xmlns:a="http://schemas.openxmlformats.org/drawingml/2006/main" noGrp="1"/>
          </p:cNvSpPr>
          <p:nvPr/>
        </p:nvSpPr>
        <p:spPr>
          <a:xfrm xmlns:a="http://schemas.openxmlformats.org/drawingml/2006/main">
            <a:off x="762000" y="4762500"/>
            <a:ext cx="10572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175" b="0">
                <a:solidFill>
                  <a:srgbClr val="FFFFFF"/>
                </a:solidFill>
                <a:latin typeface="Arial"/>
                <a:ea typeface="Arial"/>
                <a:cs typeface="Arial"/>
              </a:defRPr>
            </a:defPPr>
            <a:lvl1pPr>
              <a:defRPr sz="2175" b="0">
                <a:solidFill>
                  <a:srgbClr val="FFFFFF"/>
                </a:solidFill>
                <a:latin typeface="Arial"/>
                <a:ea typeface="Arial"/>
                <a:cs typeface="Arial"/>
              </a:defRPr>
            </a:lvl1pPr>
            <a:lvl2pPr>
              <a:defRPr sz="2175" b="0">
                <a:solidFill>
                  <a:srgbClr val="FFFFFF"/>
                </a:solidFill>
                <a:latin typeface="Arial"/>
                <a:ea typeface="Arial"/>
                <a:cs typeface="Arial"/>
              </a:defRPr>
            </a:lvl2pPr>
            <a:lvl3pPr>
              <a:defRPr sz="2175" b="0">
                <a:solidFill>
                  <a:srgbClr val="FFFFFF"/>
                </a:solidFill>
                <a:latin typeface="Arial"/>
                <a:ea typeface="Arial"/>
                <a:cs typeface="Arial"/>
              </a:defRPr>
            </a:lvl3pPr>
            <a:lvl4pPr>
              <a:defRPr sz="2175" b="0">
                <a:solidFill>
                  <a:srgbClr val="FFFFFF"/>
                </a:solidFill>
                <a:latin typeface="Arial"/>
                <a:ea typeface="Arial"/>
                <a:cs typeface="Arial"/>
              </a:defRPr>
            </a:lvl4pPr>
            <a:lvl5pPr>
              <a:defRPr sz="2175" b="0">
                <a:solidFill>
                  <a:srgbClr val="FFFFFF"/>
                </a:solidFill>
                <a:latin typeface="Arial"/>
                <a:ea typeface="Arial"/>
                <a:cs typeface="Arial"/>
              </a:defRPr>
            </a:lvl5pPr>
            <a:lvl6pPr>
              <a:defRPr sz="2175" b="0">
                <a:solidFill>
                  <a:srgbClr val="FFFFFF"/>
                </a:solidFill>
                <a:latin typeface="Arial"/>
                <a:ea typeface="Arial"/>
                <a:cs typeface="Arial"/>
              </a:defRPr>
            </a:lvl6pPr>
            <a:lvl7pPr>
              <a:defRPr sz="2175" b="0">
                <a:solidFill>
                  <a:srgbClr val="FFFFFF"/>
                </a:solidFill>
                <a:latin typeface="Arial"/>
                <a:ea typeface="Arial"/>
                <a:cs typeface="Arial"/>
              </a:defRPr>
            </a:lvl7pPr>
            <a:lvl8pPr>
              <a:defRPr sz="2175" b="0">
                <a:solidFill>
                  <a:srgbClr val="FFFFFF"/>
                </a:solidFill>
                <a:latin typeface="Arial"/>
                <a:ea typeface="Arial"/>
                <a:cs typeface="Arial"/>
              </a:defRPr>
            </a:lvl8pPr>
            <a:lvl9pPr>
              <a:defRPr sz="2175" b="0">
                <a:solidFill>
                  <a:srgbClr val="FFFFFF"/>
                </a:solidFill>
                <a:latin typeface="Arial"/>
                <a:ea typeface="Arial"/>
                <a:cs typeface="Arial"/>
              </a:defRPr>
            </a:lvl9pPr>
          </a:lstStyle>
          <a:p xmlns:a="http://schemas.openxmlformats.org/drawingml/2006/main">
            <a:pPr>
              <a:defRPr sz="2175" b="0">
                <a:solidFill>
                  <a:srgbClr val="FFFFFF"/>
                </a:solidFill>
                <a:latin typeface="Arial"/>
                <a:ea typeface="Arial"/>
                <a:cs typeface="Arial"/>
              </a:defRPr>
            </a:pPr>
            <a:r>
              <a:rPr sz="2175" b="0">
                <a:solidFill>
                  <a:srgbClr val="FFFFFF"/>
                </a:solidFill>
                <a:latin typeface="Arial"/>
                <a:ea typeface="Arial"/>
                <a:cs typeface="Arial"/>
              </a:rPr>
              <a:t>Pertemuan 3 · Wiwit Suryanto · S1 Geofisika UGM</a:t>
            </a:r>
          </a:p>
        </p:txBody>
      </p:sp>
      <p:sp>
        <p:nvSpPr>
          <p:cNvPr id="5" name="">
            <a:extLst xmlns:a="http://schemas.openxmlformats.org/drawingml/2006/main">
              <a:ext uri="{FF2B5EF4-FFF2-40B4-BE49-F238E27FC236}">
                <a16:creationId xmlns:a16="http://schemas.microsoft.com/office/drawing/2014/main" id="{3BCA223C-BB7C-4041-B212-7C3375ED550D}"/>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825CC283-B0D2-4E61-9B9E-0B032719E8D3}"/>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FFFFFF"/>
                </a:solidFill>
                <a:latin typeface="Arial"/>
                <a:ea typeface="Arial"/>
                <a:cs typeface="Arial"/>
              </a:defRPr>
            </a:defPPr>
            <a:lvl1pPr>
              <a:defRPr sz="1200" b="0">
                <a:solidFill>
                  <a:srgbClr val="FFFFFF"/>
                </a:solidFill>
                <a:latin typeface="Arial"/>
                <a:ea typeface="Arial"/>
                <a:cs typeface="Arial"/>
              </a:defRPr>
            </a:lvl1pPr>
            <a:lvl2pPr>
              <a:defRPr sz="1200" b="0">
                <a:solidFill>
                  <a:srgbClr val="FFFFFF"/>
                </a:solidFill>
                <a:latin typeface="Arial"/>
                <a:ea typeface="Arial"/>
                <a:cs typeface="Arial"/>
              </a:defRPr>
            </a:lvl2pPr>
            <a:lvl3pPr>
              <a:defRPr sz="1200" b="0">
                <a:solidFill>
                  <a:srgbClr val="FFFFFF"/>
                </a:solidFill>
                <a:latin typeface="Arial"/>
                <a:ea typeface="Arial"/>
                <a:cs typeface="Arial"/>
              </a:defRPr>
            </a:lvl3pPr>
            <a:lvl4pPr>
              <a:defRPr sz="1200" b="0">
                <a:solidFill>
                  <a:srgbClr val="FFFFFF"/>
                </a:solidFill>
                <a:latin typeface="Arial"/>
                <a:ea typeface="Arial"/>
                <a:cs typeface="Arial"/>
              </a:defRPr>
            </a:lvl4pPr>
            <a:lvl5pPr>
              <a:defRPr sz="1200" b="0">
                <a:solidFill>
                  <a:srgbClr val="FFFFFF"/>
                </a:solidFill>
                <a:latin typeface="Arial"/>
                <a:ea typeface="Arial"/>
                <a:cs typeface="Arial"/>
              </a:defRPr>
            </a:lvl5pPr>
            <a:lvl6pPr>
              <a:defRPr sz="1200" b="0">
                <a:solidFill>
                  <a:srgbClr val="FFFFFF"/>
                </a:solidFill>
                <a:latin typeface="Arial"/>
                <a:ea typeface="Arial"/>
                <a:cs typeface="Arial"/>
              </a:defRPr>
            </a:lvl6pPr>
            <a:lvl7pPr>
              <a:defRPr sz="1200" b="0">
                <a:solidFill>
                  <a:srgbClr val="FFFFFF"/>
                </a:solidFill>
                <a:latin typeface="Arial"/>
                <a:ea typeface="Arial"/>
                <a:cs typeface="Arial"/>
              </a:defRPr>
            </a:lvl7pPr>
            <a:lvl8pPr>
              <a:defRPr sz="1200" b="0">
                <a:solidFill>
                  <a:srgbClr val="FFFFFF"/>
                </a:solidFill>
                <a:latin typeface="Arial"/>
                <a:ea typeface="Arial"/>
                <a:cs typeface="Arial"/>
              </a:defRPr>
            </a:lvl8pPr>
            <a:lvl9pPr>
              <a:defRPr sz="1200" b="0">
                <a:solidFill>
                  <a:srgbClr val="FFFFFF"/>
                </a:solidFill>
                <a:latin typeface="Arial"/>
                <a:ea typeface="Arial"/>
                <a:cs typeface="Arial"/>
              </a:defRPr>
            </a:lvl9pPr>
          </a:lstStyle>
          <a:p xmlns:a="http://schemas.openxmlformats.org/drawingml/2006/main">
            <a:pPr>
              <a:defRPr sz="1200" b="0">
                <a:solidFill>
                  <a:srgbClr val="FFFFFF"/>
                </a:solidFill>
                <a:latin typeface="Arial"/>
                <a:ea typeface="Arial"/>
                <a:cs typeface="Arial"/>
              </a:defRPr>
            </a:pPr>
            <a:r>
              <a:rPr sz="1200" b="0">
                <a:solidFill>
                  <a:srgbClr val="FFFFFF"/>
                </a:solidFill>
                <a:latin typeface="Arial"/>
                <a:ea typeface="Arial"/>
                <a:cs typeface="Arial"/>
              </a:rPr>
              <a:t>01 / 28</a:t>
            </a:r>
          </a:p>
        </p:txBody>
      </p:sp>
    </p:spTree>
    <p:extLst>
      <p:ext uri="{BB962C8B-B14F-4D97-AF65-F5344CB8AC3E}">
        <p14:creationId xmlns:p14="http://schemas.microsoft.com/office/powerpoint/2010/main" val="190947214"/>
      </p:ext>
    </p:extLst>
  </p:cSld>
</p:sld>
</file>

<file path=ppt/slides/slide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97D7CF0-439B-4B39-BDBE-EAEEC59394A6}"/>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BCBE4840-CEC6-4CD4-A5ED-8213F21B2DEA}"/>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Survei selesai, perjalanan belum</a:t>
            </a:r>
          </a:p>
        </p:txBody>
      </p:sp>
      <p:sp>
        <p:nvSpPr>
          <p:cNvPr id="3" name="">
            <a:extLst xmlns:a="http://schemas.openxmlformats.org/drawingml/2006/main">
              <a:ext uri="{FF2B5EF4-FFF2-40B4-BE49-F238E27FC236}">
                <a16:creationId xmlns:a16="http://schemas.microsoft.com/office/drawing/2014/main" id="{C61F24B4-EC03-4021-AFC9-645A870AC59E}"/>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F1F1B"/>
                </a:solidFill>
                <a:latin typeface="Arial"/>
                <a:ea typeface="Arial"/>
                <a:cs typeface="Arial"/>
              </a:defRPr>
            </a:defPPr>
            <a:lvl1pPr>
              <a:defRPr sz="2550" b="0">
                <a:solidFill>
                  <a:srgbClr val="1F1F1B"/>
                </a:solidFill>
                <a:latin typeface="Arial"/>
                <a:ea typeface="Arial"/>
                <a:cs typeface="Arial"/>
              </a:defRPr>
            </a:lvl1pPr>
            <a:lvl2pPr>
              <a:defRPr sz="2550" b="0">
                <a:solidFill>
                  <a:srgbClr val="1F1F1B"/>
                </a:solidFill>
                <a:latin typeface="Arial"/>
                <a:ea typeface="Arial"/>
                <a:cs typeface="Arial"/>
              </a:defRPr>
            </a:lvl2pPr>
            <a:lvl3pPr>
              <a:defRPr sz="2550" b="0">
                <a:solidFill>
                  <a:srgbClr val="1F1F1B"/>
                </a:solidFill>
                <a:latin typeface="Arial"/>
                <a:ea typeface="Arial"/>
                <a:cs typeface="Arial"/>
              </a:defRPr>
            </a:lvl3pPr>
            <a:lvl4pPr>
              <a:defRPr sz="2550" b="0">
                <a:solidFill>
                  <a:srgbClr val="1F1F1B"/>
                </a:solidFill>
                <a:latin typeface="Arial"/>
                <a:ea typeface="Arial"/>
                <a:cs typeface="Arial"/>
              </a:defRPr>
            </a:lvl4pPr>
            <a:lvl5pPr>
              <a:defRPr sz="2550" b="0">
                <a:solidFill>
                  <a:srgbClr val="1F1F1B"/>
                </a:solidFill>
                <a:latin typeface="Arial"/>
                <a:ea typeface="Arial"/>
                <a:cs typeface="Arial"/>
              </a:defRPr>
            </a:lvl5pPr>
            <a:lvl6pPr>
              <a:defRPr sz="2550" b="0">
                <a:solidFill>
                  <a:srgbClr val="1F1F1B"/>
                </a:solidFill>
                <a:latin typeface="Arial"/>
                <a:ea typeface="Arial"/>
                <a:cs typeface="Arial"/>
              </a:defRPr>
            </a:lvl6pPr>
            <a:lvl7pPr>
              <a:defRPr sz="2550" b="0">
                <a:solidFill>
                  <a:srgbClr val="1F1F1B"/>
                </a:solidFill>
                <a:latin typeface="Arial"/>
                <a:ea typeface="Arial"/>
                <a:cs typeface="Arial"/>
              </a:defRPr>
            </a:lvl7pPr>
            <a:lvl8pPr>
              <a:defRPr sz="2550" b="0">
                <a:solidFill>
                  <a:srgbClr val="1F1F1B"/>
                </a:solidFill>
                <a:latin typeface="Arial"/>
                <a:ea typeface="Arial"/>
                <a:cs typeface="Arial"/>
              </a:defRPr>
            </a:lvl8pPr>
            <a:lvl9pPr>
              <a:defRPr sz="2550" b="0">
                <a:solidFill>
                  <a:srgbClr val="1F1F1B"/>
                </a:solidFill>
                <a:latin typeface="Arial"/>
                <a:ea typeface="Arial"/>
                <a:cs typeface="Arial"/>
              </a:defRPr>
            </a:lvl9pPr>
          </a:lstStyle>
          <a:p xmlns:a="http://schemas.openxmlformats.org/drawingml/2006/main">
            <a:pPr>
              <a:defRPr sz="2550" b="0">
                <a:solidFill>
                  <a:srgbClr val="1F1F1B"/>
                </a:solidFill>
                <a:latin typeface="Arial"/>
                <a:ea typeface="Arial"/>
                <a:cs typeface="Arial"/>
              </a:defRPr>
            </a:pPr>
            <a:r>
              <a:rPr sz="2550" b="0">
                <a:solidFill>
                  <a:srgbClr val="1F1F1B"/>
                </a:solidFill>
                <a:latin typeface="Arial"/>
                <a:ea typeface="Arial"/>
                <a:cs typeface="Arial"/>
              </a:rPr>
              <a:t>Akuisisi selesai pukul 23.00.</a:t>
            </a:r>
          </a:p>
        </p:txBody>
      </p:sp>
      <p:sp>
        <p:nvSpPr>
          <p:cNvPr id="4" name="">
            <a:extLst xmlns:a="http://schemas.openxmlformats.org/drawingml/2006/main">
              <a:ext uri="{FF2B5EF4-FFF2-40B4-BE49-F238E27FC236}">
                <a16:creationId xmlns:a16="http://schemas.microsoft.com/office/drawing/2014/main" id="{DD26D825-52C0-423F-BC9B-5DF5904131E2}"/>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F1F1B"/>
                </a:solidFill>
                <a:latin typeface="Arial"/>
                <a:ea typeface="Arial"/>
                <a:cs typeface="Arial"/>
              </a:defRPr>
            </a:defPPr>
            <a:lvl1pPr>
              <a:defRPr sz="2550" b="0">
                <a:solidFill>
                  <a:srgbClr val="1F1F1B"/>
                </a:solidFill>
                <a:latin typeface="Arial"/>
                <a:ea typeface="Arial"/>
                <a:cs typeface="Arial"/>
              </a:defRPr>
            </a:lvl1pPr>
            <a:lvl2pPr>
              <a:defRPr sz="2550" b="0">
                <a:solidFill>
                  <a:srgbClr val="1F1F1B"/>
                </a:solidFill>
                <a:latin typeface="Arial"/>
                <a:ea typeface="Arial"/>
                <a:cs typeface="Arial"/>
              </a:defRPr>
            </a:lvl2pPr>
            <a:lvl3pPr>
              <a:defRPr sz="2550" b="0">
                <a:solidFill>
                  <a:srgbClr val="1F1F1B"/>
                </a:solidFill>
                <a:latin typeface="Arial"/>
                <a:ea typeface="Arial"/>
                <a:cs typeface="Arial"/>
              </a:defRPr>
            </a:lvl3pPr>
            <a:lvl4pPr>
              <a:defRPr sz="2550" b="0">
                <a:solidFill>
                  <a:srgbClr val="1F1F1B"/>
                </a:solidFill>
                <a:latin typeface="Arial"/>
                <a:ea typeface="Arial"/>
                <a:cs typeface="Arial"/>
              </a:defRPr>
            </a:lvl4pPr>
            <a:lvl5pPr>
              <a:defRPr sz="2550" b="0">
                <a:solidFill>
                  <a:srgbClr val="1F1F1B"/>
                </a:solidFill>
                <a:latin typeface="Arial"/>
                <a:ea typeface="Arial"/>
                <a:cs typeface="Arial"/>
              </a:defRPr>
            </a:lvl5pPr>
            <a:lvl6pPr>
              <a:defRPr sz="2550" b="0">
                <a:solidFill>
                  <a:srgbClr val="1F1F1B"/>
                </a:solidFill>
                <a:latin typeface="Arial"/>
                <a:ea typeface="Arial"/>
                <a:cs typeface="Arial"/>
              </a:defRPr>
            </a:lvl6pPr>
            <a:lvl7pPr>
              <a:defRPr sz="2550" b="0">
                <a:solidFill>
                  <a:srgbClr val="1F1F1B"/>
                </a:solidFill>
                <a:latin typeface="Arial"/>
                <a:ea typeface="Arial"/>
                <a:cs typeface="Arial"/>
              </a:defRPr>
            </a:lvl7pPr>
            <a:lvl8pPr>
              <a:defRPr sz="2550" b="0">
                <a:solidFill>
                  <a:srgbClr val="1F1F1B"/>
                </a:solidFill>
                <a:latin typeface="Arial"/>
                <a:ea typeface="Arial"/>
                <a:cs typeface="Arial"/>
              </a:defRPr>
            </a:lvl8pPr>
            <a:lvl9pPr>
              <a:defRPr sz="2550" b="0">
                <a:solidFill>
                  <a:srgbClr val="1F1F1B"/>
                </a:solidFill>
                <a:latin typeface="Arial"/>
                <a:ea typeface="Arial"/>
                <a:cs typeface="Arial"/>
              </a:defRPr>
            </a:lvl9pPr>
          </a:lstStyle>
          <a:p xmlns:a="http://schemas.openxmlformats.org/drawingml/2006/main">
            <a:pPr>
              <a:defRPr sz="2550" b="0">
                <a:solidFill>
                  <a:srgbClr val="1F1F1B"/>
                </a:solidFill>
                <a:latin typeface="Arial"/>
                <a:ea typeface="Arial"/>
                <a:cs typeface="Arial"/>
              </a:defRPr>
            </a:pPr>
            <a:r>
              <a:rPr sz="2550" b="0">
                <a:solidFill>
                  <a:srgbClr val="1F1F1B"/>
                </a:solidFill>
                <a:latin typeface="Arial"/>
                <a:ea typeface="Arial"/>
                <a:cs typeface="Arial"/>
              </a:rPr>
              <a:t>Tim masih harus membongkar alat dan berkendara pulang.</a:t>
            </a:r>
          </a:p>
        </p:txBody>
      </p:sp>
      <p:sp>
        <p:nvSpPr>
          <p:cNvPr id="5" name="">
            <a:extLst xmlns:a="http://schemas.openxmlformats.org/drawingml/2006/main">
              <a:ext uri="{FF2B5EF4-FFF2-40B4-BE49-F238E27FC236}">
                <a16:creationId xmlns:a16="http://schemas.microsoft.com/office/drawing/2014/main" id="{533854D7-574B-4EF4-A1D6-F8B5FD9A1C91}"/>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550" b="0">
                <a:solidFill>
                  <a:srgbClr val="1F1F1B"/>
                </a:solidFill>
                <a:latin typeface="Arial"/>
                <a:ea typeface="Arial"/>
                <a:cs typeface="Arial"/>
              </a:defRPr>
            </a:defPPr>
            <a:lvl1pPr>
              <a:defRPr sz="2550" b="0">
                <a:solidFill>
                  <a:srgbClr val="1F1F1B"/>
                </a:solidFill>
                <a:latin typeface="Arial"/>
                <a:ea typeface="Arial"/>
                <a:cs typeface="Arial"/>
              </a:defRPr>
            </a:lvl1pPr>
            <a:lvl2pPr>
              <a:defRPr sz="2550" b="0">
                <a:solidFill>
                  <a:srgbClr val="1F1F1B"/>
                </a:solidFill>
                <a:latin typeface="Arial"/>
                <a:ea typeface="Arial"/>
                <a:cs typeface="Arial"/>
              </a:defRPr>
            </a:lvl2pPr>
            <a:lvl3pPr>
              <a:defRPr sz="2550" b="0">
                <a:solidFill>
                  <a:srgbClr val="1F1F1B"/>
                </a:solidFill>
                <a:latin typeface="Arial"/>
                <a:ea typeface="Arial"/>
                <a:cs typeface="Arial"/>
              </a:defRPr>
            </a:lvl3pPr>
            <a:lvl4pPr>
              <a:defRPr sz="2550" b="0">
                <a:solidFill>
                  <a:srgbClr val="1F1F1B"/>
                </a:solidFill>
                <a:latin typeface="Arial"/>
                <a:ea typeface="Arial"/>
                <a:cs typeface="Arial"/>
              </a:defRPr>
            </a:lvl4pPr>
            <a:lvl5pPr>
              <a:defRPr sz="2550" b="0">
                <a:solidFill>
                  <a:srgbClr val="1F1F1B"/>
                </a:solidFill>
                <a:latin typeface="Arial"/>
                <a:ea typeface="Arial"/>
                <a:cs typeface="Arial"/>
              </a:defRPr>
            </a:lvl5pPr>
            <a:lvl6pPr>
              <a:defRPr sz="2550" b="0">
                <a:solidFill>
                  <a:srgbClr val="1F1F1B"/>
                </a:solidFill>
                <a:latin typeface="Arial"/>
                <a:ea typeface="Arial"/>
                <a:cs typeface="Arial"/>
              </a:defRPr>
            </a:lvl6pPr>
            <a:lvl7pPr>
              <a:defRPr sz="2550" b="0">
                <a:solidFill>
                  <a:srgbClr val="1F1F1B"/>
                </a:solidFill>
                <a:latin typeface="Arial"/>
                <a:ea typeface="Arial"/>
                <a:cs typeface="Arial"/>
              </a:defRPr>
            </a:lvl7pPr>
            <a:lvl8pPr>
              <a:defRPr sz="2550" b="0">
                <a:solidFill>
                  <a:srgbClr val="1F1F1B"/>
                </a:solidFill>
                <a:latin typeface="Arial"/>
                <a:ea typeface="Arial"/>
                <a:cs typeface="Arial"/>
              </a:defRPr>
            </a:lvl8pPr>
            <a:lvl9pPr>
              <a:defRPr sz="2550" b="0">
                <a:solidFill>
                  <a:srgbClr val="1F1F1B"/>
                </a:solidFill>
                <a:latin typeface="Arial"/>
                <a:ea typeface="Arial"/>
                <a:cs typeface="Arial"/>
              </a:defRPr>
            </a:lvl9pPr>
          </a:lstStyle>
          <a:p xmlns:a="http://schemas.openxmlformats.org/drawingml/2006/main">
            <a:pPr>
              <a:defRPr sz="2550" b="0">
                <a:solidFill>
                  <a:srgbClr val="1F1F1B"/>
                </a:solidFill>
                <a:latin typeface="Arial"/>
                <a:ea typeface="Arial"/>
                <a:cs typeface="Arial"/>
              </a:defRPr>
            </a:pPr>
            <a:r>
              <a:rPr sz="2550" b="0">
                <a:solidFill>
                  <a:srgbClr val="1F1F1B"/>
                </a:solidFill>
                <a:latin typeface="Arial"/>
                <a:ea typeface="Arial"/>
                <a:cs typeface="Arial"/>
              </a:rPr>
              <a:t>Apa yang perlu direncanakan sejak sebelum berangkat?</a:t>
            </a:r>
          </a:p>
        </p:txBody>
      </p:sp>
      <p:sp>
        <p:nvSpPr>
          <p:cNvPr id="6" name="">
            <a:extLst xmlns:a="http://schemas.openxmlformats.org/drawingml/2006/main">
              <a:ext uri="{FF2B5EF4-FFF2-40B4-BE49-F238E27FC236}">
                <a16:creationId xmlns:a16="http://schemas.microsoft.com/office/drawing/2014/main" id="{576E4181-EB4D-4D29-B979-BA65CBBE59D2}"/>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7129DCA3-DCC5-459C-A24C-856E5E302794}"/>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02 / 28</a:t>
            </a:r>
          </a:p>
        </p:txBody>
      </p:sp>
    </p:spTree>
    <p:extLst>
      <p:ext uri="{BB962C8B-B14F-4D97-AF65-F5344CB8AC3E}">
        <p14:creationId xmlns:p14="http://schemas.microsoft.com/office/powerpoint/2010/main" val="822446072"/>
      </p:ext>
    </p:extLst>
  </p:cSld>
</p:sld>
</file>

<file path=ppt/slides/slide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27771EA-5EB4-42FE-B388-D2E05D2B70D7}"/>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927203CD-4F58-4203-8F1B-BD756CAAB169}"/>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Capaian pertemuan</a:t>
            </a:r>
          </a:p>
        </p:txBody>
      </p:sp>
      <p:sp>
        <p:nvSpPr>
          <p:cNvPr id="3" name="">
            <a:extLst xmlns:a="http://schemas.openxmlformats.org/drawingml/2006/main">
              <a:ext uri="{FF2B5EF4-FFF2-40B4-BE49-F238E27FC236}">
                <a16:creationId xmlns:a16="http://schemas.microsoft.com/office/drawing/2014/main" id="{657F0127-711C-48B9-864A-A4FBE02D0A05}"/>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Menjelaskan sumber kelelahan dan kebutuhan pemulihan.</a:t>
            </a:r>
          </a:p>
        </p:txBody>
      </p:sp>
      <p:sp>
        <p:nvSpPr>
          <p:cNvPr id="4" name="">
            <a:extLst xmlns:a="http://schemas.openxmlformats.org/drawingml/2006/main">
              <a:ext uri="{FF2B5EF4-FFF2-40B4-BE49-F238E27FC236}">
                <a16:creationId xmlns:a16="http://schemas.microsoft.com/office/drawing/2014/main" id="{3EC50008-2707-425F-80DB-AC92ABFE697C}"/>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Menyusun JSA 4–6 langkah dengan PIC dan bukti verifikasi.</a:t>
            </a:r>
          </a:p>
        </p:txBody>
      </p:sp>
      <p:sp>
        <p:nvSpPr>
          <p:cNvPr id="5" name="">
            <a:extLst xmlns:a="http://schemas.openxmlformats.org/drawingml/2006/main">
              <a:ext uri="{FF2B5EF4-FFF2-40B4-BE49-F238E27FC236}">
                <a16:creationId xmlns:a16="http://schemas.microsoft.com/office/drawing/2014/main" id="{0B2CEE70-7830-452A-B818-7BABA5C50998}"/>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Menetapkan penghentian serta syarat mulai kembali.</a:t>
            </a:r>
          </a:p>
        </p:txBody>
      </p:sp>
      <p:sp>
        <p:nvSpPr>
          <p:cNvPr id="6" name="">
            <a:extLst xmlns:a="http://schemas.openxmlformats.org/drawingml/2006/main">
              <a:ext uri="{FF2B5EF4-FFF2-40B4-BE49-F238E27FC236}">
                <a16:creationId xmlns:a16="http://schemas.microsoft.com/office/drawing/2014/main" id="{E6E53A36-6C43-4AFC-90BC-0BDB9D385103}"/>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854051A8-F4BE-4626-9D5A-E6F60B8483E8}"/>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03 / 28</a:t>
            </a:r>
          </a:p>
        </p:txBody>
      </p:sp>
    </p:spTree>
    <p:extLst>
      <p:ext uri="{BB962C8B-B14F-4D97-AF65-F5344CB8AC3E}">
        <p14:creationId xmlns:p14="http://schemas.microsoft.com/office/powerpoint/2010/main" val="289967702"/>
      </p:ext>
    </p:extLst>
  </p:cSld>
</p:sld>
</file>

<file path=ppt/slides/slide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75B5295-DBF2-4DA5-9C4E-132F8EFB0770}"/>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5309509A-5025-45E2-9289-66D58F60CC1C}"/>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Kelelahan memiliki banyak sumber</a:t>
            </a:r>
          </a:p>
        </p:txBody>
      </p:sp>
      <p:sp>
        <p:nvSpPr>
          <p:cNvPr id="3" name="">
            <a:extLst xmlns:a="http://schemas.openxmlformats.org/drawingml/2006/main">
              <a:ext uri="{FF2B5EF4-FFF2-40B4-BE49-F238E27FC236}">
                <a16:creationId xmlns:a16="http://schemas.microsoft.com/office/drawing/2014/main" id="{B2B10E5A-1692-4C84-8E59-8899F5D510D7}"/>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Kurang tidur dan jadwal yang mengganggu tidur.</a:t>
            </a:r>
          </a:p>
        </p:txBody>
      </p:sp>
      <p:sp>
        <p:nvSpPr>
          <p:cNvPr id="4" name="">
            <a:extLst xmlns:a="http://schemas.openxmlformats.org/drawingml/2006/main">
              <a:ext uri="{FF2B5EF4-FFF2-40B4-BE49-F238E27FC236}">
                <a16:creationId xmlns:a16="http://schemas.microsoft.com/office/drawing/2014/main" id="{6199CBD2-52B2-48D5-B397-4E20362709B0}"/>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Tuntutan fisik atau mental, panas, serta stres.</a:t>
            </a:r>
          </a:p>
        </p:txBody>
      </p:sp>
      <p:sp>
        <p:nvSpPr>
          <p:cNvPr id="5" name="">
            <a:extLst xmlns:a="http://schemas.openxmlformats.org/drawingml/2006/main">
              <a:ext uri="{FF2B5EF4-FFF2-40B4-BE49-F238E27FC236}">
                <a16:creationId xmlns:a16="http://schemas.microsoft.com/office/drawing/2014/main" id="{10419243-C080-4989-B696-6DD4A2375357}"/>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Dampaknya dapat berupa respons melambat dan keputusan memburuk.</a:t>
            </a:r>
          </a:p>
        </p:txBody>
      </p:sp>
      <p:sp>
        <p:nvSpPr>
          <p:cNvPr id="6" name="">
            <a:extLst xmlns:a="http://schemas.openxmlformats.org/drawingml/2006/main">
              <a:ext uri="{FF2B5EF4-FFF2-40B4-BE49-F238E27FC236}">
                <a16:creationId xmlns:a16="http://schemas.microsoft.com/office/drawing/2014/main" id="{2047E518-99C0-4A77-9E3B-98293AB7F650}"/>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DA6368B0-AD78-42FA-8BE0-D89206C46C31}"/>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18B91F6A-7C1D-4656-99A4-B8FD689B91A0}"/>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04 / 28</a:t>
            </a:r>
          </a:p>
        </p:txBody>
      </p:sp>
    </p:spTree>
    <p:extLst>
      <p:ext uri="{BB962C8B-B14F-4D97-AF65-F5344CB8AC3E}">
        <p14:creationId xmlns:p14="http://schemas.microsoft.com/office/powerpoint/2010/main" val="1544865527"/>
      </p:ext>
    </p:extLst>
  </p:cSld>
</p:sld>
</file>

<file path=ppt/slides/slide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168D0750-3952-4E2A-97AC-558ECBDF1985}"/>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F6A4D9B3-BA42-44A2-885C-BD62236B426E}"/>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Ritme sirkadian</a:t>
            </a:r>
          </a:p>
        </p:txBody>
      </p:sp>
      <p:sp>
        <p:nvSpPr>
          <p:cNvPr id="3" name="">
            <a:extLst xmlns:a="http://schemas.openxmlformats.org/drawingml/2006/main">
              <a:ext uri="{FF2B5EF4-FFF2-40B4-BE49-F238E27FC236}">
                <a16:creationId xmlns:a16="http://schemas.microsoft.com/office/drawing/2014/main" id="{A4D4BF87-6D58-4AAF-A425-FF068C6FF9DB}"/>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Jam biologis mengatur pola sekitar 24 jam.</a:t>
            </a:r>
          </a:p>
        </p:txBody>
      </p:sp>
      <p:sp>
        <p:nvSpPr>
          <p:cNvPr id="4" name="">
            <a:extLst xmlns:a="http://schemas.openxmlformats.org/drawingml/2006/main">
              <a:ext uri="{FF2B5EF4-FFF2-40B4-BE49-F238E27FC236}">
                <a16:creationId xmlns:a16="http://schemas.microsoft.com/office/drawing/2014/main" id="{DAB4FBCC-5F48-48BC-A548-B5A7FA897E5A}"/>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Cahaya dan jadwal aktivitas membantu menyelaraskan ritme.</a:t>
            </a:r>
          </a:p>
        </p:txBody>
      </p:sp>
      <p:sp>
        <p:nvSpPr>
          <p:cNvPr id="5" name="">
            <a:extLst xmlns:a="http://schemas.openxmlformats.org/drawingml/2006/main">
              <a:ext uri="{FF2B5EF4-FFF2-40B4-BE49-F238E27FC236}">
                <a16:creationId xmlns:a16="http://schemas.microsoft.com/office/drawing/2014/main" id="{E9239C1A-B0F0-4A5E-8C9B-9354F20FFE1D}"/>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Kerja malam dapat berbenturan dengan kecenderungan tubuh untuk tidur.</a:t>
            </a:r>
          </a:p>
        </p:txBody>
      </p:sp>
      <p:sp>
        <p:nvSpPr>
          <p:cNvPr id="6" name="">
            <a:extLst xmlns:a="http://schemas.openxmlformats.org/drawingml/2006/main">
              <a:ext uri="{FF2B5EF4-FFF2-40B4-BE49-F238E27FC236}">
                <a16:creationId xmlns:a16="http://schemas.microsoft.com/office/drawing/2014/main" id="{DEFD698E-6329-4396-AC38-DB46F9DAF3D4}"/>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NHLBI · NIOSH · sumber pada catatan</a:t>
            </a:r>
          </a:p>
        </p:txBody>
      </p:sp>
      <p:sp>
        <p:nvSpPr>
          <p:cNvPr id="7" name="">
            <a:extLst xmlns:a="http://schemas.openxmlformats.org/drawingml/2006/main">
              <a:ext uri="{FF2B5EF4-FFF2-40B4-BE49-F238E27FC236}">
                <a16:creationId xmlns:a16="http://schemas.microsoft.com/office/drawing/2014/main" id="{0F389FC0-81E9-4EB3-9175-442CC925BB2D}"/>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26933AD2-F3D1-4F4B-9366-F44B54BB2106}"/>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05 / 28</a:t>
            </a:r>
          </a:p>
        </p:txBody>
      </p:sp>
    </p:spTree>
    <p:extLst>
      <p:ext uri="{BB962C8B-B14F-4D97-AF65-F5344CB8AC3E}">
        <p14:creationId xmlns:p14="http://schemas.microsoft.com/office/powerpoint/2010/main" val="1735411539"/>
      </p:ext>
    </p:extLst>
  </p:cSld>
</p:sld>
</file>

<file path=ppt/slides/slide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0064F51-34C5-498C-B058-1E429D0A49D7}"/>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55B5BD86-3B3A-4B1D-AFFA-22AED5E1B757}"/>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Tahap tidur dalam materi mutakhir</a:t>
            </a:r>
          </a:p>
        </p:txBody>
      </p:sp>
      <p:graphicFrame>
        <p:nvGraphicFramePr>
          <p:cNvPr id="3" name="">
            <a:extLst xmlns:a="http://schemas.openxmlformats.org/drawingml/2006/main">
              <a:ext uri="{FF2B5EF4-FFF2-40B4-BE49-F238E27FC236}">
                <a16:creationId xmlns:a16="http://schemas.microsoft.com/office/drawing/2014/main" id="{78E1DADF-D099-47D2-8481-1AF5ACC1E203}"/>
              </a:ext>
            </a:extLst>
          </p:cNvPr>
          <p:cNvGraphicFramePr/>
          <p:nvPr/>
        </p:nvGraphicFramePr>
        <p:xfrm>
          <a:off xmlns:a="http://schemas.openxmlformats.org/drawingml/2006/main" x="762000" y="2114550"/>
          <a:ext xmlns:a="http://schemas.openxmlformats.org/drawingml/2006/main" cx="10668000" cy="3429000"/>
        </p:xfrm>
        <a:graphic xmlns:a="http://schemas.openxmlformats.org/drawingml/2006/main">
          <a:graphicData uri="http://schemas.openxmlformats.org/drawingml/2006/table">
            <a:tbl>
              <a:tblPr/>
              <a:tblGrid>
                <a:gridCol w="2857500"/>
                <a:gridCol w="7810500"/>
              </a:tblGrid>
              <a:tr h="685800">
                <a:tc>
                  <a:txBody>
                    <a:bodyPr/>
                    <a:lstStyle/>
                    <a:p>
                      <a:r>
                        <a:rPr sz="1875" b="1">
                          <a:solidFill>
                            <a:srgbClr val="2F5D62"/>
                          </a:solidFill>
                          <a:latin typeface="Arial"/>
                          <a:ea typeface="Arial"/>
                          <a:cs typeface="Arial"/>
                        </a:rPr>
                        <a:t>Tahap</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75" b="1">
                          <a:solidFill>
                            <a:srgbClr val="2F5D62"/>
                          </a:solidFill>
                          <a:latin typeface="Arial"/>
                          <a:ea typeface="Arial"/>
                          <a:cs typeface="Arial"/>
                        </a:rPr>
                        <a:t>Gambaran ringkas</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75" b="0">
                          <a:solidFill>
                            <a:srgbClr val="1F1F1B"/>
                          </a:solidFill>
                          <a:latin typeface="Arial"/>
                          <a:ea typeface="Arial"/>
                          <a:cs typeface="Arial"/>
                        </a:rPr>
                        <a:t>NREM N1</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Peralihan menuju tidur</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NREM N2</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Tidur yang lebih menetap</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NREM N3</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Tidur dalam atau gelombang lambat</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REM</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Aktivitas otak tinggi dan gerakan mata cepat</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25651559-78D2-4571-954F-CB3DE28146CF}"/>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NHLBI · sumber pada catatan</a:t>
            </a:r>
          </a:p>
        </p:txBody>
      </p:sp>
      <p:sp>
        <p:nvSpPr>
          <p:cNvPr id="5" name="">
            <a:extLst xmlns:a="http://schemas.openxmlformats.org/drawingml/2006/main">
              <a:ext uri="{FF2B5EF4-FFF2-40B4-BE49-F238E27FC236}">
                <a16:creationId xmlns:a16="http://schemas.microsoft.com/office/drawing/2014/main" id="{5FDAD76B-DD83-435A-A325-1EF48087F112}"/>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F86044AB-37C5-4617-9F8F-0E48D91A5BBA}"/>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06 / 28</a:t>
            </a:r>
          </a:p>
        </p:txBody>
      </p:sp>
    </p:spTree>
    <p:extLst>
      <p:ext uri="{BB962C8B-B14F-4D97-AF65-F5344CB8AC3E}">
        <p14:creationId xmlns:p14="http://schemas.microsoft.com/office/powerpoint/2010/main" val="972964612"/>
      </p:ext>
    </p:extLst>
  </p:cSld>
</p:sld>
</file>

<file path=ppt/slides/slide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B369458-2E49-475F-84AF-4F2BACA4131D}"/>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62D29CDE-4468-4BEE-BFB2-9DD98BCC7286}"/>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Kebutuhan tidur dewasa</a:t>
            </a:r>
          </a:p>
        </p:txBody>
      </p:sp>
      <p:sp>
        <p:nvSpPr>
          <p:cNvPr id="3" name="">
            <a:extLst xmlns:a="http://schemas.openxmlformats.org/drawingml/2006/main">
              <a:ext uri="{FF2B5EF4-FFF2-40B4-BE49-F238E27FC236}">
                <a16:creationId xmlns:a16="http://schemas.microsoft.com/office/drawing/2014/main" id="{8ED0343F-11E3-469F-BC51-206B98B64F6E}"/>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Usia 18–60 tahun: rekomendasi umum sedikitnya 7 jam per malam.</a:t>
            </a:r>
          </a:p>
        </p:txBody>
      </p:sp>
      <p:sp>
        <p:nvSpPr>
          <p:cNvPr id="4" name="">
            <a:extLst xmlns:a="http://schemas.openxmlformats.org/drawingml/2006/main">
              <a:ext uri="{FF2B5EF4-FFF2-40B4-BE49-F238E27FC236}">
                <a16:creationId xmlns:a16="http://schemas.microsoft.com/office/drawing/2014/main" id="{8195DF76-B181-4A96-AEEE-A2469326D368}"/>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Kualitas tidur dan kondisi saat terjaga juga perlu diperhatikan.</a:t>
            </a:r>
          </a:p>
        </p:txBody>
      </p:sp>
      <p:sp>
        <p:nvSpPr>
          <p:cNvPr id="5" name="">
            <a:extLst xmlns:a="http://schemas.openxmlformats.org/drawingml/2006/main">
              <a:ext uri="{FF2B5EF4-FFF2-40B4-BE49-F238E27FC236}">
                <a16:creationId xmlns:a16="http://schemas.microsoft.com/office/drawing/2014/main" id="{4779B259-99C9-475E-833C-84DD67E775AE}"/>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Lima jam tidak dijadikan target rutin yang memadai.</a:t>
            </a:r>
          </a:p>
        </p:txBody>
      </p:sp>
      <p:sp>
        <p:nvSpPr>
          <p:cNvPr id="6" name="">
            <a:extLst xmlns:a="http://schemas.openxmlformats.org/drawingml/2006/main">
              <a:ext uri="{FF2B5EF4-FFF2-40B4-BE49-F238E27FC236}">
                <a16:creationId xmlns:a16="http://schemas.microsoft.com/office/drawing/2014/main" id="{8EFA3386-B108-4442-840C-DCFD5E324E1C}"/>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CDC · sumber pada catatan</a:t>
            </a:r>
          </a:p>
        </p:txBody>
      </p:sp>
      <p:sp>
        <p:nvSpPr>
          <p:cNvPr id="7" name="">
            <a:extLst xmlns:a="http://schemas.openxmlformats.org/drawingml/2006/main">
              <a:ext uri="{FF2B5EF4-FFF2-40B4-BE49-F238E27FC236}">
                <a16:creationId xmlns:a16="http://schemas.microsoft.com/office/drawing/2014/main" id="{A46DB026-3D8F-4247-9BF0-7E43A57835EF}"/>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97640AF2-4A07-4035-AAA8-344528FB9278}"/>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07 / 28</a:t>
            </a:r>
          </a:p>
        </p:txBody>
      </p:sp>
    </p:spTree>
    <p:extLst>
      <p:ext uri="{BB962C8B-B14F-4D97-AF65-F5344CB8AC3E}">
        <p14:creationId xmlns:p14="http://schemas.microsoft.com/office/powerpoint/2010/main" val="1120326456"/>
      </p:ext>
    </p:extLst>
  </p:cSld>
</p:sld>
</file>

<file path=ppt/slides/slide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10F1BC-7BE7-46D0-8836-3C72349B8B1F}"/>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F24DBAFD-2394-4EAF-AEAF-D85CC93F8827}"/>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Kelelahan pada pekerjaan geofisika</a:t>
            </a:r>
          </a:p>
        </p:txBody>
      </p:sp>
      <p:sp>
        <p:nvSpPr>
          <p:cNvPr id="3" name="">
            <a:extLst xmlns:a="http://schemas.openxmlformats.org/drawingml/2006/main">
              <a:ext uri="{FF2B5EF4-FFF2-40B4-BE49-F238E27FC236}">
                <a16:creationId xmlns:a16="http://schemas.microsoft.com/office/drawing/2014/main" id="{19405A08-B555-405E-9324-33DD00472ECF}"/>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Salah memasukkan nomor elektroda atau identitas stasiun.</a:t>
            </a:r>
          </a:p>
        </p:txBody>
      </p:sp>
      <p:sp>
        <p:nvSpPr>
          <p:cNvPr id="4" name="">
            <a:extLst xmlns:a="http://schemas.openxmlformats.org/drawingml/2006/main">
              <a:ext uri="{FF2B5EF4-FFF2-40B4-BE49-F238E27FC236}">
                <a16:creationId xmlns:a16="http://schemas.microsoft.com/office/drawing/2014/main" id="{4F81009E-36E5-4AAF-9108-EA7EF77DC97B}"/>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Melewatkan konfirmasi radio sebelum tahap berbahaya.</a:t>
            </a:r>
          </a:p>
        </p:txBody>
      </p:sp>
      <p:sp>
        <p:nvSpPr>
          <p:cNvPr id="5" name="">
            <a:extLst xmlns:a="http://schemas.openxmlformats.org/drawingml/2006/main">
              <a:ext uri="{FF2B5EF4-FFF2-40B4-BE49-F238E27FC236}">
                <a16:creationId xmlns:a16="http://schemas.microsoft.com/office/drawing/2014/main" id="{497A7CE9-6101-434E-83E2-CB9EBC503D9F}"/>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Lengah saat melepas alat atau selama perjalanan pulang.</a:t>
            </a:r>
          </a:p>
        </p:txBody>
      </p:sp>
      <p:sp>
        <p:nvSpPr>
          <p:cNvPr id="6" name="">
            <a:extLst xmlns:a="http://schemas.openxmlformats.org/drawingml/2006/main">
              <a:ext uri="{FF2B5EF4-FFF2-40B4-BE49-F238E27FC236}">
                <a16:creationId xmlns:a16="http://schemas.microsoft.com/office/drawing/2014/main" id="{2683F2D7-A981-4486-B29E-997EC1019F29}"/>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92C47AD7-B732-4D38-A281-A71A2E734162}"/>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3C998530-DEFB-4E2A-BFB9-31BB22F17B88}"/>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08 / 28</a:t>
            </a:r>
          </a:p>
        </p:txBody>
      </p:sp>
    </p:spTree>
    <p:extLst>
      <p:ext uri="{BB962C8B-B14F-4D97-AF65-F5344CB8AC3E}">
        <p14:creationId xmlns:p14="http://schemas.microsoft.com/office/powerpoint/2010/main" val="689527971"/>
      </p:ext>
    </p:extLst>
  </p:cSld>
</p:sld>
</file>

<file path=ppt/slides/slide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2E27B9E-AF7D-4DE1-8161-BC895907667F}"/>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3BB99D69-2C98-4498-8504-01C4C0D2FE9E}"/>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Laporan kondisi dan tindakan tim</a:t>
            </a:r>
          </a:p>
        </p:txBody>
      </p:sp>
      <p:sp>
        <p:nvSpPr>
          <p:cNvPr id="3" name="">
            <a:extLst xmlns:a="http://schemas.openxmlformats.org/drawingml/2006/main">
              <a:ext uri="{FF2B5EF4-FFF2-40B4-BE49-F238E27FC236}">
                <a16:creationId xmlns:a16="http://schemas.microsoft.com/office/drawing/2014/main" id="{D406E153-04DF-4408-B76E-6D282505CB28}"/>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Mengantuk berat, konsentrasi berulang kali terputus, atau gerak tidak stabil perlu ditanggapi.</a:t>
            </a:r>
          </a:p>
        </p:txBody>
      </p:sp>
      <p:sp>
        <p:nvSpPr>
          <p:cNvPr id="4" name="">
            <a:extLst xmlns:a="http://schemas.openxmlformats.org/drawingml/2006/main">
              <a:ext uri="{FF2B5EF4-FFF2-40B4-BE49-F238E27FC236}">
                <a16:creationId xmlns:a16="http://schemas.microsoft.com/office/drawing/2014/main" id="{8AA97BD0-E372-4D9B-9453-7C4E728CCB02}"/>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Hentikan tahap yang bergantung pada kewaspadaan tersebut.</a:t>
            </a:r>
          </a:p>
        </p:txBody>
      </p:sp>
      <p:sp>
        <p:nvSpPr>
          <p:cNvPr id="5" name="">
            <a:extLst xmlns:a="http://schemas.openxmlformats.org/drawingml/2006/main">
              <a:ext uri="{FF2B5EF4-FFF2-40B4-BE49-F238E27FC236}">
                <a16:creationId xmlns:a16="http://schemas.microsoft.com/office/drawing/2014/main" id="{E3F22845-88F9-46FD-94EE-1A19B3DB0E37}"/>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Atur pengganti, pemulihan, atau penundaan dan nilai ulang syarat aman.</a:t>
            </a:r>
          </a:p>
        </p:txBody>
      </p:sp>
      <p:sp>
        <p:nvSpPr>
          <p:cNvPr id="6" name="">
            <a:extLst xmlns:a="http://schemas.openxmlformats.org/drawingml/2006/main">
              <a:ext uri="{FF2B5EF4-FFF2-40B4-BE49-F238E27FC236}">
                <a16:creationId xmlns:a16="http://schemas.microsoft.com/office/drawing/2014/main" id="{116486E4-9470-4304-B35B-50A9EE388FD3}"/>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667E5894-03E0-49B7-AF67-D2415575E660}"/>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4FF45559-75C7-4984-AE65-E7BDF8B3FC6F}"/>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09 / 28</a:t>
            </a:r>
          </a:p>
        </p:txBody>
      </p:sp>
    </p:spTree>
    <p:extLst>
      <p:ext uri="{BB962C8B-B14F-4D97-AF65-F5344CB8AC3E}">
        <p14:creationId xmlns:p14="http://schemas.microsoft.com/office/powerpoint/2010/main" val="786130569"/>
      </p:ext>
    </p:extLst>
  </p:cSld>
</p:sld>
</file>

<file path=ppt/slides/slide1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16899E3-D694-4F76-946C-E6D47A7D563C}"/>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088DF595-DEB0-4F31-BD56-AB83F1502D90}"/>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Waktu kerja mencakup seluruh perjalanan</a:t>
            </a:r>
          </a:p>
        </p:txBody>
      </p:sp>
      <p:sp>
        <p:nvSpPr>
          <p:cNvPr id="3" name="">
            <a:extLst xmlns:a="http://schemas.openxmlformats.org/drawingml/2006/main">
              <a:ext uri="{FF2B5EF4-FFF2-40B4-BE49-F238E27FC236}">
                <a16:creationId xmlns:a16="http://schemas.microsoft.com/office/drawing/2014/main" id="{E4A1D02D-DEAC-450D-9B31-6BDD548CE4E1}"/>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Masukkan persiapan, akses, akuisisi, dan pembongkaran.</a:t>
            </a:r>
          </a:p>
        </p:txBody>
      </p:sp>
      <p:sp>
        <p:nvSpPr>
          <p:cNvPr id="4" name="">
            <a:extLst xmlns:a="http://schemas.openxmlformats.org/drawingml/2006/main">
              <a:ext uri="{FF2B5EF4-FFF2-40B4-BE49-F238E27FC236}">
                <a16:creationId xmlns:a16="http://schemas.microsoft.com/office/drawing/2014/main" id="{9E6A5C8B-64CD-482D-90DB-3100D9087475}"/>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Tambahkan perjalanan pulang serta kesempatan pemulihan.</a:t>
            </a:r>
          </a:p>
        </p:txBody>
      </p:sp>
      <p:sp>
        <p:nvSpPr>
          <p:cNvPr id="5" name="">
            <a:extLst xmlns:a="http://schemas.openxmlformats.org/drawingml/2006/main">
              <a:ext uri="{FF2B5EF4-FFF2-40B4-BE49-F238E27FC236}">
                <a16:creationId xmlns:a16="http://schemas.microsoft.com/office/drawing/2014/main" id="{B89A8B66-18B4-4A1B-A956-E0B9D166CC3B}"/>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Kopi atau tekad menyelesaikan target tidak menggantikan tidur.</a:t>
            </a:r>
          </a:p>
        </p:txBody>
      </p:sp>
      <p:sp>
        <p:nvSpPr>
          <p:cNvPr id="6" name="">
            <a:extLst xmlns:a="http://schemas.openxmlformats.org/drawingml/2006/main">
              <a:ext uri="{FF2B5EF4-FFF2-40B4-BE49-F238E27FC236}">
                <a16:creationId xmlns:a16="http://schemas.microsoft.com/office/drawing/2014/main" id="{8AC7AFA6-9ED1-4461-B2BC-72CA81E73515}"/>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A05452C9-F03E-4966-BB83-77A6D09AFB08}"/>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E1011AD8-8652-4197-B304-3A9EF886A4F9}"/>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10 / 28</a:t>
            </a:r>
          </a:p>
        </p:txBody>
      </p:sp>
    </p:spTree>
    <p:extLst>
      <p:ext uri="{BB962C8B-B14F-4D97-AF65-F5344CB8AC3E}">
        <p14:creationId xmlns:p14="http://schemas.microsoft.com/office/powerpoint/2010/main" val="1648265675"/>
      </p:ext>
    </p:extLst>
  </p:cSld>
</p:sld>
</file>

<file path=ppt/slides/slide1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095B716-D15F-4060-9005-9E47D99A88DA}"/>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9DA1C154-527C-4379-A22D-93E2D13D0088}"/>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Kerja malam perlu alasan dan dukungan</a:t>
            </a:r>
          </a:p>
        </p:txBody>
      </p:sp>
      <p:sp>
        <p:nvSpPr>
          <p:cNvPr id="3" name="">
            <a:extLst xmlns:a="http://schemas.openxmlformats.org/drawingml/2006/main">
              <a:ext uri="{FF2B5EF4-FFF2-40B4-BE49-F238E27FC236}">
                <a16:creationId xmlns:a16="http://schemas.microsoft.com/office/drawing/2014/main" id="{53C77E90-1778-4783-9EDA-E87C02A0E5CC}"/>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Sebagian pengukuran pasif memerlukan kondisi kebisingan tertentu.</a:t>
            </a:r>
          </a:p>
        </p:txBody>
      </p:sp>
      <p:sp>
        <p:nvSpPr>
          <p:cNvPr id="4" name="">
            <a:extLst xmlns:a="http://schemas.openxmlformats.org/drawingml/2006/main">
              <a:ext uri="{FF2B5EF4-FFF2-40B4-BE49-F238E27FC236}">
                <a16:creationId xmlns:a16="http://schemas.microsoft.com/office/drawing/2014/main" id="{B5402F83-024A-4C5A-951E-02B0EF1DBA76}"/>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Pertimbangkan alternatif waktu atau metode sebelum memilih malam.</a:t>
            </a:r>
          </a:p>
        </p:txBody>
      </p:sp>
      <p:sp>
        <p:nvSpPr>
          <p:cNvPr id="5" name="">
            <a:extLst xmlns:a="http://schemas.openxmlformats.org/drawingml/2006/main">
              <a:ext uri="{FF2B5EF4-FFF2-40B4-BE49-F238E27FC236}">
                <a16:creationId xmlns:a16="http://schemas.microsoft.com/office/drawing/2014/main" id="{E649F7FF-3CB7-4F67-90CA-A07407CC2A05}"/>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Siapkan pencahayaan, komunikasi, personel, dan perjalanan pulang.</a:t>
            </a:r>
          </a:p>
        </p:txBody>
      </p:sp>
      <p:sp>
        <p:nvSpPr>
          <p:cNvPr id="6" name="">
            <a:extLst xmlns:a="http://schemas.openxmlformats.org/drawingml/2006/main">
              <a:ext uri="{FF2B5EF4-FFF2-40B4-BE49-F238E27FC236}">
                <a16:creationId xmlns:a16="http://schemas.microsoft.com/office/drawing/2014/main" id="{A1956328-3F2F-4FA2-AA6D-9BBD509EAE10}"/>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1057D904-9DE5-43A2-822F-263F4FE3CCBF}"/>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6E2E9C12-8927-460B-8643-DCF59C452682}"/>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11 / 28</a:t>
            </a:r>
          </a:p>
        </p:txBody>
      </p:sp>
    </p:spTree>
    <p:extLst>
      <p:ext uri="{BB962C8B-B14F-4D97-AF65-F5344CB8AC3E}">
        <p14:creationId xmlns:p14="http://schemas.microsoft.com/office/powerpoint/2010/main" val="1220976135"/>
      </p:ext>
    </p:extLst>
  </p:cSld>
</p:sld>
</file>

<file path=ppt/slides/slide1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40DFDECF-F992-4173-BC93-A0DF4A3D3F59}"/>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13CC0A0D-C1C3-416B-95BC-5966F070D383}"/>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Panas menambah tuntutan fisiologis</a:t>
            </a:r>
          </a:p>
        </p:txBody>
      </p:sp>
      <p:sp>
        <p:nvSpPr>
          <p:cNvPr id="3" name="">
            <a:extLst xmlns:a="http://schemas.openxmlformats.org/drawingml/2006/main">
              <a:ext uri="{FF2B5EF4-FFF2-40B4-BE49-F238E27FC236}">
                <a16:creationId xmlns:a16="http://schemas.microsoft.com/office/drawing/2014/main" id="{5881E5D0-B8CD-48FE-8A89-9D09740D658B}"/>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Beban panas berasal dari lingkungan dan aktivitas tubuh.</a:t>
            </a:r>
          </a:p>
        </p:txBody>
      </p:sp>
      <p:sp>
        <p:nvSpPr>
          <p:cNvPr id="4" name="">
            <a:extLst xmlns:a="http://schemas.openxmlformats.org/drawingml/2006/main">
              <a:ext uri="{FF2B5EF4-FFF2-40B4-BE49-F238E27FC236}">
                <a16:creationId xmlns:a16="http://schemas.microsoft.com/office/drawing/2014/main" id="{7F0114AC-07EC-420F-9FD9-D0C70836B45B}"/>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Pakaian serta APD dapat memengaruhi pelepasan panas.</a:t>
            </a:r>
          </a:p>
        </p:txBody>
      </p:sp>
      <p:sp>
        <p:nvSpPr>
          <p:cNvPr id="5" name="">
            <a:extLst xmlns:a="http://schemas.openxmlformats.org/drawingml/2006/main">
              <a:ext uri="{FF2B5EF4-FFF2-40B4-BE49-F238E27FC236}">
                <a16:creationId xmlns:a16="http://schemas.microsoft.com/office/drawing/2014/main" id="{A700003E-5911-42D4-BE0B-FF694E2AAE8B}"/>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Kebugaran tidak menghilangkan kebutuhan pengendalian paparan.</a:t>
            </a:r>
          </a:p>
        </p:txBody>
      </p:sp>
      <p:sp>
        <p:nvSpPr>
          <p:cNvPr id="6" name="">
            <a:extLst xmlns:a="http://schemas.openxmlformats.org/drawingml/2006/main">
              <a:ext uri="{FF2B5EF4-FFF2-40B4-BE49-F238E27FC236}">
                <a16:creationId xmlns:a16="http://schemas.microsoft.com/office/drawing/2014/main" id="{A5FE488A-91E1-40CF-8571-0A96C8BBE72C}"/>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8AEC4BD7-989B-4027-AB3A-C7CFE5F87E5A}"/>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3CAF21F8-660F-4E86-96D5-F60103E38DE5}"/>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12 / 28</a:t>
            </a:r>
          </a:p>
        </p:txBody>
      </p:sp>
    </p:spTree>
    <p:extLst>
      <p:ext uri="{BB962C8B-B14F-4D97-AF65-F5344CB8AC3E}">
        <p14:creationId xmlns:p14="http://schemas.microsoft.com/office/powerpoint/2010/main" val="993934627"/>
      </p:ext>
    </p:extLst>
  </p:cSld>
</p:sld>
</file>

<file path=ppt/slides/slide1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AB5A7E3-1383-4957-AB64-F4ECBF6454F1}"/>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2A636F1E-B27E-465D-8866-C17E84A10D9B}"/>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Aklimatisasi berlangsung bertahap</a:t>
            </a:r>
          </a:p>
        </p:txBody>
      </p:sp>
      <p:sp>
        <p:nvSpPr>
          <p:cNvPr id="3" name="">
            <a:extLst xmlns:a="http://schemas.openxmlformats.org/drawingml/2006/main">
              <a:ext uri="{FF2B5EF4-FFF2-40B4-BE49-F238E27FC236}">
                <a16:creationId xmlns:a16="http://schemas.microsoft.com/office/drawing/2014/main" id="{238CA955-3190-4BC4-B7D7-3E7073BF1682}"/>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NIOSH menganjurkan peningkatan paparan panas secara bertahap selama 7–14 hari.</a:t>
            </a:r>
          </a:p>
        </p:txBody>
      </p:sp>
      <p:sp>
        <p:nvSpPr>
          <p:cNvPr id="4" name="">
            <a:extLst xmlns:a="http://schemas.openxmlformats.org/drawingml/2006/main">
              <a:ext uri="{FF2B5EF4-FFF2-40B4-BE49-F238E27FC236}">
                <a16:creationId xmlns:a16="http://schemas.microsoft.com/office/drawing/2014/main" id="{64D05DC2-7021-460F-BFE2-2C19B65BBED9}"/>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Mahasiswa yang baru datang ke lokasi perlu rencana penyesuaian.</a:t>
            </a:r>
          </a:p>
        </p:txBody>
      </p:sp>
      <p:sp>
        <p:nvSpPr>
          <p:cNvPr id="5" name="">
            <a:extLst xmlns:a="http://schemas.openxmlformats.org/drawingml/2006/main">
              <a:ext uri="{FF2B5EF4-FFF2-40B4-BE49-F238E27FC236}">
                <a16:creationId xmlns:a16="http://schemas.microsoft.com/office/drawing/2014/main" id="{FF8F708B-EDEC-402B-85A1-0EDCE54FFF0E}"/>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Rencana juga perlu ditinjau setelah jeda paparan.</a:t>
            </a:r>
          </a:p>
        </p:txBody>
      </p:sp>
      <p:sp>
        <p:nvSpPr>
          <p:cNvPr id="6" name="">
            <a:extLst xmlns:a="http://schemas.openxmlformats.org/drawingml/2006/main">
              <a:ext uri="{FF2B5EF4-FFF2-40B4-BE49-F238E27FC236}">
                <a16:creationId xmlns:a16="http://schemas.microsoft.com/office/drawing/2014/main" id="{FF2A4BA5-CD56-4D05-96BF-2E21778FA266}"/>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0B7CC25E-AAB8-45C6-BFB5-2E7B42700231}"/>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FE3EB9FE-99AE-47F8-A14F-328887EB2069}"/>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13 / 28</a:t>
            </a:r>
          </a:p>
        </p:txBody>
      </p:sp>
    </p:spTree>
    <p:extLst>
      <p:ext uri="{BB962C8B-B14F-4D97-AF65-F5344CB8AC3E}">
        <p14:creationId xmlns:p14="http://schemas.microsoft.com/office/powerpoint/2010/main" val="848102274"/>
      </p:ext>
    </p:extLst>
  </p:cSld>
</p:sld>
</file>

<file path=ppt/slides/slide1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A0AFAFC5-66EF-4AFA-B882-8DFB9416F825}"/>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06428827-C1EA-4928-BC2B-7D8EA1541B5F}"/>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Pemulihan dalam panas</a:t>
            </a:r>
          </a:p>
        </p:txBody>
      </p:sp>
      <p:sp>
        <p:nvSpPr>
          <p:cNvPr id="3" name="">
            <a:extLst xmlns:a="http://schemas.openxmlformats.org/drawingml/2006/main">
              <a:ext uri="{FF2B5EF4-FFF2-40B4-BE49-F238E27FC236}">
                <a16:creationId xmlns:a16="http://schemas.microsoft.com/office/drawing/2014/main" id="{148C6A16-E571-43F3-9FBB-A8BD3EB4CF5D}"/>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Sediakan air minum yang mudah dijangkau.</a:t>
            </a:r>
          </a:p>
        </p:txBody>
      </p:sp>
      <p:sp>
        <p:nvSpPr>
          <p:cNvPr id="4" name="">
            <a:extLst xmlns:a="http://schemas.openxmlformats.org/drawingml/2006/main">
              <a:ext uri="{FF2B5EF4-FFF2-40B4-BE49-F238E27FC236}">
                <a16:creationId xmlns:a16="http://schemas.microsoft.com/office/drawing/2014/main" id="{523D1204-0154-4181-B368-0289817199CD}"/>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Sediakan kesempatan istirahat di tempat lebih sejuk atau teduh.</a:t>
            </a:r>
          </a:p>
        </p:txBody>
      </p:sp>
      <p:sp>
        <p:nvSpPr>
          <p:cNvPr id="5" name="">
            <a:extLst xmlns:a="http://schemas.openxmlformats.org/drawingml/2006/main">
              <a:ext uri="{FF2B5EF4-FFF2-40B4-BE49-F238E27FC236}">
                <a16:creationId xmlns:a16="http://schemas.microsoft.com/office/drawing/2014/main" id="{8B10570F-D9F3-4903-91BC-E8FB302D43A0}"/>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Sesuaikan tuntutan dan paparan dengan kondisi yang berubah.</a:t>
            </a:r>
          </a:p>
        </p:txBody>
      </p:sp>
      <p:sp>
        <p:nvSpPr>
          <p:cNvPr id="6" name="">
            <a:extLst xmlns:a="http://schemas.openxmlformats.org/drawingml/2006/main">
              <a:ext uri="{FF2B5EF4-FFF2-40B4-BE49-F238E27FC236}">
                <a16:creationId xmlns:a16="http://schemas.microsoft.com/office/drawing/2014/main" id="{891E35A5-81D9-4A41-8D00-0A8ABAAD2818}"/>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A5E976B5-D7D6-4984-9381-14A5BD1A435C}"/>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17FD6BFF-B534-4ED1-A0EF-F746AB5B2E13}"/>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14 / 28</a:t>
            </a:r>
          </a:p>
        </p:txBody>
      </p:sp>
    </p:spTree>
    <p:extLst>
      <p:ext uri="{BB962C8B-B14F-4D97-AF65-F5344CB8AC3E}">
        <p14:creationId xmlns:p14="http://schemas.microsoft.com/office/powerpoint/2010/main" val="1783087559"/>
      </p:ext>
    </p:extLst>
  </p:cSld>
</p:sld>
</file>

<file path=ppt/slides/slide1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F0B57A7-99E7-402E-A7D7-F7E6C4161031}"/>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756453A4-B608-46EB-B516-5E9A6DEE4488}"/>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Tanda bahaya saat bekerja dalam panas</a:t>
            </a:r>
          </a:p>
        </p:txBody>
      </p:sp>
      <p:sp>
        <p:nvSpPr>
          <p:cNvPr id="3" name="">
            <a:extLst xmlns:a="http://schemas.openxmlformats.org/drawingml/2006/main">
              <a:ext uri="{FF2B5EF4-FFF2-40B4-BE49-F238E27FC236}">
                <a16:creationId xmlns:a16="http://schemas.microsoft.com/office/drawing/2014/main" id="{D42E054B-C73F-4E2A-9972-F52331800164}"/>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Kebingungan, bicara pelo, kejang, atau hilang kesadaran memerlukan respons darurat.</a:t>
            </a:r>
          </a:p>
        </p:txBody>
      </p:sp>
      <p:sp>
        <p:nvSpPr>
          <p:cNvPr id="4" name="">
            <a:extLst xmlns:a="http://schemas.openxmlformats.org/drawingml/2006/main">
              <a:ext uri="{FF2B5EF4-FFF2-40B4-BE49-F238E27FC236}">
                <a16:creationId xmlns:a16="http://schemas.microsoft.com/office/drawing/2014/main" id="{EB951A97-DBF4-4EEC-A9E5-97ECAE41E8FD}"/>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Hentikan kerja, aktifkan bantuan medis setempat, dan mulai pendinginan segera bila aman.</a:t>
            </a:r>
          </a:p>
        </p:txBody>
      </p:sp>
      <p:sp>
        <p:nvSpPr>
          <p:cNvPr id="5" name="">
            <a:extLst xmlns:a="http://schemas.openxmlformats.org/drawingml/2006/main">
              <a:ext uri="{FF2B5EF4-FFF2-40B4-BE49-F238E27FC236}">
                <a16:creationId xmlns:a16="http://schemas.microsoft.com/office/drawing/2014/main" id="{E761099E-33AE-4ABC-8117-E38A9121139E}"/>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Dampingi korban; jangan berikan minuman bila tidak sadar atau sulit menelan.</a:t>
            </a:r>
          </a:p>
        </p:txBody>
      </p:sp>
      <p:sp>
        <p:nvSpPr>
          <p:cNvPr id="6" name="">
            <a:extLst xmlns:a="http://schemas.openxmlformats.org/drawingml/2006/main">
              <a:ext uri="{FF2B5EF4-FFF2-40B4-BE49-F238E27FC236}">
                <a16:creationId xmlns:a16="http://schemas.microsoft.com/office/drawing/2014/main" id="{FBDD8F5C-2D3D-47DA-9943-DB2CF67426E2}"/>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NIOSH · sumber pada catatan</a:t>
            </a:r>
          </a:p>
        </p:txBody>
      </p:sp>
      <p:sp>
        <p:nvSpPr>
          <p:cNvPr id="7" name="">
            <a:extLst xmlns:a="http://schemas.openxmlformats.org/drawingml/2006/main">
              <a:ext uri="{FF2B5EF4-FFF2-40B4-BE49-F238E27FC236}">
                <a16:creationId xmlns:a16="http://schemas.microsoft.com/office/drawing/2014/main" id="{9312F397-F5E6-44E7-9FAB-3B8B2705D57F}"/>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36590ECE-8444-47CA-B1D3-A686F430351B}"/>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15 / 28</a:t>
            </a:r>
          </a:p>
        </p:txBody>
      </p:sp>
    </p:spTree>
    <p:extLst>
      <p:ext uri="{BB962C8B-B14F-4D97-AF65-F5344CB8AC3E}">
        <p14:creationId xmlns:p14="http://schemas.microsoft.com/office/powerpoint/2010/main" val="1900714578"/>
      </p:ext>
    </p:extLst>
  </p:cSld>
</p:sld>
</file>

<file path=ppt/slides/slide1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B6F78967-2B08-4CEF-9B81-ADE1AB736881}"/>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561D971F-199D-4E8C-8C00-BFD2239A88DD}"/>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Rencana kerja dengan ruang pemulihan</a:t>
            </a:r>
          </a:p>
        </p:txBody>
      </p:sp>
      <p:sp>
        <p:nvSpPr>
          <p:cNvPr id="3" name="">
            <a:extLst xmlns:a="http://schemas.openxmlformats.org/drawingml/2006/main">
              <a:ext uri="{FF2B5EF4-FFF2-40B4-BE49-F238E27FC236}">
                <a16:creationId xmlns:a16="http://schemas.microsoft.com/office/drawing/2014/main" id="{258A22CC-DF49-4397-8E50-BFD2F496A5A8}"/>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Tentukan tahap berat, waktu paparan, dan titik istirahat.</a:t>
            </a:r>
          </a:p>
        </p:txBody>
      </p:sp>
      <p:sp>
        <p:nvSpPr>
          <p:cNvPr id="4" name="">
            <a:extLst xmlns:a="http://schemas.openxmlformats.org/drawingml/2006/main">
              <a:ext uri="{FF2B5EF4-FFF2-40B4-BE49-F238E27FC236}">
                <a16:creationId xmlns:a16="http://schemas.microsoft.com/office/drawing/2014/main" id="{CE0C2C77-ABFE-4809-9F52-0A5BE9BB732F}"/>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Siapkan personel pengganti serta waktu cadangan.</a:t>
            </a:r>
          </a:p>
        </p:txBody>
      </p:sp>
      <p:sp>
        <p:nvSpPr>
          <p:cNvPr id="5" name="">
            <a:extLst xmlns:a="http://schemas.openxmlformats.org/drawingml/2006/main">
              <a:ext uri="{FF2B5EF4-FFF2-40B4-BE49-F238E27FC236}">
                <a16:creationId xmlns:a16="http://schemas.microsoft.com/office/drawing/2014/main" id="{DC62ADD4-6E20-4074-A9AB-E3F9965F8E29}"/>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Tinjau ulang rencana ketika cuaca, kondisi orang, atau akses berubah.</a:t>
            </a:r>
          </a:p>
        </p:txBody>
      </p:sp>
      <p:sp>
        <p:nvSpPr>
          <p:cNvPr id="6" name="">
            <a:extLst xmlns:a="http://schemas.openxmlformats.org/drawingml/2006/main">
              <a:ext uri="{FF2B5EF4-FFF2-40B4-BE49-F238E27FC236}">
                <a16:creationId xmlns:a16="http://schemas.microsoft.com/office/drawing/2014/main" id="{39448AC3-692B-456E-9FF8-E841CED4D54D}"/>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00C91286-5BDD-463F-BB23-43DCAFFECABB}"/>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16 / 28</a:t>
            </a:r>
          </a:p>
        </p:txBody>
      </p:sp>
    </p:spTree>
    <p:extLst>
      <p:ext uri="{BB962C8B-B14F-4D97-AF65-F5344CB8AC3E}">
        <p14:creationId xmlns:p14="http://schemas.microsoft.com/office/powerpoint/2010/main" val="369674521"/>
      </p:ext>
    </p:extLst>
  </p:cSld>
</p:sld>
</file>

<file path=ppt/slides/slide1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7346E24-D150-46D8-A978-B139FDD50619}"/>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897E4F42-832B-48D7-8D86-C2A0D5AC195C}"/>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Bahaya, kejadian, dan akibat</a:t>
            </a:r>
          </a:p>
        </p:txBody>
      </p:sp>
      <p:graphicFrame>
        <p:nvGraphicFramePr>
          <p:cNvPr id="3" name="">
            <a:extLst xmlns:a="http://schemas.openxmlformats.org/drawingml/2006/main">
              <a:ext uri="{FF2B5EF4-FFF2-40B4-BE49-F238E27FC236}">
                <a16:creationId xmlns:a16="http://schemas.microsoft.com/office/drawing/2014/main" id="{043D9A25-C4EA-4766-A5CC-391D7064E832}"/>
              </a:ext>
            </a:extLst>
          </p:cNvPr>
          <p:cNvGraphicFramePr/>
          <p:nvPr/>
        </p:nvGraphicFramePr>
        <p:xfrm>
          <a:off xmlns:a="http://schemas.openxmlformats.org/drawingml/2006/main" x="762000" y="2114550"/>
          <a:ext xmlns:a="http://schemas.openxmlformats.org/drawingml/2006/main" cx="10668000" cy="2743200"/>
        </p:xfrm>
        <a:graphic xmlns:a="http://schemas.openxmlformats.org/drawingml/2006/main">
          <a:graphicData uri="http://schemas.openxmlformats.org/drawingml/2006/table">
            <a:tbl>
              <a:tblPr/>
              <a:tblGrid>
                <a:gridCol w="2667000"/>
                <a:gridCol w="3619500"/>
                <a:gridCol w="4381500"/>
              </a:tblGrid>
              <a:tr h="685800">
                <a:tc>
                  <a:txBody>
                    <a:bodyPr/>
                    <a:lstStyle/>
                    <a:p>
                      <a:r>
                        <a:rPr sz="1800" b="1">
                          <a:solidFill>
                            <a:srgbClr val="2F5D62"/>
                          </a:solidFill>
                          <a:latin typeface="Arial"/>
                          <a:ea typeface="Arial"/>
                          <a:cs typeface="Arial"/>
                        </a:rPr>
                        <a:t>Bahaya atau kondisi</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Kejadian</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Akibat</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00" b="0">
                          <a:solidFill>
                            <a:srgbClr val="1F1F1B"/>
                          </a:solidFill>
                          <a:latin typeface="Arial"/>
                          <a:ea typeface="Arial"/>
                          <a:cs typeface="Arial"/>
                        </a:rPr>
                        <a:t>Kabel melintang</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Kaki tersangkut</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Jatuh dan cedera</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Energi injeksi listrik</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Kontak bagian berbahaya</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Sengatan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Kelelahan operator</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Konfirmasi terlewat</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Paparan bahaya tidak terkendali</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C201D776-F761-408D-BED7-F95630DC1108}"/>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OSHA · sumber pada catatan</a:t>
            </a:r>
          </a:p>
        </p:txBody>
      </p:sp>
      <p:sp>
        <p:nvSpPr>
          <p:cNvPr id="5" name="">
            <a:extLst xmlns:a="http://schemas.openxmlformats.org/drawingml/2006/main">
              <a:ext uri="{FF2B5EF4-FFF2-40B4-BE49-F238E27FC236}">
                <a16:creationId xmlns:a16="http://schemas.microsoft.com/office/drawing/2014/main" id="{2F451A39-D718-49F0-B4C0-10AD2C660835}"/>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42AFE235-89D7-4961-8316-E7890F7C7DC8}"/>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17 / 28</a:t>
            </a:r>
          </a:p>
        </p:txBody>
      </p:sp>
    </p:spTree>
    <p:extLst>
      <p:ext uri="{BB962C8B-B14F-4D97-AF65-F5344CB8AC3E}">
        <p14:creationId xmlns:p14="http://schemas.microsoft.com/office/powerpoint/2010/main" val="166980061"/>
      </p:ext>
    </p:extLst>
  </p:cSld>
</p:sld>
</file>

<file path=ppt/slides/slide1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C79BA53-1717-4FD5-BF50-94C6C56DF7CD}"/>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E5F94844-DFE4-4522-B2D0-4A9698937783}"/>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JSA menghubungkan rencana dengan bukti</a:t>
            </a:r>
          </a:p>
        </p:txBody>
      </p:sp>
      <p:sp>
        <p:nvSpPr>
          <p:cNvPr id="3" name="">
            <a:extLst xmlns:a="http://schemas.openxmlformats.org/drawingml/2006/main">
              <a:ext uri="{FF2B5EF4-FFF2-40B4-BE49-F238E27FC236}">
                <a16:creationId xmlns:a16="http://schemas.microsoft.com/office/drawing/2014/main" id="{AFA69753-6622-4E89-9728-0CFE5175F502}"/>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Langkah pekerjaan dan sumber bahaya.</a:t>
            </a:r>
          </a:p>
        </p:txBody>
      </p:sp>
      <p:sp>
        <p:nvSpPr>
          <p:cNvPr id="4" name="">
            <a:extLst xmlns:a="http://schemas.openxmlformats.org/drawingml/2006/main">
              <a:ext uri="{FF2B5EF4-FFF2-40B4-BE49-F238E27FC236}">
                <a16:creationId xmlns:a16="http://schemas.microsoft.com/office/drawing/2014/main" id="{36C889A0-AB40-48BC-B6AF-BC271DEA522F}"/>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Kejadian, akibat, serta pengendalian yang sesuai.</a:t>
            </a:r>
          </a:p>
        </p:txBody>
      </p:sp>
      <p:sp>
        <p:nvSpPr>
          <p:cNvPr id="5" name="">
            <a:extLst xmlns:a="http://schemas.openxmlformats.org/drawingml/2006/main">
              <a:ext uri="{FF2B5EF4-FFF2-40B4-BE49-F238E27FC236}">
                <a16:creationId xmlns:a16="http://schemas.microsoft.com/office/drawing/2014/main" id="{4695903E-43D6-4143-8B06-4D1060D6FC1A}"/>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Penanggung jawab dan bukti pemeriksaan sebelum mulai.</a:t>
            </a:r>
          </a:p>
        </p:txBody>
      </p:sp>
      <p:sp>
        <p:nvSpPr>
          <p:cNvPr id="6" name="">
            <a:extLst xmlns:a="http://schemas.openxmlformats.org/drawingml/2006/main">
              <a:ext uri="{FF2B5EF4-FFF2-40B4-BE49-F238E27FC236}">
                <a16:creationId xmlns:a16="http://schemas.microsoft.com/office/drawing/2014/main" id="{16B84FA0-29AB-453B-B3D9-89D270D3088A}"/>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OSHA · sumber pada catatan</a:t>
            </a:r>
          </a:p>
        </p:txBody>
      </p:sp>
      <p:sp>
        <p:nvSpPr>
          <p:cNvPr id="7" name="">
            <a:extLst xmlns:a="http://schemas.openxmlformats.org/drawingml/2006/main">
              <a:ext uri="{FF2B5EF4-FFF2-40B4-BE49-F238E27FC236}">
                <a16:creationId xmlns:a16="http://schemas.microsoft.com/office/drawing/2014/main" id="{AC83F218-1B3C-45AF-9B9D-BEB747969D7E}"/>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66D3BAA3-45BC-4520-876D-9D082257F7AB}"/>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18 / 28</a:t>
            </a:r>
          </a:p>
        </p:txBody>
      </p:sp>
    </p:spTree>
    <p:extLst>
      <p:ext uri="{BB962C8B-B14F-4D97-AF65-F5344CB8AC3E}">
        <p14:creationId xmlns:p14="http://schemas.microsoft.com/office/powerpoint/2010/main" val="476408327"/>
      </p:ext>
    </p:extLst>
  </p:cSld>
</p:sld>
</file>

<file path=ppt/slides/slide1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32E8975-8B2B-489A-965A-468FC0B1B71A}"/>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734D1AE5-67D6-4CA7-8B31-79BC8CBE9A0D}"/>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Hierarki pengendalian dalam rencana</a:t>
            </a:r>
          </a:p>
        </p:txBody>
      </p:sp>
      <p:graphicFrame>
        <p:nvGraphicFramePr>
          <p:cNvPr id="3" name="">
            <a:extLst xmlns:a="http://schemas.openxmlformats.org/drawingml/2006/main">
              <a:ext uri="{FF2B5EF4-FFF2-40B4-BE49-F238E27FC236}">
                <a16:creationId xmlns:a16="http://schemas.microsoft.com/office/drawing/2014/main" id="{78EF7F9F-BCDF-496E-94FD-F5025C7AB609}"/>
              </a:ext>
            </a:extLst>
          </p:cNvPr>
          <p:cNvGraphicFramePr/>
          <p:nvPr/>
        </p:nvGraphicFramePr>
        <p:xfrm>
          <a:off xmlns:a="http://schemas.openxmlformats.org/drawingml/2006/main" x="762000" y="2114550"/>
          <a:ext xmlns:a="http://schemas.openxmlformats.org/drawingml/2006/main" cx="10668000" cy="3429000"/>
        </p:xfrm>
        <a:graphic xmlns:a="http://schemas.openxmlformats.org/drawingml/2006/main">
          <a:graphicData uri="http://schemas.openxmlformats.org/drawingml/2006/table">
            <a:tbl>
              <a:tblPr/>
              <a:tblGrid>
                <a:gridCol w="2857500"/>
                <a:gridCol w="7810500"/>
              </a:tblGrid>
              <a:tr h="685800">
                <a:tc>
                  <a:txBody>
                    <a:bodyPr/>
                    <a:lstStyle/>
                    <a:p>
                      <a:r>
                        <a:rPr sz="1875" b="1">
                          <a:solidFill>
                            <a:srgbClr val="2F5D62"/>
                          </a:solidFill>
                          <a:latin typeface="Arial"/>
                          <a:ea typeface="Arial"/>
                          <a:cs typeface="Arial"/>
                        </a:rPr>
                        <a:t>Prioritas</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75" b="1">
                          <a:solidFill>
                            <a:srgbClr val="2F5D62"/>
                          </a:solidFill>
                          <a:latin typeface="Arial"/>
                          <a:ea typeface="Arial"/>
                          <a:cs typeface="Arial"/>
                        </a:rPr>
                        <a:t>Penerapan pada kasus</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75" b="0">
                          <a:solidFill>
                            <a:srgbClr val="1F1F1B"/>
                          </a:solidFill>
                          <a:latin typeface="Arial"/>
                          <a:ea typeface="Arial"/>
                          <a:cs typeface="Arial"/>
                        </a:rPr>
                        <a:t>Eliminasi / substitusi</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Ubah titik atau metode bila paparan dapat dikurangi</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Rekayasa</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Alat bantu, pembatas zona, penataan akses</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Administratif</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SOP, komunikasi, peran, dan pemulihan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APD</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Perlindungan pribadi sesuai bahaya</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3D453A6C-C34E-41AD-BE9F-2632F836D770}"/>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OSHA · sumber pada catatan</a:t>
            </a:r>
          </a:p>
        </p:txBody>
      </p:sp>
      <p:sp>
        <p:nvSpPr>
          <p:cNvPr id="5" name="">
            <a:extLst xmlns:a="http://schemas.openxmlformats.org/drawingml/2006/main">
              <a:ext uri="{FF2B5EF4-FFF2-40B4-BE49-F238E27FC236}">
                <a16:creationId xmlns:a16="http://schemas.microsoft.com/office/drawing/2014/main" id="{3AA560BF-05CB-41DE-83BE-6D0A9E512A58}"/>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1BE26F6D-98DB-4DD4-AF92-25899621F7BD}"/>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19 / 28</a:t>
            </a:r>
          </a:p>
        </p:txBody>
      </p:sp>
    </p:spTree>
    <p:extLst>
      <p:ext uri="{BB962C8B-B14F-4D97-AF65-F5344CB8AC3E}">
        <p14:creationId xmlns:p14="http://schemas.microsoft.com/office/powerpoint/2010/main" val="2032135640"/>
      </p:ext>
    </p:extLst>
  </p:cSld>
</p:sld>
</file>

<file path=ppt/slides/slide2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B25482-D6BB-4244-956E-607E35FEF3AD}"/>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C500D68B-BE90-42BD-A639-253E6E154D52}"/>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Contoh JSA: akses dan alat</a:t>
            </a:r>
          </a:p>
        </p:txBody>
      </p:sp>
      <p:graphicFrame>
        <p:nvGraphicFramePr>
          <p:cNvPr id="3" name="">
            <a:extLst xmlns:a="http://schemas.openxmlformats.org/drawingml/2006/main">
              <a:ext uri="{FF2B5EF4-FFF2-40B4-BE49-F238E27FC236}">
                <a16:creationId xmlns:a16="http://schemas.microsoft.com/office/drawing/2014/main" id="{F724E3FD-8509-4EDE-8DA8-82B638F81D88}"/>
              </a:ext>
            </a:extLst>
          </p:cNvPr>
          <p:cNvGraphicFramePr/>
          <p:nvPr/>
        </p:nvGraphicFramePr>
        <p:xfrm>
          <a:off xmlns:a="http://schemas.openxmlformats.org/drawingml/2006/main" x="762000" y="2114550"/>
          <a:ext xmlns:a="http://schemas.openxmlformats.org/drawingml/2006/main" cx="10668000" cy="2743200"/>
        </p:xfrm>
        <a:graphic xmlns:a="http://schemas.openxmlformats.org/drawingml/2006/main">
          <a:graphicData uri="http://schemas.openxmlformats.org/drawingml/2006/table">
            <a:tbl>
              <a:tblPr/>
              <a:tblGrid>
                <a:gridCol w="2667000"/>
                <a:gridCol w="3619500"/>
                <a:gridCol w="4381500"/>
              </a:tblGrid>
              <a:tr h="685800">
                <a:tc>
                  <a:txBody>
                    <a:bodyPr/>
                    <a:lstStyle/>
                    <a:p>
                      <a:r>
                        <a:rPr sz="1800" b="1">
                          <a:solidFill>
                            <a:srgbClr val="2F5D62"/>
                          </a:solidFill>
                          <a:latin typeface="Arial"/>
                          <a:ea typeface="Arial"/>
                          <a:cs typeface="Arial"/>
                        </a:rPr>
                        <a:t>Langkah</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Kendali</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Verifikasi / PIC</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00" b="0">
                          <a:solidFill>
                            <a:srgbClr val="1F1F1B"/>
                          </a:solidFill>
                          <a:latin typeface="Arial"/>
                          <a:ea typeface="Arial"/>
                          <a:cs typeface="Arial"/>
                        </a:rPr>
                        <a:t>Tinjau rute</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Pilih akses layak; tunda jika tidak ada</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Ketua menunjukkan rute yang diperiksa</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Siapkan kotak</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Periksa berat, isi, dan pegangan</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PIC alat mengonfirmasi kondisi</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Pindahkan alat</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Pilih bantuan sesuai medan dan tugas</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Tim menyepakati metode dan aba-aba</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5E43F481-A5F6-4EA1-B528-C954D4581A0C}"/>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OSHA · NIOSH · sumber pada catatan</a:t>
            </a:r>
          </a:p>
        </p:txBody>
      </p:sp>
      <p:sp>
        <p:nvSpPr>
          <p:cNvPr id="5" name="">
            <a:extLst xmlns:a="http://schemas.openxmlformats.org/drawingml/2006/main">
              <a:ext uri="{FF2B5EF4-FFF2-40B4-BE49-F238E27FC236}">
                <a16:creationId xmlns:a16="http://schemas.microsoft.com/office/drawing/2014/main" id="{C322EA10-77C1-4C4A-A80A-2D8536D6D401}"/>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9A999688-B0EF-4DFD-A974-1B2F80B56C4D}"/>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20 / 28</a:t>
            </a:r>
          </a:p>
        </p:txBody>
      </p:sp>
    </p:spTree>
    <p:extLst>
      <p:ext uri="{BB962C8B-B14F-4D97-AF65-F5344CB8AC3E}">
        <p14:creationId xmlns:p14="http://schemas.microsoft.com/office/powerpoint/2010/main" val="1480947321"/>
      </p:ext>
    </p:extLst>
  </p:cSld>
</p:sld>
</file>

<file path=ppt/slides/slide2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1EAC5A5-C884-4563-856E-9E4DC4BFCE2D}"/>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93620FEE-055C-4198-A1E2-7D4A612AFD45}"/>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Contoh JSA: ukur dan pulang</a:t>
            </a:r>
          </a:p>
        </p:txBody>
      </p:sp>
      <p:graphicFrame>
        <p:nvGraphicFramePr>
          <p:cNvPr id="3" name="">
            <a:extLst xmlns:a="http://schemas.openxmlformats.org/drawingml/2006/main">
              <a:ext uri="{FF2B5EF4-FFF2-40B4-BE49-F238E27FC236}">
                <a16:creationId xmlns:a16="http://schemas.microsoft.com/office/drawing/2014/main" id="{1BA68319-3C57-4CDF-AA2C-C99AD8F41B38}"/>
              </a:ext>
            </a:extLst>
          </p:cNvPr>
          <p:cNvGraphicFramePr/>
          <p:nvPr/>
        </p:nvGraphicFramePr>
        <p:xfrm>
          <a:off xmlns:a="http://schemas.openxmlformats.org/drawingml/2006/main" x="762000" y="2114550"/>
          <a:ext xmlns:a="http://schemas.openxmlformats.org/drawingml/2006/main" cx="10668000" cy="2743200"/>
        </p:xfrm>
        <a:graphic xmlns:a="http://schemas.openxmlformats.org/drawingml/2006/main">
          <a:graphicData uri="http://schemas.openxmlformats.org/drawingml/2006/table">
            <a:tbl>
              <a:tblPr/>
              <a:tblGrid>
                <a:gridCol w="2667000"/>
                <a:gridCol w="3619500"/>
                <a:gridCol w="4381500"/>
              </a:tblGrid>
              <a:tr h="685800">
                <a:tc>
                  <a:txBody>
                    <a:bodyPr/>
                    <a:lstStyle/>
                    <a:p>
                      <a:r>
                        <a:rPr sz="1800" b="1">
                          <a:solidFill>
                            <a:srgbClr val="2F5D62"/>
                          </a:solidFill>
                          <a:latin typeface="Arial"/>
                          <a:ea typeface="Arial"/>
                          <a:cs typeface="Arial"/>
                        </a:rPr>
                        <a:t>Langkah</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Kendali</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00" b="1">
                          <a:solidFill>
                            <a:srgbClr val="2F5D62"/>
                          </a:solidFill>
                          <a:latin typeface="Arial"/>
                          <a:ea typeface="Arial"/>
                          <a:cs typeface="Arial"/>
                        </a:rPr>
                        <a:t>Verifikasi / PIC</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00" b="0">
                          <a:solidFill>
                            <a:srgbClr val="1F1F1B"/>
                          </a:solidFill>
                          <a:latin typeface="Arial"/>
                          <a:ea typeface="Arial"/>
                          <a:cs typeface="Arial"/>
                        </a:rPr>
                        <a:t>Siapkan pengukuran</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Zona aman dan komunikasi sesuai SOP</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Operator menerima seluruh konfirmasi</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Ubah konfigurasi</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Hentikan dan amankan energi sesuai manual</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Operator memverifikasi sebelum penanganan</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00" b="0">
                          <a:solidFill>
                            <a:srgbClr val="1F1F1B"/>
                          </a:solidFill>
                          <a:latin typeface="Arial"/>
                          <a:ea typeface="Arial"/>
                          <a:cs typeface="Arial"/>
                        </a:rPr>
                        <a:t>Bongkar dan pulang</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Evaluasi kelelahan dan transportasi</a:t>
                      </a:r>
                    </a:p>
                  </a:txBody>
                  <a:tcPr marL="91440" marR="91440" marT="45720" marB="45720">
                    <a:lnR w="5715">
                      <a:solidFill>
                        <a:srgbClr val="D8D2C5"/>
                      </a:solidFill>
                      <a:prstDash val="solid"/>
                    </a:lnR>
                    <a:lnB w="5715">
                      <a:solidFill>
                        <a:srgbClr val="D8D2C5"/>
                      </a:solidFill>
                      <a:prstDash val="solid"/>
                    </a:lnB>
                    <a:solidFill>
                      <a:srgbClr val="F8F6F1"/>
                    </a:solidFill>
                  </a:tcPr>
                </a:tc>
                <a:tc>
                  <a:txBody>
                    <a:bodyPr/>
                    <a:lstStyle/>
                    <a:p>
                      <a:r>
                        <a:rPr sz="1800" b="0">
                          <a:solidFill>
                            <a:srgbClr val="1F1F1B"/>
                          </a:solidFill>
                          <a:latin typeface="Arial"/>
                          <a:ea typeface="Arial"/>
                          <a:cs typeface="Arial"/>
                        </a:rPr>
                        <a:t>Ketua memastikan rencana pulang layak</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8DA8243F-2966-4317-8908-86F0ABA92B7E}"/>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OSHA · sumber pada catatan</a:t>
            </a:r>
          </a:p>
        </p:txBody>
      </p:sp>
      <p:sp>
        <p:nvSpPr>
          <p:cNvPr id="5" name="">
            <a:extLst xmlns:a="http://schemas.openxmlformats.org/drawingml/2006/main">
              <a:ext uri="{FF2B5EF4-FFF2-40B4-BE49-F238E27FC236}">
                <a16:creationId xmlns:a16="http://schemas.microsoft.com/office/drawing/2014/main" id="{07622947-051B-4E9D-9EE0-89E36AE3658A}"/>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6" name="">
            <a:extLst xmlns:a="http://schemas.openxmlformats.org/drawingml/2006/main">
              <a:ext uri="{FF2B5EF4-FFF2-40B4-BE49-F238E27FC236}">
                <a16:creationId xmlns:a16="http://schemas.microsoft.com/office/drawing/2014/main" id="{E292696D-4B26-444F-A7C2-1EE535AA952A}"/>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21 / 28</a:t>
            </a:r>
          </a:p>
        </p:txBody>
      </p:sp>
    </p:spTree>
    <p:extLst>
      <p:ext uri="{BB962C8B-B14F-4D97-AF65-F5344CB8AC3E}">
        <p14:creationId xmlns:p14="http://schemas.microsoft.com/office/powerpoint/2010/main" val="704406544"/>
      </p:ext>
    </p:extLst>
  </p:cSld>
</p:sld>
</file>

<file path=ppt/slides/slide2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F76477C9-B32A-4581-9C55-9DFB18C99824}"/>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07CDBD09-1820-4306-9EB5-D59C0C72D26C}"/>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Kondisi berhenti dan mulai kembali</a:t>
            </a:r>
          </a:p>
        </p:txBody>
      </p:sp>
      <p:sp>
        <p:nvSpPr>
          <p:cNvPr id="3" name="">
            <a:extLst xmlns:a="http://schemas.openxmlformats.org/drawingml/2006/main">
              <a:ext uri="{FF2B5EF4-FFF2-40B4-BE49-F238E27FC236}">
                <a16:creationId xmlns:a16="http://schemas.microsoft.com/office/drawing/2014/main" id="{C040E275-19E4-4F66-AAA8-35D4E0975580}"/>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Berhenti bila kendali kritis gagal atau kondisi tidak lagi sesuai rencana.</a:t>
            </a:r>
          </a:p>
        </p:txBody>
      </p:sp>
      <p:sp>
        <p:nvSpPr>
          <p:cNvPr id="4" name="">
            <a:extLst xmlns:a="http://schemas.openxmlformats.org/drawingml/2006/main">
              <a:ext uri="{FF2B5EF4-FFF2-40B4-BE49-F238E27FC236}">
                <a16:creationId xmlns:a16="http://schemas.microsoft.com/office/drawing/2014/main" id="{B419B049-7DB8-4B9B-B590-D203FB89248E}"/>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Amankan pekerjaan dan laporkan kepada penanggung jawab.</a:t>
            </a:r>
          </a:p>
        </p:txBody>
      </p:sp>
      <p:sp>
        <p:nvSpPr>
          <p:cNvPr id="5" name="">
            <a:extLst xmlns:a="http://schemas.openxmlformats.org/drawingml/2006/main">
              <a:ext uri="{FF2B5EF4-FFF2-40B4-BE49-F238E27FC236}">
                <a16:creationId xmlns:a16="http://schemas.microsoft.com/office/drawing/2014/main" id="{38E5707A-BE2C-41F4-A822-47EED1A603A0}"/>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Mulai kembali setelah evaluasi, pemulihan kendali, dan konfirmasi sesuai SOP.</a:t>
            </a:r>
          </a:p>
        </p:txBody>
      </p:sp>
      <p:sp>
        <p:nvSpPr>
          <p:cNvPr id="6" name="">
            <a:extLst xmlns:a="http://schemas.openxmlformats.org/drawingml/2006/main">
              <a:ext uri="{FF2B5EF4-FFF2-40B4-BE49-F238E27FC236}">
                <a16:creationId xmlns:a16="http://schemas.microsoft.com/office/drawing/2014/main" id="{AD8170C0-A5A2-42A9-B992-283BCE66B777}"/>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B7D04002-A048-416D-8C7B-C44CA8F191FB}"/>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22 / 28</a:t>
            </a:r>
          </a:p>
        </p:txBody>
      </p:sp>
    </p:spTree>
    <p:extLst>
      <p:ext uri="{BB962C8B-B14F-4D97-AF65-F5344CB8AC3E}">
        <p14:creationId xmlns:p14="http://schemas.microsoft.com/office/powerpoint/2010/main" val="1381918023"/>
      </p:ext>
    </p:extLst>
  </p:cSld>
</p:sld>
</file>

<file path=ppt/slides/slide2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DEDFF079-A868-4C8F-935F-0E6C29F8692F}"/>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8691CBBC-27A2-4CB9-8F96-4EA35437F498}"/>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Simulasi kelompok</a:t>
            </a:r>
          </a:p>
        </p:txBody>
      </p:sp>
      <p:sp>
        <p:nvSpPr>
          <p:cNvPr id="3" name="">
            <a:extLst xmlns:a="http://schemas.openxmlformats.org/drawingml/2006/main">
              <a:ext uri="{FF2B5EF4-FFF2-40B4-BE49-F238E27FC236}">
                <a16:creationId xmlns:a16="http://schemas.microsoft.com/office/drawing/2014/main" id="{F2861703-119C-41AF-9DAE-B988B4C9F9F6}"/>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Survei geolistrik di perbukitan, lintasan 400 m.</a:t>
            </a:r>
          </a:p>
        </p:txBody>
      </p:sp>
      <p:sp>
        <p:nvSpPr>
          <p:cNvPr id="4" name="">
            <a:extLst xmlns:a="http://schemas.openxmlformats.org/drawingml/2006/main">
              <a:ext uri="{FF2B5EF4-FFF2-40B4-BE49-F238E27FC236}">
                <a16:creationId xmlns:a16="http://schemas.microsoft.com/office/drawing/2014/main" id="{62279E9A-B518-49CD-9804-1BA677B67F8E}"/>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Berat kotak belum terverifikasi; waktu mulai terlambat.</a:t>
            </a:r>
          </a:p>
        </p:txBody>
      </p:sp>
      <p:sp>
        <p:nvSpPr>
          <p:cNvPr id="5" name="">
            <a:extLst xmlns:a="http://schemas.openxmlformats.org/drawingml/2006/main">
              <a:ext uri="{FF2B5EF4-FFF2-40B4-BE49-F238E27FC236}">
                <a16:creationId xmlns:a16="http://schemas.microsoft.com/office/drawing/2014/main" id="{DD246A08-225C-46DE-AB7C-1E27F762221E}"/>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Susun JSA 4–6 langkah dari akses sampai perjalanan pulang.</a:t>
            </a:r>
          </a:p>
        </p:txBody>
      </p:sp>
      <p:sp>
        <p:nvSpPr>
          <p:cNvPr id="6" name="">
            <a:extLst xmlns:a="http://schemas.openxmlformats.org/drawingml/2006/main">
              <a:ext uri="{FF2B5EF4-FFF2-40B4-BE49-F238E27FC236}">
                <a16:creationId xmlns:a16="http://schemas.microsoft.com/office/drawing/2014/main" id="{3AAD0CF3-A7D8-4CCE-9C80-6EEB784388F9}"/>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51E75685-37D3-4171-8D88-A764AADAD964}"/>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23 / 28</a:t>
            </a:r>
          </a:p>
        </p:txBody>
      </p:sp>
    </p:spTree>
    <p:extLst>
      <p:ext uri="{BB962C8B-B14F-4D97-AF65-F5344CB8AC3E}">
        <p14:creationId xmlns:p14="http://schemas.microsoft.com/office/powerpoint/2010/main" val="2126042121"/>
      </p:ext>
    </p:extLst>
  </p:cSld>
</p:sld>
</file>

<file path=ppt/slides/slide2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ED662A3-F503-4DED-9DD2-DFF1F24E200D}"/>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2ADF7A05-C0D9-49B0-907A-664A01E1B389}"/>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Kartu perubahan kondisi</a:t>
            </a:r>
          </a:p>
        </p:txBody>
      </p:sp>
      <p:graphicFrame>
        <p:nvGraphicFramePr>
          <p:cNvPr id="3" name="">
            <a:extLst xmlns:a="http://schemas.openxmlformats.org/drawingml/2006/main">
              <a:ext uri="{FF2B5EF4-FFF2-40B4-BE49-F238E27FC236}">
                <a16:creationId xmlns:a16="http://schemas.microsoft.com/office/drawing/2014/main" id="{7BB58202-8C4A-41B1-95C0-024879BE5B2A}"/>
              </a:ext>
            </a:extLst>
          </p:cNvPr>
          <p:cNvGraphicFramePr/>
          <p:nvPr/>
        </p:nvGraphicFramePr>
        <p:xfrm>
          <a:off xmlns:a="http://schemas.openxmlformats.org/drawingml/2006/main" x="762000" y="2114550"/>
          <a:ext xmlns:a="http://schemas.openxmlformats.org/drawingml/2006/main" cx="10668000" cy="3429000"/>
        </p:xfrm>
        <a:graphic xmlns:a="http://schemas.openxmlformats.org/drawingml/2006/main">
          <a:graphicData uri="http://schemas.openxmlformats.org/drawingml/2006/table">
            <a:tbl>
              <a:tblPr/>
              <a:tblGrid>
                <a:gridCol w="2857500"/>
                <a:gridCol w="7810500"/>
              </a:tblGrid>
              <a:tr h="685800">
                <a:tc>
                  <a:txBody>
                    <a:bodyPr/>
                    <a:lstStyle/>
                    <a:p>
                      <a:r>
                        <a:rPr sz="1875" b="1">
                          <a:solidFill>
                            <a:srgbClr val="2F5D62"/>
                          </a:solidFill>
                          <a:latin typeface="Arial"/>
                          <a:ea typeface="Arial"/>
                          <a:cs typeface="Arial"/>
                        </a:rPr>
                        <a:t>Perubahan</a:t>
                      </a:r>
                    </a:p>
                  </a:txBody>
                  <a:tcPr marL="91440" marR="91440" marT="45720" marB="45720">
                    <a:lnL w="5715">
                      <a:solidFill>
                        <a:srgbClr val="D8D2C5"/>
                      </a:solidFill>
                      <a:prstDash val="solid"/>
                    </a:lnL>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c>
                  <a:txBody>
                    <a:bodyPr/>
                    <a:lstStyle/>
                    <a:p>
                      <a:r>
                        <a:rPr sz="1875" b="1">
                          <a:solidFill>
                            <a:srgbClr val="2F5D62"/>
                          </a:solidFill>
                          <a:latin typeface="Arial"/>
                          <a:ea typeface="Arial"/>
                          <a:cs typeface="Arial"/>
                        </a:rPr>
                        <a:t>Keputusan yang harus dijelaskan</a:t>
                      </a:r>
                    </a:p>
                  </a:txBody>
                  <a:tcPr marL="91440" marR="91440" marT="45720" marB="45720">
                    <a:lnR w="5715">
                      <a:solidFill>
                        <a:srgbClr val="D8D2C5"/>
                      </a:solidFill>
                      <a:prstDash val="solid"/>
                    </a:lnR>
                    <a:lnT w="5715">
                      <a:solidFill>
                        <a:srgbClr val="D8D2C5"/>
                      </a:solidFill>
                      <a:prstDash val="solid"/>
                    </a:lnT>
                    <a:lnB w="5715">
                      <a:solidFill>
                        <a:srgbClr val="D8D2C5"/>
                      </a:solidFill>
                      <a:prstDash val="solid"/>
                    </a:lnB>
                    <a:solidFill>
                      <a:srgbClr val="F1EEE7"/>
                    </a:solidFill>
                  </a:tcPr>
                </a:tc>
              </a:tr>
              <a:tr h="685800">
                <a:tc>
                  <a:txBody>
                    <a:bodyPr/>
                    <a:lstStyle/>
                    <a:p>
                      <a:r>
                        <a:rPr sz="1875" b="0">
                          <a:solidFill>
                            <a:srgbClr val="1F1F1B"/>
                          </a:solidFill>
                          <a:latin typeface="Arial"/>
                          <a:ea typeface="Arial"/>
                          <a:cs typeface="Arial"/>
                        </a:rPr>
                        <a:t>Radio gagal</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Tahap mana berhenti dan kapan boleh dimulai?</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Hujan, akses licin</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Siapa menilai ulang akses dan metode angkut?</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Anggota mengantuk</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Bagaimana tugas dan perjalanan pulang diubah?</a:t>
                      </a:r>
                    </a:p>
                  </a:txBody>
                  <a:tcPr marL="91440" marR="91440" marT="45720" marB="45720">
                    <a:lnR w="5715">
                      <a:solidFill>
                        <a:srgbClr val="D8D2C5"/>
                      </a:solidFill>
                      <a:prstDash val="solid"/>
                    </a:lnR>
                    <a:lnB w="5715">
                      <a:solidFill>
                        <a:srgbClr val="D8D2C5"/>
                      </a:solidFill>
                      <a:prstDash val="solid"/>
                    </a:lnB>
                    <a:solidFill>
                      <a:srgbClr val="F8F6F1"/>
                    </a:solidFill>
                  </a:tcPr>
                </a:tc>
              </a:tr>
              <a:tr h="685800">
                <a:tc>
                  <a:txBody>
                    <a:bodyPr/>
                    <a:lstStyle/>
                    <a:p>
                      <a:r>
                        <a:rPr sz="1875" b="0">
                          <a:solidFill>
                            <a:srgbClr val="1F1F1B"/>
                          </a:solidFill>
                          <a:latin typeface="Arial"/>
                          <a:ea typeface="Arial"/>
                          <a:cs typeface="Arial"/>
                        </a:rPr>
                        <a:t>Panas meningkat</a:t>
                      </a:r>
                    </a:p>
                  </a:txBody>
                  <a:tcPr marL="91440" marR="91440" marT="45720" marB="45720">
                    <a:lnL w="5715">
                      <a:solidFill>
                        <a:srgbClr val="D8D2C5"/>
                      </a:solidFill>
                      <a:prstDash val="solid"/>
                    </a:lnL>
                    <a:lnR w="5715">
                      <a:solidFill>
                        <a:srgbClr val="D8D2C5"/>
                      </a:solidFill>
                      <a:prstDash val="solid"/>
                    </a:lnR>
                    <a:lnB w="5715">
                      <a:solidFill>
                        <a:srgbClr val="D8D2C5"/>
                      </a:solidFill>
                      <a:prstDash val="solid"/>
                    </a:lnB>
                    <a:solidFill>
                      <a:srgbClr val="F8F6F1"/>
                    </a:solidFill>
                  </a:tcPr>
                </a:tc>
                <a:tc>
                  <a:txBody>
                    <a:bodyPr/>
                    <a:lstStyle/>
                    <a:p>
                      <a:r>
                        <a:rPr sz="1875" b="0">
                          <a:solidFill>
                            <a:srgbClr val="1F1F1B"/>
                          </a:solidFill>
                          <a:latin typeface="Arial"/>
                          <a:ea typeface="Arial"/>
                          <a:cs typeface="Arial"/>
                        </a:rPr>
                        <a:t>Bagaimana paparan dan pemulihan disesuaikan?</a:t>
                      </a:r>
                    </a:p>
                  </a:txBody>
                  <a:tcPr marL="91440" marR="91440" marT="45720" marB="45720">
                    <a:lnR w="5715">
                      <a:solidFill>
                        <a:srgbClr val="D8D2C5"/>
                      </a:solidFill>
                      <a:prstDash val="solid"/>
                    </a:lnR>
                    <a:lnB w="5715">
                      <a:solidFill>
                        <a:srgbClr val="D8D2C5"/>
                      </a:solidFill>
                      <a:prstDash val="solid"/>
                    </a:lnB>
                    <a:solidFill>
                      <a:srgbClr val="F8F6F1"/>
                    </a:solidFill>
                  </a:tcPr>
                </a:tc>
              </a:tr>
            </a:tbl>
          </a:graphicData>
        </a:graphic>
      </p:graphicFrame>
      <p:sp>
        <p:nvSpPr>
          <p:cNvPr id="4" name="">
            <a:extLst xmlns:a="http://schemas.openxmlformats.org/drawingml/2006/main">
              <a:ext uri="{FF2B5EF4-FFF2-40B4-BE49-F238E27FC236}">
                <a16:creationId xmlns:a16="http://schemas.microsoft.com/office/drawing/2014/main" id="{82931EF9-1B1A-447D-A3DC-DBBC80267385}"/>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5" name="">
            <a:extLst xmlns:a="http://schemas.openxmlformats.org/drawingml/2006/main">
              <a:ext uri="{FF2B5EF4-FFF2-40B4-BE49-F238E27FC236}">
                <a16:creationId xmlns:a16="http://schemas.microsoft.com/office/drawing/2014/main" id="{73C00625-01C7-4B5D-BA8E-9FDB9B5FD12E}"/>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24 / 28</a:t>
            </a:r>
          </a:p>
        </p:txBody>
      </p:sp>
    </p:spTree>
    <p:extLst>
      <p:ext uri="{BB962C8B-B14F-4D97-AF65-F5344CB8AC3E}">
        <p14:creationId xmlns:p14="http://schemas.microsoft.com/office/powerpoint/2010/main" val="1838092929"/>
      </p:ext>
    </p:extLst>
  </p:cSld>
</p:sld>
</file>

<file path=ppt/slides/slide2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0DD0F3B7-E44F-4D52-85DC-DD18065C33FC}"/>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3CE29865-A1B5-4520-9A6D-842AB1FBAB8C}"/>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Toolbox talk 60 detik</a:t>
            </a:r>
          </a:p>
        </p:txBody>
      </p:sp>
      <p:sp>
        <p:nvSpPr>
          <p:cNvPr id="3" name="">
            <a:extLst xmlns:a="http://schemas.openxmlformats.org/drawingml/2006/main">
              <a:ext uri="{FF2B5EF4-FFF2-40B4-BE49-F238E27FC236}">
                <a16:creationId xmlns:a16="http://schemas.microsoft.com/office/drawing/2014/main" id="{E60005D5-C36E-4B96-A98B-2872F0A62EC7}"/>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Pekerjaan dan bahaya utama.</a:t>
            </a:r>
          </a:p>
        </p:txBody>
      </p:sp>
      <p:sp>
        <p:nvSpPr>
          <p:cNvPr id="4" name="">
            <a:extLst xmlns:a="http://schemas.openxmlformats.org/drawingml/2006/main">
              <a:ext uri="{FF2B5EF4-FFF2-40B4-BE49-F238E27FC236}">
                <a16:creationId xmlns:a16="http://schemas.microsoft.com/office/drawing/2014/main" id="{02AFB032-9908-45F0-AA6F-5496CA88B84B}"/>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Kendali yang telah diperiksa serta pembagian peran.</a:t>
            </a:r>
          </a:p>
        </p:txBody>
      </p:sp>
      <p:sp>
        <p:nvSpPr>
          <p:cNvPr id="5" name="">
            <a:extLst xmlns:a="http://schemas.openxmlformats.org/drawingml/2006/main">
              <a:ext uri="{FF2B5EF4-FFF2-40B4-BE49-F238E27FC236}">
                <a16:creationId xmlns:a16="http://schemas.microsoft.com/office/drawing/2014/main" id="{714E0532-0629-475C-B007-CA9893C90212}"/>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Cara konfirmasi, kondisi berhenti, dan cara meminta bantuan.</a:t>
            </a:r>
          </a:p>
        </p:txBody>
      </p:sp>
      <p:sp>
        <p:nvSpPr>
          <p:cNvPr id="6" name="">
            <a:extLst xmlns:a="http://schemas.openxmlformats.org/drawingml/2006/main">
              <a:ext uri="{FF2B5EF4-FFF2-40B4-BE49-F238E27FC236}">
                <a16:creationId xmlns:a16="http://schemas.microsoft.com/office/drawing/2014/main" id="{46BF92F7-B0A1-4C70-9541-60B475430F22}"/>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241F4FA8-E383-4CBB-82F4-2C9ECF26E5CD}"/>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25 / 28</a:t>
            </a:r>
          </a:p>
        </p:txBody>
      </p:sp>
    </p:spTree>
    <p:extLst>
      <p:ext uri="{BB962C8B-B14F-4D97-AF65-F5344CB8AC3E}">
        <p14:creationId xmlns:p14="http://schemas.microsoft.com/office/powerpoint/2010/main" val="771863162"/>
      </p:ext>
    </p:extLst>
  </p:cSld>
</p:sld>
</file>

<file path=ppt/slides/slide2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A24EECCB-5875-44B9-A742-F0CD81A3674E}"/>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883BE8C5-D3C7-4B5C-A5B5-6B85FD763A8F}"/>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Exit ticket individu</a:t>
            </a:r>
          </a:p>
        </p:txBody>
      </p:sp>
      <p:sp>
        <p:nvSpPr>
          <p:cNvPr id="3" name="">
            <a:extLst xmlns:a="http://schemas.openxmlformats.org/drawingml/2006/main">
              <a:ext uri="{FF2B5EF4-FFF2-40B4-BE49-F238E27FC236}">
                <a16:creationId xmlns:a16="http://schemas.microsoft.com/office/drawing/2014/main" id="{88289803-3D9E-4CB9-A2A8-78619B0F2787}"/>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Mengapa tidur lima jam tidak dijadikan target rutin?</a:t>
            </a:r>
          </a:p>
        </p:txBody>
      </p:sp>
      <p:sp>
        <p:nvSpPr>
          <p:cNvPr id="4" name="">
            <a:extLst xmlns:a="http://schemas.openxmlformats.org/drawingml/2006/main">
              <a:ext uri="{FF2B5EF4-FFF2-40B4-BE49-F238E27FC236}">
                <a16:creationId xmlns:a16="http://schemas.microsoft.com/office/drawing/2014/main" id="{CB389406-3C4E-49C1-B07F-6C22B0FCF98B}"/>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Apa kendali dan verifikasi ketika radio gagal?</a:t>
            </a:r>
          </a:p>
        </p:txBody>
      </p:sp>
      <p:sp>
        <p:nvSpPr>
          <p:cNvPr id="5" name="">
            <a:extLst xmlns:a="http://schemas.openxmlformats.org/drawingml/2006/main">
              <a:ext uri="{FF2B5EF4-FFF2-40B4-BE49-F238E27FC236}">
                <a16:creationId xmlns:a16="http://schemas.microsoft.com/office/drawing/2014/main" id="{A0C7FA28-25BA-4E72-A114-039B309E0C9C}"/>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Sebut satu kondisi berhenti serta syarat mulai kembali.</a:t>
            </a:r>
          </a:p>
        </p:txBody>
      </p:sp>
      <p:sp>
        <p:nvSpPr>
          <p:cNvPr id="6" name="">
            <a:extLst xmlns:a="http://schemas.openxmlformats.org/drawingml/2006/main">
              <a:ext uri="{FF2B5EF4-FFF2-40B4-BE49-F238E27FC236}">
                <a16:creationId xmlns:a16="http://schemas.microsoft.com/office/drawing/2014/main" id="{BC1D7B77-5FA6-490C-9F45-1A2FD17F0801}"/>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61337830-7DEB-4F56-B8DD-056D6240EE46}"/>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26 / 28</a:t>
            </a:r>
          </a:p>
        </p:txBody>
      </p:sp>
    </p:spTree>
    <p:extLst>
      <p:ext uri="{BB962C8B-B14F-4D97-AF65-F5344CB8AC3E}">
        <p14:creationId xmlns:p14="http://schemas.microsoft.com/office/powerpoint/2010/main" val="420926132"/>
      </p:ext>
    </p:extLst>
  </p:cSld>
</p:sld>
</file>

<file path=ppt/slides/slide2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866B6A9-10F0-4A76-8EC5-6E63E7FF3DD4}"/>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9A54E5B4-4926-4CA5-BFEF-49730F35E45A}"/>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Tugas dan asesmen</a:t>
            </a:r>
          </a:p>
        </p:txBody>
      </p:sp>
      <p:sp>
        <p:nvSpPr>
          <p:cNvPr id="3" name="">
            <a:extLst xmlns:a="http://schemas.openxmlformats.org/drawingml/2006/main">
              <a:ext uri="{FF2B5EF4-FFF2-40B4-BE49-F238E27FC236}">
                <a16:creationId xmlns:a16="http://schemas.microsoft.com/office/drawing/2014/main" id="{2CC51BA3-7AD1-41C9-90BB-9D9746F1DA22}"/>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Sempurnakan JSA satu halaman dengan PIC dan bukti verifikasi.</a:t>
            </a:r>
          </a:p>
        </p:txBody>
      </p:sp>
      <p:sp>
        <p:nvSpPr>
          <p:cNvPr id="4" name="">
            <a:extLst xmlns:a="http://schemas.openxmlformats.org/drawingml/2006/main">
              <a:ext uri="{FF2B5EF4-FFF2-40B4-BE49-F238E27FC236}">
                <a16:creationId xmlns:a16="http://schemas.microsoft.com/office/drawing/2014/main" id="{7963112E-B92B-409D-9276-C3C87DD3A6BC}"/>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Tambahkan rencana pemulihan serta perjalanan pulang.</a:t>
            </a:r>
          </a:p>
        </p:txBody>
      </p:sp>
      <p:sp>
        <p:nvSpPr>
          <p:cNvPr id="5" name="">
            <a:extLst xmlns:a="http://schemas.openxmlformats.org/drawingml/2006/main">
              <a:ext uri="{FF2B5EF4-FFF2-40B4-BE49-F238E27FC236}">
                <a16:creationId xmlns:a16="http://schemas.microsoft.com/office/drawing/2014/main" id="{3E2A35E3-5683-4C26-A7D4-71747566DF7C}"/>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Jelaskan satu keputusan secara langsung pada kelas berikutnya.</a:t>
            </a:r>
          </a:p>
        </p:txBody>
      </p:sp>
      <p:sp>
        <p:nvSpPr>
          <p:cNvPr id="6" name="">
            <a:extLst xmlns:a="http://schemas.openxmlformats.org/drawingml/2006/main">
              <a:ext uri="{FF2B5EF4-FFF2-40B4-BE49-F238E27FC236}">
                <a16:creationId xmlns:a16="http://schemas.microsoft.com/office/drawing/2014/main" id="{B985E35B-AA30-4F95-ACAC-EE416D691BDC}"/>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7" name="">
            <a:extLst xmlns:a="http://schemas.openxmlformats.org/drawingml/2006/main">
              <a:ext uri="{FF2B5EF4-FFF2-40B4-BE49-F238E27FC236}">
                <a16:creationId xmlns:a16="http://schemas.microsoft.com/office/drawing/2014/main" id="{D0802CF9-263E-45B7-A2CF-2BD5B6CBDD61}"/>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27 / 28</a:t>
            </a:r>
          </a:p>
        </p:txBody>
      </p:sp>
    </p:spTree>
    <p:extLst>
      <p:ext uri="{BB962C8B-B14F-4D97-AF65-F5344CB8AC3E}">
        <p14:creationId xmlns:p14="http://schemas.microsoft.com/office/powerpoint/2010/main" val="272613198"/>
      </p:ext>
    </p:extLst>
  </p:cSld>
</p:sld>
</file>

<file path=ppt/slides/slide2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697D03A-812A-435A-BAE1-088B390BC2DE}"/>
              </a:ext>
            </a:extLst>
          </p:cNvPr>
          <p:cNvSpPr>
            <a:spLocks xmlns:a="http://schemas.openxmlformats.org/drawingml/2006/main" noGrp="1"/>
          </p:cNvSpPr>
          <p:nvPr/>
        </p:nvSpPr>
        <p:spPr>
          <a:xfrm xmlns:a="http://schemas.openxmlformats.org/drawingml/2006/main">
            <a:off x="762000" y="27622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350" b="0">
                <a:solidFill>
                  <a:srgbClr val="2F5D62"/>
                </a:solidFill>
                <a:latin typeface="Arial"/>
                <a:ea typeface="Arial"/>
                <a:cs typeface="Arial"/>
              </a:defRPr>
            </a:defPPr>
            <a:lvl1pPr>
              <a:defRPr sz="1350" b="0">
                <a:solidFill>
                  <a:srgbClr val="2F5D62"/>
                </a:solidFill>
                <a:latin typeface="Arial"/>
                <a:ea typeface="Arial"/>
                <a:cs typeface="Arial"/>
              </a:defRPr>
            </a:lvl1pPr>
            <a:lvl2pPr>
              <a:defRPr sz="1350" b="0">
                <a:solidFill>
                  <a:srgbClr val="2F5D62"/>
                </a:solidFill>
                <a:latin typeface="Arial"/>
                <a:ea typeface="Arial"/>
                <a:cs typeface="Arial"/>
              </a:defRPr>
            </a:lvl2pPr>
            <a:lvl3pPr>
              <a:defRPr sz="1350" b="0">
                <a:solidFill>
                  <a:srgbClr val="2F5D62"/>
                </a:solidFill>
                <a:latin typeface="Arial"/>
                <a:ea typeface="Arial"/>
                <a:cs typeface="Arial"/>
              </a:defRPr>
            </a:lvl3pPr>
            <a:lvl4pPr>
              <a:defRPr sz="1350" b="0">
                <a:solidFill>
                  <a:srgbClr val="2F5D62"/>
                </a:solidFill>
                <a:latin typeface="Arial"/>
                <a:ea typeface="Arial"/>
                <a:cs typeface="Arial"/>
              </a:defRPr>
            </a:lvl4pPr>
            <a:lvl5pPr>
              <a:defRPr sz="1350" b="0">
                <a:solidFill>
                  <a:srgbClr val="2F5D62"/>
                </a:solidFill>
                <a:latin typeface="Arial"/>
                <a:ea typeface="Arial"/>
                <a:cs typeface="Arial"/>
              </a:defRPr>
            </a:lvl5pPr>
            <a:lvl6pPr>
              <a:defRPr sz="1350" b="0">
                <a:solidFill>
                  <a:srgbClr val="2F5D62"/>
                </a:solidFill>
                <a:latin typeface="Arial"/>
                <a:ea typeface="Arial"/>
                <a:cs typeface="Arial"/>
              </a:defRPr>
            </a:lvl6pPr>
            <a:lvl7pPr>
              <a:defRPr sz="1350" b="0">
                <a:solidFill>
                  <a:srgbClr val="2F5D62"/>
                </a:solidFill>
                <a:latin typeface="Arial"/>
                <a:ea typeface="Arial"/>
                <a:cs typeface="Arial"/>
              </a:defRPr>
            </a:lvl7pPr>
            <a:lvl8pPr>
              <a:defRPr sz="1350" b="0">
                <a:solidFill>
                  <a:srgbClr val="2F5D62"/>
                </a:solidFill>
                <a:latin typeface="Arial"/>
                <a:ea typeface="Arial"/>
                <a:cs typeface="Arial"/>
              </a:defRPr>
            </a:lvl8pPr>
            <a:lvl9pPr>
              <a:defRPr sz="1350" b="0">
                <a:solidFill>
                  <a:srgbClr val="2F5D62"/>
                </a:solidFill>
                <a:latin typeface="Arial"/>
                <a:ea typeface="Arial"/>
                <a:cs typeface="Arial"/>
              </a:defRPr>
            </a:lvl9pPr>
          </a:lstStyle>
          <a:p xmlns:a="http://schemas.openxmlformats.org/drawingml/2006/main">
            <a:pPr>
              <a:defRPr sz="1350" b="0">
                <a:solidFill>
                  <a:srgbClr val="2F5D62"/>
                </a:solidFill>
                <a:latin typeface="Arial"/>
                <a:ea typeface="Arial"/>
                <a:cs typeface="Arial"/>
              </a:defRPr>
            </a:pPr>
            <a:r>
              <a:rPr sz="1350" b="0">
                <a:solidFill>
                  <a:srgbClr val="2F5D62"/>
                </a:solidFill>
                <a:latin typeface="Arial"/>
                <a:ea typeface="Arial"/>
                <a:cs typeface="Arial"/>
              </a:rPr>
              <a:t>Pendidikan Jasmani &amp; HSE Geofisika · Pertemuan 3</a:t>
            </a:r>
          </a:p>
        </p:txBody>
      </p:sp>
      <p:sp>
        <p:nvSpPr>
          <p:cNvPr id="2" name="">
            <a:extLst xmlns:a="http://schemas.openxmlformats.org/drawingml/2006/main">
              <a:ext uri="{FF2B5EF4-FFF2-40B4-BE49-F238E27FC236}">
                <a16:creationId xmlns:a16="http://schemas.microsoft.com/office/drawing/2014/main" id="{4F9E5C7B-E60E-4A5A-81FB-E295D0E6E013}"/>
              </a:ext>
            </a:extLst>
          </p:cNvPr>
          <p:cNvSpPr>
            <a:spLocks xmlns:a="http://schemas.openxmlformats.org/drawingml/2006/main" noGrp="1"/>
          </p:cNvSpPr>
          <p:nvPr/>
        </p:nvSpPr>
        <p:spPr>
          <a:xfrm xmlns:a="http://schemas.openxmlformats.org/drawingml/2006/main">
            <a:off x="762000" y="876300"/>
            <a:ext cx="10668000"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3450" b="0">
                <a:solidFill>
                  <a:srgbClr val="1F1F1B"/>
                </a:solidFill>
                <a:latin typeface="Georgia"/>
                <a:ea typeface="Georgia"/>
                <a:cs typeface="Georgia"/>
              </a:defRPr>
            </a:defPPr>
            <a:lvl1pPr>
              <a:defRPr sz="3450" b="0">
                <a:solidFill>
                  <a:srgbClr val="1F1F1B"/>
                </a:solidFill>
                <a:latin typeface="Georgia"/>
                <a:ea typeface="Georgia"/>
                <a:cs typeface="Georgia"/>
              </a:defRPr>
            </a:lvl1pPr>
            <a:lvl2pPr>
              <a:defRPr sz="3450" b="0">
                <a:solidFill>
                  <a:srgbClr val="1F1F1B"/>
                </a:solidFill>
                <a:latin typeface="Georgia"/>
                <a:ea typeface="Georgia"/>
                <a:cs typeface="Georgia"/>
              </a:defRPr>
            </a:lvl2pPr>
            <a:lvl3pPr>
              <a:defRPr sz="3450" b="0">
                <a:solidFill>
                  <a:srgbClr val="1F1F1B"/>
                </a:solidFill>
                <a:latin typeface="Georgia"/>
                <a:ea typeface="Georgia"/>
                <a:cs typeface="Georgia"/>
              </a:defRPr>
            </a:lvl3pPr>
            <a:lvl4pPr>
              <a:defRPr sz="3450" b="0">
                <a:solidFill>
                  <a:srgbClr val="1F1F1B"/>
                </a:solidFill>
                <a:latin typeface="Georgia"/>
                <a:ea typeface="Georgia"/>
                <a:cs typeface="Georgia"/>
              </a:defRPr>
            </a:lvl4pPr>
            <a:lvl5pPr>
              <a:defRPr sz="3450" b="0">
                <a:solidFill>
                  <a:srgbClr val="1F1F1B"/>
                </a:solidFill>
                <a:latin typeface="Georgia"/>
                <a:ea typeface="Georgia"/>
                <a:cs typeface="Georgia"/>
              </a:defRPr>
            </a:lvl5pPr>
            <a:lvl6pPr>
              <a:defRPr sz="3450" b="0">
                <a:solidFill>
                  <a:srgbClr val="1F1F1B"/>
                </a:solidFill>
                <a:latin typeface="Georgia"/>
                <a:ea typeface="Georgia"/>
                <a:cs typeface="Georgia"/>
              </a:defRPr>
            </a:lvl6pPr>
            <a:lvl7pPr>
              <a:defRPr sz="3450" b="0">
                <a:solidFill>
                  <a:srgbClr val="1F1F1B"/>
                </a:solidFill>
                <a:latin typeface="Georgia"/>
                <a:ea typeface="Georgia"/>
                <a:cs typeface="Georgia"/>
              </a:defRPr>
            </a:lvl7pPr>
            <a:lvl8pPr>
              <a:defRPr sz="3450" b="0">
                <a:solidFill>
                  <a:srgbClr val="1F1F1B"/>
                </a:solidFill>
                <a:latin typeface="Georgia"/>
                <a:ea typeface="Georgia"/>
                <a:cs typeface="Georgia"/>
              </a:defRPr>
            </a:lvl8pPr>
            <a:lvl9pPr>
              <a:defRPr sz="3450" b="0">
                <a:solidFill>
                  <a:srgbClr val="1F1F1B"/>
                </a:solidFill>
                <a:latin typeface="Georgia"/>
                <a:ea typeface="Georgia"/>
                <a:cs typeface="Georgia"/>
              </a:defRPr>
            </a:lvl9pPr>
          </a:lstStyle>
          <a:p xmlns:a="http://schemas.openxmlformats.org/drawingml/2006/main">
            <a:pPr>
              <a:defRPr sz="3450" b="0">
                <a:solidFill>
                  <a:srgbClr val="1F1F1B"/>
                </a:solidFill>
                <a:latin typeface="Georgia"/>
                <a:ea typeface="Georgia"/>
                <a:cs typeface="Georgia"/>
              </a:defRPr>
            </a:pPr>
            <a:r>
              <a:rPr sz="3450" b="0">
                <a:solidFill>
                  <a:srgbClr val="1F1F1B"/>
                </a:solidFill>
                <a:latin typeface="Georgia"/>
                <a:ea typeface="Georgia"/>
                <a:cs typeface="Georgia"/>
              </a:rPr>
              <a:t>Referensi dan acuan lapangan</a:t>
            </a:r>
          </a:p>
        </p:txBody>
      </p:sp>
      <p:sp>
        <p:nvSpPr>
          <p:cNvPr id="3" name="">
            <a:extLst xmlns:a="http://schemas.openxmlformats.org/drawingml/2006/main">
              <a:ext uri="{FF2B5EF4-FFF2-40B4-BE49-F238E27FC236}">
                <a16:creationId xmlns:a16="http://schemas.microsoft.com/office/drawing/2014/main" id="{15059579-58B0-459B-912B-2C2EA8F8B55F}"/>
              </a:ext>
            </a:extLst>
          </p:cNvPr>
          <p:cNvSpPr>
            <a:spLocks xmlns:a="http://schemas.openxmlformats.org/drawingml/2006/main" noGrp="1"/>
          </p:cNvSpPr>
          <p:nvPr/>
        </p:nvSpPr>
        <p:spPr>
          <a:xfrm xmlns:a="http://schemas.openxmlformats.org/drawingml/2006/main">
            <a:off x="762000" y="23336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CDC dan NHLBI: tidur serta tahap tidur.</a:t>
            </a:r>
          </a:p>
        </p:txBody>
      </p:sp>
      <p:sp>
        <p:nvSpPr>
          <p:cNvPr id="4" name="">
            <a:extLst xmlns:a="http://schemas.openxmlformats.org/drawingml/2006/main">
              <a:ext uri="{FF2B5EF4-FFF2-40B4-BE49-F238E27FC236}">
                <a16:creationId xmlns:a16="http://schemas.microsoft.com/office/drawing/2014/main" id="{1DD346D0-5680-407C-B480-659ACE4D1666}"/>
              </a:ext>
            </a:extLst>
          </p:cNvPr>
          <p:cNvSpPr>
            <a:spLocks xmlns:a="http://schemas.openxmlformats.org/drawingml/2006/main" noGrp="1"/>
          </p:cNvSpPr>
          <p:nvPr/>
        </p:nvSpPr>
        <p:spPr>
          <a:xfrm xmlns:a="http://schemas.openxmlformats.org/drawingml/2006/main">
            <a:off x="762000" y="334327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NIOSH: kelelahan, panas, dan aklimatisasi.</a:t>
            </a:r>
          </a:p>
        </p:txBody>
      </p:sp>
      <p:sp>
        <p:nvSpPr>
          <p:cNvPr id="5" name="">
            <a:extLst xmlns:a="http://schemas.openxmlformats.org/drawingml/2006/main">
              <a:ext uri="{FF2B5EF4-FFF2-40B4-BE49-F238E27FC236}">
                <a16:creationId xmlns:a16="http://schemas.microsoft.com/office/drawing/2014/main" id="{6F3C4B63-0372-4661-8605-D401BD2F9EDD}"/>
              </a:ext>
            </a:extLst>
          </p:cNvPr>
          <p:cNvSpPr>
            <a:spLocks xmlns:a="http://schemas.openxmlformats.org/drawingml/2006/main" noGrp="1"/>
          </p:cNvSpPr>
          <p:nvPr/>
        </p:nvSpPr>
        <p:spPr>
          <a:xfrm xmlns:a="http://schemas.openxmlformats.org/drawingml/2006/main">
            <a:off x="762000" y="4352925"/>
            <a:ext cx="1057275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2325" b="0">
                <a:solidFill>
                  <a:srgbClr val="1F1F1B"/>
                </a:solidFill>
                <a:latin typeface="Arial"/>
                <a:ea typeface="Arial"/>
                <a:cs typeface="Arial"/>
              </a:defRPr>
            </a:defPPr>
            <a:lvl1pPr>
              <a:defRPr sz="2325" b="0">
                <a:solidFill>
                  <a:srgbClr val="1F1F1B"/>
                </a:solidFill>
                <a:latin typeface="Arial"/>
                <a:ea typeface="Arial"/>
                <a:cs typeface="Arial"/>
              </a:defRPr>
            </a:lvl1pPr>
            <a:lvl2pPr>
              <a:defRPr sz="2325" b="0">
                <a:solidFill>
                  <a:srgbClr val="1F1F1B"/>
                </a:solidFill>
                <a:latin typeface="Arial"/>
                <a:ea typeface="Arial"/>
                <a:cs typeface="Arial"/>
              </a:defRPr>
            </a:lvl2pPr>
            <a:lvl3pPr>
              <a:defRPr sz="2325" b="0">
                <a:solidFill>
                  <a:srgbClr val="1F1F1B"/>
                </a:solidFill>
                <a:latin typeface="Arial"/>
                <a:ea typeface="Arial"/>
                <a:cs typeface="Arial"/>
              </a:defRPr>
            </a:lvl3pPr>
            <a:lvl4pPr>
              <a:defRPr sz="2325" b="0">
                <a:solidFill>
                  <a:srgbClr val="1F1F1B"/>
                </a:solidFill>
                <a:latin typeface="Arial"/>
                <a:ea typeface="Arial"/>
                <a:cs typeface="Arial"/>
              </a:defRPr>
            </a:lvl4pPr>
            <a:lvl5pPr>
              <a:defRPr sz="2325" b="0">
                <a:solidFill>
                  <a:srgbClr val="1F1F1B"/>
                </a:solidFill>
                <a:latin typeface="Arial"/>
                <a:ea typeface="Arial"/>
                <a:cs typeface="Arial"/>
              </a:defRPr>
            </a:lvl5pPr>
            <a:lvl6pPr>
              <a:defRPr sz="2325" b="0">
                <a:solidFill>
                  <a:srgbClr val="1F1F1B"/>
                </a:solidFill>
                <a:latin typeface="Arial"/>
                <a:ea typeface="Arial"/>
                <a:cs typeface="Arial"/>
              </a:defRPr>
            </a:lvl6pPr>
            <a:lvl7pPr>
              <a:defRPr sz="2325" b="0">
                <a:solidFill>
                  <a:srgbClr val="1F1F1B"/>
                </a:solidFill>
                <a:latin typeface="Arial"/>
                <a:ea typeface="Arial"/>
                <a:cs typeface="Arial"/>
              </a:defRPr>
            </a:lvl7pPr>
            <a:lvl8pPr>
              <a:defRPr sz="2325" b="0">
                <a:solidFill>
                  <a:srgbClr val="1F1F1B"/>
                </a:solidFill>
                <a:latin typeface="Arial"/>
                <a:ea typeface="Arial"/>
                <a:cs typeface="Arial"/>
              </a:defRPr>
            </a:lvl8pPr>
            <a:lvl9pPr>
              <a:defRPr sz="2325" b="0">
                <a:solidFill>
                  <a:srgbClr val="1F1F1B"/>
                </a:solidFill>
                <a:latin typeface="Arial"/>
                <a:ea typeface="Arial"/>
                <a:cs typeface="Arial"/>
              </a:defRPr>
            </a:lvl9pPr>
          </a:lstStyle>
          <a:p xmlns:a="http://schemas.openxmlformats.org/drawingml/2006/main">
            <a:pPr>
              <a:defRPr sz="2325" b="0">
                <a:solidFill>
                  <a:srgbClr val="1F1F1B"/>
                </a:solidFill>
                <a:latin typeface="Arial"/>
                <a:ea typeface="Arial"/>
                <a:cs typeface="Arial"/>
              </a:defRPr>
            </a:pPr>
            <a:r>
              <a:rPr sz="2325" b="0">
                <a:solidFill>
                  <a:srgbClr val="1F1F1B"/>
                </a:solidFill>
                <a:latin typeface="Arial"/>
                <a:ea typeface="Arial"/>
                <a:cs typeface="Arial"/>
              </a:rPr>
              <a:t>OSHA: JSA dan hierarki pengendalian.</a:t>
            </a:r>
          </a:p>
        </p:txBody>
      </p:sp>
      <p:sp>
        <p:nvSpPr>
          <p:cNvPr id="6" name="">
            <a:extLst xmlns:a="http://schemas.openxmlformats.org/drawingml/2006/main">
              <a:ext uri="{FF2B5EF4-FFF2-40B4-BE49-F238E27FC236}">
                <a16:creationId xmlns:a16="http://schemas.microsoft.com/office/drawing/2014/main" id="{9B45367B-52DD-41AA-AA02-DB013A574E93}"/>
              </a:ext>
            </a:extLst>
          </p:cNvPr>
          <p:cNvSpPr>
            <a:spLocks xmlns:a="http://schemas.openxmlformats.org/drawingml/2006/main" noGrp="1"/>
          </p:cNvSpPr>
          <p:nvPr/>
        </p:nvSpPr>
        <p:spPr>
          <a:xfrm xmlns:a="http://schemas.openxmlformats.org/drawingml/2006/main">
            <a:off x="762000" y="5895975"/>
            <a:ext cx="10477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125" b="0">
                <a:solidFill>
                  <a:srgbClr val="5F625C"/>
                </a:solidFill>
                <a:latin typeface="Arial"/>
                <a:ea typeface="Arial"/>
                <a:cs typeface="Arial"/>
              </a:defRPr>
            </a:defPPr>
            <a:lvl1pPr>
              <a:defRPr sz="1125" b="0">
                <a:solidFill>
                  <a:srgbClr val="5F625C"/>
                </a:solidFill>
                <a:latin typeface="Arial"/>
                <a:ea typeface="Arial"/>
                <a:cs typeface="Arial"/>
              </a:defRPr>
            </a:lvl1pPr>
            <a:lvl2pPr>
              <a:defRPr sz="1125" b="0">
                <a:solidFill>
                  <a:srgbClr val="5F625C"/>
                </a:solidFill>
                <a:latin typeface="Arial"/>
                <a:ea typeface="Arial"/>
                <a:cs typeface="Arial"/>
              </a:defRPr>
            </a:lvl2pPr>
            <a:lvl3pPr>
              <a:defRPr sz="1125" b="0">
                <a:solidFill>
                  <a:srgbClr val="5F625C"/>
                </a:solidFill>
                <a:latin typeface="Arial"/>
                <a:ea typeface="Arial"/>
                <a:cs typeface="Arial"/>
              </a:defRPr>
            </a:lvl3pPr>
            <a:lvl4pPr>
              <a:defRPr sz="1125" b="0">
                <a:solidFill>
                  <a:srgbClr val="5F625C"/>
                </a:solidFill>
                <a:latin typeface="Arial"/>
                <a:ea typeface="Arial"/>
                <a:cs typeface="Arial"/>
              </a:defRPr>
            </a:lvl4pPr>
            <a:lvl5pPr>
              <a:defRPr sz="1125" b="0">
                <a:solidFill>
                  <a:srgbClr val="5F625C"/>
                </a:solidFill>
                <a:latin typeface="Arial"/>
                <a:ea typeface="Arial"/>
                <a:cs typeface="Arial"/>
              </a:defRPr>
            </a:lvl5pPr>
            <a:lvl6pPr>
              <a:defRPr sz="1125" b="0">
                <a:solidFill>
                  <a:srgbClr val="5F625C"/>
                </a:solidFill>
                <a:latin typeface="Arial"/>
                <a:ea typeface="Arial"/>
                <a:cs typeface="Arial"/>
              </a:defRPr>
            </a:lvl6pPr>
            <a:lvl7pPr>
              <a:defRPr sz="1125" b="0">
                <a:solidFill>
                  <a:srgbClr val="5F625C"/>
                </a:solidFill>
                <a:latin typeface="Arial"/>
                <a:ea typeface="Arial"/>
                <a:cs typeface="Arial"/>
              </a:defRPr>
            </a:lvl7pPr>
            <a:lvl8pPr>
              <a:defRPr sz="1125" b="0">
                <a:solidFill>
                  <a:srgbClr val="5F625C"/>
                </a:solidFill>
                <a:latin typeface="Arial"/>
                <a:ea typeface="Arial"/>
                <a:cs typeface="Arial"/>
              </a:defRPr>
            </a:lvl8pPr>
            <a:lvl9pPr>
              <a:defRPr sz="1125" b="0">
                <a:solidFill>
                  <a:srgbClr val="5F625C"/>
                </a:solidFill>
                <a:latin typeface="Arial"/>
                <a:ea typeface="Arial"/>
                <a:cs typeface="Arial"/>
              </a:defRPr>
            </a:lvl9pPr>
          </a:lstStyle>
          <a:p xmlns:a="http://schemas.openxmlformats.org/drawingml/2006/main">
            <a:pPr>
              <a:defRPr sz="1125" b="0">
                <a:solidFill>
                  <a:srgbClr val="5F625C"/>
                </a:solidFill>
                <a:latin typeface="Arial"/>
                <a:ea typeface="Arial"/>
                <a:cs typeface="Arial"/>
              </a:defRPr>
            </a:pPr>
            <a:r>
              <a:rPr sz="1125" b="0">
                <a:solidFill>
                  <a:srgbClr val="5F625C"/>
                </a:solidFill>
                <a:latin typeface="Arial"/>
                <a:ea typeface="Arial"/>
                <a:cs typeface="Arial"/>
              </a:rPr>
              <a:t>CDC · NHLBI · NIOSH · OSHA · sumber pada catatan</a:t>
            </a:r>
          </a:p>
        </p:txBody>
      </p:sp>
      <p:sp>
        <p:nvSpPr>
          <p:cNvPr id="7" name="">
            <a:extLst xmlns:a="http://schemas.openxmlformats.org/drawingml/2006/main">
              <a:ext uri="{FF2B5EF4-FFF2-40B4-BE49-F238E27FC236}">
                <a16:creationId xmlns:a16="http://schemas.microsoft.com/office/drawing/2014/main" id="{C216045E-86C8-4D31-934D-08FE07A6CFC8}"/>
              </a:ext>
            </a:extLst>
          </p:cNvPr>
          <p:cNvSpPr>
            <a:spLocks xmlns:a="http://schemas.openxmlformats.org/drawingml/2006/main" noGrp="1"/>
          </p:cNvSpPr>
          <p:nvPr/>
        </p:nvSpPr>
        <p:spPr>
          <a:xfrm xmlns:a="http://schemas.openxmlformats.org/drawingml/2006/main">
            <a:off x="762000" y="6343650"/>
            <a:ext cx="8763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S1 Geofisika UGM · 28 Oktober 2026</a:t>
            </a:r>
          </a:p>
        </p:txBody>
      </p:sp>
      <p:sp>
        <p:nvSpPr>
          <p:cNvPr id="8" name="">
            <a:extLst xmlns:a="http://schemas.openxmlformats.org/drawingml/2006/main">
              <a:ext uri="{FF2B5EF4-FFF2-40B4-BE49-F238E27FC236}">
                <a16:creationId xmlns:a16="http://schemas.microsoft.com/office/drawing/2014/main" id="{65ABAF39-DE31-4A71-82E3-26E4F5E640A8}"/>
              </a:ext>
            </a:extLst>
          </p:cNvPr>
          <p:cNvSpPr>
            <a:spLocks xmlns:a="http://schemas.openxmlformats.org/drawingml/2006/main" noGrp="1"/>
          </p:cNvSpPr>
          <p:nvPr/>
        </p:nvSpPr>
        <p:spPr>
          <a:xfrm xmlns:a="http://schemas.openxmlformats.org/drawingml/2006/main">
            <a:off x="10763250" y="6343650"/>
            <a:ext cx="8572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200" b="0">
                <a:solidFill>
                  <a:srgbClr val="5F625C"/>
                </a:solidFill>
                <a:latin typeface="Arial"/>
                <a:ea typeface="Arial"/>
                <a:cs typeface="Arial"/>
              </a:defRPr>
            </a:defPPr>
            <a:lvl1pPr>
              <a:defRPr sz="1200" b="0">
                <a:solidFill>
                  <a:srgbClr val="5F625C"/>
                </a:solidFill>
                <a:latin typeface="Arial"/>
                <a:ea typeface="Arial"/>
                <a:cs typeface="Arial"/>
              </a:defRPr>
            </a:lvl1pPr>
            <a:lvl2pPr>
              <a:defRPr sz="1200" b="0">
                <a:solidFill>
                  <a:srgbClr val="5F625C"/>
                </a:solidFill>
                <a:latin typeface="Arial"/>
                <a:ea typeface="Arial"/>
                <a:cs typeface="Arial"/>
              </a:defRPr>
            </a:lvl2pPr>
            <a:lvl3pPr>
              <a:defRPr sz="1200" b="0">
                <a:solidFill>
                  <a:srgbClr val="5F625C"/>
                </a:solidFill>
                <a:latin typeface="Arial"/>
                <a:ea typeface="Arial"/>
                <a:cs typeface="Arial"/>
              </a:defRPr>
            </a:lvl3pPr>
            <a:lvl4pPr>
              <a:defRPr sz="1200" b="0">
                <a:solidFill>
                  <a:srgbClr val="5F625C"/>
                </a:solidFill>
                <a:latin typeface="Arial"/>
                <a:ea typeface="Arial"/>
                <a:cs typeface="Arial"/>
              </a:defRPr>
            </a:lvl4pPr>
            <a:lvl5pPr>
              <a:defRPr sz="1200" b="0">
                <a:solidFill>
                  <a:srgbClr val="5F625C"/>
                </a:solidFill>
                <a:latin typeface="Arial"/>
                <a:ea typeface="Arial"/>
                <a:cs typeface="Arial"/>
              </a:defRPr>
            </a:lvl5pPr>
            <a:lvl6pPr>
              <a:defRPr sz="1200" b="0">
                <a:solidFill>
                  <a:srgbClr val="5F625C"/>
                </a:solidFill>
                <a:latin typeface="Arial"/>
                <a:ea typeface="Arial"/>
                <a:cs typeface="Arial"/>
              </a:defRPr>
            </a:lvl6pPr>
            <a:lvl7pPr>
              <a:defRPr sz="1200" b="0">
                <a:solidFill>
                  <a:srgbClr val="5F625C"/>
                </a:solidFill>
                <a:latin typeface="Arial"/>
                <a:ea typeface="Arial"/>
                <a:cs typeface="Arial"/>
              </a:defRPr>
            </a:lvl7pPr>
            <a:lvl8pPr>
              <a:defRPr sz="1200" b="0">
                <a:solidFill>
                  <a:srgbClr val="5F625C"/>
                </a:solidFill>
                <a:latin typeface="Arial"/>
                <a:ea typeface="Arial"/>
                <a:cs typeface="Arial"/>
              </a:defRPr>
            </a:lvl8pPr>
            <a:lvl9pPr>
              <a:defRPr sz="1200" b="0">
                <a:solidFill>
                  <a:srgbClr val="5F625C"/>
                </a:solidFill>
                <a:latin typeface="Arial"/>
                <a:ea typeface="Arial"/>
                <a:cs typeface="Arial"/>
              </a:defRPr>
            </a:lvl9pPr>
          </a:lstStyle>
          <a:p xmlns:a="http://schemas.openxmlformats.org/drawingml/2006/main">
            <a:pPr>
              <a:defRPr sz="1200" b="0">
                <a:solidFill>
                  <a:srgbClr val="5F625C"/>
                </a:solidFill>
                <a:latin typeface="Arial"/>
                <a:ea typeface="Arial"/>
                <a:cs typeface="Arial"/>
              </a:defRPr>
            </a:pPr>
            <a:r>
              <a:rPr sz="1200" b="0">
                <a:solidFill>
                  <a:srgbClr val="5F625C"/>
                </a:solidFill>
                <a:latin typeface="Arial"/>
                <a:ea typeface="Arial"/>
                <a:cs typeface="Arial"/>
              </a:rPr>
              <a:t>28 / 28</a:t>
            </a:r>
          </a:p>
        </p:txBody>
      </p:sp>
    </p:spTree>
    <p:extLst>
      <p:ext uri="{BB962C8B-B14F-4D97-AF65-F5344CB8AC3E}">
        <p14:creationId xmlns:p14="http://schemas.microsoft.com/office/powerpoint/2010/main" val="19746621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2026-10-27T23:07:12.9360000Z</dcterms:created>
  <dcterms:modified xsi:type="dcterms:W3CDTF">2026-10-27T23:07:12.9360000Z</dcterms:modified>
</coreProperties>
</file>