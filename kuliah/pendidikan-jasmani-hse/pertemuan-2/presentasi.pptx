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f1c38399874f99" /><Relationship Type="http://schemas.openxmlformats.org/officeDocument/2006/relationships/extended-properties" Target="/docProps/app.xml" Id="R57ce2989c12e495d" /><Relationship Type="http://schemas.openxmlformats.org/officeDocument/2006/relationships/officeDocument" Target="/ppt/presentation.xml" Id="R480dd12051544bbe" /></Relationships>
</file>

<file path=ppt/presentation.xml><?xml version="1.0" encoding="utf-8"?>
<p:presentation xmlns:p="http://schemas.openxmlformats.org/presentationml/2006/main">
  <p:sldMasterIdLst>
    <p:sldMasterId xmlns:r="http://schemas.openxmlformats.org/officeDocument/2006/relationships" id="2147483648" r:id="Rf27892354f2e40cb"/>
  </p:sldMasterIdLst>
  <p:notesMasterIdLst>
    <p:notesMasterId xmlns:r="http://schemas.openxmlformats.org/officeDocument/2006/relationships" r:id="Re2cd57f57d864982"/>
  </p:notesMasterIdLst>
  <p:sldIdLst>
    <p:sldId xmlns:r="http://schemas.openxmlformats.org/officeDocument/2006/relationships" id="256" r:id="Rd144a7e50dae4aca"/>
    <p:sldId xmlns:r="http://schemas.openxmlformats.org/officeDocument/2006/relationships" id="257" r:id="R03af7968a0d94eef"/>
    <p:sldId xmlns:r="http://schemas.openxmlformats.org/officeDocument/2006/relationships" id="258" r:id="R808e313bb5b24255"/>
    <p:sldId xmlns:r="http://schemas.openxmlformats.org/officeDocument/2006/relationships" id="259" r:id="R9ae8d651ce654942"/>
    <p:sldId xmlns:r="http://schemas.openxmlformats.org/officeDocument/2006/relationships" id="260" r:id="R5f1328b21f68498e"/>
    <p:sldId xmlns:r="http://schemas.openxmlformats.org/officeDocument/2006/relationships" id="261" r:id="Rca2fb6c71b874026"/>
    <p:sldId xmlns:r="http://schemas.openxmlformats.org/officeDocument/2006/relationships" id="262" r:id="Re2ea38253e00475f"/>
    <p:sldId xmlns:r="http://schemas.openxmlformats.org/officeDocument/2006/relationships" id="263" r:id="R65774c0226194b5e"/>
    <p:sldId xmlns:r="http://schemas.openxmlformats.org/officeDocument/2006/relationships" id="264" r:id="R15ed6a155f2a4581"/>
    <p:sldId xmlns:r="http://schemas.openxmlformats.org/officeDocument/2006/relationships" id="265" r:id="R2ad949c61170420c"/>
    <p:sldId xmlns:r="http://schemas.openxmlformats.org/officeDocument/2006/relationships" id="266" r:id="R080b37b0023142c0"/>
    <p:sldId xmlns:r="http://schemas.openxmlformats.org/officeDocument/2006/relationships" id="267" r:id="R5f6b1fd5397c4b9d"/>
    <p:sldId xmlns:r="http://schemas.openxmlformats.org/officeDocument/2006/relationships" id="268" r:id="R8087eb65e80d4789"/>
    <p:sldId xmlns:r="http://schemas.openxmlformats.org/officeDocument/2006/relationships" id="269" r:id="Rdb49afe0899d4593"/>
    <p:sldId xmlns:r="http://schemas.openxmlformats.org/officeDocument/2006/relationships" id="270" r:id="Rbbaac88c265d45ae"/>
    <p:sldId xmlns:r="http://schemas.openxmlformats.org/officeDocument/2006/relationships" id="271" r:id="R3a83c8ace0b94d52"/>
    <p:sldId xmlns:r="http://schemas.openxmlformats.org/officeDocument/2006/relationships" id="272" r:id="R3b8bd7d026c043fc"/>
    <p:sldId xmlns:r="http://schemas.openxmlformats.org/officeDocument/2006/relationships" id="273" r:id="R9bba6c7cad2644aa"/>
    <p:sldId xmlns:r="http://schemas.openxmlformats.org/officeDocument/2006/relationships" id="274" r:id="R101459b96f704f5e"/>
    <p:sldId xmlns:r="http://schemas.openxmlformats.org/officeDocument/2006/relationships" id="275" r:id="Rf3989128b31b4bfa"/>
    <p:sldId xmlns:r="http://schemas.openxmlformats.org/officeDocument/2006/relationships" id="276" r:id="R61bdae5269924591"/>
    <p:sldId xmlns:r="http://schemas.openxmlformats.org/officeDocument/2006/relationships" id="277" r:id="R74ed3a78646d42cc"/>
    <p:sldId xmlns:r="http://schemas.openxmlformats.org/officeDocument/2006/relationships" id="278" r:id="R60ceb01e706449a1"/>
    <p:sldId xmlns:r="http://schemas.openxmlformats.org/officeDocument/2006/relationships" id="279" r:id="R05c46b69dad24bf9"/>
    <p:sldId xmlns:r="http://schemas.openxmlformats.org/officeDocument/2006/relationships" id="280" r:id="Rd3997129afd5423d"/>
    <p:sldId xmlns:r="http://schemas.openxmlformats.org/officeDocument/2006/relationships" id="281" r:id="R9f62d7f946694e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6d503241f64c0c" /><Relationship Type="http://schemas.openxmlformats.org/officeDocument/2006/relationships/slideMaster" Target="/ppt/slideMasters/slideMaster1.xml" Id="Rf27892354f2e40cb" /><Relationship Type="http://schemas.openxmlformats.org/officeDocument/2006/relationships/notesMaster" Target="/ppt/notesMasters/notesMaster1.xml" Id="Re2cd57f57d864982" /><Relationship Type="http://schemas.openxmlformats.org/officeDocument/2006/relationships/presProps" Target="/ppt/presProps.xml" Id="Rd87b0b90dced4ef1" /><Relationship Type="http://schemas.openxmlformats.org/officeDocument/2006/relationships/tableStyles" Target="/ppt/tableStyles.xml" Id="Recd51da347a6495e" /><Relationship Type="http://schemas.openxmlformats.org/officeDocument/2006/relationships/slide" Target="/ppt/slides/slide1.xml" Id="Rd144a7e50dae4aca" /><Relationship Type="http://schemas.openxmlformats.org/officeDocument/2006/relationships/slide" Target="/ppt/slides/slide2.xml" Id="R03af7968a0d94eef" /><Relationship Type="http://schemas.openxmlformats.org/officeDocument/2006/relationships/slide" Target="/ppt/slides/slide3.xml" Id="R808e313bb5b24255" /><Relationship Type="http://schemas.openxmlformats.org/officeDocument/2006/relationships/slide" Target="/ppt/slides/slide4.xml" Id="R9ae8d651ce654942" /><Relationship Type="http://schemas.openxmlformats.org/officeDocument/2006/relationships/slide" Target="/ppt/slides/slide5.xml" Id="R5f1328b21f68498e" /><Relationship Type="http://schemas.openxmlformats.org/officeDocument/2006/relationships/slide" Target="/ppt/slides/slide6.xml" Id="Rca2fb6c71b874026" /><Relationship Type="http://schemas.openxmlformats.org/officeDocument/2006/relationships/slide" Target="/ppt/slides/slide7.xml" Id="Re2ea38253e00475f" /><Relationship Type="http://schemas.openxmlformats.org/officeDocument/2006/relationships/slide" Target="/ppt/slides/slide8.xml" Id="R65774c0226194b5e" /><Relationship Type="http://schemas.openxmlformats.org/officeDocument/2006/relationships/slide" Target="/ppt/slides/slide9.xml" Id="R15ed6a155f2a4581" /><Relationship Type="http://schemas.openxmlformats.org/officeDocument/2006/relationships/slide" Target="/ppt/slides/slide10.xml" Id="R2ad949c61170420c" /><Relationship Type="http://schemas.openxmlformats.org/officeDocument/2006/relationships/slide" Target="/ppt/slides/slide11.xml" Id="R080b37b0023142c0" /><Relationship Type="http://schemas.openxmlformats.org/officeDocument/2006/relationships/slide" Target="/ppt/slides/slide12.xml" Id="R5f6b1fd5397c4b9d" /><Relationship Type="http://schemas.openxmlformats.org/officeDocument/2006/relationships/slide" Target="/ppt/slides/slide13.xml" Id="R8087eb65e80d4789" /><Relationship Type="http://schemas.openxmlformats.org/officeDocument/2006/relationships/slide" Target="/ppt/slides/slide14.xml" Id="Rdb49afe0899d4593" /><Relationship Type="http://schemas.openxmlformats.org/officeDocument/2006/relationships/slide" Target="/ppt/slides/slide15.xml" Id="Rbbaac88c265d45ae" /><Relationship Type="http://schemas.openxmlformats.org/officeDocument/2006/relationships/slide" Target="/ppt/slides/slide16.xml" Id="R3a83c8ace0b94d52" /><Relationship Type="http://schemas.openxmlformats.org/officeDocument/2006/relationships/slide" Target="/ppt/slides/slide17.xml" Id="R3b8bd7d026c043fc" /><Relationship Type="http://schemas.openxmlformats.org/officeDocument/2006/relationships/slide" Target="/ppt/slides/slide18.xml" Id="R9bba6c7cad2644aa" /><Relationship Type="http://schemas.openxmlformats.org/officeDocument/2006/relationships/slide" Target="/ppt/slides/slide19.xml" Id="R101459b96f704f5e" /><Relationship Type="http://schemas.openxmlformats.org/officeDocument/2006/relationships/slide" Target="/ppt/slides/slide20.xml" Id="Rf3989128b31b4bfa" /><Relationship Type="http://schemas.openxmlformats.org/officeDocument/2006/relationships/slide" Target="/ppt/slides/slide21.xml" Id="R61bdae5269924591" /><Relationship Type="http://schemas.openxmlformats.org/officeDocument/2006/relationships/slide" Target="/ppt/slides/slide22.xml" Id="R74ed3a78646d42cc" /><Relationship Type="http://schemas.openxmlformats.org/officeDocument/2006/relationships/slide" Target="/ppt/slides/slide23.xml" Id="R60ceb01e706449a1" /><Relationship Type="http://schemas.openxmlformats.org/officeDocument/2006/relationships/slide" Target="/ppt/slides/slide24.xml" Id="R05c46b69dad24bf9" /><Relationship Type="http://schemas.openxmlformats.org/officeDocument/2006/relationships/slide" Target="/ppt/slides/slide25.xml" Id="Rd3997129afd5423d" /><Relationship Type="http://schemas.openxmlformats.org/officeDocument/2006/relationships/slide" Target="/ppt/slides/slide26.xml" Id="R9f62d7f946694e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4a62a9cd0948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8cec1ec1b742f4" /><Relationship Type="http://schemas.openxmlformats.org/officeDocument/2006/relationships/notesMaster" Target="/ppt/notesMasters/notesMaster1.xml" Id="R67f1ac058c614a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c126e0ee95419b" /><Relationship Type="http://schemas.openxmlformats.org/officeDocument/2006/relationships/notesMaster" Target="/ppt/notesMasters/notesMaster1.xml" Id="R9b24d32d8afc4c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0e1f73b1464862" /><Relationship Type="http://schemas.openxmlformats.org/officeDocument/2006/relationships/notesMaster" Target="/ppt/notesMasters/notesMaster1.xml" Id="R8b91fae7f4ee44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3e563775814bc5" /><Relationship Type="http://schemas.openxmlformats.org/officeDocument/2006/relationships/notesMaster" Target="/ppt/notesMasters/notesMaster1.xml" Id="R352c85cc650145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05e4eb9f9f4cdd" /><Relationship Type="http://schemas.openxmlformats.org/officeDocument/2006/relationships/notesMaster" Target="/ppt/notesMasters/notesMaster1.xml" Id="Reb7c7cdcc85b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2125f4e8244d4f" /><Relationship Type="http://schemas.openxmlformats.org/officeDocument/2006/relationships/notesMaster" Target="/ppt/notesMasters/notesMaster1.xml" Id="R4edf855cac7546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19724613cd46b9" /><Relationship Type="http://schemas.openxmlformats.org/officeDocument/2006/relationships/notesMaster" Target="/ppt/notesMasters/notesMaster1.xml" Id="Rc8967c695f0842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469a146c374db9" /><Relationship Type="http://schemas.openxmlformats.org/officeDocument/2006/relationships/notesMaster" Target="/ppt/notesMasters/notesMaster1.xml" Id="Reaa58325c14045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d5b036b914070" /><Relationship Type="http://schemas.openxmlformats.org/officeDocument/2006/relationships/notesMaster" Target="/ppt/notesMasters/notesMaster1.xml" Id="Ra72af9c017464f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933449d0224c5d" /><Relationship Type="http://schemas.openxmlformats.org/officeDocument/2006/relationships/notesMaster" Target="/ppt/notesMasters/notesMaster1.xml" Id="R81d761483e524f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b708c0e324424c" /><Relationship Type="http://schemas.openxmlformats.org/officeDocument/2006/relationships/notesMaster" Target="/ppt/notesMasters/notesMaster1.xml" Id="Re932f87e23d34e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680d216242470c" /><Relationship Type="http://schemas.openxmlformats.org/officeDocument/2006/relationships/notesMaster" Target="/ppt/notesMasters/notesMaster1.xml" Id="Rfc10d44eab8a4a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2d71d786ef481a" /><Relationship Type="http://schemas.openxmlformats.org/officeDocument/2006/relationships/notesMaster" Target="/ppt/notesMasters/notesMaster1.xml" Id="Ra7d41dc6777c4e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997120dccb4071" /><Relationship Type="http://schemas.openxmlformats.org/officeDocument/2006/relationships/notesMaster" Target="/ppt/notesMasters/notesMaster1.xml" Id="Rf0b358eed62844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7e200bb6144bec" /><Relationship Type="http://schemas.openxmlformats.org/officeDocument/2006/relationships/notesMaster" Target="/ppt/notesMasters/notesMaster1.xml" Id="Rddce717e683d45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282656c8044bee" /><Relationship Type="http://schemas.openxmlformats.org/officeDocument/2006/relationships/notesMaster" Target="/ppt/notesMasters/notesMaster1.xml" Id="R190712af23964e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f54d5b99c749e7" /><Relationship Type="http://schemas.openxmlformats.org/officeDocument/2006/relationships/notesMaster" Target="/ppt/notesMasters/notesMaster1.xml" Id="R15990b4f0b7444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aa728bb9824f43" /><Relationship Type="http://schemas.openxmlformats.org/officeDocument/2006/relationships/notesMaster" Target="/ppt/notesMasters/notesMaster1.xml" Id="R6889d9b1f51045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42ae4c5a8148be" /><Relationship Type="http://schemas.openxmlformats.org/officeDocument/2006/relationships/notesMaster" Target="/ppt/notesMasters/notesMaster1.xml" Id="R044e1e2e6b7b48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41a49cf55a48ac" /><Relationship Type="http://schemas.openxmlformats.org/officeDocument/2006/relationships/notesMaster" Target="/ppt/notesMasters/notesMaster1.xml" Id="Rae58cb8183514d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775dd4093d4b60" /><Relationship Type="http://schemas.openxmlformats.org/officeDocument/2006/relationships/notesMaster" Target="/ppt/notesMasters/notesMaster1.xml" Id="Rf98fef18f7a94b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4a1cb72ff24fde" /><Relationship Type="http://schemas.openxmlformats.org/officeDocument/2006/relationships/notesMaster" Target="/ppt/notesMasters/notesMaster1.xml" Id="R41686ea3d99b40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516ea82a5b4030" /><Relationship Type="http://schemas.openxmlformats.org/officeDocument/2006/relationships/notesMaster" Target="/ppt/notesMasters/notesMaster1.xml" Id="Re9124c7f8cb249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c96c5568076491e" /><Relationship Type="http://schemas.openxmlformats.org/officeDocument/2006/relationships/notesMaster" Target="/ppt/notesMasters/notesMaster1.xml" Id="Rc0ea41c16d1142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a5dda3a1c34d94" /><Relationship Type="http://schemas.openxmlformats.org/officeDocument/2006/relationships/notesMaster" Target="/ppt/notesMasters/notesMaster1.xml" Id="Ra8eca6d53f8646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11995ca4144216" /><Relationship Type="http://schemas.openxmlformats.org/officeDocument/2006/relationships/notesMaster" Target="/ppt/notesMasters/notesMaster1.xml" Id="Rb4a491a8c5694e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menit. Hubungkan dengan observasi alat pada pertemuan pertama. Fokus pada penyesuaian pekerjaan terhadap manusia, tanpa merangking kemampuan fisik.</a:t>
            </a:r>
          </a:p>
          <a:p xmlns:a="http://schemas.openxmlformats.org/drawingml/2006/main">
            <a:r>
              <a:t/>
            </a:r>
          </a:p>
          <a:p xmlns:a="http://schemas.openxmlformats.org/drawingml/2006/main">
            <a:r>
              <a:t>Pokok bahasan asli: Pendidikan Jasmani &amp; HSE Geofisika Pertemuan 2 · Wiwit Suryanto · S1 Geofisika UGM</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 menit. Gunakan foto kotak instrumen mahasiswa. Kumpulkan jawaban tentang rute, durasi, pegangan, lingkungan, kecepatan, dan kondisi individu. Jangan meminta pengungkapan kondisi medis.</a:t>
            </a:r>
          </a:p>
          <a:p xmlns:a="http://schemas.openxmlformats.org/drawingml/2006/main">
            <a:r>
              <a:t/>
            </a:r>
          </a:p>
          <a:p xmlns:a="http://schemas.openxmlformats.org/drawingml/2006/main">
            <a:r>
              <a:t>Pokok bahasan asli: Dua mahasiswa membawa kotak yang sama di rute berbeda. Yang satu melewati jalan datar, yang lain menanjak di bawah matahari. Data apa yang dibutuhkan untuk membandingkan beban kerjanya?</a:t>
            </a:r>
          </a:p>
          <a:p xmlns:a="http://schemas.openxmlformats.org/drawingml/2006/main">
            <a:r>
              <a:t/>
            </a:r>
          </a:p>
          <a:p xmlns:a="http://schemas.openxmlformats.org/drawingml/2006/main">
            <a:r>
              <a:t>Seismic Survey Party — Wsx2; CC BY-SA 3.0. Sumber: https://commons.wikimedia.org/wiki/File:Seismic_Survey_Party.jpeg Lisensi: https://creativecommons.org/licenses/by-sa/3.0/ Ditampilkan utuh dengan perubahan ukuran, tanpa pemotongan.</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 menit. Bukti belajar berupa lembar observasi, usulan perubahan kerja, dan exit ticket. Durasi 90 menit mencakup aktivitas, bukan ceramah terus-menerus.</a:t>
            </a:r>
          </a:p>
          <a:p xmlns:a="http://schemas.openxmlformats.org/drawingml/2006/main">
            <a:r>
              <a:t/>
            </a:r>
          </a:p>
          <a:p xmlns:a="http://schemas.openxmlformats.org/drawingml/2006/main">
            <a:r>
              <a:t>Pokok bahasan asli: Menjelaskan respons tubuh selama kerja dan pemulihan. Membaca indikator dengan mengetahui keterbatasannya. Merancang pemindahan alat dengan paparan yang lebih rendah.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10–13 menit. Materi sumber ODP slide 2–4 dan 52. Bedakan kerja mekanik eksternal dengan energi metabolik. Kedua jalur energi aerobik dan anaerobik berkontribusi, dengan proporsi bergantung intensitas dan durasi.</a:t>
            </a:r>
          </a:p>
          <a:p xmlns:a="http://schemas.openxmlformats.org/drawingml/2006/main">
            <a:r>
              <a:t/>
            </a:r>
          </a:p>
          <a:p xmlns:a="http://schemas.openxmlformats.org/drawingml/2006/main">
            <a:r>
              <a:t>Pokok bahasan asli: Otot membutuhkan ATP untuk berkontraksi. Pernapasan dan sirkulasi mendukung pasokan oksigen serta zat gizi. Energi metabolik juga menghasilkan panas yang perlu dilepaskan.</a:t>
            </a:r>
          </a:p>
          <a:p xmlns:a="http://schemas.openxmlformats.org/drawingml/2006/main">
            <a:r>
              <a:t/>
            </a:r>
          </a:p>
          <a:p xmlns:a="http://schemas.openxmlformats.org/drawingml/2006/main">
            <a:r>
              <a:t>Diagram orisinal materi kuliah. Aliran oksigen dari paru-paru melalui sirkulasi ke otot, dengan keluaran kerja dan panas.</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13–16 menit. Materi sumber slide 4, 19–22, 53. Kerja statis dapat melelahkan meskipun perpindahan mekaniknya kecil. Contoh merupakan penerapan pengajaran, bukan hasil pengukuran lapangan.</a:t>
            </a:r>
          </a:p>
          <a:p xmlns:a="http://schemas.openxmlformats.org/drawingml/2006/main">
            <a:r>
              <a:t/>
            </a:r>
          </a:p>
          <a:p xmlns:a="http://schemas.openxmlformats.org/drawingml/2006/main">
            <a:r>
              <a:t>Pokok bahasan asli: Pola kerja; Contoh geofisika; Implikasi desain; Dinamis; Berjalan membawa kabel; Kurangi jarak dan pengulangan; Statis; Menahan alat pada posisi tetap; Sediakan penopang atau ubah posisi; Gabungan; Membungkuk saat memasang sensor; Ubah tinggi kerja dan urutan tugas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16–18 menit. Sumber ODP slide 6 dan 8–9. Kurva lama merupakan skema konsep; jangan memperlakukan bentuk dan angkanya sebagai data mahasiswa. Istilah oxygen debt historis tidak menjelaskan seluruh fisiologi pemulihan.</a:t>
            </a:r>
          </a:p>
          <a:p xmlns:a="http://schemas.openxmlformats.org/drawingml/2006/main">
            <a:r>
              <a:t/>
            </a:r>
          </a:p>
          <a:p xmlns:a="http://schemas.openxmlformats.org/drawingml/2006/main">
            <a:r>
              <a:t>Pokok bahasan asli: Saat aktivitas dimulai, kebutuhan energi meningkat. Denyut dan pernapasan menyesuaikan selama aktivitas. Setelah berhenti, pemulihan berlangsung bertahap.</a:t>
            </a:r>
          </a:p>
          <a:p xmlns:a="http://schemas.openxmlformats.org/drawingml/2006/main">
            <a:r>
              <a:t/>
            </a:r>
          </a:p>
          <a:p xmlns:a="http://schemas.openxmlformats.org/drawingml/2006/main">
            <a:r>
              <a:t>Diagram orisinal materi kuliah. Kurva konseptual respons tubuh yang naik saat aktivitas lalu turun bertahap selama pemulihan.</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18–20 menit. Materi ODP slide 13, 23–24. Kapasitas aerobik tidak sama dengan seluruh kapasitas kerja atau kekuatan otot. Tidak ada tes maksimal pada kelas ini. Nilai VO₂max bukan izin bekerja di lereng, dekat listrik, atau dalam panas.</a:t>
            </a:r>
          </a:p>
          <a:p xmlns:a="http://schemas.openxmlformats.org/drawingml/2006/main">
            <a:r>
              <a:t/>
            </a:r>
          </a:p>
          <a:p xmlns:a="http://schemas.openxmlformats.org/drawingml/2006/main">
            <a:r>
              <a:t>Pokok bahasan asli: VO₂max menggambarkan kapasitas maksimal penggunaan oksigen. Nilainya berbeda dari kebutuhan oksigen pada satu tugas tertentu. Pengukuran maksimal memerlukan prosedur dan pengawasan yang sesuai.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20–23 menit. Sumber ODP slide 12–18, 44–45; CDC intensitas. Gunakan beberapa indikator sebagai informasi pelengkap, bukan satu angka untuk mengesahkan keselamatan.</a:t>
            </a:r>
          </a:p>
          <a:p xmlns:a="http://schemas.openxmlformats.org/drawingml/2006/main">
            <a:r>
              <a:t/>
            </a:r>
          </a:p>
          <a:p xmlns:a="http://schemas.openxmlformats.org/drawingml/2006/main">
            <a:r>
              <a:t>Pokok bahasan asli: Indikator; Kegunaan; Batas interpretasi; Denyut jantung; Respons sirkulasi; Dipengaruhi panas, stres, dan faktor lain; Persepsi usaha; Pengalaman intensitas; Subjektif dan perlu instruksi konsisten; Observasi tugas; Paparan pekerjaan; Butuh konteks rute dan durasi; VO₂; Kebutuhan metabolik; Memerlukan alat dan protokol</a:t>
            </a:r>
          </a:p>
          <a:p xmlns:a="http://schemas.openxmlformats.org/drawingml/2006/main">
            <a:r>
              <a:t/>
            </a:r>
          </a:p>
          <a:p xmlns:a="http://schemas.openxmlformats.org/drawingml/2006/main">
            <a:r>
              <a:t/>
            </a:r>
          </a:p>
          <a:p xmlns:a="http://schemas.openxmlformats.org/drawingml/2006/main">
            <a:r>
              <a:t/>
            </a:r>
          </a:p>
          <a:p xmlns:a="http://schemas.openxmlformats.org/drawingml/2006/main">
            <a:r>
              <a:t>CDC — Intensitas aktivitas fisik (2025): https://www.cdc.gov/physical-activity-basics/measuring/index.html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23–25 menit. ODP memuat beberapa persamaan denyut maksimal yang berbeda. Jangan memilih salah satunya sebagai batas penghentian universal. Data jam tangan dapat mengandung galat gerak. Gejala dan SOP tetap harus ditindaklanjuti.</a:t>
            </a:r>
          </a:p>
          <a:p xmlns:a="http://schemas.openxmlformats.org/drawingml/2006/main">
            <a:r>
              <a:t/>
            </a:r>
          </a:p>
          <a:p xmlns:a="http://schemas.openxmlformats.org/drawingml/2006/main">
            <a:r>
              <a:t>Pokok bahasan asli: Catat aktivitas, durasi, lingkungan, dan waktu pengamatan. Bandingkan respons seseorang pada kondisi yang sebanding. Rumus denyut maksimal berbasis usia hanya memberikan perkiraan.</a:t>
            </a:r>
          </a:p>
          <a:p xmlns:a="http://schemas.openxmlformats.org/drawingml/2006/main">
            <a:r>
              <a:t/>
            </a:r>
          </a:p>
          <a:p xmlns:a="http://schemas.openxmlformats.org/drawingml/2006/main">
            <a:r>
              <a:t>Radial pulse — U.S. Air Force / Staff Sgt. Jeanette Copeland; Domain publik. Sumber: https://commons.wikimedia.org/wiki/File:Radial_pulse.jpg Lisensi: https://commons.wikimedia.org/wiki/Template:PD-USGov-Military-Air_Force Ditampilkan utuh dengan perubahan ukuran, tanpa pemotongan.</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25–27 menit. Angka simulasi untuk aritmetika, bukan target mahasiswa. Jawaban: jenis aktivitas, waktu ukur, suhu, faktor individu, kualitas alat. Selisih tidak langsung menjadi kalori, diagnosis, atau keputusan layak bekerja.</a:t>
            </a:r>
          </a:p>
          <a:p xmlns:a="http://schemas.openxmlformats.org/drawingml/2006/main">
            <a:r>
              <a:t/>
            </a:r>
          </a:p>
          <a:p xmlns:a="http://schemas.openxmlformats.org/drawingml/2006/main">
            <a:r>
              <a:t>Pokok bahasan asli: Sebelum aktivitas: 72 denyut/menit. Saat aktivitas ringan: 96 denyut/menit. Selisih: 24 denyut/menit. Apa yang belum diketahui?</a:t>
            </a:r>
          </a:p>
          <a:p xmlns:a="http://schemas.openxmlformats.org/drawingml/2006/main">
            <a:r>
              <a:t/>
            </a:r>
          </a:p>
          <a:p xmlns:a="http://schemas.openxmlformats.org/drawingml/2006/main">
            <a:r>
              <a:t>Diagram orisinal materi kuliah. Perbandingan angka simulasi denyut sebelum aktivitas 72 dan saat aktivitas ringan 96, berselisih 24 denyut per menit.</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27–29 menit. ODP slide 14–16. Jangan mencampur skor dari skala yang berbeda. RPE dikali 10 bukan konversi denyut jantung yang berlaku pada setiap individu. Skala refleksi 0–10 kelas ini bukan administrasi instrumen Borg tervalidasi.</a:t>
            </a:r>
          </a:p>
          <a:p xmlns:a="http://schemas.openxmlformats.org/drawingml/2006/main">
            <a:r>
              <a:t/>
            </a:r>
          </a:p>
          <a:p xmlns:a="http://schemas.openxmlformats.org/drawingml/2006/main">
            <a:r>
              <a:t>Pokok bahasan asli: Skala; Penggunaan yang tepat; Borg RPE 6–20; Gunakan instruksi skala aslinya secara konsisten; Borg CR10; Skala tersendiri dengan instruksi dan jangkar khusus; Skala usaha umum 0–10; Dapat dipakai untuk refleksi kelas, dengan jangkar dijelaskan</a:t>
            </a:r>
          </a:p>
          <a:p xmlns:a="http://schemas.openxmlformats.org/drawingml/2006/main">
            <a:r>
              <a:t/>
            </a:r>
          </a:p>
          <a:p xmlns:a="http://schemas.openxmlformats.org/drawingml/2006/main">
            <a:r>
              <a:t/>
            </a:r>
          </a:p>
          <a:p xmlns:a="http://schemas.openxmlformats.org/drawingml/2006/main">
            <a:r>
              <a:t/>
            </a:r>
          </a:p>
          <a:p xmlns:a="http://schemas.openxmlformats.org/drawingml/2006/main">
            <a:r>
              <a:t>CDC — Intensitas aktivitas fisik (2025): https://www.cdc.gov/physical-activity-basics/measuring/index.html</a:t>
            </a:r>
          </a:p>
          <a:p xmlns:a="http://schemas.openxmlformats.org/drawingml/2006/main">
            <a:r>
              <a:t>Borg Perception — RPE dan CR scales: https://borgperception.se/wp-content/uploads/2019/10/The-Borg-CR-Scales-Folder.pdf</a:t>
            </a:r>
          </a:p>
          <a:p xmlns:a="http://schemas.openxmlformats.org/drawingml/2006/main">
            <a:r>
              <a:t>Studi RPE dan denyut pada tugas kerja simulasi: https://pubmed.ncbi.nlm.nih.gov/10327895/</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29–30 menit. Gunakan sebagai petunjuk intensitas aktivitas aerobik sesuai CDC, bukan tes keselamatan seluruh pekerjaan. Praktik tetap ringan; tidak perlu mencapai intensitas sedang atau berat.</a:t>
            </a:r>
          </a:p>
          <a:p xmlns:a="http://schemas.openxmlformats.org/drawingml/2006/main">
            <a:r>
              <a:t/>
            </a:r>
          </a:p>
          <a:p xmlns:a="http://schemas.openxmlformats.org/drawingml/2006/main">
            <a:r>
              <a:t>Pokok bahasan asli: Pada intensitas sedang, orang umumnya masih dapat berbicara, tetapi sulit bernyanyi. Pada intensitas berat, orang umumnya hanya dapat mengucapkan beberapa kata sebelum mengambil napas.</a:t>
            </a:r>
          </a:p>
          <a:p xmlns:a="http://schemas.openxmlformats.org/drawingml/2006/main">
            <a:r>
              <a:t/>
            </a:r>
          </a:p>
          <a:p xmlns:a="http://schemas.openxmlformats.org/drawingml/2006/main">
            <a:r>
              <a:t/>
            </a:r>
          </a:p>
          <a:p xmlns:a="http://schemas.openxmlformats.org/drawingml/2006/main">
            <a:r>
              <a:t/>
            </a:r>
          </a:p>
          <a:p xmlns:a="http://schemas.openxmlformats.org/drawingml/2006/main">
            <a:r>
              <a:t>CDC — Intensitas aktivitas fisik (2025): https://www.cdc.gov/physical-activity-basics/measuring/index.html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30–38 menit. Pilihan sukarela di ruang datar bebas hambatan, tanpa beban dan tanpa target denyut. Sediakan peran pengamat. Tidak melakukan tes maksimal atau memaksa peningkatan intensitas. Pengajar memberi waktu untuk pulih dan mengisi lembar kerja.</a:t>
            </a:r>
          </a:p>
          <a:p xmlns:a="http://schemas.openxmlformats.org/drawingml/2006/main">
            <a:r>
              <a:t/>
            </a:r>
          </a:p>
          <a:p xmlns:a="http://schemas.openxmlformats.org/drawingml/2006/main">
            <a:r>
              <a:t>Pokok bahasan asli: Jalan santai di tempat selama sekitar satu menit, bila nyaman. Amati perubahan napas dan persepsi usaha sebelum serta sesudahnya. Berhenti bila muncul keluhan. Peran pengamat memiliki nilai belajar setara.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38–45 menit. Diskusi berpasangan lalu dua tanggapan kelas. Catatan tubuh disimpan pribadi; kelompok boleh menggunakan data simulasi. Hubungkan dengan perubahan ritme, rute, dan pemulihan.</a:t>
            </a:r>
          </a:p>
          <a:p xmlns:a="http://schemas.openxmlformats.org/drawingml/2006/main">
            <a:r>
              <a:t/>
            </a:r>
          </a:p>
          <a:p xmlns:a="http://schemas.openxmlformats.org/drawingml/2006/main">
            <a:r>
              <a:t>Pokok bahasan asli: Apa yang berubah, dan apa yang tetap? Faktor apa yang membuat perbandingan antarorang kurang tepat? Bagaimana informasi ini membantu merancang tugas lapangan?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45–48 menit. ODP slide 17–18. NASA-TLX adalah alat penilaian subjektif beban tugas. Pengenalan dimensi bukan pelaksanaan skor NASA-TLX resmi. Gunakan prosedur asli bila ingin menerapkannya sebagai instrumen.</a:t>
            </a:r>
          </a:p>
          <a:p xmlns:a="http://schemas.openxmlformats.org/drawingml/2006/main">
            <a:r>
              <a:t/>
            </a:r>
          </a:p>
          <a:p xmlns:a="http://schemas.openxmlformats.org/drawingml/2006/main">
            <a:r>
              <a:t>Pokok bahasan asli: NASA-TLX mencakup tuntutan mental, fisik, dan waktu. Dimensi lainnya adalah kinerja, usaha, dan frustrasi. Operator pencatat data dapat terbebani meskipun duduk.</a:t>
            </a:r>
          </a:p>
          <a:p xmlns:a="http://schemas.openxmlformats.org/drawingml/2006/main">
            <a:r>
              <a:t/>
            </a:r>
          </a:p>
          <a:p xmlns:a="http://schemas.openxmlformats.org/drawingml/2006/main">
            <a:r>
              <a:t>Diagram orisinal materi kuliah. Enam dimensi NASA-TLX terhubung pada pusat beban tugas: mental, fisik, waktu, kinerja, usaha, dan frustrasi.</a:t>
            </a:r>
          </a:p>
          <a:p xmlns:a="http://schemas.openxmlformats.org/drawingml/2006/main">
            <a:r>
              <a:t/>
            </a:r>
          </a:p>
          <a:p xmlns:a="http://schemas.openxmlformats.org/drawingml/2006/main">
            <a:r>
              <a:t>NASA — Task Load Index: https://www.nasa.gov/human-systems-integration-division/nasa-task-load-index-tlx/</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48–51 menit. ODP slide 19–20. Jangan menyalin tinggi meja historis berdasarkan laki-laki/perempuan menjadi ketentuan semua mahasiswa. Gunakan kebutuhan tugas dan pengukuran yang relevan, dengan persetujuan pengguna.</a:t>
            </a:r>
          </a:p>
          <a:p xmlns:a="http://schemas.openxmlformats.org/drawingml/2006/main">
            <a:r>
              <a:t/>
            </a:r>
          </a:p>
          <a:p xmlns:a="http://schemas.openxmlformats.org/drawingml/2006/main">
            <a:r>
              <a:t>Pokok bahasan asli: Sesuaikan tinggi meja, jangkauan, dan pegangan dengan pengguna. Pertimbangkan variasi ukuran tubuh dalam satu tim. Pengaturan yang dapat disesuaikan membantu lebih banyak pengguna.</a:t>
            </a:r>
          </a:p>
          <a:p xmlns:a="http://schemas.openxmlformats.org/drawingml/2006/main">
            <a:r>
              <a:t/>
            </a:r>
          </a:p>
          <a:p xmlns:a="http://schemas.openxmlformats.org/drawingml/2006/main">
            <a:r>
              <a:t>Diagram orisinal materi kuliah. Diagram dua pilihan tinggi permukaan kerja dengan penanda penyesuaian tinggi dan posisi, tanpa angka antropometri baku.</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51–54 menit. Sambungkan dengan materi situs lama tentang pemindahan alat. Tidak ada satu batas kilogram yang menjamin semua tugas aman. Jangan menilai kemampuan hanya dari jenis kelamin, usia, atau penampilan.</a:t>
            </a:r>
          </a:p>
          <a:p xmlns:a="http://schemas.openxmlformats.org/drawingml/2006/main">
            <a:r>
              <a:t/>
            </a:r>
          </a:p>
          <a:p xmlns:a="http://schemas.openxmlformats.org/drawingml/2006/main">
            <a:r>
              <a:t>Pokok bahasan asli: Faktor; Pertanyaan sebelum mulai; Beban; Berat, isi, pegangan, dan stabilitasnya diketahui?; Tugas; Seberapa jauh, tinggi, sering, dan lama?; Lingkungan; Ada lereng, tangga, kabel, atau permukaan licin?; Pengguna; Bantuan dan penyesuaian apa yang diperlukan?</a:t>
            </a:r>
          </a:p>
          <a:p xmlns:a="http://schemas.openxmlformats.org/drawingml/2006/main">
            <a:r>
              <a:t/>
            </a:r>
          </a:p>
          <a:p xmlns:a="http://schemas.openxmlformats.org/drawingml/2006/main">
            <a:r>
              <a:t/>
            </a:r>
          </a:p>
          <a:p xmlns:a="http://schemas.openxmlformats.org/drawingml/2006/main">
            <a:r>
              <a:t/>
            </a:r>
          </a:p>
          <a:p xmlns:a="http://schemas.openxmlformats.org/drawingml/2006/main">
            <a:r>
              <a:t>NIOSH — Revised NIOSH Lifting Equation: https://www.cdc.gov/niosh/ergonomics/about/rnle.html</a:t>
            </a:r>
          </a:p>
          <a:p xmlns:a="http://schemas.openxmlformats.org/drawingml/2006/main">
            <a:r>
              <a:t>CCOHS — Lingkup persamaan angkat NIOSH: https://www.ccohs.ca/oshanswers/ergonomics/niosh/assessing.html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 menit. Jelaskan bahwa hasil RNLE bukan sertifikat aman. Tidak menerapkan kalkulator RNLE pada tugas membawa, mendorong, atau kondisi pijakan buruk yang berada di luar lingkupnya.</a:t>
            </a:r>
          </a:p>
          <a:p xmlns:a="http://schemas.openxmlformats.org/drawingml/2006/main">
            <a:r>
              <a:t/>
            </a:r>
          </a:p>
          <a:p xmlns:a="http://schemas.openxmlformats.org/drawingml/2006/main">
            <a:r>
              <a:t>Pokok bahasan asli: RNLE menilai tugas angkat manual dengan dua tangan dalam lingkup tertentu. Variabelnya mencakup posisi tangan, frekuensi, durasi, dan kualitas pegangan. Membawa kotak di lereng licin memerlukan penilaian yang lebih luas.</a:t>
            </a:r>
          </a:p>
          <a:p xmlns:a="http://schemas.openxmlformats.org/drawingml/2006/main">
            <a:r>
              <a:t/>
            </a:r>
          </a:p>
          <a:p xmlns:a="http://schemas.openxmlformats.org/drawingml/2006/main">
            <a:r>
              <a:t>Sackkarre — Priwo; Domain publik (PD-self). Sumber: https://commons.wikimedia.org/wiki/File:Sackkarre.jpg Lisensi: https://commons.wikimedia.org/wiki/Template:PD-self Ditampilkan utuh dengan perubahan ukuran, tanpa pemotongan.</a:t>
            </a:r>
          </a:p>
          <a:p xmlns:a="http://schemas.openxmlformats.org/drawingml/2006/main">
            <a:r>
              <a:t/>
            </a:r>
          </a:p>
          <a:p xmlns:a="http://schemas.openxmlformats.org/drawingml/2006/main">
            <a:r>
              <a:t>NIOSH — Revised NIOSH Lifting Equation: https://www.cdc.gov/niosh/ergonomics/about/rnle.html</a:t>
            </a:r>
          </a:p>
          <a:p xmlns:a="http://schemas.openxmlformats.org/drawingml/2006/main">
            <a:r>
              <a:t>CCOHS — Lingkup persamaan angkat NIOSH: https://www.ccohs.ca/oshanswers/ergonomics/niosh/assessing.html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56–60 menit. Model statika sederhana M=m g d terhadap titik acuan yang sama. Menggandakan lengan momen menggandakan momen beban. Ini bukan estimasi gaya tulang belakang, beban aman, atau tugas angkat nyata.</a:t>
            </a:r>
          </a:p>
          <a:p xmlns:a="http://schemas.openxmlformats.org/drawingml/2006/main">
            <a:r>
              <a:t/>
            </a:r>
          </a:p>
          <a:p xmlns:a="http://schemas.openxmlformats.org/drawingml/2006/main">
            <a:r>
              <a:t>Pokok bahasan asli: Contoh ideal: massa 10 kg, g = 9,81 m/s². Pada jarak 0,20 m: momen ≈ 19,6 N·m. Pada jarak 0,40 m: momen ≈ 39,2 N·m.</a:t>
            </a:r>
          </a:p>
          <a:p xmlns:a="http://schemas.openxmlformats.org/drawingml/2006/main">
            <a:r>
              <a:t/>
            </a:r>
          </a:p>
          <a:p xmlns:a="http://schemas.openxmlformats.org/drawingml/2006/main">
            <a:r>
              <a:t>Diagram orisinal materi kuliah. Dua diagram lengan momen dengan massa sama 10 kg. Jarak digandakan dari 0,20 ke 0,40 meter sehingga momennya dua kali lipat.</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60–63 menit. Hierarki lama dipertahankan. Roda atau troli tidak selalu cocok di lereng. Pelatihan mengangkat dan kebugaran tidak menggantikan perubahan tugas.</a:t>
            </a:r>
          </a:p>
          <a:p xmlns:a="http://schemas.openxmlformats.org/drawingml/2006/main">
            <a:r>
              <a:t/>
            </a:r>
          </a:p>
          <a:p xmlns:a="http://schemas.openxmlformats.org/drawingml/2006/main">
            <a:r>
              <a:t>Pokok bahasan asli: Prioritas; Contoh perubahan pekerjaan; Eliminasi; Kurangi kebutuhan memindahkan alat; Substitusi; Pilih unit lebih ringan setelah menilai risiko baru; Rekayasa; Gunakan alat bantu yang sesuai medan; Administratif; Atur peran, rute, komunikasi, dan pemulihan; APD; Pilih berdasarkan bahaya dan SOP</a:t>
            </a:r>
          </a:p>
          <a:p xmlns:a="http://schemas.openxmlformats.org/drawingml/2006/main">
            <a:r>
              <a:t/>
            </a:r>
          </a:p>
          <a:p xmlns:a="http://schemas.openxmlformats.org/drawingml/2006/main">
            <a:r>
              <a:t>Diagram orisinal materi kuliah. Lima tingkat hierarki pengendalian dari eliminasi, substitusi, rekayasa, administratif, hingga APD.</a:t>
            </a:r>
          </a:p>
          <a:p xmlns:a="http://schemas.openxmlformats.org/drawingml/2006/main">
            <a:r>
              <a:t/>
            </a:r>
          </a:p>
          <a:p xmlns:a="http://schemas.openxmlformats.org/drawingml/2006/main">
            <a:r>
              <a:t>OSHA — Hazard Prevention and Control: https://www.osha.gov/safety-management/hazard-prevention</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63–73 menit. Dua menit pengarahan, lima menit praktik bergantian, tiga menit refleksi. Ruang datar, kotak kosong/sangat ringan, tanpa aki atau instrumen aktif. Hindari titik jepit dan memutar badan sambil menahan beban. Hentikan bila ada keluhan.</a:t>
            </a:r>
          </a:p>
          <a:p xmlns:a="http://schemas.openxmlformats.org/drawingml/2006/main">
            <a:r>
              <a:t/>
            </a:r>
          </a:p>
          <a:p xmlns:a="http://schemas.openxmlformats.org/drawingml/2006/main">
            <a:r>
              <a:t>Pokok bahasan asli: Periksa kotak kosong, jalur, dan tempat peletakan. Sepakati metode, bantuan, dan aba-aba. Lakukan gerak terkendali atau pilih mengamati.</a:t>
            </a:r>
          </a:p>
          <a:p xmlns:a="http://schemas.openxmlformats.org/drawingml/2006/main">
            <a:r>
              <a:t/>
            </a:r>
          </a:p>
          <a:p xmlns:a="http://schemas.openxmlformats.org/drawingml/2006/main">
            <a:r>
              <a:t>Diagram orisinal materi kuliah. Alur tiga tahap praktik ringan: memeriksa, menyepakati metode, lalu melakukan atau mengamati.</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73–80 menit. Kelompok 3–4 orang. Kumpulkan satu lembar rencana. Contoh jawaban: menurunkan frekuensi angkut dengan perubahan titik bongkar, lalu memeriksa kelayakan akses dan dampaknya pada survei.</a:t>
            </a:r>
          </a:p>
          <a:p xmlns:a="http://schemas.openxmlformats.org/drawingml/2006/main">
            <a:r>
              <a:t/>
            </a:r>
          </a:p>
          <a:p xmlns:a="http://schemas.openxmlformats.org/drawingml/2006/main">
            <a:r>
              <a:t>Pokok bahasan asli: Gunakan foto alat dari pertemuan pertama. Tuliskan informasi yang sudah diketahui dan yang masih perlu diverifikasi. Usulkan satu perubahan desain serta satu cara memeriksa hasilnya.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80–87 menit. Setiap jawaban harus memberi alasan. Kunci: konteks dan keterbatasan indikator; kemampuan individu versus kebutuhan tugas; kendali yang spesifik dan dapat diperiksa. Kesalahan kritis dibahas kembali.</a:t>
            </a:r>
          </a:p>
          <a:p xmlns:a="http://schemas.openxmlformats.org/drawingml/2006/main">
            <a:r>
              <a:t/>
            </a:r>
          </a:p>
          <a:p xmlns:a="http://schemas.openxmlformats.org/drawingml/2006/main">
            <a:r>
              <a:t>Pokok bahasan asli: Mengapa denyut saja belum cukup untuk menilai beban kerja? Apa perbedaan kapasitas aerobik dan tuntutan tugas? Perubahan apa yang paling membantu pada kasus kotak alat Anda?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87–90 menit. Tanpa praktik alat sungguhan atau pengukuran kesehatan wajib. Penilaian usulan: ketepatan konsep 30%, alasan rancangan 40%, verifikasi 30%. AI boleh membantu draf; mahasiswa harus mampu menjelaskan sendiri.</a:t>
            </a:r>
          </a:p>
          <a:p xmlns:a="http://schemas.openxmlformats.org/drawingml/2006/main">
            <a:r>
              <a:t/>
            </a:r>
          </a:p>
          <a:p xmlns:a="http://schemas.openxmlformats.org/drawingml/2006/main">
            <a:r>
              <a:t>Pokok bahasan asli: Buat profil pekerjaan satu halaman berdasarkan foto alat. Cantumkan tugas, rute, paparan, informasi yang belum diketahui, dan usulan kendali. Bawa profil ini untuk menyusun JSA pada pertemuan ke-3.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Referensi lengkap tersedia pada materi daring dan catatan slide. Materi dasar: berkas ODP “Fisiologi manusia kerja”, April 2025, diberikan pengampu. Kutipan gambar tabel lama tidak dipakai sebagai batas operasional.</a:t>
            </a:r>
          </a:p>
          <a:p xmlns:a="http://schemas.openxmlformats.org/drawingml/2006/main">
            <a:r>
              <a:t/>
            </a:r>
          </a:p>
          <a:p xmlns:a="http://schemas.openxmlformats.org/drawingml/2006/main">
            <a:r>
              <a:t>Pokok bahasan asli: CDC: intensitas aktivitas dan talk test. NIOSH dan CCOHS: lingkup penilaian angkat. NASA: NASA-TLX. OSHA: hierarki pengendalian.</a:t>
            </a:r>
          </a:p>
          <a:p xmlns:a="http://schemas.openxmlformats.org/drawingml/2006/main">
            <a:r>
              <a:t/>
            </a:r>
          </a:p>
          <a:p xmlns:a="http://schemas.openxmlformats.org/drawingml/2006/main">
            <a:r>
              <a:t/>
            </a:r>
          </a:p>
          <a:p xmlns:a="http://schemas.openxmlformats.org/drawingml/2006/main">
            <a:r>
              <a:t/>
            </a:r>
          </a:p>
          <a:p xmlns:a="http://schemas.openxmlformats.org/drawingml/2006/main">
            <a:r>
              <a:t>CDC — Intensitas aktivitas fisik (2025): https://www.cdc.gov/physical-activity-basics/measuring/index.html</a:t>
            </a:r>
          </a:p>
          <a:p xmlns:a="http://schemas.openxmlformats.org/drawingml/2006/main">
            <a:r>
              <a:t>NIOSH — Revised NIOSH Lifting Equation: https://www.cdc.gov/niosh/ergonomics/about/rnle.html</a:t>
            </a:r>
          </a:p>
          <a:p xmlns:a="http://schemas.openxmlformats.org/drawingml/2006/main">
            <a:r>
              <a:t>CCOHS — Lingkup persamaan angkat NIOSH: https://www.ccohs.ca/oshanswers/ergonomics/niosh/assessing.html</a:t>
            </a:r>
          </a:p>
          <a:p xmlns:a="http://schemas.openxmlformats.org/drawingml/2006/main">
            <a:r>
              <a:t>NASA — Task Load Index: https://www.nasa.gov/human-systems-integration-division/nasa-task-load-index-tlx/</a:t>
            </a:r>
          </a:p>
          <a:p xmlns:a="http://schemas.openxmlformats.org/drawingml/2006/main">
            <a:r>
              <a:t>OSHA — Hazard Prevention and Control: https://www.osha.gov/safety-management/hazard-prevention</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Jembatan ke pertemuan ke-3. Seluruh kegiatan lapangan nyata mengikuti SOP UGM, manual instrumen, aturan lokasi, dan pengarahan petugas kompeten.</a:t>
            </a:r>
          </a:p>
          <a:p xmlns:a="http://schemas.openxmlformats.org/drawingml/2006/main">
            <a:r>
              <a:t/>
            </a:r>
          </a:p>
          <a:p xmlns:a="http://schemas.openxmlformats.org/drawingml/2006/main">
            <a:r>
              <a:t>Pokok bahasan asli: Kelelahan, tidur, dan kerja dalam panas. Profil pekerjaan menjadi JSA dengan kendali, PIC, dan verifikasi.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5ffd09aa2041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e0d1f5233f4e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3b82df8a0c4d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a9bb44c8834c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256ca2f9bd48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4f3723509440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7DA42C-C44E-42CE-A6F2-FFEB48245E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FBAD90-518E-4DAA-9445-326DB23F54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DE0A72-04E8-436F-BBCE-A1A0FCF01C9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E8F4E6-695B-4B43-8A13-C974ED8D4D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6A2121-B066-4510-9E68-62397CBAED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267307-6C7D-40D0-A8E5-9D13EDF875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74ED9C-63E3-4873-A076-622FC1ABF1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494607-CA60-470B-A1F9-7CBC766FEC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B599E0-AC6B-4DB1-9BFE-F8E14675BF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13B593-E2DC-43DC-8107-F8C3034912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fe930279b04983" /><Relationship Type="http://schemas.openxmlformats.org/officeDocument/2006/relationships/slideLayout" Target="/ppt/slideLayouts/slideLayout1.xml" Id="Ra6c20455b08b45f2" /><Relationship Type="http://schemas.openxmlformats.org/officeDocument/2006/relationships/slideLayout" Target="/ppt/slideLayouts/slideLayout2.xml" Id="Rb1087a1db31f4ec7" /><Relationship Type="http://schemas.openxmlformats.org/officeDocument/2006/relationships/slideLayout" Target="/ppt/slideLayouts/slideLayout3.xml" Id="R5a3a8306cbca4bac" /><Relationship Type="http://schemas.openxmlformats.org/officeDocument/2006/relationships/slideLayout" Target="/ppt/slideLayouts/slideLayout4.xml" Id="R5f40f109ed12402e" /><Relationship Type="http://schemas.openxmlformats.org/officeDocument/2006/relationships/slideLayout" Target="/ppt/slideLayouts/slideLayout5.xml" Id="Rf1e391b711924656" /><Relationship Type="http://schemas.openxmlformats.org/officeDocument/2006/relationships/slideLayout" Target="/ppt/slideLayouts/slideLayout6.xml" Id="R34573a73c4a6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c20455b08b45f2"/>
    <p:sldLayoutId xmlns:r="http://schemas.openxmlformats.org/officeDocument/2006/relationships" id="2147483650" r:id="Rb1087a1db31f4ec7"/>
    <p:sldLayoutId xmlns:r="http://schemas.openxmlformats.org/officeDocument/2006/relationships" id="2147483651" r:id="R5a3a8306cbca4bac"/>
    <p:sldLayoutId xmlns:r="http://schemas.openxmlformats.org/officeDocument/2006/relationships" id="2147483652" r:id="R5f40f109ed12402e"/>
    <p:sldLayoutId xmlns:r="http://schemas.openxmlformats.org/officeDocument/2006/relationships" id="2147483653" r:id="Rf1e391b711924656"/>
    <p:sldLayoutId xmlns:r="http://schemas.openxmlformats.org/officeDocument/2006/relationships" id="2147483654" r:id="R34573a73c4a6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48065297214ece" /><Relationship Type="http://schemas.openxmlformats.org/officeDocument/2006/relationships/notesSlide" Target="/ppt/notesSlides/notesSlide1.xml" Id="R5f5d7a01bbf045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ff5e5285834711" /><Relationship Type="http://schemas.openxmlformats.org/officeDocument/2006/relationships/image" Target="/ppt/media/image.jpeg" Id="Rc48167160cff4070" /><Relationship Type="http://schemas.openxmlformats.org/officeDocument/2006/relationships/notesSlide" Target="/ppt/notesSlides/notesSlide2.xml" Id="Rcfcfe934e13d4f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d0e4cbebdb4a9b" /><Relationship Type="http://schemas.openxmlformats.org/officeDocument/2006/relationships/notesSlide" Target="/ppt/notesSlides/notesSlide3.xml" Id="R2d9139ec1afb4c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d46d7b17cd4760" /><Relationship Type="http://schemas.openxmlformats.org/officeDocument/2006/relationships/notesSlide" Target="/ppt/notesSlides/notesSlide4.xml" Id="Reb8c53c900da45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d081416f954a66" /><Relationship Type="http://schemas.openxmlformats.org/officeDocument/2006/relationships/notesSlide" Target="/ppt/notesSlides/notesSlide5.xml" Id="Rf5395fa293d646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d261acd74244b6" /><Relationship Type="http://schemas.openxmlformats.org/officeDocument/2006/relationships/notesSlide" Target="/ppt/notesSlides/notesSlide6.xml" Id="R6287293ec29b4f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cc891e67a84b88" /><Relationship Type="http://schemas.openxmlformats.org/officeDocument/2006/relationships/notesSlide" Target="/ppt/notesSlides/notesSlide7.xml" Id="R52385c509e3f42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fe95d4a6d341a0" /><Relationship Type="http://schemas.openxmlformats.org/officeDocument/2006/relationships/notesSlide" Target="/ppt/notesSlides/notesSlide8.xml" Id="Rf25a7849af6d46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5063c8d57b4301" /><Relationship Type="http://schemas.openxmlformats.org/officeDocument/2006/relationships/image" Target="/ppt/media/image2.jpeg" Id="R0bea032a00544234" /><Relationship Type="http://schemas.openxmlformats.org/officeDocument/2006/relationships/notesSlide" Target="/ppt/notesSlides/notesSlide9.xml" Id="R91433d6e305a4e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5f0f5f78ef4bec" /><Relationship Type="http://schemas.openxmlformats.org/officeDocument/2006/relationships/notesSlide" Target="/ppt/notesSlides/notesSlide10.xml" Id="Rc66296238a714e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6661c5655d4e82" /><Relationship Type="http://schemas.openxmlformats.org/officeDocument/2006/relationships/notesSlide" Target="/ppt/notesSlides/notesSlide11.xml" Id="R1c637304edf746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900891f7724a45" /><Relationship Type="http://schemas.openxmlformats.org/officeDocument/2006/relationships/notesSlide" Target="/ppt/notesSlides/notesSlide12.xml" Id="R07952751728a41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c2a44184c64ea2" /><Relationship Type="http://schemas.openxmlformats.org/officeDocument/2006/relationships/notesSlide" Target="/ppt/notesSlides/notesSlide13.xml" Id="R9f36af02cd1f47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058281eb4244b96" /><Relationship Type="http://schemas.openxmlformats.org/officeDocument/2006/relationships/notesSlide" Target="/ppt/notesSlides/notesSlide14.xml" Id="R8e83ba8b98ab48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8b72672d7f24249" /><Relationship Type="http://schemas.openxmlformats.org/officeDocument/2006/relationships/notesSlide" Target="/ppt/notesSlides/notesSlide15.xml" Id="R538f8e2b679a4b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75f32e127443bf" /><Relationship Type="http://schemas.openxmlformats.org/officeDocument/2006/relationships/notesSlide" Target="/ppt/notesSlides/notesSlide16.xml" Id="Rf46592ef23754f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b72abb69b604ff6" /><Relationship Type="http://schemas.openxmlformats.org/officeDocument/2006/relationships/notesSlide" Target="/ppt/notesSlides/notesSlide17.xml" Id="Rdd6cc3ba52fa4f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edb7c55234d4b13" /><Relationship Type="http://schemas.openxmlformats.org/officeDocument/2006/relationships/image" Target="/ppt/media/image3.jpeg" Id="R6b1a12e495054658" /><Relationship Type="http://schemas.openxmlformats.org/officeDocument/2006/relationships/notesSlide" Target="/ppt/notesSlides/notesSlide18.xml" Id="R9c92a08e7b5f43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d053fb72b6408e" /><Relationship Type="http://schemas.openxmlformats.org/officeDocument/2006/relationships/notesSlide" Target="/ppt/notesSlides/notesSlide19.xml" Id="R93fbaad5fc6340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3fb9467d5b479c" /><Relationship Type="http://schemas.openxmlformats.org/officeDocument/2006/relationships/notesSlide" Target="/ppt/notesSlides/notesSlide20.xml" Id="Raf9a82383bca42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c99d4bb7eff40bf" /><Relationship Type="http://schemas.openxmlformats.org/officeDocument/2006/relationships/notesSlide" Target="/ppt/notesSlides/notesSlide21.xml" Id="R9bf00bdd682545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fdcfc7ebefd45dc" /><Relationship Type="http://schemas.openxmlformats.org/officeDocument/2006/relationships/notesSlide" Target="/ppt/notesSlides/notesSlide22.xml" Id="R7d0908d945d047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4be7b5a435849c8" /><Relationship Type="http://schemas.openxmlformats.org/officeDocument/2006/relationships/notesSlide" Target="/ppt/notesSlides/notesSlide23.xml" Id="Radaa2527006c47f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23fade58a4e4e91" /><Relationship Type="http://schemas.openxmlformats.org/officeDocument/2006/relationships/notesSlide" Target="/ppt/notesSlides/notesSlide24.xml" Id="R45bcc9e86ac94a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0ed87146c1f409e" /><Relationship Type="http://schemas.openxmlformats.org/officeDocument/2006/relationships/notesSlide" Target="/ppt/notesSlides/notesSlide25.xml" Id="Rff7f2bffc4334a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f177051152540e2" /><Relationship Type="http://schemas.openxmlformats.org/officeDocument/2006/relationships/notesSlide" Target="/ppt/notesSlides/notesSlide26.xml" Id="Rb8d28dbf1c544416" /></Relationships>
</file>

<file path=ppt/slides/slide1.xml><?xml version="1.0" encoding="utf-8"?>
<p:sld xmlns:p="http://schemas.openxmlformats.org/presentationml/2006/main">
  <p:cSld>
    <p:bg>
      <p:bgPr>
        <a:solidFill xmlns:a="http://schemas.openxmlformats.org/drawingml/2006/main">
          <a:srgbClr val="8A2D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6E44EA-06B6-4504-8DD1-808266BA76C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78530F23-1063-4DBA-9125-4C8EB5261218}"/>
              </a:ext>
            </a:extLst>
          </p:cNvPr>
          <p:cNvSpPr>
            <a:spLocks xmlns:a="http://schemas.openxmlformats.org/drawingml/2006/main" noGrp="1"/>
          </p:cNvSpPr>
          <p:nvPr/>
        </p:nvSpPr>
        <p:spPr>
          <a:xfrm xmlns:a="http://schemas.openxmlformats.org/drawingml/2006/main">
            <a:off x="762000" y="1476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FFFFFF"/>
                </a:solidFill>
                <a:latin typeface="Georgia"/>
                <a:ea typeface="Georgia"/>
                <a:cs typeface="Georgia"/>
              </a:defRPr>
            </a:defPPr>
            <a:lvl1pPr>
              <a:defRPr sz="4800" b="0">
                <a:solidFill>
                  <a:srgbClr val="FFFFFF"/>
                </a:solidFill>
                <a:latin typeface="Georgia"/>
                <a:ea typeface="Georgia"/>
                <a:cs typeface="Georgia"/>
              </a:defRPr>
            </a:lvl1pPr>
            <a:lvl2pPr>
              <a:defRPr sz="4800" b="0">
                <a:solidFill>
                  <a:srgbClr val="FFFFFF"/>
                </a:solidFill>
                <a:latin typeface="Georgia"/>
                <a:ea typeface="Georgia"/>
                <a:cs typeface="Georgia"/>
              </a:defRPr>
            </a:lvl2pPr>
            <a:lvl3pPr>
              <a:defRPr sz="4800" b="0">
                <a:solidFill>
                  <a:srgbClr val="FFFFFF"/>
                </a:solidFill>
                <a:latin typeface="Georgia"/>
                <a:ea typeface="Georgia"/>
                <a:cs typeface="Georgia"/>
              </a:defRPr>
            </a:lvl3pPr>
            <a:lvl4pPr>
              <a:defRPr sz="4800" b="0">
                <a:solidFill>
                  <a:srgbClr val="FFFFFF"/>
                </a:solidFill>
                <a:latin typeface="Georgia"/>
                <a:ea typeface="Georgia"/>
                <a:cs typeface="Georgia"/>
              </a:defRPr>
            </a:lvl4pPr>
            <a:lvl5pPr>
              <a:defRPr sz="4800" b="0">
                <a:solidFill>
                  <a:srgbClr val="FFFFFF"/>
                </a:solidFill>
                <a:latin typeface="Georgia"/>
                <a:ea typeface="Georgia"/>
                <a:cs typeface="Georgia"/>
              </a:defRPr>
            </a:lvl5pPr>
            <a:lvl6pPr>
              <a:defRPr sz="4800" b="0">
                <a:solidFill>
                  <a:srgbClr val="FFFFFF"/>
                </a:solidFill>
                <a:latin typeface="Georgia"/>
                <a:ea typeface="Georgia"/>
                <a:cs typeface="Georgia"/>
              </a:defRPr>
            </a:lvl6pPr>
            <a:lvl7pPr>
              <a:defRPr sz="4800" b="0">
                <a:solidFill>
                  <a:srgbClr val="FFFFFF"/>
                </a:solidFill>
                <a:latin typeface="Georgia"/>
                <a:ea typeface="Georgia"/>
                <a:cs typeface="Georgia"/>
              </a:defRPr>
            </a:lvl7pPr>
            <a:lvl8pPr>
              <a:defRPr sz="4800" b="0">
                <a:solidFill>
                  <a:srgbClr val="FFFFFF"/>
                </a:solidFill>
                <a:latin typeface="Georgia"/>
                <a:ea typeface="Georgia"/>
                <a:cs typeface="Georgia"/>
              </a:defRPr>
            </a:lvl8pPr>
            <a:lvl9pPr>
              <a:defRPr sz="4800" b="0">
                <a:solidFill>
                  <a:srgbClr val="FFFFFF"/>
                </a:solidFill>
                <a:latin typeface="Georgia"/>
                <a:ea typeface="Georgia"/>
                <a:cs typeface="Georgia"/>
              </a:defRPr>
            </a:lvl9pPr>
          </a:lstStyle>
          <a:p xmlns:a="http://schemas.openxmlformats.org/drawingml/2006/main">
            <a:pPr>
              <a:defRPr sz="4800" b="0">
                <a:solidFill>
                  <a:srgbClr val="FFFFFF"/>
                </a:solidFill>
                <a:latin typeface="Georgia"/>
                <a:ea typeface="Georgia"/>
                <a:cs typeface="Georgia"/>
              </a:defRPr>
            </a:pPr>
            <a:r>
              <a:rPr sz="4800" b="0">
                <a:solidFill>
                  <a:srgbClr val="FFFFFF"/>
                </a:solidFill>
                <a:latin typeface="Georgia"/>
                <a:ea typeface="Georgia"/>
                <a:cs typeface="Georgia"/>
              </a:rPr>
              <a:t>Fisiologi kerja dan ergonomi lapangan</a:t>
            </a:r>
          </a:p>
        </p:txBody>
      </p:sp>
      <p:sp>
        <p:nvSpPr>
          <p:cNvPr id="3" name="">
            <a:extLst xmlns:a="http://schemas.openxmlformats.org/drawingml/2006/main">
              <a:ext uri="{FF2B5EF4-FFF2-40B4-BE49-F238E27FC236}">
                <a16:creationId xmlns:a16="http://schemas.microsoft.com/office/drawing/2014/main" id="{1C709C44-B3BF-462D-A627-E42414BDADDA}"/>
              </a:ext>
            </a:extLst>
          </p:cNvPr>
          <p:cNvSpPr>
            <a:spLocks xmlns:a="http://schemas.openxmlformats.org/drawingml/2006/main" noGrp="1"/>
          </p:cNvSpPr>
          <p:nvPr/>
        </p:nvSpPr>
        <p:spPr>
          <a:xfrm xmlns:a="http://schemas.openxmlformats.org/drawingml/2006/main">
            <a:off x="762000" y="363855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Pendidikan Jasmani &amp; HSE Geofisika</a:t>
            </a:r>
          </a:p>
        </p:txBody>
      </p:sp>
      <p:sp>
        <p:nvSpPr>
          <p:cNvPr id="4" name="">
            <a:extLst xmlns:a="http://schemas.openxmlformats.org/drawingml/2006/main">
              <a:ext uri="{FF2B5EF4-FFF2-40B4-BE49-F238E27FC236}">
                <a16:creationId xmlns:a16="http://schemas.microsoft.com/office/drawing/2014/main" id="{E29EE146-631F-45F9-8B76-86A46577A264}"/>
              </a:ext>
            </a:extLst>
          </p:cNvPr>
          <p:cNvSpPr>
            <a:spLocks xmlns:a="http://schemas.openxmlformats.org/drawingml/2006/main" noGrp="1"/>
          </p:cNvSpPr>
          <p:nvPr/>
        </p:nvSpPr>
        <p:spPr>
          <a:xfrm xmlns:a="http://schemas.openxmlformats.org/drawingml/2006/main">
            <a:off x="762000" y="476250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Pertemuan 2 · Wiwit Suryanto · S1 Geofisika UGM</a:t>
            </a:r>
          </a:p>
        </p:txBody>
      </p:sp>
      <p:sp>
        <p:nvSpPr>
          <p:cNvPr id="5" name="">
            <a:extLst xmlns:a="http://schemas.openxmlformats.org/drawingml/2006/main">
              <a:ext uri="{FF2B5EF4-FFF2-40B4-BE49-F238E27FC236}">
                <a16:creationId xmlns:a16="http://schemas.microsoft.com/office/drawing/2014/main" id="{80C27E4E-47EB-44EF-A9C5-4A640A9CBA1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64595810-2417-4EF2-A233-1968B904D1D5}"/>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01 / 26</a:t>
            </a:r>
          </a:p>
        </p:txBody>
      </p:sp>
    </p:spTree>
    <p:extLst>
      <p:ext uri="{BB962C8B-B14F-4D97-AF65-F5344CB8AC3E}">
        <p14:creationId xmlns:p14="http://schemas.microsoft.com/office/powerpoint/2010/main" val="2079845086"/>
      </p:ext>
    </p:extLst>
  </p:cSld>
</p:sld>
</file>

<file path=ppt/slides/slide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93E4A1-5E0E-4CDA-8E9A-9E318032CB7B}"/>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C6B5B271-6816-46A9-BF5A-7E6AE023CF0D}"/>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Satu alat, dua pengalaman</a:t>
            </a:r>
          </a:p>
        </p:txBody>
      </p:sp>
      <p:pic>
        <p:nvPicPr>
          <p:cNvPr id="3" name="">
            <a:extLst xmlns:a="http://schemas.openxmlformats.org/drawingml/2006/main">
              <a:ext uri="{FF2B5EF4-FFF2-40B4-BE49-F238E27FC236}">
                <a16:creationId xmlns:a16="http://schemas.microsoft.com/office/drawing/2014/main" id="{0C287B4C-7680-4CC0-951D-F7142CC43FA9}"/>
              </a:ext>
            </a:extLst>
          </p:cNvPr>
          <p:cNvPicPr>
            <a:picLocks xmlns:a="http://schemas.openxmlformats.org/drawingml/2006/main" noChangeAspect="1"/>
          </p:cNvPicPr>
          <p:nvPr/>
        </p:nvPicPr>
        <p:blipFill>
          <a:blip xmlns:r="http://schemas.openxmlformats.org/officeDocument/2006/relationships" xmlns:a="http://schemas.openxmlformats.org/drawingml/2006/main" r:embed="Rc48167160cff4070"/>
          <a:stretch xmlns:a="http://schemas.openxmlformats.org/drawingml/2006/main"/>
        </p:blipFill>
        <p:spPr>
          <a:xfrm xmlns:a="http://schemas.openxmlformats.org/drawingml/2006/main">
            <a:off x="6889750" y="2143125"/>
            <a:ext cx="4127500" cy="3095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C9B723-1431-4600-81A7-22EF935B601D}"/>
              </a:ext>
            </a:extLst>
          </p:cNvPr>
          <p:cNvSpPr>
            <a:spLocks xmlns:a="http://schemas.openxmlformats.org/drawingml/2006/main" noGrp="1"/>
          </p:cNvSpPr>
          <p:nvPr/>
        </p:nvSpPr>
        <p:spPr>
          <a:xfrm xmlns:a="http://schemas.openxmlformats.org/drawingml/2006/main">
            <a:off x="6477000" y="5343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Wsx2 · CC BY-SA 3.0</a:t>
            </a:r>
          </a:p>
        </p:txBody>
      </p:sp>
      <p:sp>
        <p:nvSpPr>
          <p:cNvPr id="5" name="">
            <a:extLst xmlns:a="http://schemas.openxmlformats.org/drawingml/2006/main">
              <a:ext uri="{FF2B5EF4-FFF2-40B4-BE49-F238E27FC236}">
                <a16:creationId xmlns:a16="http://schemas.microsoft.com/office/drawing/2014/main" id="{F30AF2EA-1BB1-4DF7-9030-248ADFD5B004}"/>
              </a:ext>
            </a:extLst>
          </p:cNvPr>
          <p:cNvSpPr>
            <a:spLocks xmlns:a="http://schemas.openxmlformats.org/drawingml/2006/main" noGrp="1"/>
          </p:cNvSpPr>
          <p:nvPr/>
        </p:nvSpPr>
        <p:spPr>
          <a:xfrm xmlns:a="http://schemas.openxmlformats.org/drawingml/2006/main">
            <a:off x="762000" y="21907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Medan, durasi, dan alat ikut menentukan beban kerja.</a:t>
            </a:r>
          </a:p>
        </p:txBody>
      </p:sp>
      <p:sp>
        <p:nvSpPr>
          <p:cNvPr id="6" name="">
            <a:extLst xmlns:a="http://schemas.openxmlformats.org/drawingml/2006/main">
              <a:ext uri="{FF2B5EF4-FFF2-40B4-BE49-F238E27FC236}">
                <a16:creationId xmlns:a16="http://schemas.microsoft.com/office/drawing/2014/main" id="{77B55DC4-52C2-4008-99B4-92E2C9A11929}"/>
              </a:ext>
            </a:extLst>
          </p:cNvPr>
          <p:cNvSpPr>
            <a:spLocks xmlns:a="http://schemas.openxmlformats.org/drawingml/2006/main" noGrp="1"/>
          </p:cNvSpPr>
          <p:nvPr/>
        </p:nvSpPr>
        <p:spPr>
          <a:xfrm xmlns:a="http://schemas.openxmlformats.org/drawingml/2006/main">
            <a:off x="762000" y="335280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Tugas yang sama dapat menuntut usaha berbeda.</a:t>
            </a:r>
          </a:p>
        </p:txBody>
      </p:sp>
      <p:sp>
        <p:nvSpPr>
          <p:cNvPr id="7" name="">
            <a:extLst xmlns:a="http://schemas.openxmlformats.org/drawingml/2006/main">
              <a:ext uri="{FF2B5EF4-FFF2-40B4-BE49-F238E27FC236}">
                <a16:creationId xmlns:a16="http://schemas.microsoft.com/office/drawing/2014/main" id="{97E22FAA-8AAE-4693-94BD-DCB4031FFF2A}"/>
              </a:ext>
            </a:extLst>
          </p:cNvPr>
          <p:cNvSpPr>
            <a:spLocks xmlns:a="http://schemas.openxmlformats.org/drawingml/2006/main" noGrp="1"/>
          </p:cNvSpPr>
          <p:nvPr/>
        </p:nvSpPr>
        <p:spPr>
          <a:xfrm xmlns:a="http://schemas.openxmlformats.org/drawingml/2006/main">
            <a:off x="762000" y="45148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Data apa yang perlu dicatat sebelum membandingkan?</a:t>
            </a:r>
          </a:p>
        </p:txBody>
      </p:sp>
      <p:sp>
        <p:nvSpPr>
          <p:cNvPr id="8" name="">
            <a:extLst xmlns:a="http://schemas.openxmlformats.org/drawingml/2006/main">
              <a:ext uri="{FF2B5EF4-FFF2-40B4-BE49-F238E27FC236}">
                <a16:creationId xmlns:a16="http://schemas.microsoft.com/office/drawing/2014/main" id="{E35564CE-F3D0-49DB-86D2-59D913EB6868}"/>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9" name="">
            <a:extLst xmlns:a="http://schemas.openxmlformats.org/drawingml/2006/main">
              <a:ext uri="{FF2B5EF4-FFF2-40B4-BE49-F238E27FC236}">
                <a16:creationId xmlns:a16="http://schemas.microsoft.com/office/drawing/2014/main" id="{CF30D9F3-D5C5-4B8C-84E1-13A0B11F4ABE}"/>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02 / 26</a:t>
            </a:r>
          </a:p>
        </p:txBody>
      </p:sp>
    </p:spTree>
    <p:extLst>
      <p:ext uri="{BB962C8B-B14F-4D97-AF65-F5344CB8AC3E}">
        <p14:creationId xmlns:p14="http://schemas.microsoft.com/office/powerpoint/2010/main" val="837978912"/>
      </p:ext>
    </p:extLst>
  </p:cSld>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C96C0C-E849-46F8-85CA-DA54D699B127}"/>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A51F01B8-C813-4177-9CC4-AF5E81193F34}"/>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Capaian pertemuan</a:t>
            </a:r>
          </a:p>
        </p:txBody>
      </p:sp>
      <p:sp>
        <p:nvSpPr>
          <p:cNvPr id="3" name="">
            <a:extLst xmlns:a="http://schemas.openxmlformats.org/drawingml/2006/main">
              <a:ext uri="{FF2B5EF4-FFF2-40B4-BE49-F238E27FC236}">
                <a16:creationId xmlns:a16="http://schemas.microsoft.com/office/drawing/2014/main" id="{0032DFAA-19FF-48D2-98A5-E8D9E7D328C9}"/>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Menjelaskan respons tubuh selama kerja dan pemulihan.</a:t>
            </a:r>
          </a:p>
        </p:txBody>
      </p:sp>
      <p:sp>
        <p:nvSpPr>
          <p:cNvPr id="4" name="">
            <a:extLst xmlns:a="http://schemas.openxmlformats.org/drawingml/2006/main">
              <a:ext uri="{FF2B5EF4-FFF2-40B4-BE49-F238E27FC236}">
                <a16:creationId xmlns:a16="http://schemas.microsoft.com/office/drawing/2014/main" id="{E2627EC7-A4E1-40E4-8F2D-B186A26DAEF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Membaca indikator dengan mengetahui keterbatasannya.</a:t>
            </a:r>
          </a:p>
        </p:txBody>
      </p:sp>
      <p:sp>
        <p:nvSpPr>
          <p:cNvPr id="5" name="">
            <a:extLst xmlns:a="http://schemas.openxmlformats.org/drawingml/2006/main">
              <a:ext uri="{FF2B5EF4-FFF2-40B4-BE49-F238E27FC236}">
                <a16:creationId xmlns:a16="http://schemas.microsoft.com/office/drawing/2014/main" id="{3871D6A6-CC48-4E0C-A052-65CC05628FC9}"/>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Merancang pemindahan alat dengan paparan yang lebih rendah.</a:t>
            </a:r>
          </a:p>
        </p:txBody>
      </p:sp>
      <p:sp>
        <p:nvSpPr>
          <p:cNvPr id="6" name="">
            <a:extLst xmlns:a="http://schemas.openxmlformats.org/drawingml/2006/main">
              <a:ext uri="{FF2B5EF4-FFF2-40B4-BE49-F238E27FC236}">
                <a16:creationId xmlns:a16="http://schemas.microsoft.com/office/drawing/2014/main" id="{C5AC3E73-33A5-494E-9F09-A674C7C770C6}"/>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290575AC-5BA6-4F26-807E-1578124A9FA4}"/>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03 / 26</a:t>
            </a:r>
          </a:p>
        </p:txBody>
      </p:sp>
    </p:spTree>
    <p:extLst>
      <p:ext uri="{BB962C8B-B14F-4D97-AF65-F5344CB8AC3E}">
        <p14:creationId xmlns:p14="http://schemas.microsoft.com/office/powerpoint/2010/main" val="59587219"/>
      </p:ext>
    </p:extLst>
  </p:cSld>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3EEEA01-25F4-4B9B-AE47-8C9F32093178}"/>
              </a:ext>
            </a:extLst>
          </p:cNvPr>
          <p:cNvCxnSpPr>
            <a:stCxn xmlns:a="http://schemas.openxmlformats.org/drawingml/2006/main" id="19" idx="2"/>
            <a:endCxn xmlns:a="http://schemas.openxmlformats.org/drawingml/2006/main" id="20" idx="0"/>
          </p:cNvCxnSpPr>
          <p:nvPr/>
        </p:nvCxnSpPr>
        <p:spPr>
          <a:xfrm xmlns:a="http://schemas.openxmlformats.org/drawingml/2006/main">
            <a:off x="9858376" y="3957638"/>
            <a:ext cx="0" cy="285750"/>
          </a:xfrm>
          <a:prstGeom xmlns:a="http://schemas.openxmlformats.org/drawingml/2006/main" prst="straightConnector1">
            <a:avLst/>
          </a:prstGeom>
          <a:ln xmlns:a="http://schemas.openxmlformats.org/drawingml/2006/main" w="28575">
            <a:solidFill>
              <a:srgbClr val="8A2D1F"/>
            </a:solidFill>
            <a:tailEnd type="triangle" w="sm" len="sm"/>
          </a:ln>
        </p:spPr>
      </p:cxnSp>
      <p:cxnSp>
        <p:nvCxnSpPr>
          <p:cNvPr id="14" name="">
            <a:extLst xmlns:a="http://schemas.openxmlformats.org/drawingml/2006/main">
              <a:ext uri="{FF2B5EF4-FFF2-40B4-BE49-F238E27FC236}">
                <a16:creationId xmlns:a16="http://schemas.microsoft.com/office/drawing/2014/main" id="{F14177B4-7771-43FA-BCBC-F2F91DBA1EA9}"/>
              </a:ext>
            </a:extLst>
          </p:cNvPr>
          <p:cNvCxnSpPr>
            <a:stCxn xmlns:a="http://schemas.openxmlformats.org/drawingml/2006/main" id="12" idx="3"/>
            <a:endCxn xmlns:a="http://schemas.openxmlformats.org/drawingml/2006/main" id="13" idx="1"/>
          </p:cNvCxnSpPr>
          <p:nvPr/>
        </p:nvCxnSpPr>
        <p:spPr>
          <a:xfrm xmlns:a="http://schemas.openxmlformats.org/drawingml/2006/main">
            <a:off x="7793038" y="3219451"/>
            <a:ext cx="285750" cy="0"/>
          </a:xfrm>
          <a:prstGeom xmlns:a="http://schemas.openxmlformats.org/drawingml/2006/main" prst="straightConnector1">
            <a:avLst/>
          </a:prstGeom>
          <a:ln xmlns:a="http://schemas.openxmlformats.org/drawingml/2006/main" w="28575">
            <a:solidFill>
              <a:srgbClr val="2F5D62"/>
            </a:solidFill>
            <a:tailEnd type="triangle" w="sm" len="sm"/>
          </a:ln>
        </p:spPr>
      </p:cxnSp>
      <p:cxnSp>
        <p:nvCxnSpPr>
          <p:cNvPr id="8" name="">
            <a:extLst xmlns:a="http://schemas.openxmlformats.org/drawingml/2006/main">
              <a:ext uri="{FF2B5EF4-FFF2-40B4-BE49-F238E27FC236}">
                <a16:creationId xmlns:a16="http://schemas.microsoft.com/office/drawing/2014/main" id="{CA0BC8F3-E633-4B92-BDB3-1F68A3A4E014}"/>
              </a:ext>
            </a:extLst>
          </p:cNvPr>
          <p:cNvCxnSpPr>
            <a:stCxn xmlns:a="http://schemas.openxmlformats.org/drawingml/2006/main" id="6" idx="3"/>
            <a:endCxn xmlns:a="http://schemas.openxmlformats.org/drawingml/2006/main" id="7" idx="1"/>
          </p:cNvCxnSpPr>
          <p:nvPr/>
        </p:nvCxnSpPr>
        <p:spPr>
          <a:xfrm xmlns:a="http://schemas.openxmlformats.org/drawingml/2006/main">
            <a:off x="4103688" y="3219451"/>
            <a:ext cx="285750" cy="0"/>
          </a:xfrm>
          <a:prstGeom xmlns:a="http://schemas.openxmlformats.org/drawingml/2006/main" prst="straightConnector1">
            <a:avLst/>
          </a:prstGeom>
          <a:ln xmlns:a="http://schemas.openxmlformats.org/drawingml/2006/main" w="28575">
            <a:solidFill>
              <a:srgbClr val="2F5D62"/>
            </a:solidFill>
            <a:tailEnd type="triangle" w="sm" len="sm"/>
          </a:ln>
        </p:spPr>
      </p:cxnSp>
      <p:sp>
        <p:nvSpPr>
          <p:cNvPr id="25" name="">
            <a:extLst xmlns:a="http://schemas.openxmlformats.org/drawingml/2006/main">
              <a:ext uri="{FF2B5EF4-FFF2-40B4-BE49-F238E27FC236}">
                <a16:creationId xmlns:a16="http://schemas.microsoft.com/office/drawing/2014/main" id="{A9A58B60-B568-4CEF-9BAE-6DA7A302C585}"/>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0E44038F-44CB-4D88-AC55-8DC5E1E6C165}"/>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Kebutuhan energi saat bekerja</a:t>
            </a:r>
          </a:p>
        </p:txBody>
      </p:sp>
      <p:sp>
        <p:nvSpPr>
          <p:cNvPr id="3" name="">
            <a:extLst xmlns:a="http://schemas.openxmlformats.org/drawingml/2006/main">
              <a:ext uri="{FF2B5EF4-FFF2-40B4-BE49-F238E27FC236}">
                <a16:creationId xmlns:a16="http://schemas.microsoft.com/office/drawing/2014/main" id="{A8A08356-DA57-44E8-ADBB-1F5E46684F8A}"/>
              </a:ext>
            </a:extLst>
          </p:cNvPr>
          <p:cNvSpPr>
            <a:spLocks xmlns:a="http://schemas.openxmlformats.org/drawingml/2006/main" noGrp="1"/>
          </p:cNvSpPr>
          <p:nvPr/>
        </p:nvSpPr>
        <p:spPr>
          <a:xfrm xmlns:a="http://schemas.openxmlformats.org/drawingml/2006/main">
            <a:off x="762000" y="2524125"/>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4" name="">
            <a:extLst xmlns:a="http://schemas.openxmlformats.org/drawingml/2006/main">
              <a:ext uri="{FF2B5EF4-FFF2-40B4-BE49-F238E27FC236}">
                <a16:creationId xmlns:a16="http://schemas.microsoft.com/office/drawing/2014/main" id="{202D9BF7-7B96-426B-A536-314DB48BB4EE}"/>
              </a:ext>
            </a:extLst>
          </p:cNvPr>
          <p:cNvSpPr>
            <a:spLocks xmlns:a="http://schemas.openxmlformats.org/drawingml/2006/main" noGrp="1"/>
          </p:cNvSpPr>
          <p:nvPr/>
        </p:nvSpPr>
        <p:spPr>
          <a:xfrm xmlns:a="http://schemas.openxmlformats.org/drawingml/2006/main">
            <a:off x="933450" y="2657475"/>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Paru-paru</a:t>
            </a:r>
          </a:p>
        </p:txBody>
      </p:sp>
      <p:sp>
        <p:nvSpPr>
          <p:cNvPr id="5" name="">
            <a:extLst xmlns:a="http://schemas.openxmlformats.org/drawingml/2006/main">
              <a:ext uri="{FF2B5EF4-FFF2-40B4-BE49-F238E27FC236}">
                <a16:creationId xmlns:a16="http://schemas.microsoft.com/office/drawing/2014/main" id="{4FDFA25D-7206-4838-80B2-4B13EBFB2F1E}"/>
              </a:ext>
            </a:extLst>
          </p:cNvPr>
          <p:cNvSpPr>
            <a:spLocks xmlns:a="http://schemas.openxmlformats.org/drawingml/2006/main" noGrp="1"/>
          </p:cNvSpPr>
          <p:nvPr/>
        </p:nvSpPr>
        <p:spPr>
          <a:xfrm xmlns:a="http://schemas.openxmlformats.org/drawingml/2006/main">
            <a:off x="933450" y="3105150"/>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Oksigen masuk</a:t>
            </a:r>
          </a:p>
        </p:txBody>
      </p:sp>
      <p:sp>
        <p:nvSpPr>
          <p:cNvPr id="6" name="">
            <a:extLst xmlns:a="http://schemas.openxmlformats.org/drawingml/2006/main">
              <a:ext uri="{FF2B5EF4-FFF2-40B4-BE49-F238E27FC236}">
                <a16:creationId xmlns:a16="http://schemas.microsoft.com/office/drawing/2014/main" id="{F780E945-C74F-41A9-8B53-6196B708ECAA}"/>
              </a:ext>
            </a:extLst>
          </p:cNvPr>
          <p:cNvSpPr>
            <a:spLocks xmlns:a="http://schemas.openxmlformats.org/drawingml/2006/main" noGrp="1"/>
          </p:cNvSpPr>
          <p:nvPr/>
        </p:nvSpPr>
        <p:spPr>
          <a:xfrm xmlns:a="http://schemas.openxmlformats.org/drawingml/2006/main">
            <a:off x="4094163"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878733-695F-4499-89F8-7AAB4819A6D8}"/>
              </a:ext>
            </a:extLst>
          </p:cNvPr>
          <p:cNvSpPr>
            <a:spLocks xmlns:a="http://schemas.openxmlformats.org/drawingml/2006/main" noGrp="1"/>
          </p:cNvSpPr>
          <p:nvPr/>
        </p:nvSpPr>
        <p:spPr>
          <a:xfrm xmlns:a="http://schemas.openxmlformats.org/drawingml/2006/main">
            <a:off x="438943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273C44-566A-4B1A-9A0D-46C9AEF104BD}"/>
              </a:ext>
            </a:extLst>
          </p:cNvPr>
          <p:cNvSpPr>
            <a:spLocks xmlns:a="http://schemas.openxmlformats.org/drawingml/2006/main" noGrp="1"/>
          </p:cNvSpPr>
          <p:nvPr/>
        </p:nvSpPr>
        <p:spPr>
          <a:xfrm xmlns:a="http://schemas.openxmlformats.org/drawingml/2006/main">
            <a:off x="4451350" y="2524125"/>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0" name="">
            <a:extLst xmlns:a="http://schemas.openxmlformats.org/drawingml/2006/main">
              <a:ext uri="{FF2B5EF4-FFF2-40B4-BE49-F238E27FC236}">
                <a16:creationId xmlns:a16="http://schemas.microsoft.com/office/drawing/2014/main" id="{402BFB08-0C68-49A5-8E5C-ADC6BB4E19E3}"/>
              </a:ext>
            </a:extLst>
          </p:cNvPr>
          <p:cNvSpPr>
            <a:spLocks xmlns:a="http://schemas.openxmlformats.org/drawingml/2006/main" noGrp="1"/>
          </p:cNvSpPr>
          <p:nvPr/>
        </p:nvSpPr>
        <p:spPr>
          <a:xfrm xmlns:a="http://schemas.openxmlformats.org/drawingml/2006/main">
            <a:off x="4622800" y="2657475"/>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Sirkulasi</a:t>
            </a:r>
          </a:p>
        </p:txBody>
      </p:sp>
      <p:sp>
        <p:nvSpPr>
          <p:cNvPr id="11" name="">
            <a:extLst xmlns:a="http://schemas.openxmlformats.org/drawingml/2006/main">
              <a:ext uri="{FF2B5EF4-FFF2-40B4-BE49-F238E27FC236}">
                <a16:creationId xmlns:a16="http://schemas.microsoft.com/office/drawing/2014/main" id="{5C2DC3DF-FC41-47CB-BD46-52FB0294CF8A}"/>
              </a:ext>
            </a:extLst>
          </p:cNvPr>
          <p:cNvSpPr>
            <a:spLocks xmlns:a="http://schemas.openxmlformats.org/drawingml/2006/main" noGrp="1"/>
          </p:cNvSpPr>
          <p:nvPr/>
        </p:nvSpPr>
        <p:spPr>
          <a:xfrm xmlns:a="http://schemas.openxmlformats.org/drawingml/2006/main">
            <a:off x="4622800" y="3105150"/>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Oksigen dan zat gizi</a:t>
            </a:r>
          </a:p>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diangkut</a:t>
            </a:r>
          </a:p>
        </p:txBody>
      </p:sp>
      <p:sp>
        <p:nvSpPr>
          <p:cNvPr id="12" name="">
            <a:extLst xmlns:a="http://schemas.openxmlformats.org/drawingml/2006/main">
              <a:ext uri="{FF2B5EF4-FFF2-40B4-BE49-F238E27FC236}">
                <a16:creationId xmlns:a16="http://schemas.microsoft.com/office/drawing/2014/main" id="{8481A490-A821-46EB-A7E8-4EDB42F2E17F}"/>
              </a:ext>
            </a:extLst>
          </p:cNvPr>
          <p:cNvSpPr>
            <a:spLocks xmlns:a="http://schemas.openxmlformats.org/drawingml/2006/main" noGrp="1"/>
          </p:cNvSpPr>
          <p:nvPr/>
        </p:nvSpPr>
        <p:spPr>
          <a:xfrm xmlns:a="http://schemas.openxmlformats.org/drawingml/2006/main">
            <a:off x="7783513"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BCC28D3-BA4E-4BF7-A043-475AE116F7E0}"/>
              </a:ext>
            </a:extLst>
          </p:cNvPr>
          <p:cNvSpPr>
            <a:spLocks xmlns:a="http://schemas.openxmlformats.org/drawingml/2006/main" noGrp="1"/>
          </p:cNvSpPr>
          <p:nvPr/>
        </p:nvSpPr>
        <p:spPr>
          <a:xfrm xmlns:a="http://schemas.openxmlformats.org/drawingml/2006/main">
            <a:off x="807878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BB4739-295C-4C8F-835C-B4DE71844A15}"/>
              </a:ext>
            </a:extLst>
          </p:cNvPr>
          <p:cNvSpPr>
            <a:spLocks xmlns:a="http://schemas.openxmlformats.org/drawingml/2006/main" noGrp="1"/>
          </p:cNvSpPr>
          <p:nvPr/>
        </p:nvSpPr>
        <p:spPr>
          <a:xfrm xmlns:a="http://schemas.openxmlformats.org/drawingml/2006/main">
            <a:off x="8140700" y="2524125"/>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6" name="">
            <a:extLst xmlns:a="http://schemas.openxmlformats.org/drawingml/2006/main">
              <a:ext uri="{FF2B5EF4-FFF2-40B4-BE49-F238E27FC236}">
                <a16:creationId xmlns:a16="http://schemas.microsoft.com/office/drawing/2014/main" id="{D7672A2C-7B1E-4782-813E-72D2A0B0571F}"/>
              </a:ext>
            </a:extLst>
          </p:cNvPr>
          <p:cNvSpPr>
            <a:spLocks xmlns:a="http://schemas.openxmlformats.org/drawingml/2006/main" noGrp="1"/>
          </p:cNvSpPr>
          <p:nvPr/>
        </p:nvSpPr>
        <p:spPr>
          <a:xfrm xmlns:a="http://schemas.openxmlformats.org/drawingml/2006/main">
            <a:off x="8312150" y="2657475"/>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Otot</a:t>
            </a:r>
          </a:p>
        </p:txBody>
      </p:sp>
      <p:sp>
        <p:nvSpPr>
          <p:cNvPr id="17" name="">
            <a:extLst xmlns:a="http://schemas.openxmlformats.org/drawingml/2006/main">
              <a:ext uri="{FF2B5EF4-FFF2-40B4-BE49-F238E27FC236}">
                <a16:creationId xmlns:a16="http://schemas.microsoft.com/office/drawing/2014/main" id="{0278E3DC-AC9B-4738-A97E-98251E9FDDD9}"/>
              </a:ext>
            </a:extLst>
          </p:cNvPr>
          <p:cNvSpPr>
            <a:spLocks xmlns:a="http://schemas.openxmlformats.org/drawingml/2006/main" noGrp="1"/>
          </p:cNvSpPr>
          <p:nvPr/>
        </p:nvSpPr>
        <p:spPr>
          <a:xfrm xmlns:a="http://schemas.openxmlformats.org/drawingml/2006/main">
            <a:off x="8312150" y="3105150"/>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ATP mendukung kontraksi</a:t>
            </a:r>
          </a:p>
        </p:txBody>
      </p:sp>
      <p:sp>
        <p:nvSpPr>
          <p:cNvPr id="18" name="">
            <a:extLst xmlns:a="http://schemas.openxmlformats.org/drawingml/2006/main">
              <a:ext uri="{FF2B5EF4-FFF2-40B4-BE49-F238E27FC236}">
                <a16:creationId xmlns:a16="http://schemas.microsoft.com/office/drawing/2014/main" id="{8DF6682E-2803-4DA0-BA13-7CB6FC703E52}"/>
              </a:ext>
            </a:extLst>
          </p:cNvPr>
          <p:cNvSpPr>
            <a:spLocks xmlns:a="http://schemas.openxmlformats.org/drawingml/2006/main" noGrp="1"/>
          </p:cNvSpPr>
          <p:nvPr/>
        </p:nvSpPr>
        <p:spPr>
          <a:xfrm xmlns:a="http://schemas.openxmlformats.org/drawingml/2006/main">
            <a:off x="8334375" y="43053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8A2D1F"/>
                </a:solidFill>
                <a:latin typeface="Arial"/>
                <a:ea typeface="Arial"/>
                <a:cs typeface="Arial"/>
              </a:defRPr>
            </a:defPPr>
            <a:lvl1pPr>
              <a:defRPr sz="2250" b="1">
                <a:solidFill>
                  <a:srgbClr val="8A2D1F"/>
                </a:solidFill>
                <a:latin typeface="Arial"/>
                <a:ea typeface="Arial"/>
                <a:cs typeface="Arial"/>
              </a:defRPr>
            </a:lvl1pPr>
            <a:lvl2pPr>
              <a:defRPr sz="2250" b="1">
                <a:solidFill>
                  <a:srgbClr val="8A2D1F"/>
                </a:solidFill>
                <a:latin typeface="Arial"/>
                <a:ea typeface="Arial"/>
                <a:cs typeface="Arial"/>
              </a:defRPr>
            </a:lvl2pPr>
            <a:lvl3pPr>
              <a:defRPr sz="2250" b="1">
                <a:solidFill>
                  <a:srgbClr val="8A2D1F"/>
                </a:solidFill>
                <a:latin typeface="Arial"/>
                <a:ea typeface="Arial"/>
                <a:cs typeface="Arial"/>
              </a:defRPr>
            </a:lvl3pPr>
            <a:lvl4pPr>
              <a:defRPr sz="2250" b="1">
                <a:solidFill>
                  <a:srgbClr val="8A2D1F"/>
                </a:solidFill>
                <a:latin typeface="Arial"/>
                <a:ea typeface="Arial"/>
                <a:cs typeface="Arial"/>
              </a:defRPr>
            </a:lvl4pPr>
            <a:lvl5pPr>
              <a:defRPr sz="2250" b="1">
                <a:solidFill>
                  <a:srgbClr val="8A2D1F"/>
                </a:solidFill>
                <a:latin typeface="Arial"/>
                <a:ea typeface="Arial"/>
                <a:cs typeface="Arial"/>
              </a:defRPr>
            </a:lvl5pPr>
            <a:lvl6pPr>
              <a:defRPr sz="2250" b="1">
                <a:solidFill>
                  <a:srgbClr val="8A2D1F"/>
                </a:solidFill>
                <a:latin typeface="Arial"/>
                <a:ea typeface="Arial"/>
                <a:cs typeface="Arial"/>
              </a:defRPr>
            </a:lvl6pPr>
            <a:lvl7pPr>
              <a:defRPr sz="2250" b="1">
                <a:solidFill>
                  <a:srgbClr val="8A2D1F"/>
                </a:solidFill>
                <a:latin typeface="Arial"/>
                <a:ea typeface="Arial"/>
                <a:cs typeface="Arial"/>
              </a:defRPr>
            </a:lvl7pPr>
            <a:lvl8pPr>
              <a:defRPr sz="2250" b="1">
                <a:solidFill>
                  <a:srgbClr val="8A2D1F"/>
                </a:solidFill>
                <a:latin typeface="Arial"/>
                <a:ea typeface="Arial"/>
                <a:cs typeface="Arial"/>
              </a:defRPr>
            </a:lvl8pPr>
            <a:lvl9pPr>
              <a:defRPr sz="2250" b="1">
                <a:solidFill>
                  <a:srgbClr val="8A2D1F"/>
                </a:solidFill>
                <a:latin typeface="Arial"/>
                <a:ea typeface="Arial"/>
                <a:cs typeface="Arial"/>
              </a:defRPr>
            </a:lvl9pPr>
          </a:lstStyle>
          <a:p xmlns:a="http://schemas.openxmlformats.org/drawingml/2006/main">
            <a:pPr>
              <a:defRPr sz="2250" b="1">
                <a:solidFill>
                  <a:srgbClr val="8A2D1F"/>
                </a:solidFill>
                <a:latin typeface="Arial"/>
                <a:ea typeface="Arial"/>
                <a:cs typeface="Arial"/>
              </a:defRPr>
            </a:pPr>
            <a:r>
              <a:rPr sz="2250" b="1">
                <a:solidFill>
                  <a:srgbClr val="8A2D1F"/>
                </a:solidFill>
                <a:latin typeface="Arial"/>
                <a:ea typeface="Arial"/>
                <a:cs typeface="Arial"/>
              </a:rPr>
              <a:t>Kerja dan panas</a:t>
            </a:r>
          </a:p>
        </p:txBody>
      </p:sp>
      <p:sp>
        <p:nvSpPr>
          <p:cNvPr id="19" name="">
            <a:extLst xmlns:a="http://schemas.openxmlformats.org/drawingml/2006/main">
              <a:ext uri="{FF2B5EF4-FFF2-40B4-BE49-F238E27FC236}">
                <a16:creationId xmlns:a16="http://schemas.microsoft.com/office/drawing/2014/main" id="{F1A84E4A-9D13-45AE-9EA6-0E5E205F124F}"/>
              </a:ext>
            </a:extLst>
          </p:cNvPr>
          <p:cNvSpPr>
            <a:spLocks xmlns:a="http://schemas.openxmlformats.org/drawingml/2006/main" noGrp="1"/>
          </p:cNvSpPr>
          <p:nvPr/>
        </p:nvSpPr>
        <p:spPr>
          <a:xfrm xmlns:a="http://schemas.openxmlformats.org/drawingml/2006/main">
            <a:off x="9853613" y="3948113"/>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AC1D614-4347-437C-9F94-BC76053A83B5}"/>
              </a:ext>
            </a:extLst>
          </p:cNvPr>
          <p:cNvSpPr>
            <a:spLocks xmlns:a="http://schemas.openxmlformats.org/drawingml/2006/main" noGrp="1"/>
          </p:cNvSpPr>
          <p:nvPr/>
        </p:nvSpPr>
        <p:spPr>
          <a:xfrm xmlns:a="http://schemas.openxmlformats.org/drawingml/2006/main">
            <a:off x="9853613" y="4243388"/>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31AC68F-CC78-4DAE-B931-D32AF3DCABF6}"/>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Aktivitas meningkatkan kebutuhan energi dan pembuangan panas.</a:t>
            </a:r>
          </a:p>
        </p:txBody>
      </p:sp>
      <p:sp>
        <p:nvSpPr>
          <p:cNvPr id="23" name="">
            <a:extLst xmlns:a="http://schemas.openxmlformats.org/drawingml/2006/main">
              <a:ext uri="{FF2B5EF4-FFF2-40B4-BE49-F238E27FC236}">
                <a16:creationId xmlns:a16="http://schemas.microsoft.com/office/drawing/2014/main" id="{73B3FC8C-E390-4BE4-AABB-0544AAA953F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24" name="">
            <a:extLst xmlns:a="http://schemas.openxmlformats.org/drawingml/2006/main">
              <a:ext uri="{FF2B5EF4-FFF2-40B4-BE49-F238E27FC236}">
                <a16:creationId xmlns:a16="http://schemas.microsoft.com/office/drawing/2014/main" id="{3D0CAFCE-19D9-4762-8EB7-9E60C6FEFDB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04 / 26</a:t>
            </a:r>
          </a:p>
        </p:txBody>
      </p:sp>
    </p:spTree>
    <p:extLst>
      <p:ext uri="{BB962C8B-B14F-4D97-AF65-F5344CB8AC3E}">
        <p14:creationId xmlns:p14="http://schemas.microsoft.com/office/powerpoint/2010/main" val="527985753"/>
      </p:ext>
    </p:extLst>
  </p:cSld>
</p:sld>
</file>

<file path=ppt/slides/slide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3D6D89-E254-4F35-903A-DAB92D7462B8}"/>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27D5C4C0-844E-42BC-8503-E04135057771}"/>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Kerja dinamis dan kerja statis</a:t>
            </a:r>
          </a:p>
        </p:txBody>
      </p:sp>
      <p:graphicFrame>
        <p:nvGraphicFramePr>
          <p:cNvPr id="3" name="">
            <a:extLst xmlns:a="http://schemas.openxmlformats.org/drawingml/2006/main">
              <a:ext uri="{FF2B5EF4-FFF2-40B4-BE49-F238E27FC236}">
                <a16:creationId xmlns:a16="http://schemas.microsoft.com/office/drawing/2014/main" id="{33341C2A-145B-4F55-A7CD-75588421AA7E}"/>
              </a:ext>
            </a:extLst>
          </p:cNvPr>
          <p:cNvGraphicFramePr/>
          <p:nvPr/>
        </p:nvGraphicFramePr>
        <p:xfrm>
          <a:off xmlns:a="http://schemas.openxmlformats.org/drawingml/2006/main" x="762000" y="2114550"/>
          <a:ext xmlns:a="http://schemas.openxmlformats.org/drawingml/2006/main" cx="10668000" cy="2743200"/>
        </p:xfrm>
        <a:graphic xmlns:a="http://schemas.openxmlformats.org/drawingml/2006/main">
          <a:graphicData uri="http://schemas.openxmlformats.org/drawingml/2006/table">
            <a:tbl>
              <a:tblPr/>
              <a:tblGrid>
                <a:gridCol w="2667000"/>
                <a:gridCol w="3619500"/>
                <a:gridCol w="4381500"/>
              </a:tblGrid>
              <a:tr h="685800">
                <a:tc>
                  <a:txBody>
                    <a:bodyPr/>
                    <a:lstStyle/>
                    <a:p>
                      <a:r>
                        <a:rPr sz="1800" b="1">
                          <a:solidFill>
                            <a:srgbClr val="2F5D62"/>
                          </a:solidFill>
                          <a:latin typeface="Arial"/>
                          <a:ea typeface="Arial"/>
                          <a:cs typeface="Arial"/>
                        </a:rPr>
                        <a:t>Pola kerja</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Contoh geofisika</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Implikasi desain</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00" b="0">
                          <a:solidFill>
                            <a:srgbClr val="1F1F1B"/>
                          </a:solidFill>
                          <a:latin typeface="Arial"/>
                          <a:ea typeface="Arial"/>
                          <a:cs typeface="Arial"/>
                        </a:rPr>
                        <a:t>Dinamis</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Berjalan membawa kabel</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Kurangi jarak dan pengulangan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Statis</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Menahan alat pada posisi tetap</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Sediakan penopang atau ubah posisi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Gabungan</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Membungkuk saat memasang sensor</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Ubah tinggi kerja dan urutan tugas</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CDA1BE2D-C3EB-4A7B-900D-1B118A0F0583}"/>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5" name="">
            <a:extLst xmlns:a="http://schemas.openxmlformats.org/drawingml/2006/main">
              <a:ext uri="{FF2B5EF4-FFF2-40B4-BE49-F238E27FC236}">
                <a16:creationId xmlns:a16="http://schemas.microsoft.com/office/drawing/2014/main" id="{E7473510-6374-4487-9DED-D972D8BBE7D2}"/>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05 / 26</a:t>
            </a:r>
          </a:p>
        </p:txBody>
      </p:sp>
    </p:spTree>
    <p:extLst>
      <p:ext uri="{BB962C8B-B14F-4D97-AF65-F5344CB8AC3E}">
        <p14:creationId xmlns:p14="http://schemas.microsoft.com/office/powerpoint/2010/main" val="1420657296"/>
      </p:ext>
    </p:extLst>
  </p:cSld>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CABA1DD-D872-404D-8DE3-97EE69F1A276}"/>
              </a:ext>
            </a:extLst>
          </p:cNvPr>
          <p:cNvCxnSpPr>
            <a:stCxn xmlns:a="http://schemas.openxmlformats.org/drawingml/2006/main" id="9" idx="0"/>
            <a:endCxn xmlns:a="http://schemas.openxmlformats.org/drawingml/2006/main" id="10" idx="2"/>
          </p:cNvCxnSpPr>
          <p:nvPr/>
        </p:nvCxnSpPr>
        <p:spPr>
          <a:xfrm xmlns:a="http://schemas.openxmlformats.org/drawingml/2006/main" flipV="1">
            <a:off x="2000251" y="2243138"/>
            <a:ext cx="0" cy="2752725"/>
          </a:xfrm>
          <a:prstGeom xmlns:a="http://schemas.openxmlformats.org/drawingml/2006/main" prst="straightConnector1">
            <a:avLst/>
          </a:prstGeom>
          <a:ln xmlns:a="http://schemas.openxmlformats.org/drawingml/2006/main" w="19050">
            <a:solidFill>
              <a:srgbClr val="1F1F1B"/>
            </a:solidFill>
            <a:tailEnd type="triangle" w="sm" len="sm"/>
          </a:ln>
        </p:spPr>
      </p:cxnSp>
      <p:cxnSp>
        <p:nvCxnSpPr>
          <p:cNvPr id="8" name="">
            <a:extLst xmlns:a="http://schemas.openxmlformats.org/drawingml/2006/main">
              <a:ext uri="{FF2B5EF4-FFF2-40B4-BE49-F238E27FC236}">
                <a16:creationId xmlns:a16="http://schemas.microsoft.com/office/drawing/2014/main" id="{3B75F4B4-846E-4A79-8DA8-7FBA52AF4566}"/>
              </a:ext>
            </a:extLst>
          </p:cNvPr>
          <p:cNvCxnSpPr>
            <a:stCxn xmlns:a="http://schemas.openxmlformats.org/drawingml/2006/main" id="6" idx="3"/>
            <a:endCxn xmlns:a="http://schemas.openxmlformats.org/drawingml/2006/main" id="7" idx="1"/>
          </p:cNvCxnSpPr>
          <p:nvPr/>
        </p:nvCxnSpPr>
        <p:spPr>
          <a:xfrm xmlns:a="http://schemas.openxmlformats.org/drawingml/2006/main">
            <a:off x="2005013" y="5000626"/>
            <a:ext cx="9039225" cy="0"/>
          </a:xfrm>
          <a:prstGeom xmlns:a="http://schemas.openxmlformats.org/drawingml/2006/main" prst="straightConnector1">
            <a:avLst/>
          </a:prstGeom>
          <a:ln xmlns:a="http://schemas.openxmlformats.org/drawingml/2006/main" w="19050">
            <a:solidFill>
              <a:srgbClr val="1F1F1B"/>
            </a:solidFill>
            <a:tailEnd type="triangle" w="sm" len="sm"/>
          </a:ln>
        </p:spPr>
      </p:cxnSp>
      <p:sp>
        <p:nvSpPr>
          <p:cNvPr id="20" name="">
            <a:extLst xmlns:a="http://schemas.openxmlformats.org/drawingml/2006/main">
              <a:ext uri="{FF2B5EF4-FFF2-40B4-BE49-F238E27FC236}">
                <a16:creationId xmlns:a16="http://schemas.microsoft.com/office/drawing/2014/main" id="{47E61814-FCF3-44A3-9DC9-5EE4457BE5C6}"/>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28F6C7C9-B259-4B8A-9FC3-AA2C523A4A4B}"/>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Respons awal dan pemulihan</a:t>
            </a:r>
          </a:p>
        </p:txBody>
      </p:sp>
      <p:sp>
        <p:nvSpPr>
          <p:cNvPr id="3" name="">
            <a:extLst xmlns:a="http://schemas.openxmlformats.org/drawingml/2006/main">
              <a:ext uri="{FF2B5EF4-FFF2-40B4-BE49-F238E27FC236}">
                <a16:creationId xmlns:a16="http://schemas.microsoft.com/office/drawing/2014/main" id="{A62607AC-04FA-47D8-A83C-C82FBB33C566}"/>
              </a:ext>
            </a:extLst>
          </p:cNvPr>
          <p:cNvSpPr>
            <a:spLocks xmlns:a="http://schemas.openxmlformats.org/drawingml/2006/main" noGrp="1"/>
          </p:cNvSpPr>
          <p:nvPr/>
        </p:nvSpPr>
        <p:spPr>
          <a:xfrm xmlns:a="http://schemas.openxmlformats.org/drawingml/2006/main">
            <a:off x="2000250" y="2238375"/>
            <a:ext cx="1905000" cy="2762250"/>
          </a:xfrm>
          <a:prstGeom xmlns:a="http://schemas.openxmlformats.org/drawingml/2006/main" prst="rect">
            <a:avLst/>
          </a:prstGeom>
          <a:solidFill xmlns:a="http://schemas.openxmlformats.org/drawingml/2006/main">
            <a:srgbClr val="F1EE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1AD5A3-7A02-4CC0-80F7-87900D80CECB}"/>
              </a:ext>
            </a:extLst>
          </p:cNvPr>
          <p:cNvSpPr>
            <a:spLocks xmlns:a="http://schemas.openxmlformats.org/drawingml/2006/main" noGrp="1"/>
          </p:cNvSpPr>
          <p:nvPr/>
        </p:nvSpPr>
        <p:spPr>
          <a:xfrm xmlns:a="http://schemas.openxmlformats.org/drawingml/2006/main">
            <a:off x="3905250" y="2238375"/>
            <a:ext cx="4286250" cy="2762250"/>
          </a:xfrm>
          <a:prstGeom xmlns:a="http://schemas.openxmlformats.org/drawingml/2006/main" prst="rect">
            <a:avLst/>
          </a:prstGeom>
          <a:solidFill xmlns:a="http://schemas.openxmlformats.org/drawingml/2006/main">
            <a:srgbClr val="E6EDE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F76087-575D-42CF-9963-324CA7E153F3}"/>
              </a:ext>
            </a:extLst>
          </p:cNvPr>
          <p:cNvSpPr>
            <a:spLocks xmlns:a="http://schemas.openxmlformats.org/drawingml/2006/main" noGrp="1"/>
          </p:cNvSpPr>
          <p:nvPr/>
        </p:nvSpPr>
        <p:spPr>
          <a:xfrm xmlns:a="http://schemas.openxmlformats.org/drawingml/2006/main">
            <a:off x="8191500" y="2238375"/>
            <a:ext cx="2857500" cy="2762250"/>
          </a:xfrm>
          <a:prstGeom xmlns:a="http://schemas.openxmlformats.org/drawingml/2006/main" prst="rect">
            <a:avLst/>
          </a:prstGeom>
          <a:solidFill xmlns:a="http://schemas.openxmlformats.org/drawingml/2006/main">
            <a:srgbClr val="F1EEE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9D69E63-8FA5-4B68-9719-17CCEF7AA9B4}"/>
              </a:ext>
            </a:extLst>
          </p:cNvPr>
          <p:cNvSpPr>
            <a:spLocks xmlns:a="http://schemas.openxmlformats.org/drawingml/2006/main" noGrp="1"/>
          </p:cNvSpPr>
          <p:nvPr/>
        </p:nvSpPr>
        <p:spPr>
          <a:xfrm xmlns:a="http://schemas.openxmlformats.org/drawingml/2006/main">
            <a:off x="1995488" y="4995863"/>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7E115F-B72C-448D-A8A0-32926752F136}"/>
              </a:ext>
            </a:extLst>
          </p:cNvPr>
          <p:cNvSpPr>
            <a:spLocks xmlns:a="http://schemas.openxmlformats.org/drawingml/2006/main" noGrp="1"/>
          </p:cNvSpPr>
          <p:nvPr/>
        </p:nvSpPr>
        <p:spPr>
          <a:xfrm xmlns:a="http://schemas.openxmlformats.org/drawingml/2006/main">
            <a:off x="11044238" y="4995863"/>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6DF306-DABB-4455-B784-06B41118745E}"/>
              </a:ext>
            </a:extLst>
          </p:cNvPr>
          <p:cNvSpPr>
            <a:spLocks xmlns:a="http://schemas.openxmlformats.org/drawingml/2006/main" noGrp="1"/>
          </p:cNvSpPr>
          <p:nvPr/>
        </p:nvSpPr>
        <p:spPr>
          <a:xfrm xmlns:a="http://schemas.openxmlformats.org/drawingml/2006/main">
            <a:off x="1995488" y="4995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835EF3-292C-4EDC-B565-735BB543D641}"/>
              </a:ext>
            </a:extLst>
          </p:cNvPr>
          <p:cNvSpPr>
            <a:spLocks xmlns:a="http://schemas.openxmlformats.org/drawingml/2006/main" noGrp="1"/>
          </p:cNvSpPr>
          <p:nvPr/>
        </p:nvSpPr>
        <p:spPr>
          <a:xfrm xmlns:a="http://schemas.openxmlformats.org/drawingml/2006/main">
            <a:off x="1995488" y="2233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FC967F-2C84-4B9D-B3C2-4D8EF1ECD043}"/>
              </a:ext>
            </a:extLst>
          </p:cNvPr>
          <p:cNvSpPr>
            <a:spLocks xmlns:a="http://schemas.openxmlformats.org/drawingml/2006/main" noGrp="1"/>
          </p:cNvSpPr>
          <p:nvPr/>
        </p:nvSpPr>
        <p:spPr>
          <a:xfrm xmlns:a="http://schemas.openxmlformats.org/drawingml/2006/main">
            <a:off x="762000" y="19621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Respons relatif</a:t>
            </a:r>
          </a:p>
        </p:txBody>
      </p:sp>
      <p:sp>
        <p:nvSpPr>
          <p:cNvPr id="13" name="">
            <a:extLst xmlns:a="http://schemas.openxmlformats.org/drawingml/2006/main">
              <a:ext uri="{FF2B5EF4-FFF2-40B4-BE49-F238E27FC236}">
                <a16:creationId xmlns:a16="http://schemas.microsoft.com/office/drawing/2014/main" id="{594E2462-BD21-43E1-BFCC-E906242D7FCE}"/>
              </a:ext>
            </a:extLst>
          </p:cNvPr>
          <p:cNvSpPr>
            <a:spLocks xmlns:a="http://schemas.openxmlformats.org/drawingml/2006/main" noGrp="1"/>
          </p:cNvSpPr>
          <p:nvPr/>
        </p:nvSpPr>
        <p:spPr>
          <a:xfrm xmlns:a="http://schemas.openxmlformats.org/drawingml/2006/main">
            <a:off x="2333625" y="5143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F1F1B"/>
                </a:solidFill>
                <a:latin typeface="Arial"/>
                <a:ea typeface="Arial"/>
                <a:cs typeface="Arial"/>
              </a:defRPr>
            </a:defPPr>
            <a:lvl1pPr>
              <a:defRPr sz="1800" b="0">
                <a:solidFill>
                  <a:srgbClr val="1F1F1B"/>
                </a:solidFill>
                <a:latin typeface="Arial"/>
                <a:ea typeface="Arial"/>
                <a:cs typeface="Arial"/>
              </a:defRPr>
            </a:lvl1pPr>
            <a:lvl2pPr>
              <a:defRPr sz="1800" b="0">
                <a:solidFill>
                  <a:srgbClr val="1F1F1B"/>
                </a:solidFill>
                <a:latin typeface="Arial"/>
                <a:ea typeface="Arial"/>
                <a:cs typeface="Arial"/>
              </a:defRPr>
            </a:lvl2pPr>
            <a:lvl3pPr>
              <a:defRPr sz="1800" b="0">
                <a:solidFill>
                  <a:srgbClr val="1F1F1B"/>
                </a:solidFill>
                <a:latin typeface="Arial"/>
                <a:ea typeface="Arial"/>
                <a:cs typeface="Arial"/>
              </a:defRPr>
            </a:lvl3pPr>
            <a:lvl4pPr>
              <a:defRPr sz="1800" b="0">
                <a:solidFill>
                  <a:srgbClr val="1F1F1B"/>
                </a:solidFill>
                <a:latin typeface="Arial"/>
                <a:ea typeface="Arial"/>
                <a:cs typeface="Arial"/>
              </a:defRPr>
            </a:lvl4pPr>
            <a:lvl5pPr>
              <a:defRPr sz="1800" b="0">
                <a:solidFill>
                  <a:srgbClr val="1F1F1B"/>
                </a:solidFill>
                <a:latin typeface="Arial"/>
                <a:ea typeface="Arial"/>
                <a:cs typeface="Arial"/>
              </a:defRPr>
            </a:lvl5pPr>
            <a:lvl6pPr>
              <a:defRPr sz="1800" b="0">
                <a:solidFill>
                  <a:srgbClr val="1F1F1B"/>
                </a:solidFill>
                <a:latin typeface="Arial"/>
                <a:ea typeface="Arial"/>
                <a:cs typeface="Arial"/>
              </a:defRPr>
            </a:lvl6pPr>
            <a:lvl7pPr>
              <a:defRPr sz="1800" b="0">
                <a:solidFill>
                  <a:srgbClr val="1F1F1B"/>
                </a:solidFill>
                <a:latin typeface="Arial"/>
                <a:ea typeface="Arial"/>
                <a:cs typeface="Arial"/>
              </a:defRPr>
            </a:lvl7pPr>
            <a:lvl8pPr>
              <a:defRPr sz="1800" b="0">
                <a:solidFill>
                  <a:srgbClr val="1F1F1B"/>
                </a:solidFill>
                <a:latin typeface="Arial"/>
                <a:ea typeface="Arial"/>
                <a:cs typeface="Arial"/>
              </a:defRPr>
            </a:lvl8pPr>
            <a:lvl9pPr>
              <a:defRPr sz="1800" b="0">
                <a:solidFill>
                  <a:srgbClr val="1F1F1B"/>
                </a:solidFill>
                <a:latin typeface="Arial"/>
                <a:ea typeface="Arial"/>
                <a:cs typeface="Arial"/>
              </a:defRPr>
            </a:lvl9pPr>
          </a:lstStyle>
          <a:p xmlns:a="http://schemas.openxmlformats.org/drawingml/2006/main">
            <a:pPr>
              <a:defRPr sz="1800" b="0">
                <a:solidFill>
                  <a:srgbClr val="1F1F1B"/>
                </a:solidFill>
                <a:latin typeface="Arial"/>
                <a:ea typeface="Arial"/>
                <a:cs typeface="Arial"/>
              </a:defRPr>
            </a:pPr>
            <a:r>
              <a:rPr sz="1800" b="0">
                <a:solidFill>
                  <a:srgbClr val="1F1F1B"/>
                </a:solidFill>
                <a:latin typeface="Arial"/>
                <a:ea typeface="Arial"/>
                <a:cs typeface="Arial"/>
              </a:rPr>
              <a:t>Istirahat</a:t>
            </a:r>
          </a:p>
        </p:txBody>
      </p:sp>
      <p:sp>
        <p:nvSpPr>
          <p:cNvPr id="14" name="">
            <a:extLst xmlns:a="http://schemas.openxmlformats.org/drawingml/2006/main">
              <a:ext uri="{FF2B5EF4-FFF2-40B4-BE49-F238E27FC236}">
                <a16:creationId xmlns:a16="http://schemas.microsoft.com/office/drawing/2014/main" id="{EB7E00EB-6A8B-48C9-B458-663A86E6C79D}"/>
              </a:ext>
            </a:extLst>
          </p:cNvPr>
          <p:cNvSpPr>
            <a:spLocks xmlns:a="http://schemas.openxmlformats.org/drawingml/2006/main" noGrp="1"/>
          </p:cNvSpPr>
          <p:nvPr/>
        </p:nvSpPr>
        <p:spPr>
          <a:xfrm xmlns:a="http://schemas.openxmlformats.org/drawingml/2006/main">
            <a:off x="5429250" y="51435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F1F1B"/>
                </a:solidFill>
                <a:latin typeface="Arial"/>
                <a:ea typeface="Arial"/>
                <a:cs typeface="Arial"/>
              </a:defRPr>
            </a:defPPr>
            <a:lvl1pPr>
              <a:defRPr sz="1800" b="0">
                <a:solidFill>
                  <a:srgbClr val="1F1F1B"/>
                </a:solidFill>
                <a:latin typeface="Arial"/>
                <a:ea typeface="Arial"/>
                <a:cs typeface="Arial"/>
              </a:defRPr>
            </a:lvl1pPr>
            <a:lvl2pPr>
              <a:defRPr sz="1800" b="0">
                <a:solidFill>
                  <a:srgbClr val="1F1F1B"/>
                </a:solidFill>
                <a:latin typeface="Arial"/>
                <a:ea typeface="Arial"/>
                <a:cs typeface="Arial"/>
              </a:defRPr>
            </a:lvl2pPr>
            <a:lvl3pPr>
              <a:defRPr sz="1800" b="0">
                <a:solidFill>
                  <a:srgbClr val="1F1F1B"/>
                </a:solidFill>
                <a:latin typeface="Arial"/>
                <a:ea typeface="Arial"/>
                <a:cs typeface="Arial"/>
              </a:defRPr>
            </a:lvl3pPr>
            <a:lvl4pPr>
              <a:defRPr sz="1800" b="0">
                <a:solidFill>
                  <a:srgbClr val="1F1F1B"/>
                </a:solidFill>
                <a:latin typeface="Arial"/>
                <a:ea typeface="Arial"/>
                <a:cs typeface="Arial"/>
              </a:defRPr>
            </a:lvl4pPr>
            <a:lvl5pPr>
              <a:defRPr sz="1800" b="0">
                <a:solidFill>
                  <a:srgbClr val="1F1F1B"/>
                </a:solidFill>
                <a:latin typeface="Arial"/>
                <a:ea typeface="Arial"/>
                <a:cs typeface="Arial"/>
              </a:defRPr>
            </a:lvl5pPr>
            <a:lvl6pPr>
              <a:defRPr sz="1800" b="0">
                <a:solidFill>
                  <a:srgbClr val="1F1F1B"/>
                </a:solidFill>
                <a:latin typeface="Arial"/>
                <a:ea typeface="Arial"/>
                <a:cs typeface="Arial"/>
              </a:defRPr>
            </a:lvl6pPr>
            <a:lvl7pPr>
              <a:defRPr sz="1800" b="0">
                <a:solidFill>
                  <a:srgbClr val="1F1F1B"/>
                </a:solidFill>
                <a:latin typeface="Arial"/>
                <a:ea typeface="Arial"/>
                <a:cs typeface="Arial"/>
              </a:defRPr>
            </a:lvl7pPr>
            <a:lvl8pPr>
              <a:defRPr sz="1800" b="0">
                <a:solidFill>
                  <a:srgbClr val="1F1F1B"/>
                </a:solidFill>
                <a:latin typeface="Arial"/>
                <a:ea typeface="Arial"/>
                <a:cs typeface="Arial"/>
              </a:defRPr>
            </a:lvl8pPr>
            <a:lvl9pPr>
              <a:defRPr sz="1800" b="0">
                <a:solidFill>
                  <a:srgbClr val="1F1F1B"/>
                </a:solidFill>
                <a:latin typeface="Arial"/>
                <a:ea typeface="Arial"/>
                <a:cs typeface="Arial"/>
              </a:defRPr>
            </a:lvl9pPr>
          </a:lstStyle>
          <a:p xmlns:a="http://schemas.openxmlformats.org/drawingml/2006/main">
            <a:pPr>
              <a:defRPr sz="1800" b="0">
                <a:solidFill>
                  <a:srgbClr val="1F1F1B"/>
                </a:solidFill>
                <a:latin typeface="Arial"/>
                <a:ea typeface="Arial"/>
                <a:cs typeface="Arial"/>
              </a:defRPr>
            </a:pPr>
            <a:r>
              <a:rPr sz="1800" b="0">
                <a:solidFill>
                  <a:srgbClr val="1F1F1B"/>
                </a:solidFill>
                <a:latin typeface="Arial"/>
                <a:ea typeface="Arial"/>
                <a:cs typeface="Arial"/>
              </a:rPr>
              <a:t>Aktivitas</a:t>
            </a:r>
          </a:p>
        </p:txBody>
      </p:sp>
      <p:sp>
        <p:nvSpPr>
          <p:cNvPr id="15" name="">
            <a:extLst xmlns:a="http://schemas.openxmlformats.org/drawingml/2006/main">
              <a:ext uri="{FF2B5EF4-FFF2-40B4-BE49-F238E27FC236}">
                <a16:creationId xmlns:a16="http://schemas.microsoft.com/office/drawing/2014/main" id="{1742029A-9DE9-450A-8763-655BF90D4824}"/>
              </a:ext>
            </a:extLst>
          </p:cNvPr>
          <p:cNvSpPr>
            <a:spLocks xmlns:a="http://schemas.openxmlformats.org/drawingml/2006/main" noGrp="1"/>
          </p:cNvSpPr>
          <p:nvPr/>
        </p:nvSpPr>
        <p:spPr>
          <a:xfrm xmlns:a="http://schemas.openxmlformats.org/drawingml/2006/main">
            <a:off x="8763000" y="51435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F1F1B"/>
                </a:solidFill>
                <a:latin typeface="Arial"/>
                <a:ea typeface="Arial"/>
                <a:cs typeface="Arial"/>
              </a:defRPr>
            </a:defPPr>
            <a:lvl1pPr>
              <a:defRPr sz="1800" b="0">
                <a:solidFill>
                  <a:srgbClr val="1F1F1B"/>
                </a:solidFill>
                <a:latin typeface="Arial"/>
                <a:ea typeface="Arial"/>
                <a:cs typeface="Arial"/>
              </a:defRPr>
            </a:lvl1pPr>
            <a:lvl2pPr>
              <a:defRPr sz="1800" b="0">
                <a:solidFill>
                  <a:srgbClr val="1F1F1B"/>
                </a:solidFill>
                <a:latin typeface="Arial"/>
                <a:ea typeface="Arial"/>
                <a:cs typeface="Arial"/>
              </a:defRPr>
            </a:lvl2pPr>
            <a:lvl3pPr>
              <a:defRPr sz="1800" b="0">
                <a:solidFill>
                  <a:srgbClr val="1F1F1B"/>
                </a:solidFill>
                <a:latin typeface="Arial"/>
                <a:ea typeface="Arial"/>
                <a:cs typeface="Arial"/>
              </a:defRPr>
            </a:lvl3pPr>
            <a:lvl4pPr>
              <a:defRPr sz="1800" b="0">
                <a:solidFill>
                  <a:srgbClr val="1F1F1B"/>
                </a:solidFill>
                <a:latin typeface="Arial"/>
                <a:ea typeface="Arial"/>
                <a:cs typeface="Arial"/>
              </a:defRPr>
            </a:lvl4pPr>
            <a:lvl5pPr>
              <a:defRPr sz="1800" b="0">
                <a:solidFill>
                  <a:srgbClr val="1F1F1B"/>
                </a:solidFill>
                <a:latin typeface="Arial"/>
                <a:ea typeface="Arial"/>
                <a:cs typeface="Arial"/>
              </a:defRPr>
            </a:lvl5pPr>
            <a:lvl6pPr>
              <a:defRPr sz="1800" b="0">
                <a:solidFill>
                  <a:srgbClr val="1F1F1B"/>
                </a:solidFill>
                <a:latin typeface="Arial"/>
                <a:ea typeface="Arial"/>
                <a:cs typeface="Arial"/>
              </a:defRPr>
            </a:lvl6pPr>
            <a:lvl7pPr>
              <a:defRPr sz="1800" b="0">
                <a:solidFill>
                  <a:srgbClr val="1F1F1B"/>
                </a:solidFill>
                <a:latin typeface="Arial"/>
                <a:ea typeface="Arial"/>
                <a:cs typeface="Arial"/>
              </a:defRPr>
            </a:lvl7pPr>
            <a:lvl8pPr>
              <a:defRPr sz="1800" b="0">
                <a:solidFill>
                  <a:srgbClr val="1F1F1B"/>
                </a:solidFill>
                <a:latin typeface="Arial"/>
                <a:ea typeface="Arial"/>
                <a:cs typeface="Arial"/>
              </a:defRPr>
            </a:lvl8pPr>
            <a:lvl9pPr>
              <a:defRPr sz="1800" b="0">
                <a:solidFill>
                  <a:srgbClr val="1F1F1B"/>
                </a:solidFill>
                <a:latin typeface="Arial"/>
                <a:ea typeface="Arial"/>
                <a:cs typeface="Arial"/>
              </a:defRPr>
            </a:lvl9pPr>
          </a:lstStyle>
          <a:p xmlns:a="http://schemas.openxmlformats.org/drawingml/2006/main">
            <a:pPr>
              <a:defRPr sz="1800" b="0">
                <a:solidFill>
                  <a:srgbClr val="1F1F1B"/>
                </a:solidFill>
                <a:latin typeface="Arial"/>
                <a:ea typeface="Arial"/>
                <a:cs typeface="Arial"/>
              </a:defRPr>
            </a:pPr>
            <a:r>
              <a:rPr sz="1800" b="0">
                <a:solidFill>
                  <a:srgbClr val="1F1F1B"/>
                </a:solidFill>
                <a:latin typeface="Arial"/>
                <a:ea typeface="Arial"/>
                <a:cs typeface="Arial"/>
              </a:rPr>
              <a:t>Pemulihan</a:t>
            </a:r>
          </a:p>
        </p:txBody>
      </p:sp>
      <p:sp>
        <p:nvSpPr>
          <p:cNvPr id="16" name="">
            <a:extLst xmlns:a="http://schemas.openxmlformats.org/drawingml/2006/main">
              <a:ext uri="{FF2B5EF4-FFF2-40B4-BE49-F238E27FC236}">
                <a16:creationId xmlns:a16="http://schemas.microsoft.com/office/drawing/2014/main" id="{874FA66A-0E4C-4B98-BCE1-7641D6AF58C4}"/>
              </a:ext>
            </a:extLst>
          </p:cNvPr>
          <p:cNvSpPr>
            <a:spLocks xmlns:a="http://schemas.openxmlformats.org/drawingml/2006/main" noGrp="1"/>
          </p:cNvSpPr>
          <p:nvPr/>
        </p:nvSpPr>
        <p:spPr>
          <a:xfrm xmlns:a="http://schemas.openxmlformats.org/drawingml/2006/main">
            <a:off x="2143125" y="2857500"/>
            <a:ext cx="8715375" cy="1571625"/>
          </a:xfrm>
          <a:custGeom xmlns:a="http://schemas.openxmlformats.org/drawingml/2006/main">
            <a:pathLst>
              <a:path w="8715375" h="1571625">
                <a:moveTo>
                  <a:pt x="0" y="1571625"/>
                </a:moveTo>
                <a:lnTo>
                  <a:pt x="1762125" y="1571625"/>
                </a:lnTo>
                <a:lnTo>
                  <a:pt x="2809875" y="476250"/>
                </a:lnTo>
                <a:lnTo>
                  <a:pt x="4048125" y="0"/>
                </a:lnTo>
                <a:lnTo>
                  <a:pt x="5953125" y="0"/>
                </a:lnTo>
                <a:lnTo>
                  <a:pt x="6810375" y="1000125"/>
                </a:lnTo>
                <a:lnTo>
                  <a:pt x="8715375" y="1476375"/>
                </a:lnTo>
              </a:path>
            </a:pathLst>
          </a:custGeom>
          <a:noFill xmlns:a="http://schemas.openxmlformats.org/drawingml/2006/main"/>
          <a:ln xmlns:a="http://schemas.openxmlformats.org/drawingml/2006/main" w="47625">
            <a:solidFill>
              <a:srgbClr val="2F5D62"/>
            </a:solidFill>
          </a:ln>
        </p:spPr>
      </p:sp>
      <p:sp>
        <p:nvSpPr>
          <p:cNvPr id="17" name="">
            <a:extLst xmlns:a="http://schemas.openxmlformats.org/drawingml/2006/main">
              <a:ext uri="{FF2B5EF4-FFF2-40B4-BE49-F238E27FC236}">
                <a16:creationId xmlns:a16="http://schemas.microsoft.com/office/drawing/2014/main" id="{46F308E6-9E5C-4F5F-9CEE-16070814BECD}"/>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Skema konseptual tanpa nilai ukur; bentuk respons tiap orang dapat berbeda.</a:t>
            </a:r>
          </a:p>
        </p:txBody>
      </p:sp>
      <p:sp>
        <p:nvSpPr>
          <p:cNvPr id="18" name="">
            <a:extLst xmlns:a="http://schemas.openxmlformats.org/drawingml/2006/main">
              <a:ext uri="{FF2B5EF4-FFF2-40B4-BE49-F238E27FC236}">
                <a16:creationId xmlns:a16="http://schemas.microsoft.com/office/drawing/2014/main" id="{137E8E51-33DA-46CA-B788-19752663E23A}"/>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19" name="">
            <a:extLst xmlns:a="http://schemas.openxmlformats.org/drawingml/2006/main">
              <a:ext uri="{FF2B5EF4-FFF2-40B4-BE49-F238E27FC236}">
                <a16:creationId xmlns:a16="http://schemas.microsoft.com/office/drawing/2014/main" id="{11F6708E-1A9A-447B-A7FC-126F299C85B9}"/>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06 / 26</a:t>
            </a:r>
          </a:p>
        </p:txBody>
      </p:sp>
    </p:spTree>
    <p:extLst>
      <p:ext uri="{BB962C8B-B14F-4D97-AF65-F5344CB8AC3E}">
        <p14:creationId xmlns:p14="http://schemas.microsoft.com/office/powerpoint/2010/main" val="798582984"/>
      </p:ext>
    </p:extLst>
  </p:cSld>
</p:sld>
</file>

<file path=ppt/slides/slide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E874FA-8FC7-402A-9451-D24C18982844}"/>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638A3668-55BA-4CE8-94EC-F806FC4B5049}"/>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Kapasitas aerobik dan VO₂max</a:t>
            </a:r>
          </a:p>
        </p:txBody>
      </p:sp>
      <p:sp>
        <p:nvSpPr>
          <p:cNvPr id="3" name="">
            <a:extLst xmlns:a="http://schemas.openxmlformats.org/drawingml/2006/main">
              <a:ext uri="{FF2B5EF4-FFF2-40B4-BE49-F238E27FC236}">
                <a16:creationId xmlns:a16="http://schemas.microsoft.com/office/drawing/2014/main" id="{8D138B4C-6880-4031-88D6-297A71A279AD}"/>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VO₂max menggambarkan kapasitas maksimal penggunaan oksigen.</a:t>
            </a:r>
          </a:p>
        </p:txBody>
      </p:sp>
      <p:sp>
        <p:nvSpPr>
          <p:cNvPr id="4" name="">
            <a:extLst xmlns:a="http://schemas.openxmlformats.org/drawingml/2006/main">
              <a:ext uri="{FF2B5EF4-FFF2-40B4-BE49-F238E27FC236}">
                <a16:creationId xmlns:a16="http://schemas.microsoft.com/office/drawing/2014/main" id="{2A5D5514-BD7B-4A06-9D64-4FCF0E1C3B10}"/>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Nilainya berbeda dari kebutuhan oksigen pada satu tugas tertentu.</a:t>
            </a:r>
          </a:p>
        </p:txBody>
      </p:sp>
      <p:sp>
        <p:nvSpPr>
          <p:cNvPr id="5" name="">
            <a:extLst xmlns:a="http://schemas.openxmlformats.org/drawingml/2006/main">
              <a:ext uri="{FF2B5EF4-FFF2-40B4-BE49-F238E27FC236}">
                <a16:creationId xmlns:a16="http://schemas.microsoft.com/office/drawing/2014/main" id="{6FBE51D3-9784-49FA-9958-E8809E5D0AFF}"/>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Pengukuran maksimal memerlukan prosedur dan pengawasan yang sesuai.</a:t>
            </a:r>
          </a:p>
        </p:txBody>
      </p:sp>
      <p:sp>
        <p:nvSpPr>
          <p:cNvPr id="6" name="">
            <a:extLst xmlns:a="http://schemas.openxmlformats.org/drawingml/2006/main">
              <a:ext uri="{FF2B5EF4-FFF2-40B4-BE49-F238E27FC236}">
                <a16:creationId xmlns:a16="http://schemas.microsoft.com/office/drawing/2014/main" id="{41D776AF-7812-4464-A716-D862240D98E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6F249491-F0EC-44CF-8323-B524FF1ACED0}"/>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07 / 26</a:t>
            </a:r>
          </a:p>
        </p:txBody>
      </p:sp>
    </p:spTree>
    <p:extLst>
      <p:ext uri="{BB962C8B-B14F-4D97-AF65-F5344CB8AC3E}">
        <p14:creationId xmlns:p14="http://schemas.microsoft.com/office/powerpoint/2010/main" val="1264374112"/>
      </p:ext>
    </p:extLst>
  </p:cSld>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9C0954-0AAF-4BA0-9B4E-5EAF1E1AB262}"/>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0BB06D53-B417-423A-BFF7-49CD1ACD53AE}"/>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Indikator menjawab pertanyaan berbeda</a:t>
            </a:r>
          </a:p>
        </p:txBody>
      </p:sp>
      <p:graphicFrame>
        <p:nvGraphicFramePr>
          <p:cNvPr id="3" name="">
            <a:extLst xmlns:a="http://schemas.openxmlformats.org/drawingml/2006/main">
              <a:ext uri="{FF2B5EF4-FFF2-40B4-BE49-F238E27FC236}">
                <a16:creationId xmlns:a16="http://schemas.microsoft.com/office/drawing/2014/main" id="{C45191FF-B956-4C81-849D-6B2CB2C4D186}"/>
              </a:ext>
            </a:extLst>
          </p:cNvPr>
          <p:cNvGraphicFramePr/>
          <p:nvPr/>
        </p:nvGraphicFramePr>
        <p:xfrm>
          <a:off xmlns:a="http://schemas.openxmlformats.org/drawingml/2006/main" x="762000" y="2114550"/>
          <a:ext xmlns:a="http://schemas.openxmlformats.org/drawingml/2006/main" cx="10668000" cy="3429000"/>
        </p:xfrm>
        <a:graphic xmlns:a="http://schemas.openxmlformats.org/drawingml/2006/main">
          <a:graphicData uri="http://schemas.openxmlformats.org/drawingml/2006/table">
            <a:tbl>
              <a:tblPr/>
              <a:tblGrid>
                <a:gridCol w="2667000"/>
                <a:gridCol w="3619500"/>
                <a:gridCol w="4381500"/>
              </a:tblGrid>
              <a:tr h="685800">
                <a:tc>
                  <a:txBody>
                    <a:bodyPr/>
                    <a:lstStyle/>
                    <a:p>
                      <a:r>
                        <a:rPr sz="1800" b="1">
                          <a:solidFill>
                            <a:srgbClr val="2F5D62"/>
                          </a:solidFill>
                          <a:latin typeface="Arial"/>
                          <a:ea typeface="Arial"/>
                          <a:cs typeface="Arial"/>
                        </a:rPr>
                        <a:t>Indikator</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Kegunaan</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Batas interpretasi</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00" b="0">
                          <a:solidFill>
                            <a:srgbClr val="1F1F1B"/>
                          </a:solidFill>
                          <a:latin typeface="Arial"/>
                          <a:ea typeface="Arial"/>
                          <a:cs typeface="Arial"/>
                        </a:rPr>
                        <a:t>Denyut jantung</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Respons sirkulasi</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Dipengaruhi panas, stres, dan faktor lain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Persepsi usaha</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Pengalaman intensitas</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Subjektif dan perlu instruksi konsisten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Observasi tugas</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Paparan pekerjaan</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Butuh konteks rute dan durasi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VO₂</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Kebutuhan metabolik</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Memerlukan alat dan protokol</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FD4CE27D-2E84-4B5B-8543-2AF8C8E7E91F}"/>
              </a:ext>
            </a:extLst>
          </p:cNvPr>
          <p:cNvSpPr>
            <a:spLocks xmlns:a="http://schemas.openxmlformats.org/drawingml/2006/main" noGrp="1"/>
          </p:cNvSpPr>
          <p:nvPr/>
        </p:nvSpPr>
        <p:spPr>
          <a:xfrm xmlns:a="http://schemas.openxmlformats.org/drawingml/2006/main">
            <a:off x="762000" y="589597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sumber pada catatan</a:t>
            </a:r>
          </a:p>
        </p:txBody>
      </p:sp>
      <p:sp>
        <p:nvSpPr>
          <p:cNvPr id="5" name="">
            <a:extLst xmlns:a="http://schemas.openxmlformats.org/drawingml/2006/main">
              <a:ext uri="{FF2B5EF4-FFF2-40B4-BE49-F238E27FC236}">
                <a16:creationId xmlns:a16="http://schemas.microsoft.com/office/drawing/2014/main" id="{99C0FFCA-E673-48C5-A8E6-548FCE8237CB}"/>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AA20B7E8-EA78-4896-98F7-212093E8E5A6}"/>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08 / 26</a:t>
            </a:r>
          </a:p>
        </p:txBody>
      </p:sp>
    </p:spTree>
    <p:extLst>
      <p:ext uri="{BB962C8B-B14F-4D97-AF65-F5344CB8AC3E}">
        <p14:creationId xmlns:p14="http://schemas.microsoft.com/office/powerpoint/2010/main" val="1071211189"/>
      </p:ext>
    </p:extLst>
  </p:cSld>
</p:sld>
</file>

<file path=ppt/slides/slide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B7E6CE-B97C-4AC6-A65F-0F1023917248}"/>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73FAF4DD-C7E5-4DC9-8CDE-4D039289B4D0}"/>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Denyut jantung dalam konteks</a:t>
            </a:r>
          </a:p>
        </p:txBody>
      </p:sp>
      <p:pic>
        <p:nvPicPr>
          <p:cNvPr id="3" name="">
            <a:extLst xmlns:a="http://schemas.openxmlformats.org/drawingml/2006/main">
              <a:ext uri="{FF2B5EF4-FFF2-40B4-BE49-F238E27FC236}">
                <a16:creationId xmlns:a16="http://schemas.microsoft.com/office/drawing/2014/main" id="{0518FFBA-1E13-4E17-8695-00449FE29584}"/>
              </a:ext>
            </a:extLst>
          </p:cNvPr>
          <p:cNvPicPr>
            <a:picLocks xmlns:a="http://schemas.openxmlformats.org/drawingml/2006/main" noChangeAspect="1"/>
          </p:cNvPicPr>
          <p:nvPr/>
        </p:nvPicPr>
        <p:blipFill>
          <a:blip xmlns:r="http://schemas.openxmlformats.org/officeDocument/2006/relationships" xmlns:a="http://schemas.openxmlformats.org/drawingml/2006/main" r:embed="R0bea032a00544234"/>
          <a:stretch xmlns:a="http://schemas.openxmlformats.org/drawingml/2006/main"/>
        </p:blipFill>
        <p:spPr>
          <a:xfrm xmlns:a="http://schemas.openxmlformats.org/drawingml/2006/main">
            <a:off x="6578082" y="2143125"/>
            <a:ext cx="4750837" cy="3095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5234DE-0E6D-489E-8316-846AA0347C1C}"/>
              </a:ext>
            </a:extLst>
          </p:cNvPr>
          <p:cNvSpPr>
            <a:spLocks xmlns:a="http://schemas.openxmlformats.org/drawingml/2006/main" noGrp="1"/>
          </p:cNvSpPr>
          <p:nvPr/>
        </p:nvSpPr>
        <p:spPr>
          <a:xfrm xmlns:a="http://schemas.openxmlformats.org/drawingml/2006/main">
            <a:off x="6477000" y="5343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U.S. Air Force / Staff Sgt. Jeanette Copeland · Domain publik</a:t>
            </a:r>
          </a:p>
        </p:txBody>
      </p:sp>
      <p:sp>
        <p:nvSpPr>
          <p:cNvPr id="5" name="">
            <a:extLst xmlns:a="http://schemas.openxmlformats.org/drawingml/2006/main">
              <a:ext uri="{FF2B5EF4-FFF2-40B4-BE49-F238E27FC236}">
                <a16:creationId xmlns:a16="http://schemas.microsoft.com/office/drawing/2014/main" id="{11BF66EE-91C0-46FB-8142-3CA8386C3383}"/>
              </a:ext>
            </a:extLst>
          </p:cNvPr>
          <p:cNvSpPr>
            <a:spLocks xmlns:a="http://schemas.openxmlformats.org/drawingml/2006/main" noGrp="1"/>
          </p:cNvSpPr>
          <p:nvPr/>
        </p:nvSpPr>
        <p:spPr>
          <a:xfrm xmlns:a="http://schemas.openxmlformats.org/drawingml/2006/main">
            <a:off x="762000" y="21907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Catat aktivitas, durasi, lingkungan, dan waktu pengamatan.</a:t>
            </a:r>
          </a:p>
        </p:txBody>
      </p:sp>
      <p:sp>
        <p:nvSpPr>
          <p:cNvPr id="6" name="">
            <a:extLst xmlns:a="http://schemas.openxmlformats.org/drawingml/2006/main">
              <a:ext uri="{FF2B5EF4-FFF2-40B4-BE49-F238E27FC236}">
                <a16:creationId xmlns:a16="http://schemas.microsoft.com/office/drawing/2014/main" id="{14E7DA9A-4538-4792-8662-CB04F41420C4}"/>
              </a:ext>
            </a:extLst>
          </p:cNvPr>
          <p:cNvSpPr>
            <a:spLocks xmlns:a="http://schemas.openxmlformats.org/drawingml/2006/main" noGrp="1"/>
          </p:cNvSpPr>
          <p:nvPr/>
        </p:nvSpPr>
        <p:spPr>
          <a:xfrm xmlns:a="http://schemas.openxmlformats.org/drawingml/2006/main">
            <a:off x="762000" y="335280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Bandingkan kondisi yang sebanding.</a:t>
            </a:r>
          </a:p>
        </p:txBody>
      </p:sp>
      <p:sp>
        <p:nvSpPr>
          <p:cNvPr id="7" name="">
            <a:extLst xmlns:a="http://schemas.openxmlformats.org/drawingml/2006/main">
              <a:ext uri="{FF2B5EF4-FFF2-40B4-BE49-F238E27FC236}">
                <a16:creationId xmlns:a16="http://schemas.microsoft.com/office/drawing/2014/main" id="{FDFDEE5D-BE75-4AA0-9338-807F00FD6A06}"/>
              </a:ext>
            </a:extLst>
          </p:cNvPr>
          <p:cNvSpPr>
            <a:spLocks xmlns:a="http://schemas.openxmlformats.org/drawingml/2006/main" noGrp="1"/>
          </p:cNvSpPr>
          <p:nvPr/>
        </p:nvSpPr>
        <p:spPr>
          <a:xfrm xmlns:a="http://schemas.openxmlformats.org/drawingml/2006/main">
            <a:off x="762000" y="45148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Rumus usia dan alat ukur memiliki keterbatasan.</a:t>
            </a:r>
          </a:p>
        </p:txBody>
      </p:sp>
      <p:sp>
        <p:nvSpPr>
          <p:cNvPr id="8" name="">
            <a:extLst xmlns:a="http://schemas.openxmlformats.org/drawingml/2006/main">
              <a:ext uri="{FF2B5EF4-FFF2-40B4-BE49-F238E27FC236}">
                <a16:creationId xmlns:a16="http://schemas.microsoft.com/office/drawing/2014/main" id="{727C19C4-E17F-4AE7-A85C-932C6621E11C}"/>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9" name="">
            <a:extLst xmlns:a="http://schemas.openxmlformats.org/drawingml/2006/main">
              <a:ext uri="{FF2B5EF4-FFF2-40B4-BE49-F238E27FC236}">
                <a16:creationId xmlns:a16="http://schemas.microsoft.com/office/drawing/2014/main" id="{C0E2F566-294F-4889-A676-C079938EFE67}"/>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09 / 26</a:t>
            </a:r>
          </a:p>
        </p:txBody>
      </p:sp>
    </p:spTree>
    <p:extLst>
      <p:ext uri="{BB962C8B-B14F-4D97-AF65-F5344CB8AC3E}">
        <p14:creationId xmlns:p14="http://schemas.microsoft.com/office/powerpoint/2010/main" val="183069948"/>
      </p:ext>
    </p:extLst>
  </p:cSld>
</p:sld>
</file>

<file path=ppt/slides/slide1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06D272A8-CBF6-4B8F-A8A4-72629C7FB8CE}"/>
              </a:ext>
            </a:extLst>
          </p:cNvPr>
          <p:cNvCxnSpPr>
            <a:stCxn xmlns:a="http://schemas.openxmlformats.org/drawingml/2006/main" id="6" idx="3"/>
            <a:endCxn xmlns:a="http://schemas.openxmlformats.org/drawingml/2006/main" id="7" idx="1"/>
          </p:cNvCxnSpPr>
          <p:nvPr/>
        </p:nvCxnSpPr>
        <p:spPr>
          <a:xfrm xmlns:a="http://schemas.openxmlformats.org/drawingml/2006/main">
            <a:off x="4957763" y="3619501"/>
            <a:ext cx="1847850" cy="0"/>
          </a:xfrm>
          <a:prstGeom xmlns:a="http://schemas.openxmlformats.org/drawingml/2006/main" prst="straightConnector1">
            <a:avLst/>
          </a:prstGeom>
          <a:ln xmlns:a="http://schemas.openxmlformats.org/drawingml/2006/main" w="38100">
            <a:solidFill>
              <a:srgbClr val="2F5D62"/>
            </a:solidFill>
            <a:tailEnd type="triangle" w="sm" len="sm"/>
          </a:ln>
        </p:spPr>
      </p:cxnSp>
      <p:sp>
        <p:nvSpPr>
          <p:cNvPr id="15" name="">
            <a:extLst xmlns:a="http://schemas.openxmlformats.org/drawingml/2006/main">
              <a:ext uri="{FF2B5EF4-FFF2-40B4-BE49-F238E27FC236}">
                <a16:creationId xmlns:a16="http://schemas.microsoft.com/office/drawing/2014/main" id="{9DA0D763-1094-4116-855F-0823C012A5C4}"/>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E196A1F5-780C-4E82-9432-0CA2F19A29A0}"/>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Contoh selisih denyut</a:t>
            </a:r>
          </a:p>
        </p:txBody>
      </p:sp>
      <p:sp>
        <p:nvSpPr>
          <p:cNvPr id="3" name="">
            <a:extLst xmlns:a="http://schemas.openxmlformats.org/drawingml/2006/main">
              <a:ext uri="{FF2B5EF4-FFF2-40B4-BE49-F238E27FC236}">
                <a16:creationId xmlns:a16="http://schemas.microsoft.com/office/drawing/2014/main" id="{C1FEE86E-35FA-41D9-A1C2-93C0E34B87D7}"/>
              </a:ext>
            </a:extLst>
          </p:cNvPr>
          <p:cNvSpPr>
            <a:spLocks xmlns:a="http://schemas.openxmlformats.org/drawingml/2006/main" noGrp="1"/>
          </p:cNvSpPr>
          <p:nvPr/>
        </p:nvSpPr>
        <p:spPr>
          <a:xfrm xmlns:a="http://schemas.openxmlformats.org/drawingml/2006/main">
            <a:off x="1095375" y="23336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F5D62"/>
                </a:solidFill>
                <a:latin typeface="Arial"/>
                <a:ea typeface="Arial"/>
                <a:cs typeface="Arial"/>
              </a:defRPr>
            </a:defPPr>
            <a:lvl1pPr>
              <a:defRPr sz="2250" b="0">
                <a:solidFill>
                  <a:srgbClr val="2F5D62"/>
                </a:solidFill>
                <a:latin typeface="Arial"/>
                <a:ea typeface="Arial"/>
                <a:cs typeface="Arial"/>
              </a:defRPr>
            </a:lvl1pPr>
            <a:lvl2pPr>
              <a:defRPr sz="2250" b="0">
                <a:solidFill>
                  <a:srgbClr val="2F5D62"/>
                </a:solidFill>
                <a:latin typeface="Arial"/>
                <a:ea typeface="Arial"/>
                <a:cs typeface="Arial"/>
              </a:defRPr>
            </a:lvl2pPr>
            <a:lvl3pPr>
              <a:defRPr sz="2250" b="0">
                <a:solidFill>
                  <a:srgbClr val="2F5D62"/>
                </a:solidFill>
                <a:latin typeface="Arial"/>
                <a:ea typeface="Arial"/>
                <a:cs typeface="Arial"/>
              </a:defRPr>
            </a:lvl3pPr>
            <a:lvl4pPr>
              <a:defRPr sz="2250" b="0">
                <a:solidFill>
                  <a:srgbClr val="2F5D62"/>
                </a:solidFill>
                <a:latin typeface="Arial"/>
                <a:ea typeface="Arial"/>
                <a:cs typeface="Arial"/>
              </a:defRPr>
            </a:lvl4pPr>
            <a:lvl5pPr>
              <a:defRPr sz="2250" b="0">
                <a:solidFill>
                  <a:srgbClr val="2F5D62"/>
                </a:solidFill>
                <a:latin typeface="Arial"/>
                <a:ea typeface="Arial"/>
                <a:cs typeface="Arial"/>
              </a:defRPr>
            </a:lvl5pPr>
            <a:lvl6pPr>
              <a:defRPr sz="2250" b="0">
                <a:solidFill>
                  <a:srgbClr val="2F5D62"/>
                </a:solidFill>
                <a:latin typeface="Arial"/>
                <a:ea typeface="Arial"/>
                <a:cs typeface="Arial"/>
              </a:defRPr>
            </a:lvl6pPr>
            <a:lvl7pPr>
              <a:defRPr sz="2250" b="0">
                <a:solidFill>
                  <a:srgbClr val="2F5D62"/>
                </a:solidFill>
                <a:latin typeface="Arial"/>
                <a:ea typeface="Arial"/>
                <a:cs typeface="Arial"/>
              </a:defRPr>
            </a:lvl7pPr>
            <a:lvl8pPr>
              <a:defRPr sz="2250" b="0">
                <a:solidFill>
                  <a:srgbClr val="2F5D62"/>
                </a:solidFill>
                <a:latin typeface="Arial"/>
                <a:ea typeface="Arial"/>
                <a:cs typeface="Arial"/>
              </a:defRPr>
            </a:lvl8pPr>
            <a:lvl9pPr>
              <a:defRPr sz="2250" b="0">
                <a:solidFill>
                  <a:srgbClr val="2F5D62"/>
                </a:solidFill>
                <a:latin typeface="Arial"/>
                <a:ea typeface="Arial"/>
                <a:cs typeface="Arial"/>
              </a:defRPr>
            </a:lvl9pPr>
          </a:lstStyle>
          <a:p xmlns:a="http://schemas.openxmlformats.org/drawingml/2006/main">
            <a:pPr>
              <a:defRPr sz="2250" b="0">
                <a:solidFill>
                  <a:srgbClr val="2F5D62"/>
                </a:solidFill>
                <a:latin typeface="Arial"/>
                <a:ea typeface="Arial"/>
                <a:cs typeface="Arial"/>
              </a:defRPr>
            </a:pPr>
            <a:r>
              <a:rPr sz="2250" b="0">
                <a:solidFill>
                  <a:srgbClr val="2F5D62"/>
                </a:solidFill>
                <a:latin typeface="Arial"/>
                <a:ea typeface="Arial"/>
                <a:cs typeface="Arial"/>
              </a:rPr>
              <a:t>Sebelum aktivitas</a:t>
            </a:r>
          </a:p>
        </p:txBody>
      </p:sp>
      <p:sp>
        <p:nvSpPr>
          <p:cNvPr id="4" name="">
            <a:extLst xmlns:a="http://schemas.openxmlformats.org/drawingml/2006/main">
              <a:ext uri="{FF2B5EF4-FFF2-40B4-BE49-F238E27FC236}">
                <a16:creationId xmlns:a16="http://schemas.microsoft.com/office/drawing/2014/main" id="{A9E01E49-5021-4AD5-93F8-21D21D662003}"/>
              </a:ext>
            </a:extLst>
          </p:cNvPr>
          <p:cNvSpPr>
            <a:spLocks xmlns:a="http://schemas.openxmlformats.org/drawingml/2006/main" noGrp="1"/>
          </p:cNvSpPr>
          <p:nvPr/>
        </p:nvSpPr>
        <p:spPr>
          <a:xfrm xmlns:a="http://schemas.openxmlformats.org/drawingml/2006/main">
            <a:off x="1095375" y="30480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825" b="1">
                <a:solidFill>
                  <a:srgbClr val="1F1F1B"/>
                </a:solidFill>
                <a:latin typeface="Arial"/>
                <a:ea typeface="Arial"/>
                <a:cs typeface="Arial"/>
              </a:defRPr>
            </a:defPPr>
            <a:lvl1pPr>
              <a:defRPr sz="6825" b="1">
                <a:solidFill>
                  <a:srgbClr val="1F1F1B"/>
                </a:solidFill>
                <a:latin typeface="Arial"/>
                <a:ea typeface="Arial"/>
                <a:cs typeface="Arial"/>
              </a:defRPr>
            </a:lvl1pPr>
            <a:lvl2pPr>
              <a:defRPr sz="6825" b="1">
                <a:solidFill>
                  <a:srgbClr val="1F1F1B"/>
                </a:solidFill>
                <a:latin typeface="Arial"/>
                <a:ea typeface="Arial"/>
                <a:cs typeface="Arial"/>
              </a:defRPr>
            </a:lvl2pPr>
            <a:lvl3pPr>
              <a:defRPr sz="6825" b="1">
                <a:solidFill>
                  <a:srgbClr val="1F1F1B"/>
                </a:solidFill>
                <a:latin typeface="Arial"/>
                <a:ea typeface="Arial"/>
                <a:cs typeface="Arial"/>
              </a:defRPr>
            </a:lvl3pPr>
            <a:lvl4pPr>
              <a:defRPr sz="6825" b="1">
                <a:solidFill>
                  <a:srgbClr val="1F1F1B"/>
                </a:solidFill>
                <a:latin typeface="Arial"/>
                <a:ea typeface="Arial"/>
                <a:cs typeface="Arial"/>
              </a:defRPr>
            </a:lvl4pPr>
            <a:lvl5pPr>
              <a:defRPr sz="6825" b="1">
                <a:solidFill>
                  <a:srgbClr val="1F1F1B"/>
                </a:solidFill>
                <a:latin typeface="Arial"/>
                <a:ea typeface="Arial"/>
                <a:cs typeface="Arial"/>
              </a:defRPr>
            </a:lvl5pPr>
            <a:lvl6pPr>
              <a:defRPr sz="6825" b="1">
                <a:solidFill>
                  <a:srgbClr val="1F1F1B"/>
                </a:solidFill>
                <a:latin typeface="Arial"/>
                <a:ea typeface="Arial"/>
                <a:cs typeface="Arial"/>
              </a:defRPr>
            </a:lvl6pPr>
            <a:lvl7pPr>
              <a:defRPr sz="6825" b="1">
                <a:solidFill>
                  <a:srgbClr val="1F1F1B"/>
                </a:solidFill>
                <a:latin typeface="Arial"/>
                <a:ea typeface="Arial"/>
                <a:cs typeface="Arial"/>
              </a:defRPr>
            </a:lvl7pPr>
            <a:lvl8pPr>
              <a:defRPr sz="6825" b="1">
                <a:solidFill>
                  <a:srgbClr val="1F1F1B"/>
                </a:solidFill>
                <a:latin typeface="Arial"/>
                <a:ea typeface="Arial"/>
                <a:cs typeface="Arial"/>
              </a:defRPr>
            </a:lvl8pPr>
            <a:lvl9pPr>
              <a:defRPr sz="6825" b="1">
                <a:solidFill>
                  <a:srgbClr val="1F1F1B"/>
                </a:solidFill>
                <a:latin typeface="Arial"/>
                <a:ea typeface="Arial"/>
                <a:cs typeface="Arial"/>
              </a:defRPr>
            </a:lvl9pPr>
          </a:lstStyle>
          <a:p xmlns:a="http://schemas.openxmlformats.org/drawingml/2006/main">
            <a:pPr>
              <a:defRPr sz="6825" b="1">
                <a:solidFill>
                  <a:srgbClr val="1F1F1B"/>
                </a:solidFill>
                <a:latin typeface="Arial"/>
                <a:ea typeface="Arial"/>
                <a:cs typeface="Arial"/>
              </a:defRPr>
            </a:pPr>
            <a:r>
              <a:rPr sz="6825" b="1">
                <a:solidFill>
                  <a:srgbClr val="1F1F1B"/>
                </a:solidFill>
                <a:latin typeface="Arial"/>
                <a:ea typeface="Arial"/>
                <a:cs typeface="Arial"/>
              </a:rPr>
              <a:t>72</a:t>
            </a:r>
          </a:p>
        </p:txBody>
      </p:sp>
      <p:sp>
        <p:nvSpPr>
          <p:cNvPr id="5" name="">
            <a:extLst xmlns:a="http://schemas.openxmlformats.org/drawingml/2006/main">
              <a:ext uri="{FF2B5EF4-FFF2-40B4-BE49-F238E27FC236}">
                <a16:creationId xmlns:a16="http://schemas.microsoft.com/office/drawing/2014/main" id="{F9452DEF-50D8-4146-ACB4-00D0B582CB73}"/>
              </a:ext>
            </a:extLst>
          </p:cNvPr>
          <p:cNvSpPr>
            <a:spLocks xmlns:a="http://schemas.openxmlformats.org/drawingml/2006/main" noGrp="1"/>
          </p:cNvSpPr>
          <p:nvPr/>
        </p:nvSpPr>
        <p:spPr>
          <a:xfrm xmlns:a="http://schemas.openxmlformats.org/drawingml/2006/main">
            <a:off x="1095375" y="41814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F625C"/>
                </a:solidFill>
                <a:latin typeface="Arial"/>
                <a:ea typeface="Arial"/>
                <a:cs typeface="Arial"/>
              </a:defRPr>
            </a:defPPr>
            <a:lvl1pPr>
              <a:defRPr sz="1875" b="0">
                <a:solidFill>
                  <a:srgbClr val="5F625C"/>
                </a:solidFill>
                <a:latin typeface="Arial"/>
                <a:ea typeface="Arial"/>
                <a:cs typeface="Arial"/>
              </a:defRPr>
            </a:lvl1pPr>
            <a:lvl2pPr>
              <a:defRPr sz="1875" b="0">
                <a:solidFill>
                  <a:srgbClr val="5F625C"/>
                </a:solidFill>
                <a:latin typeface="Arial"/>
                <a:ea typeface="Arial"/>
                <a:cs typeface="Arial"/>
              </a:defRPr>
            </a:lvl2pPr>
            <a:lvl3pPr>
              <a:defRPr sz="1875" b="0">
                <a:solidFill>
                  <a:srgbClr val="5F625C"/>
                </a:solidFill>
                <a:latin typeface="Arial"/>
                <a:ea typeface="Arial"/>
                <a:cs typeface="Arial"/>
              </a:defRPr>
            </a:lvl3pPr>
            <a:lvl4pPr>
              <a:defRPr sz="1875" b="0">
                <a:solidFill>
                  <a:srgbClr val="5F625C"/>
                </a:solidFill>
                <a:latin typeface="Arial"/>
                <a:ea typeface="Arial"/>
                <a:cs typeface="Arial"/>
              </a:defRPr>
            </a:lvl4pPr>
            <a:lvl5pPr>
              <a:defRPr sz="1875" b="0">
                <a:solidFill>
                  <a:srgbClr val="5F625C"/>
                </a:solidFill>
                <a:latin typeface="Arial"/>
                <a:ea typeface="Arial"/>
                <a:cs typeface="Arial"/>
              </a:defRPr>
            </a:lvl5pPr>
            <a:lvl6pPr>
              <a:defRPr sz="1875" b="0">
                <a:solidFill>
                  <a:srgbClr val="5F625C"/>
                </a:solidFill>
                <a:latin typeface="Arial"/>
                <a:ea typeface="Arial"/>
                <a:cs typeface="Arial"/>
              </a:defRPr>
            </a:lvl6pPr>
            <a:lvl7pPr>
              <a:defRPr sz="1875" b="0">
                <a:solidFill>
                  <a:srgbClr val="5F625C"/>
                </a:solidFill>
                <a:latin typeface="Arial"/>
                <a:ea typeface="Arial"/>
                <a:cs typeface="Arial"/>
              </a:defRPr>
            </a:lvl7pPr>
            <a:lvl8pPr>
              <a:defRPr sz="1875" b="0">
                <a:solidFill>
                  <a:srgbClr val="5F625C"/>
                </a:solidFill>
                <a:latin typeface="Arial"/>
                <a:ea typeface="Arial"/>
                <a:cs typeface="Arial"/>
              </a:defRPr>
            </a:lvl8pPr>
            <a:lvl9pPr>
              <a:defRPr sz="1875" b="0">
                <a:solidFill>
                  <a:srgbClr val="5F625C"/>
                </a:solidFill>
                <a:latin typeface="Arial"/>
                <a:ea typeface="Arial"/>
                <a:cs typeface="Arial"/>
              </a:defRPr>
            </a:lvl9pPr>
          </a:lstStyle>
          <a:p xmlns:a="http://schemas.openxmlformats.org/drawingml/2006/main">
            <a:pPr>
              <a:defRPr sz="1875" b="0">
                <a:solidFill>
                  <a:srgbClr val="5F625C"/>
                </a:solidFill>
                <a:latin typeface="Arial"/>
                <a:ea typeface="Arial"/>
                <a:cs typeface="Arial"/>
              </a:defRPr>
            </a:pPr>
            <a:r>
              <a:rPr sz="1875" b="0">
                <a:solidFill>
                  <a:srgbClr val="5F625C"/>
                </a:solidFill>
                <a:latin typeface="Arial"/>
                <a:ea typeface="Arial"/>
                <a:cs typeface="Arial"/>
              </a:rPr>
              <a:t>denyut/menit</a:t>
            </a:r>
          </a:p>
        </p:txBody>
      </p:sp>
      <p:sp>
        <p:nvSpPr>
          <p:cNvPr id="6" name="">
            <a:extLst xmlns:a="http://schemas.openxmlformats.org/drawingml/2006/main">
              <a:ext uri="{FF2B5EF4-FFF2-40B4-BE49-F238E27FC236}">
                <a16:creationId xmlns:a16="http://schemas.microsoft.com/office/drawing/2014/main" id="{3C4176F2-B39C-4CE5-8D6F-996264DA0EFB}"/>
              </a:ext>
            </a:extLst>
          </p:cNvPr>
          <p:cNvSpPr>
            <a:spLocks xmlns:a="http://schemas.openxmlformats.org/drawingml/2006/main" noGrp="1"/>
          </p:cNvSpPr>
          <p:nvPr/>
        </p:nvSpPr>
        <p:spPr>
          <a:xfrm xmlns:a="http://schemas.openxmlformats.org/drawingml/2006/main">
            <a:off x="4948238" y="3614738"/>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67D54C-5BC5-45CB-9F97-F5016D1F0036}"/>
              </a:ext>
            </a:extLst>
          </p:cNvPr>
          <p:cNvSpPr>
            <a:spLocks xmlns:a="http://schemas.openxmlformats.org/drawingml/2006/main" noGrp="1"/>
          </p:cNvSpPr>
          <p:nvPr/>
        </p:nvSpPr>
        <p:spPr>
          <a:xfrm xmlns:a="http://schemas.openxmlformats.org/drawingml/2006/main">
            <a:off x="6805613" y="3614738"/>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003A3B-3FE8-4E59-B8D9-7DD7E44CB7D6}"/>
              </a:ext>
            </a:extLst>
          </p:cNvPr>
          <p:cNvSpPr>
            <a:spLocks xmlns:a="http://schemas.openxmlformats.org/drawingml/2006/main" noGrp="1"/>
          </p:cNvSpPr>
          <p:nvPr/>
        </p:nvSpPr>
        <p:spPr>
          <a:xfrm xmlns:a="http://schemas.openxmlformats.org/drawingml/2006/main">
            <a:off x="7334250" y="23336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F5D62"/>
                </a:solidFill>
                <a:latin typeface="Arial"/>
                <a:ea typeface="Arial"/>
                <a:cs typeface="Arial"/>
              </a:defRPr>
            </a:defPPr>
            <a:lvl1pPr>
              <a:defRPr sz="2250" b="0">
                <a:solidFill>
                  <a:srgbClr val="2F5D62"/>
                </a:solidFill>
                <a:latin typeface="Arial"/>
                <a:ea typeface="Arial"/>
                <a:cs typeface="Arial"/>
              </a:defRPr>
            </a:lvl1pPr>
            <a:lvl2pPr>
              <a:defRPr sz="2250" b="0">
                <a:solidFill>
                  <a:srgbClr val="2F5D62"/>
                </a:solidFill>
                <a:latin typeface="Arial"/>
                <a:ea typeface="Arial"/>
                <a:cs typeface="Arial"/>
              </a:defRPr>
            </a:lvl2pPr>
            <a:lvl3pPr>
              <a:defRPr sz="2250" b="0">
                <a:solidFill>
                  <a:srgbClr val="2F5D62"/>
                </a:solidFill>
                <a:latin typeface="Arial"/>
                <a:ea typeface="Arial"/>
                <a:cs typeface="Arial"/>
              </a:defRPr>
            </a:lvl3pPr>
            <a:lvl4pPr>
              <a:defRPr sz="2250" b="0">
                <a:solidFill>
                  <a:srgbClr val="2F5D62"/>
                </a:solidFill>
                <a:latin typeface="Arial"/>
                <a:ea typeface="Arial"/>
                <a:cs typeface="Arial"/>
              </a:defRPr>
            </a:lvl4pPr>
            <a:lvl5pPr>
              <a:defRPr sz="2250" b="0">
                <a:solidFill>
                  <a:srgbClr val="2F5D62"/>
                </a:solidFill>
                <a:latin typeface="Arial"/>
                <a:ea typeface="Arial"/>
                <a:cs typeface="Arial"/>
              </a:defRPr>
            </a:lvl5pPr>
            <a:lvl6pPr>
              <a:defRPr sz="2250" b="0">
                <a:solidFill>
                  <a:srgbClr val="2F5D62"/>
                </a:solidFill>
                <a:latin typeface="Arial"/>
                <a:ea typeface="Arial"/>
                <a:cs typeface="Arial"/>
              </a:defRPr>
            </a:lvl6pPr>
            <a:lvl7pPr>
              <a:defRPr sz="2250" b="0">
                <a:solidFill>
                  <a:srgbClr val="2F5D62"/>
                </a:solidFill>
                <a:latin typeface="Arial"/>
                <a:ea typeface="Arial"/>
                <a:cs typeface="Arial"/>
              </a:defRPr>
            </a:lvl7pPr>
            <a:lvl8pPr>
              <a:defRPr sz="2250" b="0">
                <a:solidFill>
                  <a:srgbClr val="2F5D62"/>
                </a:solidFill>
                <a:latin typeface="Arial"/>
                <a:ea typeface="Arial"/>
                <a:cs typeface="Arial"/>
              </a:defRPr>
            </a:lvl8pPr>
            <a:lvl9pPr>
              <a:defRPr sz="2250" b="0">
                <a:solidFill>
                  <a:srgbClr val="2F5D62"/>
                </a:solidFill>
                <a:latin typeface="Arial"/>
                <a:ea typeface="Arial"/>
                <a:cs typeface="Arial"/>
              </a:defRPr>
            </a:lvl9pPr>
          </a:lstStyle>
          <a:p xmlns:a="http://schemas.openxmlformats.org/drawingml/2006/main">
            <a:pPr>
              <a:defRPr sz="2250" b="0">
                <a:solidFill>
                  <a:srgbClr val="2F5D62"/>
                </a:solidFill>
                <a:latin typeface="Arial"/>
                <a:ea typeface="Arial"/>
                <a:cs typeface="Arial"/>
              </a:defRPr>
            </a:pPr>
            <a:r>
              <a:rPr sz="2250" b="0">
                <a:solidFill>
                  <a:srgbClr val="2F5D62"/>
                </a:solidFill>
                <a:latin typeface="Arial"/>
                <a:ea typeface="Arial"/>
                <a:cs typeface="Arial"/>
              </a:rPr>
              <a:t>Saat aktivitas ringan</a:t>
            </a:r>
          </a:p>
        </p:txBody>
      </p:sp>
      <p:sp>
        <p:nvSpPr>
          <p:cNvPr id="10" name="">
            <a:extLst xmlns:a="http://schemas.openxmlformats.org/drawingml/2006/main">
              <a:ext uri="{FF2B5EF4-FFF2-40B4-BE49-F238E27FC236}">
                <a16:creationId xmlns:a16="http://schemas.microsoft.com/office/drawing/2014/main" id="{812AFCBF-5157-422A-901D-778F01C64A99}"/>
              </a:ext>
            </a:extLst>
          </p:cNvPr>
          <p:cNvSpPr>
            <a:spLocks xmlns:a="http://schemas.openxmlformats.org/drawingml/2006/main" noGrp="1"/>
          </p:cNvSpPr>
          <p:nvPr/>
        </p:nvSpPr>
        <p:spPr>
          <a:xfrm xmlns:a="http://schemas.openxmlformats.org/drawingml/2006/main">
            <a:off x="7334250" y="30480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825" b="1">
                <a:solidFill>
                  <a:srgbClr val="1F1F1B"/>
                </a:solidFill>
                <a:latin typeface="Arial"/>
                <a:ea typeface="Arial"/>
                <a:cs typeface="Arial"/>
              </a:defRPr>
            </a:defPPr>
            <a:lvl1pPr>
              <a:defRPr sz="6825" b="1">
                <a:solidFill>
                  <a:srgbClr val="1F1F1B"/>
                </a:solidFill>
                <a:latin typeface="Arial"/>
                <a:ea typeface="Arial"/>
                <a:cs typeface="Arial"/>
              </a:defRPr>
            </a:lvl1pPr>
            <a:lvl2pPr>
              <a:defRPr sz="6825" b="1">
                <a:solidFill>
                  <a:srgbClr val="1F1F1B"/>
                </a:solidFill>
                <a:latin typeface="Arial"/>
                <a:ea typeface="Arial"/>
                <a:cs typeface="Arial"/>
              </a:defRPr>
            </a:lvl2pPr>
            <a:lvl3pPr>
              <a:defRPr sz="6825" b="1">
                <a:solidFill>
                  <a:srgbClr val="1F1F1B"/>
                </a:solidFill>
                <a:latin typeface="Arial"/>
                <a:ea typeface="Arial"/>
                <a:cs typeface="Arial"/>
              </a:defRPr>
            </a:lvl3pPr>
            <a:lvl4pPr>
              <a:defRPr sz="6825" b="1">
                <a:solidFill>
                  <a:srgbClr val="1F1F1B"/>
                </a:solidFill>
                <a:latin typeface="Arial"/>
                <a:ea typeface="Arial"/>
                <a:cs typeface="Arial"/>
              </a:defRPr>
            </a:lvl4pPr>
            <a:lvl5pPr>
              <a:defRPr sz="6825" b="1">
                <a:solidFill>
                  <a:srgbClr val="1F1F1B"/>
                </a:solidFill>
                <a:latin typeface="Arial"/>
                <a:ea typeface="Arial"/>
                <a:cs typeface="Arial"/>
              </a:defRPr>
            </a:lvl5pPr>
            <a:lvl6pPr>
              <a:defRPr sz="6825" b="1">
                <a:solidFill>
                  <a:srgbClr val="1F1F1B"/>
                </a:solidFill>
                <a:latin typeface="Arial"/>
                <a:ea typeface="Arial"/>
                <a:cs typeface="Arial"/>
              </a:defRPr>
            </a:lvl6pPr>
            <a:lvl7pPr>
              <a:defRPr sz="6825" b="1">
                <a:solidFill>
                  <a:srgbClr val="1F1F1B"/>
                </a:solidFill>
                <a:latin typeface="Arial"/>
                <a:ea typeface="Arial"/>
                <a:cs typeface="Arial"/>
              </a:defRPr>
            </a:lvl7pPr>
            <a:lvl8pPr>
              <a:defRPr sz="6825" b="1">
                <a:solidFill>
                  <a:srgbClr val="1F1F1B"/>
                </a:solidFill>
                <a:latin typeface="Arial"/>
                <a:ea typeface="Arial"/>
                <a:cs typeface="Arial"/>
              </a:defRPr>
            </a:lvl8pPr>
            <a:lvl9pPr>
              <a:defRPr sz="6825" b="1">
                <a:solidFill>
                  <a:srgbClr val="1F1F1B"/>
                </a:solidFill>
                <a:latin typeface="Arial"/>
                <a:ea typeface="Arial"/>
                <a:cs typeface="Arial"/>
              </a:defRPr>
            </a:lvl9pPr>
          </a:lstStyle>
          <a:p xmlns:a="http://schemas.openxmlformats.org/drawingml/2006/main">
            <a:pPr>
              <a:defRPr sz="6825" b="1">
                <a:solidFill>
                  <a:srgbClr val="1F1F1B"/>
                </a:solidFill>
                <a:latin typeface="Arial"/>
                <a:ea typeface="Arial"/>
                <a:cs typeface="Arial"/>
              </a:defRPr>
            </a:pPr>
            <a:r>
              <a:rPr sz="6825" b="1">
                <a:solidFill>
                  <a:srgbClr val="1F1F1B"/>
                </a:solidFill>
                <a:latin typeface="Arial"/>
                <a:ea typeface="Arial"/>
                <a:cs typeface="Arial"/>
              </a:rPr>
              <a:t>96</a:t>
            </a:r>
          </a:p>
        </p:txBody>
      </p:sp>
      <p:sp>
        <p:nvSpPr>
          <p:cNvPr id="11" name="">
            <a:extLst xmlns:a="http://schemas.openxmlformats.org/drawingml/2006/main">
              <a:ext uri="{FF2B5EF4-FFF2-40B4-BE49-F238E27FC236}">
                <a16:creationId xmlns:a16="http://schemas.microsoft.com/office/drawing/2014/main" id="{8009C820-549D-4E53-98DA-1F26A1EABEB2}"/>
              </a:ext>
            </a:extLst>
          </p:cNvPr>
          <p:cNvSpPr>
            <a:spLocks xmlns:a="http://schemas.openxmlformats.org/drawingml/2006/main" noGrp="1"/>
          </p:cNvSpPr>
          <p:nvPr/>
        </p:nvSpPr>
        <p:spPr>
          <a:xfrm xmlns:a="http://schemas.openxmlformats.org/drawingml/2006/main">
            <a:off x="7334250" y="41814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F625C"/>
                </a:solidFill>
                <a:latin typeface="Arial"/>
                <a:ea typeface="Arial"/>
                <a:cs typeface="Arial"/>
              </a:defRPr>
            </a:defPPr>
            <a:lvl1pPr>
              <a:defRPr sz="1875" b="0">
                <a:solidFill>
                  <a:srgbClr val="5F625C"/>
                </a:solidFill>
                <a:latin typeface="Arial"/>
                <a:ea typeface="Arial"/>
                <a:cs typeface="Arial"/>
              </a:defRPr>
            </a:lvl1pPr>
            <a:lvl2pPr>
              <a:defRPr sz="1875" b="0">
                <a:solidFill>
                  <a:srgbClr val="5F625C"/>
                </a:solidFill>
                <a:latin typeface="Arial"/>
                <a:ea typeface="Arial"/>
                <a:cs typeface="Arial"/>
              </a:defRPr>
            </a:lvl2pPr>
            <a:lvl3pPr>
              <a:defRPr sz="1875" b="0">
                <a:solidFill>
                  <a:srgbClr val="5F625C"/>
                </a:solidFill>
                <a:latin typeface="Arial"/>
                <a:ea typeface="Arial"/>
                <a:cs typeface="Arial"/>
              </a:defRPr>
            </a:lvl3pPr>
            <a:lvl4pPr>
              <a:defRPr sz="1875" b="0">
                <a:solidFill>
                  <a:srgbClr val="5F625C"/>
                </a:solidFill>
                <a:latin typeface="Arial"/>
                <a:ea typeface="Arial"/>
                <a:cs typeface="Arial"/>
              </a:defRPr>
            </a:lvl4pPr>
            <a:lvl5pPr>
              <a:defRPr sz="1875" b="0">
                <a:solidFill>
                  <a:srgbClr val="5F625C"/>
                </a:solidFill>
                <a:latin typeface="Arial"/>
                <a:ea typeface="Arial"/>
                <a:cs typeface="Arial"/>
              </a:defRPr>
            </a:lvl5pPr>
            <a:lvl6pPr>
              <a:defRPr sz="1875" b="0">
                <a:solidFill>
                  <a:srgbClr val="5F625C"/>
                </a:solidFill>
                <a:latin typeface="Arial"/>
                <a:ea typeface="Arial"/>
                <a:cs typeface="Arial"/>
              </a:defRPr>
            </a:lvl6pPr>
            <a:lvl7pPr>
              <a:defRPr sz="1875" b="0">
                <a:solidFill>
                  <a:srgbClr val="5F625C"/>
                </a:solidFill>
                <a:latin typeface="Arial"/>
                <a:ea typeface="Arial"/>
                <a:cs typeface="Arial"/>
              </a:defRPr>
            </a:lvl7pPr>
            <a:lvl8pPr>
              <a:defRPr sz="1875" b="0">
                <a:solidFill>
                  <a:srgbClr val="5F625C"/>
                </a:solidFill>
                <a:latin typeface="Arial"/>
                <a:ea typeface="Arial"/>
                <a:cs typeface="Arial"/>
              </a:defRPr>
            </a:lvl8pPr>
            <a:lvl9pPr>
              <a:defRPr sz="1875" b="0">
                <a:solidFill>
                  <a:srgbClr val="5F625C"/>
                </a:solidFill>
                <a:latin typeface="Arial"/>
                <a:ea typeface="Arial"/>
                <a:cs typeface="Arial"/>
              </a:defRPr>
            </a:lvl9pPr>
          </a:lstStyle>
          <a:p xmlns:a="http://schemas.openxmlformats.org/drawingml/2006/main">
            <a:pPr>
              <a:defRPr sz="1875" b="0">
                <a:solidFill>
                  <a:srgbClr val="5F625C"/>
                </a:solidFill>
                <a:latin typeface="Arial"/>
                <a:ea typeface="Arial"/>
                <a:cs typeface="Arial"/>
              </a:defRPr>
            </a:pPr>
            <a:r>
              <a:rPr sz="1875" b="0">
                <a:solidFill>
                  <a:srgbClr val="5F625C"/>
                </a:solidFill>
                <a:latin typeface="Arial"/>
                <a:ea typeface="Arial"/>
                <a:cs typeface="Arial"/>
              </a:rPr>
              <a:t>denyut/menit</a:t>
            </a:r>
          </a:p>
        </p:txBody>
      </p:sp>
      <p:sp>
        <p:nvSpPr>
          <p:cNvPr id="12" name="">
            <a:extLst xmlns:a="http://schemas.openxmlformats.org/drawingml/2006/main">
              <a:ext uri="{FF2B5EF4-FFF2-40B4-BE49-F238E27FC236}">
                <a16:creationId xmlns:a16="http://schemas.microsoft.com/office/drawing/2014/main" id="{27B93CAA-A9A8-4A21-8687-0D82E667F947}"/>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Selisih = 24 denyut/menit. Angka simulasi ini belum menjelaskan penyebabnya.</a:t>
            </a:r>
          </a:p>
        </p:txBody>
      </p:sp>
      <p:sp>
        <p:nvSpPr>
          <p:cNvPr id="13" name="">
            <a:extLst xmlns:a="http://schemas.openxmlformats.org/drawingml/2006/main">
              <a:ext uri="{FF2B5EF4-FFF2-40B4-BE49-F238E27FC236}">
                <a16:creationId xmlns:a16="http://schemas.microsoft.com/office/drawing/2014/main" id="{BD7F6159-BEFE-424D-ABEA-B9C4DFBC072B}"/>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14" name="">
            <a:extLst xmlns:a="http://schemas.openxmlformats.org/drawingml/2006/main">
              <a:ext uri="{FF2B5EF4-FFF2-40B4-BE49-F238E27FC236}">
                <a16:creationId xmlns:a16="http://schemas.microsoft.com/office/drawing/2014/main" id="{47D9797A-9B37-464B-9E6F-BC09821CDFB7}"/>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10 / 26</a:t>
            </a:r>
          </a:p>
        </p:txBody>
      </p:sp>
    </p:spTree>
    <p:extLst>
      <p:ext uri="{BB962C8B-B14F-4D97-AF65-F5344CB8AC3E}">
        <p14:creationId xmlns:p14="http://schemas.microsoft.com/office/powerpoint/2010/main" val="476086610"/>
      </p:ext>
    </p:extLst>
  </p:cSld>
</p:sld>
</file>

<file path=ppt/slides/slide1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77B5BB-C29D-4D7A-BB17-36967FAC350A}"/>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C381DC89-D9F3-40A5-8D84-E8B17A8958A6}"/>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Skala persepsi usaha</a:t>
            </a:r>
          </a:p>
        </p:txBody>
      </p:sp>
      <p:graphicFrame>
        <p:nvGraphicFramePr>
          <p:cNvPr id="3" name="">
            <a:extLst xmlns:a="http://schemas.openxmlformats.org/drawingml/2006/main">
              <a:ext uri="{FF2B5EF4-FFF2-40B4-BE49-F238E27FC236}">
                <a16:creationId xmlns:a16="http://schemas.microsoft.com/office/drawing/2014/main" id="{AEC35105-6E56-4FFB-A8F4-EA4A7CDE18C8}"/>
              </a:ext>
            </a:extLst>
          </p:cNvPr>
          <p:cNvGraphicFramePr/>
          <p:nvPr/>
        </p:nvGraphicFramePr>
        <p:xfrm>
          <a:off xmlns:a="http://schemas.openxmlformats.org/drawingml/2006/main" x="762000" y="2114550"/>
          <a:ext xmlns:a="http://schemas.openxmlformats.org/drawingml/2006/main" cx="10668000" cy="2743200"/>
        </p:xfrm>
        <a:graphic xmlns:a="http://schemas.openxmlformats.org/drawingml/2006/main">
          <a:graphicData uri="http://schemas.openxmlformats.org/drawingml/2006/table">
            <a:tbl>
              <a:tblPr/>
              <a:tblGrid>
                <a:gridCol w="2857500"/>
                <a:gridCol w="7810500"/>
              </a:tblGrid>
              <a:tr h="685800">
                <a:tc>
                  <a:txBody>
                    <a:bodyPr/>
                    <a:lstStyle/>
                    <a:p>
                      <a:r>
                        <a:rPr sz="1875" b="1">
                          <a:solidFill>
                            <a:srgbClr val="2F5D62"/>
                          </a:solidFill>
                          <a:latin typeface="Arial"/>
                          <a:ea typeface="Arial"/>
                          <a:cs typeface="Arial"/>
                        </a:rPr>
                        <a:t>Skala</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75" b="1">
                          <a:solidFill>
                            <a:srgbClr val="2F5D62"/>
                          </a:solidFill>
                          <a:latin typeface="Arial"/>
                          <a:ea typeface="Arial"/>
                          <a:cs typeface="Arial"/>
                        </a:rPr>
                        <a:t>Penggunaan yang tepat</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75" b="0">
                          <a:solidFill>
                            <a:srgbClr val="1F1F1B"/>
                          </a:solidFill>
                          <a:latin typeface="Arial"/>
                          <a:ea typeface="Arial"/>
                          <a:cs typeface="Arial"/>
                        </a:rPr>
                        <a:t>Borg RPE 6–20</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Gunakan instruksi skala aslinya secara konsisten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Borg CR10</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Skala tersendiri dengan instruksi dan jangkar khusus</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Skala usaha umum 0–10</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Dapat dipakai untuk refleksi kelas, dengan jangkar dijelaskan</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C4E2BA60-F199-4052-9558-8EF668CDCE0C}"/>
              </a:ext>
            </a:extLst>
          </p:cNvPr>
          <p:cNvSpPr>
            <a:spLocks xmlns:a="http://schemas.openxmlformats.org/drawingml/2006/main" noGrp="1"/>
          </p:cNvSpPr>
          <p:nvPr/>
        </p:nvSpPr>
        <p:spPr>
          <a:xfrm xmlns:a="http://schemas.openxmlformats.org/drawingml/2006/main">
            <a:off x="762000" y="589597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Borg Perception · Studi RPE dan denyut pada tugas kerja simulasi · sumber pada catatan</a:t>
            </a:r>
          </a:p>
        </p:txBody>
      </p:sp>
      <p:sp>
        <p:nvSpPr>
          <p:cNvPr id="5" name="">
            <a:extLst xmlns:a="http://schemas.openxmlformats.org/drawingml/2006/main">
              <a:ext uri="{FF2B5EF4-FFF2-40B4-BE49-F238E27FC236}">
                <a16:creationId xmlns:a16="http://schemas.microsoft.com/office/drawing/2014/main" id="{5FF49EC7-E557-4C3D-A212-465485664335}"/>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D2196F61-16AC-4CBE-9DBF-9D81217B29C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11 / 26</a:t>
            </a:r>
          </a:p>
        </p:txBody>
      </p:sp>
    </p:spTree>
    <p:extLst>
      <p:ext uri="{BB962C8B-B14F-4D97-AF65-F5344CB8AC3E}">
        <p14:creationId xmlns:p14="http://schemas.microsoft.com/office/powerpoint/2010/main" val="904207686"/>
      </p:ext>
    </p:extLst>
  </p:cSld>
</p:sld>
</file>

<file path=ppt/slides/slide1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4C56A1-7652-4133-B69C-908BF128352B}"/>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94244B26-00A6-4869-A537-57F57861A222}"/>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Talk test</a:t>
            </a:r>
          </a:p>
        </p:txBody>
      </p:sp>
      <p:sp>
        <p:nvSpPr>
          <p:cNvPr id="3" name="">
            <a:extLst xmlns:a="http://schemas.openxmlformats.org/drawingml/2006/main">
              <a:ext uri="{FF2B5EF4-FFF2-40B4-BE49-F238E27FC236}">
                <a16:creationId xmlns:a16="http://schemas.microsoft.com/office/drawing/2014/main" id="{9E35E89D-D2B3-412B-8E21-DB4B689D0EEF}"/>
              </a:ext>
            </a:extLst>
          </p:cNvPr>
          <p:cNvSpPr>
            <a:spLocks xmlns:a="http://schemas.openxmlformats.org/drawingml/2006/main" noGrp="1"/>
          </p:cNvSpPr>
          <p:nvPr/>
        </p:nvSpPr>
        <p:spPr>
          <a:xfrm xmlns:a="http://schemas.openxmlformats.org/drawingml/2006/main">
            <a:off x="762000" y="2333625"/>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Pada intensitas sedang, orang umumnya masih dapat berbicara, tetapi sulit bernyanyi.</a:t>
            </a:r>
          </a:p>
        </p:txBody>
      </p:sp>
      <p:sp>
        <p:nvSpPr>
          <p:cNvPr id="4" name="">
            <a:extLst xmlns:a="http://schemas.openxmlformats.org/drawingml/2006/main">
              <a:ext uri="{FF2B5EF4-FFF2-40B4-BE49-F238E27FC236}">
                <a16:creationId xmlns:a16="http://schemas.microsoft.com/office/drawing/2014/main" id="{F1541E8C-C6F3-48D3-B5D8-D825752988FA}"/>
              </a:ext>
            </a:extLst>
          </p:cNvPr>
          <p:cNvSpPr>
            <a:spLocks xmlns:a="http://schemas.openxmlformats.org/drawingml/2006/main" noGrp="1"/>
          </p:cNvSpPr>
          <p:nvPr/>
        </p:nvSpPr>
        <p:spPr>
          <a:xfrm xmlns:a="http://schemas.openxmlformats.org/drawingml/2006/main">
            <a:off x="762000" y="3457575"/>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Pada intensitas berat, orang umumnya hanya dapat mengucapkan beberapa kata sebelum mengambil napas.</a:t>
            </a:r>
          </a:p>
        </p:txBody>
      </p:sp>
      <p:sp>
        <p:nvSpPr>
          <p:cNvPr id="5" name="">
            <a:extLst xmlns:a="http://schemas.openxmlformats.org/drawingml/2006/main">
              <a:ext uri="{FF2B5EF4-FFF2-40B4-BE49-F238E27FC236}">
                <a16:creationId xmlns:a16="http://schemas.microsoft.com/office/drawing/2014/main" id="{3405C57F-7FD3-4F26-BC66-8CA5F65E14CB}"/>
              </a:ext>
            </a:extLst>
          </p:cNvPr>
          <p:cNvSpPr>
            <a:spLocks xmlns:a="http://schemas.openxmlformats.org/drawingml/2006/main" noGrp="1"/>
          </p:cNvSpPr>
          <p:nvPr/>
        </p:nvSpPr>
        <p:spPr>
          <a:xfrm xmlns:a="http://schemas.openxmlformats.org/drawingml/2006/main">
            <a:off x="762000" y="589597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sumber pada catatan</a:t>
            </a:r>
          </a:p>
        </p:txBody>
      </p:sp>
      <p:sp>
        <p:nvSpPr>
          <p:cNvPr id="6" name="">
            <a:extLst xmlns:a="http://schemas.openxmlformats.org/drawingml/2006/main">
              <a:ext uri="{FF2B5EF4-FFF2-40B4-BE49-F238E27FC236}">
                <a16:creationId xmlns:a16="http://schemas.microsoft.com/office/drawing/2014/main" id="{9B6E0D62-2975-41EF-A7EB-9AC01B3E7EC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D3BEA2BA-DE88-462F-A30F-74967FA367D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12 / 26</a:t>
            </a:r>
          </a:p>
        </p:txBody>
      </p:sp>
    </p:spTree>
    <p:extLst>
      <p:ext uri="{BB962C8B-B14F-4D97-AF65-F5344CB8AC3E}">
        <p14:creationId xmlns:p14="http://schemas.microsoft.com/office/powerpoint/2010/main" val="2087293866"/>
      </p:ext>
    </p:extLst>
  </p:cSld>
</p:sld>
</file>

<file path=ppt/slides/slide1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E0C476-45D7-4774-90BA-E13E04A07D09}"/>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72679384-5D63-48F3-AD28-03A702BBD6D1}"/>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Observasi gerak ringan</a:t>
            </a:r>
          </a:p>
        </p:txBody>
      </p:sp>
      <p:sp>
        <p:nvSpPr>
          <p:cNvPr id="3" name="">
            <a:extLst xmlns:a="http://schemas.openxmlformats.org/drawingml/2006/main">
              <a:ext uri="{FF2B5EF4-FFF2-40B4-BE49-F238E27FC236}">
                <a16:creationId xmlns:a16="http://schemas.microsoft.com/office/drawing/2014/main" id="{E0A4EDF4-558C-43D8-AEC5-0754D72B1CB3}"/>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Jalan santai di tempat selama sekitar satu menit, bila nyaman.</a:t>
            </a:r>
          </a:p>
        </p:txBody>
      </p:sp>
      <p:sp>
        <p:nvSpPr>
          <p:cNvPr id="4" name="">
            <a:extLst xmlns:a="http://schemas.openxmlformats.org/drawingml/2006/main">
              <a:ext uri="{FF2B5EF4-FFF2-40B4-BE49-F238E27FC236}">
                <a16:creationId xmlns:a16="http://schemas.microsoft.com/office/drawing/2014/main" id="{06ADE071-A9FF-4B9F-B7B9-5AAD19FF1B23}"/>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Amati perubahan napas dan persepsi usaha sebelum serta sesudahnya.</a:t>
            </a:r>
          </a:p>
        </p:txBody>
      </p:sp>
      <p:sp>
        <p:nvSpPr>
          <p:cNvPr id="5" name="">
            <a:extLst xmlns:a="http://schemas.openxmlformats.org/drawingml/2006/main">
              <a:ext uri="{FF2B5EF4-FFF2-40B4-BE49-F238E27FC236}">
                <a16:creationId xmlns:a16="http://schemas.microsoft.com/office/drawing/2014/main" id="{42BA83F0-8FBC-45B8-A168-71358925C387}"/>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Berhenti bila muncul keluhan. Peran pengamat memiliki nilai belajar setara.</a:t>
            </a:r>
          </a:p>
        </p:txBody>
      </p:sp>
      <p:sp>
        <p:nvSpPr>
          <p:cNvPr id="6" name="">
            <a:extLst xmlns:a="http://schemas.openxmlformats.org/drawingml/2006/main">
              <a:ext uri="{FF2B5EF4-FFF2-40B4-BE49-F238E27FC236}">
                <a16:creationId xmlns:a16="http://schemas.microsoft.com/office/drawing/2014/main" id="{D3FE7043-DA71-4088-8CD3-B7CA80CC7748}"/>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7527BD07-2B65-414B-9111-2003B7F5ABC0}"/>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13 / 26</a:t>
            </a:r>
          </a:p>
        </p:txBody>
      </p:sp>
    </p:spTree>
    <p:extLst>
      <p:ext uri="{BB962C8B-B14F-4D97-AF65-F5344CB8AC3E}">
        <p14:creationId xmlns:p14="http://schemas.microsoft.com/office/powerpoint/2010/main" val="225072521"/>
      </p:ext>
    </p:extLst>
  </p:cSld>
</p:sld>
</file>

<file path=ppt/slides/slide1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83CFEC-430C-44C8-80EC-A892D1DDE46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C388D814-666A-43C8-90AE-1C451B4A0E87}"/>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Refleksi pengamatan</a:t>
            </a:r>
          </a:p>
        </p:txBody>
      </p:sp>
      <p:sp>
        <p:nvSpPr>
          <p:cNvPr id="3" name="">
            <a:extLst xmlns:a="http://schemas.openxmlformats.org/drawingml/2006/main">
              <a:ext uri="{FF2B5EF4-FFF2-40B4-BE49-F238E27FC236}">
                <a16:creationId xmlns:a16="http://schemas.microsoft.com/office/drawing/2014/main" id="{8EE12C76-091D-4C7F-8F1E-151A00E2F673}"/>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Apa yang berubah, dan apa yang tetap?</a:t>
            </a:r>
          </a:p>
        </p:txBody>
      </p:sp>
      <p:sp>
        <p:nvSpPr>
          <p:cNvPr id="4" name="">
            <a:extLst xmlns:a="http://schemas.openxmlformats.org/drawingml/2006/main">
              <a:ext uri="{FF2B5EF4-FFF2-40B4-BE49-F238E27FC236}">
                <a16:creationId xmlns:a16="http://schemas.microsoft.com/office/drawing/2014/main" id="{EC67DDD6-D108-44CC-895B-26A832387BFF}"/>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Faktor apa yang membuat perbandingan antarorang kurang tepat?</a:t>
            </a:r>
          </a:p>
        </p:txBody>
      </p:sp>
      <p:sp>
        <p:nvSpPr>
          <p:cNvPr id="5" name="">
            <a:extLst xmlns:a="http://schemas.openxmlformats.org/drawingml/2006/main">
              <a:ext uri="{FF2B5EF4-FFF2-40B4-BE49-F238E27FC236}">
                <a16:creationId xmlns:a16="http://schemas.microsoft.com/office/drawing/2014/main" id="{6A4C21E7-0812-47F6-A5A9-CEFB1CF48DFC}"/>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Bagaimana informasi ini membantu merancang tugas lapangan?</a:t>
            </a:r>
          </a:p>
        </p:txBody>
      </p:sp>
      <p:sp>
        <p:nvSpPr>
          <p:cNvPr id="6" name="">
            <a:extLst xmlns:a="http://schemas.openxmlformats.org/drawingml/2006/main">
              <a:ext uri="{FF2B5EF4-FFF2-40B4-BE49-F238E27FC236}">
                <a16:creationId xmlns:a16="http://schemas.microsoft.com/office/drawing/2014/main" id="{023220E0-1B93-4190-88AF-51A93F4193CB}"/>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1ED86320-CC37-41A3-8D46-15E0CEDE8135}"/>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14 / 26</a:t>
            </a:r>
          </a:p>
        </p:txBody>
      </p:sp>
    </p:spTree>
    <p:extLst>
      <p:ext uri="{BB962C8B-B14F-4D97-AF65-F5344CB8AC3E}">
        <p14:creationId xmlns:p14="http://schemas.microsoft.com/office/powerpoint/2010/main" val="151648496"/>
      </p:ext>
    </p:extLst>
  </p:cSld>
</p:sld>
</file>

<file path=ppt/slides/slide1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67310A6A-B787-4C86-A645-6F9C08732E78}"/>
              </a:ext>
            </a:extLst>
          </p:cNvPr>
          <p:cNvCxnSpPr>
            <a:stCxn xmlns:a="http://schemas.openxmlformats.org/drawingml/2006/main" id="33" idx="1"/>
            <a:endCxn xmlns:a="http://schemas.openxmlformats.org/drawingml/2006/main" id="34" idx="3"/>
          </p:cNvCxnSpPr>
          <p:nvPr/>
        </p:nvCxnSpPr>
        <p:spPr>
          <a:xfrm xmlns:a="http://schemas.openxmlformats.org/drawingml/2006/main" flipH="1" flipV="1">
            <a:off x="7672388" y="3952876"/>
            <a:ext cx="895350" cy="809625"/>
          </a:xfrm>
          <a:prstGeom xmlns:a="http://schemas.openxmlformats.org/drawingml/2006/main" prst="straightConnector1">
            <a:avLst/>
          </a:prstGeom>
          <a:ln xmlns:a="http://schemas.openxmlformats.org/drawingml/2006/main" w="28575">
            <a:solidFill>
              <a:srgbClr val="2F5D62"/>
            </a:solidFill>
            <a:tailEnd type="none" w="med" len="med"/>
          </a:ln>
        </p:spPr>
      </p:cxnSp>
      <p:cxnSp>
        <p:nvCxnSpPr>
          <p:cNvPr id="32" name="">
            <a:extLst xmlns:a="http://schemas.openxmlformats.org/drawingml/2006/main">
              <a:ext uri="{FF2B5EF4-FFF2-40B4-BE49-F238E27FC236}">
                <a16:creationId xmlns:a16="http://schemas.microsoft.com/office/drawing/2014/main" id="{2B67A243-38F4-4E7F-A93C-2E8E85B4EFD0}"/>
              </a:ext>
            </a:extLst>
          </p:cNvPr>
          <p:cNvCxnSpPr>
            <a:stCxn xmlns:a="http://schemas.openxmlformats.org/drawingml/2006/main" id="30" idx="2"/>
            <a:endCxn xmlns:a="http://schemas.openxmlformats.org/drawingml/2006/main" id="31" idx="0"/>
          </p:cNvCxnSpPr>
          <p:nvPr/>
        </p:nvCxnSpPr>
        <p:spPr>
          <a:xfrm xmlns:a="http://schemas.openxmlformats.org/drawingml/2006/main">
            <a:off x="6096001" y="4252913"/>
            <a:ext cx="0" cy="76200"/>
          </a:xfrm>
          <a:prstGeom xmlns:a="http://schemas.openxmlformats.org/drawingml/2006/main" prst="straightConnector1">
            <a:avLst/>
          </a:prstGeom>
          <a:ln xmlns:a="http://schemas.openxmlformats.org/drawingml/2006/main" w="28575">
            <a:solidFill>
              <a:srgbClr val="2F5D62"/>
            </a:solidFill>
            <a:tailEnd type="none" w="med" len="med"/>
          </a:ln>
        </p:spPr>
      </p:cxnSp>
      <p:cxnSp>
        <p:nvCxnSpPr>
          <p:cNvPr id="29" name="">
            <a:extLst xmlns:a="http://schemas.openxmlformats.org/drawingml/2006/main">
              <a:ext uri="{FF2B5EF4-FFF2-40B4-BE49-F238E27FC236}">
                <a16:creationId xmlns:a16="http://schemas.microsoft.com/office/drawing/2014/main" id="{1047AB3F-C847-4E0C-BF7C-740D43DD12A2}"/>
              </a:ext>
            </a:extLst>
          </p:cNvPr>
          <p:cNvCxnSpPr>
            <a:stCxn xmlns:a="http://schemas.openxmlformats.org/drawingml/2006/main" id="27" idx="3"/>
            <a:endCxn xmlns:a="http://schemas.openxmlformats.org/drawingml/2006/main" id="28" idx="1"/>
          </p:cNvCxnSpPr>
          <p:nvPr/>
        </p:nvCxnSpPr>
        <p:spPr>
          <a:xfrm xmlns:a="http://schemas.openxmlformats.org/drawingml/2006/main" flipV="1">
            <a:off x="3624263" y="3952876"/>
            <a:ext cx="895350" cy="809625"/>
          </a:xfrm>
          <a:prstGeom xmlns:a="http://schemas.openxmlformats.org/drawingml/2006/main" prst="straightConnector1">
            <a:avLst/>
          </a:prstGeom>
          <a:ln xmlns:a="http://schemas.openxmlformats.org/drawingml/2006/main" w="28575">
            <a:solidFill>
              <a:srgbClr val="2F5D62"/>
            </a:solidFill>
            <a:tailEnd type="none" w="med" len="med"/>
          </a:ln>
        </p:spPr>
      </p:cxnSp>
      <p:cxnSp>
        <p:nvCxnSpPr>
          <p:cNvPr id="26" name="">
            <a:extLst xmlns:a="http://schemas.openxmlformats.org/drawingml/2006/main">
              <a:ext uri="{FF2B5EF4-FFF2-40B4-BE49-F238E27FC236}">
                <a16:creationId xmlns:a16="http://schemas.microsoft.com/office/drawing/2014/main" id="{D5BC0849-0C79-4D75-AA40-ED2E66CC0E55}"/>
              </a:ext>
            </a:extLst>
          </p:cNvPr>
          <p:cNvCxnSpPr>
            <a:stCxn xmlns:a="http://schemas.openxmlformats.org/drawingml/2006/main" id="24" idx="1"/>
            <a:endCxn xmlns:a="http://schemas.openxmlformats.org/drawingml/2006/main" id="25" idx="3"/>
          </p:cNvCxnSpPr>
          <p:nvPr/>
        </p:nvCxnSpPr>
        <p:spPr>
          <a:xfrm xmlns:a="http://schemas.openxmlformats.org/drawingml/2006/main" flipH="1">
            <a:off x="7672388" y="2619376"/>
            <a:ext cx="895350" cy="904875"/>
          </a:xfrm>
          <a:prstGeom xmlns:a="http://schemas.openxmlformats.org/drawingml/2006/main" prst="straightConnector1">
            <a:avLst/>
          </a:prstGeom>
          <a:ln xmlns:a="http://schemas.openxmlformats.org/drawingml/2006/main" w="28575">
            <a:solidFill>
              <a:srgbClr val="2F5D62"/>
            </a:solidFill>
            <a:tailEnd type="none" w="med" len="med"/>
          </a:ln>
        </p:spPr>
      </p:cxnSp>
      <p:cxnSp>
        <p:nvCxnSpPr>
          <p:cNvPr id="23" name="">
            <a:extLst xmlns:a="http://schemas.openxmlformats.org/drawingml/2006/main">
              <a:ext uri="{FF2B5EF4-FFF2-40B4-BE49-F238E27FC236}">
                <a16:creationId xmlns:a16="http://schemas.microsoft.com/office/drawing/2014/main" id="{0DA56185-887E-4C82-B558-FBFE1162B554}"/>
              </a:ext>
            </a:extLst>
          </p:cNvPr>
          <p:cNvCxnSpPr>
            <a:stCxn xmlns:a="http://schemas.openxmlformats.org/drawingml/2006/main" id="21" idx="2"/>
            <a:endCxn xmlns:a="http://schemas.openxmlformats.org/drawingml/2006/main" id="22" idx="0"/>
          </p:cNvCxnSpPr>
          <p:nvPr/>
        </p:nvCxnSpPr>
        <p:spPr>
          <a:xfrm xmlns:a="http://schemas.openxmlformats.org/drawingml/2006/main">
            <a:off x="6096001" y="2909888"/>
            <a:ext cx="0" cy="304800"/>
          </a:xfrm>
          <a:prstGeom xmlns:a="http://schemas.openxmlformats.org/drawingml/2006/main" prst="straightConnector1">
            <a:avLst/>
          </a:prstGeom>
          <a:ln xmlns:a="http://schemas.openxmlformats.org/drawingml/2006/main" w="28575">
            <a:solidFill>
              <a:srgbClr val="2F5D62"/>
            </a:solidFill>
            <a:tailEnd type="none" w="med" len="med"/>
          </a:ln>
        </p:spPr>
      </p:cxnSp>
      <p:cxnSp>
        <p:nvCxnSpPr>
          <p:cNvPr id="20" name="">
            <a:extLst xmlns:a="http://schemas.openxmlformats.org/drawingml/2006/main">
              <a:ext uri="{FF2B5EF4-FFF2-40B4-BE49-F238E27FC236}">
                <a16:creationId xmlns:a16="http://schemas.microsoft.com/office/drawing/2014/main" id="{79A86DEB-E935-49CF-A202-9A1C433CC12E}"/>
              </a:ext>
            </a:extLst>
          </p:cNvPr>
          <p:cNvCxnSpPr>
            <a:stCxn xmlns:a="http://schemas.openxmlformats.org/drawingml/2006/main" id="18" idx="3"/>
            <a:endCxn xmlns:a="http://schemas.openxmlformats.org/drawingml/2006/main" id="19" idx="1"/>
          </p:cNvCxnSpPr>
          <p:nvPr/>
        </p:nvCxnSpPr>
        <p:spPr>
          <a:xfrm xmlns:a="http://schemas.openxmlformats.org/drawingml/2006/main">
            <a:off x="3624263" y="2619376"/>
            <a:ext cx="895350" cy="904875"/>
          </a:xfrm>
          <a:prstGeom xmlns:a="http://schemas.openxmlformats.org/drawingml/2006/main" prst="straightConnector1">
            <a:avLst/>
          </a:prstGeom>
          <a:ln xmlns:a="http://schemas.openxmlformats.org/drawingml/2006/main" w="28575">
            <a:solidFill>
              <a:srgbClr val="2F5D62"/>
            </a:solidFill>
            <a:tailEnd type="none" w="med" len="med"/>
          </a:ln>
        </p:spPr>
      </p:cxnSp>
      <p:sp>
        <p:nvSpPr>
          <p:cNvPr id="40" name="">
            <a:extLst xmlns:a="http://schemas.openxmlformats.org/drawingml/2006/main">
              <a:ext uri="{FF2B5EF4-FFF2-40B4-BE49-F238E27FC236}">
                <a16:creationId xmlns:a16="http://schemas.microsoft.com/office/drawing/2014/main" id="{936A1D09-37F1-4133-8DB4-A5AC4BE5B924}"/>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762E7C17-5BC8-447B-892C-9E7F06C8F72E}"/>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Beban tugas juga memerlukan perhatian</a:t>
            </a:r>
          </a:p>
        </p:txBody>
      </p:sp>
      <p:sp>
        <p:nvSpPr>
          <p:cNvPr id="3" name="">
            <a:extLst xmlns:a="http://schemas.openxmlformats.org/drawingml/2006/main">
              <a:ext uri="{FF2B5EF4-FFF2-40B4-BE49-F238E27FC236}">
                <a16:creationId xmlns:a16="http://schemas.microsoft.com/office/drawing/2014/main" id="{35CE7A3E-B48B-41F4-9ACD-214ED5DE8245}"/>
              </a:ext>
            </a:extLst>
          </p:cNvPr>
          <p:cNvSpPr>
            <a:spLocks xmlns:a="http://schemas.openxmlformats.org/drawingml/2006/main" noGrp="1"/>
          </p:cNvSpPr>
          <p:nvPr/>
        </p:nvSpPr>
        <p:spPr>
          <a:xfrm xmlns:a="http://schemas.openxmlformats.org/drawingml/2006/main">
            <a:off x="4524375" y="3219450"/>
            <a:ext cx="3143250" cy="1028700"/>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4" name="">
            <a:extLst xmlns:a="http://schemas.openxmlformats.org/drawingml/2006/main">
              <a:ext uri="{FF2B5EF4-FFF2-40B4-BE49-F238E27FC236}">
                <a16:creationId xmlns:a16="http://schemas.microsoft.com/office/drawing/2014/main" id="{536C5B7F-92AD-4AFB-ACE8-5E2D0E250E49}"/>
              </a:ext>
            </a:extLst>
          </p:cNvPr>
          <p:cNvSpPr>
            <a:spLocks xmlns:a="http://schemas.openxmlformats.org/drawingml/2006/main" noGrp="1"/>
          </p:cNvSpPr>
          <p:nvPr/>
        </p:nvSpPr>
        <p:spPr>
          <a:xfrm xmlns:a="http://schemas.openxmlformats.org/drawingml/2006/main">
            <a:off x="4695825" y="335280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Beban tugas</a:t>
            </a:r>
          </a:p>
        </p:txBody>
      </p:sp>
      <p:sp>
        <p:nvSpPr>
          <p:cNvPr id="5" name="">
            <a:extLst xmlns:a="http://schemas.openxmlformats.org/drawingml/2006/main">
              <a:ext uri="{FF2B5EF4-FFF2-40B4-BE49-F238E27FC236}">
                <a16:creationId xmlns:a16="http://schemas.microsoft.com/office/drawing/2014/main" id="{9F1AAED7-1150-4DBF-8A7A-40B794A183C7}"/>
              </a:ext>
            </a:extLst>
          </p:cNvPr>
          <p:cNvSpPr>
            <a:spLocks xmlns:a="http://schemas.openxmlformats.org/drawingml/2006/main" noGrp="1"/>
          </p:cNvSpPr>
          <p:nvPr/>
        </p:nvSpPr>
        <p:spPr>
          <a:xfrm xmlns:a="http://schemas.openxmlformats.org/drawingml/2006/main">
            <a:off x="4695825" y="38004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NASA-TLX</a:t>
            </a:r>
          </a:p>
        </p:txBody>
      </p:sp>
      <p:sp>
        <p:nvSpPr>
          <p:cNvPr id="6" name="">
            <a:extLst xmlns:a="http://schemas.openxmlformats.org/drawingml/2006/main">
              <a:ext uri="{FF2B5EF4-FFF2-40B4-BE49-F238E27FC236}">
                <a16:creationId xmlns:a16="http://schemas.microsoft.com/office/drawing/2014/main" id="{E86D03FC-1CAF-413E-A79E-C770C6670A2A}"/>
              </a:ext>
            </a:extLst>
          </p:cNvPr>
          <p:cNvSpPr>
            <a:spLocks xmlns:a="http://schemas.openxmlformats.org/drawingml/2006/main" noGrp="1"/>
          </p:cNvSpPr>
          <p:nvPr/>
        </p:nvSpPr>
        <p:spPr>
          <a:xfrm xmlns:a="http://schemas.openxmlformats.org/drawingml/2006/main">
            <a:off x="762000" y="2143125"/>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7" name="">
            <a:extLst xmlns:a="http://schemas.openxmlformats.org/drawingml/2006/main">
              <a:ext uri="{FF2B5EF4-FFF2-40B4-BE49-F238E27FC236}">
                <a16:creationId xmlns:a16="http://schemas.microsoft.com/office/drawing/2014/main" id="{FB73C507-4149-4123-80DB-E4158A7D32C6}"/>
              </a:ext>
            </a:extLst>
          </p:cNvPr>
          <p:cNvSpPr>
            <a:spLocks xmlns:a="http://schemas.openxmlformats.org/drawingml/2006/main" noGrp="1"/>
          </p:cNvSpPr>
          <p:nvPr/>
        </p:nvSpPr>
        <p:spPr>
          <a:xfrm xmlns:a="http://schemas.openxmlformats.org/drawingml/2006/main">
            <a:off x="933450" y="227647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Mental</a:t>
            </a:r>
          </a:p>
        </p:txBody>
      </p:sp>
      <p:sp>
        <p:nvSpPr>
          <p:cNvPr id="8" name="">
            <a:extLst xmlns:a="http://schemas.openxmlformats.org/drawingml/2006/main">
              <a:ext uri="{FF2B5EF4-FFF2-40B4-BE49-F238E27FC236}">
                <a16:creationId xmlns:a16="http://schemas.microsoft.com/office/drawing/2014/main" id="{B20FE3AF-C8DF-4023-B397-D6B309C1266A}"/>
              </a:ext>
            </a:extLst>
          </p:cNvPr>
          <p:cNvSpPr>
            <a:spLocks xmlns:a="http://schemas.openxmlformats.org/drawingml/2006/main" noGrp="1"/>
          </p:cNvSpPr>
          <p:nvPr/>
        </p:nvSpPr>
        <p:spPr>
          <a:xfrm xmlns:a="http://schemas.openxmlformats.org/drawingml/2006/main">
            <a:off x="4667250" y="2000250"/>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9" name="">
            <a:extLst xmlns:a="http://schemas.openxmlformats.org/drawingml/2006/main">
              <a:ext uri="{FF2B5EF4-FFF2-40B4-BE49-F238E27FC236}">
                <a16:creationId xmlns:a16="http://schemas.microsoft.com/office/drawing/2014/main" id="{DF5B76F4-F8C8-4920-AE1B-EAA63EF46E99}"/>
              </a:ext>
            </a:extLst>
          </p:cNvPr>
          <p:cNvSpPr>
            <a:spLocks xmlns:a="http://schemas.openxmlformats.org/drawingml/2006/main" noGrp="1"/>
          </p:cNvSpPr>
          <p:nvPr/>
        </p:nvSpPr>
        <p:spPr>
          <a:xfrm xmlns:a="http://schemas.openxmlformats.org/drawingml/2006/main">
            <a:off x="4838700" y="213360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Fisik</a:t>
            </a:r>
          </a:p>
        </p:txBody>
      </p:sp>
      <p:sp>
        <p:nvSpPr>
          <p:cNvPr id="10" name="">
            <a:extLst xmlns:a="http://schemas.openxmlformats.org/drawingml/2006/main">
              <a:ext uri="{FF2B5EF4-FFF2-40B4-BE49-F238E27FC236}">
                <a16:creationId xmlns:a16="http://schemas.microsoft.com/office/drawing/2014/main" id="{BEB6FFA3-34DC-4505-8332-0A19B5205D78}"/>
              </a:ext>
            </a:extLst>
          </p:cNvPr>
          <p:cNvSpPr>
            <a:spLocks xmlns:a="http://schemas.openxmlformats.org/drawingml/2006/main" noGrp="1"/>
          </p:cNvSpPr>
          <p:nvPr/>
        </p:nvSpPr>
        <p:spPr>
          <a:xfrm xmlns:a="http://schemas.openxmlformats.org/drawingml/2006/main">
            <a:off x="8572500" y="2143125"/>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1" name="">
            <a:extLst xmlns:a="http://schemas.openxmlformats.org/drawingml/2006/main">
              <a:ext uri="{FF2B5EF4-FFF2-40B4-BE49-F238E27FC236}">
                <a16:creationId xmlns:a16="http://schemas.microsoft.com/office/drawing/2014/main" id="{43DEFE9D-4A8D-418E-9592-D6D6D31FB15F}"/>
              </a:ext>
            </a:extLst>
          </p:cNvPr>
          <p:cNvSpPr>
            <a:spLocks xmlns:a="http://schemas.openxmlformats.org/drawingml/2006/main" noGrp="1"/>
          </p:cNvSpPr>
          <p:nvPr/>
        </p:nvSpPr>
        <p:spPr>
          <a:xfrm xmlns:a="http://schemas.openxmlformats.org/drawingml/2006/main">
            <a:off x="8743950" y="227647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Waktu</a:t>
            </a:r>
          </a:p>
        </p:txBody>
      </p:sp>
      <p:sp>
        <p:nvSpPr>
          <p:cNvPr id="12" name="">
            <a:extLst xmlns:a="http://schemas.openxmlformats.org/drawingml/2006/main">
              <a:ext uri="{FF2B5EF4-FFF2-40B4-BE49-F238E27FC236}">
                <a16:creationId xmlns:a16="http://schemas.microsoft.com/office/drawing/2014/main" id="{6AE78DC5-D2CB-4067-804F-BE45C1FB3762}"/>
              </a:ext>
            </a:extLst>
          </p:cNvPr>
          <p:cNvSpPr>
            <a:spLocks xmlns:a="http://schemas.openxmlformats.org/drawingml/2006/main" noGrp="1"/>
          </p:cNvSpPr>
          <p:nvPr/>
        </p:nvSpPr>
        <p:spPr>
          <a:xfrm xmlns:a="http://schemas.openxmlformats.org/drawingml/2006/main">
            <a:off x="762000" y="4333875"/>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3" name="">
            <a:extLst xmlns:a="http://schemas.openxmlformats.org/drawingml/2006/main">
              <a:ext uri="{FF2B5EF4-FFF2-40B4-BE49-F238E27FC236}">
                <a16:creationId xmlns:a16="http://schemas.microsoft.com/office/drawing/2014/main" id="{3646ADD0-3401-44DB-BE69-3E7528C34191}"/>
              </a:ext>
            </a:extLst>
          </p:cNvPr>
          <p:cNvSpPr>
            <a:spLocks xmlns:a="http://schemas.openxmlformats.org/drawingml/2006/main" noGrp="1"/>
          </p:cNvSpPr>
          <p:nvPr/>
        </p:nvSpPr>
        <p:spPr>
          <a:xfrm xmlns:a="http://schemas.openxmlformats.org/drawingml/2006/main">
            <a:off x="933450" y="44672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Kinerja</a:t>
            </a:r>
          </a:p>
        </p:txBody>
      </p:sp>
      <p:sp>
        <p:nvSpPr>
          <p:cNvPr id="14" name="">
            <a:extLst xmlns:a="http://schemas.openxmlformats.org/drawingml/2006/main">
              <a:ext uri="{FF2B5EF4-FFF2-40B4-BE49-F238E27FC236}">
                <a16:creationId xmlns:a16="http://schemas.microsoft.com/office/drawing/2014/main" id="{D8270F0C-267E-4208-B1E9-90AE254472D2}"/>
              </a:ext>
            </a:extLst>
          </p:cNvPr>
          <p:cNvSpPr>
            <a:spLocks xmlns:a="http://schemas.openxmlformats.org/drawingml/2006/main" noGrp="1"/>
          </p:cNvSpPr>
          <p:nvPr/>
        </p:nvSpPr>
        <p:spPr>
          <a:xfrm xmlns:a="http://schemas.openxmlformats.org/drawingml/2006/main">
            <a:off x="4667250" y="4333875"/>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5" name="">
            <a:extLst xmlns:a="http://schemas.openxmlformats.org/drawingml/2006/main">
              <a:ext uri="{FF2B5EF4-FFF2-40B4-BE49-F238E27FC236}">
                <a16:creationId xmlns:a16="http://schemas.microsoft.com/office/drawing/2014/main" id="{A2F63CF0-0DA4-4D94-BBD7-11A0353F0438}"/>
              </a:ext>
            </a:extLst>
          </p:cNvPr>
          <p:cNvSpPr>
            <a:spLocks xmlns:a="http://schemas.openxmlformats.org/drawingml/2006/main" noGrp="1"/>
          </p:cNvSpPr>
          <p:nvPr/>
        </p:nvSpPr>
        <p:spPr>
          <a:xfrm xmlns:a="http://schemas.openxmlformats.org/drawingml/2006/main">
            <a:off x="4838700" y="44672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Usaha</a:t>
            </a:r>
          </a:p>
        </p:txBody>
      </p:sp>
      <p:sp>
        <p:nvSpPr>
          <p:cNvPr id="16" name="">
            <a:extLst xmlns:a="http://schemas.openxmlformats.org/drawingml/2006/main">
              <a:ext uri="{FF2B5EF4-FFF2-40B4-BE49-F238E27FC236}">
                <a16:creationId xmlns:a16="http://schemas.microsoft.com/office/drawing/2014/main" id="{F7BB88B2-4026-4A4E-B999-26452FC75DC0}"/>
              </a:ext>
            </a:extLst>
          </p:cNvPr>
          <p:cNvSpPr>
            <a:spLocks xmlns:a="http://schemas.openxmlformats.org/drawingml/2006/main" noGrp="1"/>
          </p:cNvSpPr>
          <p:nvPr/>
        </p:nvSpPr>
        <p:spPr>
          <a:xfrm xmlns:a="http://schemas.openxmlformats.org/drawingml/2006/main">
            <a:off x="8572500" y="4333875"/>
            <a:ext cx="2857500" cy="90487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7" name="">
            <a:extLst xmlns:a="http://schemas.openxmlformats.org/drawingml/2006/main">
              <a:ext uri="{FF2B5EF4-FFF2-40B4-BE49-F238E27FC236}">
                <a16:creationId xmlns:a16="http://schemas.microsoft.com/office/drawing/2014/main" id="{342E8199-02B1-4502-9DEC-A1567899186D}"/>
              </a:ext>
            </a:extLst>
          </p:cNvPr>
          <p:cNvSpPr>
            <a:spLocks xmlns:a="http://schemas.openxmlformats.org/drawingml/2006/main" noGrp="1"/>
          </p:cNvSpPr>
          <p:nvPr/>
        </p:nvSpPr>
        <p:spPr>
          <a:xfrm xmlns:a="http://schemas.openxmlformats.org/drawingml/2006/main">
            <a:off x="8743950" y="4467225"/>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Frustrasi</a:t>
            </a:r>
          </a:p>
        </p:txBody>
      </p:sp>
      <p:sp>
        <p:nvSpPr>
          <p:cNvPr id="18" name="">
            <a:extLst xmlns:a="http://schemas.openxmlformats.org/drawingml/2006/main">
              <a:ext uri="{FF2B5EF4-FFF2-40B4-BE49-F238E27FC236}">
                <a16:creationId xmlns:a16="http://schemas.microsoft.com/office/drawing/2014/main" id="{E45A7204-1909-45EA-AFEA-A671EEA2BEBC}"/>
              </a:ext>
            </a:extLst>
          </p:cNvPr>
          <p:cNvSpPr>
            <a:spLocks xmlns:a="http://schemas.openxmlformats.org/drawingml/2006/main" noGrp="1"/>
          </p:cNvSpPr>
          <p:nvPr/>
        </p:nvSpPr>
        <p:spPr>
          <a:xfrm xmlns:a="http://schemas.openxmlformats.org/drawingml/2006/main">
            <a:off x="3614738" y="2614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B80E77-954A-4B7D-8E78-0467B03C8771}"/>
              </a:ext>
            </a:extLst>
          </p:cNvPr>
          <p:cNvSpPr>
            <a:spLocks xmlns:a="http://schemas.openxmlformats.org/drawingml/2006/main" noGrp="1"/>
          </p:cNvSpPr>
          <p:nvPr/>
        </p:nvSpPr>
        <p:spPr>
          <a:xfrm xmlns:a="http://schemas.openxmlformats.org/drawingml/2006/main">
            <a:off x="4519613" y="3519488"/>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D3B4DD-AA11-49D4-AEEE-293FAD37C0B2}"/>
              </a:ext>
            </a:extLst>
          </p:cNvPr>
          <p:cNvSpPr>
            <a:spLocks xmlns:a="http://schemas.openxmlformats.org/drawingml/2006/main" noGrp="1"/>
          </p:cNvSpPr>
          <p:nvPr/>
        </p:nvSpPr>
        <p:spPr>
          <a:xfrm xmlns:a="http://schemas.openxmlformats.org/drawingml/2006/main">
            <a:off x="6091238" y="2900363"/>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6B41B62-B6FE-48B0-B849-A62CE2C518B0}"/>
              </a:ext>
            </a:extLst>
          </p:cNvPr>
          <p:cNvSpPr>
            <a:spLocks xmlns:a="http://schemas.openxmlformats.org/drawingml/2006/main" noGrp="1"/>
          </p:cNvSpPr>
          <p:nvPr/>
        </p:nvSpPr>
        <p:spPr>
          <a:xfrm xmlns:a="http://schemas.openxmlformats.org/drawingml/2006/main">
            <a:off x="6091238" y="3214688"/>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13E6987-BB0E-49EC-962C-FB81090B48F2}"/>
              </a:ext>
            </a:extLst>
          </p:cNvPr>
          <p:cNvSpPr>
            <a:spLocks xmlns:a="http://schemas.openxmlformats.org/drawingml/2006/main" noGrp="1"/>
          </p:cNvSpPr>
          <p:nvPr/>
        </p:nvSpPr>
        <p:spPr>
          <a:xfrm xmlns:a="http://schemas.openxmlformats.org/drawingml/2006/main">
            <a:off x="8567738" y="2614613"/>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CE91DD6-B20E-425F-8D1C-72261494D280}"/>
              </a:ext>
            </a:extLst>
          </p:cNvPr>
          <p:cNvSpPr>
            <a:spLocks xmlns:a="http://schemas.openxmlformats.org/drawingml/2006/main" noGrp="1"/>
          </p:cNvSpPr>
          <p:nvPr/>
        </p:nvSpPr>
        <p:spPr>
          <a:xfrm xmlns:a="http://schemas.openxmlformats.org/drawingml/2006/main">
            <a:off x="7662863" y="3519488"/>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9319B1-30EE-4C2A-A081-77CB0A536717}"/>
              </a:ext>
            </a:extLst>
          </p:cNvPr>
          <p:cNvSpPr>
            <a:spLocks xmlns:a="http://schemas.openxmlformats.org/drawingml/2006/main" noGrp="1"/>
          </p:cNvSpPr>
          <p:nvPr/>
        </p:nvSpPr>
        <p:spPr>
          <a:xfrm xmlns:a="http://schemas.openxmlformats.org/drawingml/2006/main">
            <a:off x="3614738" y="4757738"/>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91ECB86-B102-4D1A-A5AD-3494BF87CEE5}"/>
              </a:ext>
            </a:extLst>
          </p:cNvPr>
          <p:cNvSpPr>
            <a:spLocks xmlns:a="http://schemas.openxmlformats.org/drawingml/2006/main" noGrp="1"/>
          </p:cNvSpPr>
          <p:nvPr/>
        </p:nvSpPr>
        <p:spPr>
          <a:xfrm xmlns:a="http://schemas.openxmlformats.org/drawingml/2006/main">
            <a:off x="4519613" y="3948113"/>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3CE844B-2603-4CC8-ADE1-83E7664AC42E}"/>
              </a:ext>
            </a:extLst>
          </p:cNvPr>
          <p:cNvSpPr>
            <a:spLocks xmlns:a="http://schemas.openxmlformats.org/drawingml/2006/main" noGrp="1"/>
          </p:cNvSpPr>
          <p:nvPr/>
        </p:nvSpPr>
        <p:spPr>
          <a:xfrm xmlns:a="http://schemas.openxmlformats.org/drawingml/2006/main">
            <a:off x="6091238" y="4243388"/>
            <a:ext cx="9525" cy="9525"/>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3BDAC50-C9E4-47B7-8079-F4BCA43693FC}"/>
              </a:ext>
            </a:extLst>
          </p:cNvPr>
          <p:cNvSpPr>
            <a:spLocks xmlns:a="http://schemas.openxmlformats.org/drawingml/2006/main" noGrp="1"/>
          </p:cNvSpPr>
          <p:nvPr/>
        </p:nvSpPr>
        <p:spPr>
          <a:xfrm xmlns:a="http://schemas.openxmlformats.org/drawingml/2006/main">
            <a:off x="6091238" y="4329113"/>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CA8B97A-5F6F-4E6F-BCC6-A00F9E3FF56E}"/>
              </a:ext>
            </a:extLst>
          </p:cNvPr>
          <p:cNvSpPr>
            <a:spLocks xmlns:a="http://schemas.openxmlformats.org/drawingml/2006/main" noGrp="1"/>
          </p:cNvSpPr>
          <p:nvPr/>
        </p:nvSpPr>
        <p:spPr>
          <a:xfrm xmlns:a="http://schemas.openxmlformats.org/drawingml/2006/main">
            <a:off x="8567738" y="4757738"/>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FDEE8DA-C99F-4876-8DD8-E039B03B9A35}"/>
              </a:ext>
            </a:extLst>
          </p:cNvPr>
          <p:cNvSpPr>
            <a:spLocks xmlns:a="http://schemas.openxmlformats.org/drawingml/2006/main" noGrp="1"/>
          </p:cNvSpPr>
          <p:nvPr/>
        </p:nvSpPr>
        <p:spPr>
          <a:xfrm xmlns:a="http://schemas.openxmlformats.org/drawingml/2006/main">
            <a:off x="7662863" y="3948113"/>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2F9291-1D03-4713-9320-96D92A9FAC19}"/>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Enam dimensi memberi konteks; diagram ini bukan lembar penilaian resmi.</a:t>
            </a:r>
          </a:p>
        </p:txBody>
      </p:sp>
      <p:sp>
        <p:nvSpPr>
          <p:cNvPr id="37" name="">
            <a:extLst xmlns:a="http://schemas.openxmlformats.org/drawingml/2006/main">
              <a:ext uri="{FF2B5EF4-FFF2-40B4-BE49-F238E27FC236}">
                <a16:creationId xmlns:a16="http://schemas.microsoft.com/office/drawing/2014/main" id="{0FF4BB4B-44DE-4E9B-BD41-04D9B3961ED8}"/>
              </a:ext>
            </a:extLst>
          </p:cNvPr>
          <p:cNvSpPr>
            <a:spLocks xmlns:a="http://schemas.openxmlformats.org/drawingml/2006/main" noGrp="1"/>
          </p:cNvSpPr>
          <p:nvPr/>
        </p:nvSpPr>
        <p:spPr>
          <a:xfrm xmlns:a="http://schemas.openxmlformats.org/drawingml/2006/main">
            <a:off x="762000" y="60960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NASA · sumber pada catatan</a:t>
            </a:r>
          </a:p>
        </p:txBody>
      </p:sp>
      <p:sp>
        <p:nvSpPr>
          <p:cNvPr id="38" name="">
            <a:extLst xmlns:a="http://schemas.openxmlformats.org/drawingml/2006/main">
              <a:ext uri="{FF2B5EF4-FFF2-40B4-BE49-F238E27FC236}">
                <a16:creationId xmlns:a16="http://schemas.microsoft.com/office/drawing/2014/main" id="{A10E5660-3E0F-4717-B367-E3AC5A919196}"/>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39" name="">
            <a:extLst xmlns:a="http://schemas.openxmlformats.org/drawingml/2006/main">
              <a:ext uri="{FF2B5EF4-FFF2-40B4-BE49-F238E27FC236}">
                <a16:creationId xmlns:a16="http://schemas.microsoft.com/office/drawing/2014/main" id="{DC1B94C6-E95C-464C-9FF0-E70EF412D150}"/>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15 / 26</a:t>
            </a:r>
          </a:p>
        </p:txBody>
      </p:sp>
    </p:spTree>
    <p:extLst>
      <p:ext uri="{BB962C8B-B14F-4D97-AF65-F5344CB8AC3E}">
        <p14:creationId xmlns:p14="http://schemas.microsoft.com/office/powerpoint/2010/main" val="290609962"/>
      </p:ext>
    </p:extLst>
  </p:cSld>
</p:sld>
</file>

<file path=ppt/slides/slide1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DB6E418-7865-472E-B595-EDD650E52D6D}"/>
              </a:ext>
            </a:extLst>
          </p:cNvPr>
          <p:cNvCxnSpPr>
            <a:stCxn xmlns:a="http://schemas.openxmlformats.org/drawingml/2006/main" id="16" idx="2"/>
            <a:endCxn xmlns:a="http://schemas.openxmlformats.org/drawingml/2006/main" id="17" idx="0"/>
          </p:cNvCxnSpPr>
          <p:nvPr/>
        </p:nvCxnSpPr>
        <p:spPr>
          <a:xfrm xmlns:a="http://schemas.openxmlformats.org/drawingml/2006/main">
            <a:off x="11049001" y="3386138"/>
            <a:ext cx="0" cy="847725"/>
          </a:xfrm>
          <a:prstGeom xmlns:a="http://schemas.openxmlformats.org/drawingml/2006/main" prst="straightConnector1">
            <a:avLst/>
          </a:prstGeom>
          <a:ln xmlns:a="http://schemas.openxmlformats.org/drawingml/2006/main" w="38100">
            <a:solidFill>
              <a:srgbClr val="8A2D1F"/>
            </a:solidFill>
            <a:tailEnd type="triangle" w="sm" len="sm"/>
          </a:ln>
        </p:spPr>
      </p:cxnSp>
      <p:cxnSp>
        <p:nvCxnSpPr>
          <p:cNvPr id="15" name="">
            <a:extLst xmlns:a="http://schemas.openxmlformats.org/drawingml/2006/main">
              <a:ext uri="{FF2B5EF4-FFF2-40B4-BE49-F238E27FC236}">
                <a16:creationId xmlns:a16="http://schemas.microsoft.com/office/drawing/2014/main" id="{FB2FF3F4-CDE9-45CF-8B92-8E0757EC953A}"/>
              </a:ext>
            </a:extLst>
          </p:cNvPr>
          <p:cNvCxnSpPr>
            <a:stCxn xmlns:a="http://schemas.openxmlformats.org/drawingml/2006/main" id="13" idx="2"/>
            <a:endCxn xmlns:a="http://schemas.openxmlformats.org/drawingml/2006/main" id="14" idx="0"/>
          </p:cNvCxnSpPr>
          <p:nvPr/>
        </p:nvCxnSpPr>
        <p:spPr>
          <a:xfrm xmlns:a="http://schemas.openxmlformats.org/drawingml/2006/main">
            <a:off x="8572501" y="3386138"/>
            <a:ext cx="0" cy="1657350"/>
          </a:xfrm>
          <a:prstGeom xmlns:a="http://schemas.openxmlformats.org/drawingml/2006/main" prst="straightConnector1">
            <a:avLst/>
          </a:prstGeom>
          <a:ln xmlns:a="http://schemas.openxmlformats.org/drawingml/2006/main" w="38100">
            <a:solidFill>
              <a:srgbClr val="1F1F1B"/>
            </a:solidFill>
            <a:tailEnd type="none" w="med" len="med"/>
          </a:ln>
        </p:spPr>
      </p:cxnSp>
      <p:cxnSp>
        <p:nvCxnSpPr>
          <p:cNvPr id="12" name="">
            <a:extLst xmlns:a="http://schemas.openxmlformats.org/drawingml/2006/main">
              <a:ext uri="{FF2B5EF4-FFF2-40B4-BE49-F238E27FC236}">
                <a16:creationId xmlns:a16="http://schemas.microsoft.com/office/drawing/2014/main" id="{35BCBCE7-88E5-4484-9339-769F2EA82DFC}"/>
              </a:ext>
            </a:extLst>
          </p:cNvPr>
          <p:cNvCxnSpPr>
            <a:stCxn xmlns:a="http://schemas.openxmlformats.org/drawingml/2006/main" id="10" idx="2"/>
            <a:endCxn xmlns:a="http://schemas.openxmlformats.org/drawingml/2006/main" id="11" idx="0"/>
          </p:cNvCxnSpPr>
          <p:nvPr/>
        </p:nvCxnSpPr>
        <p:spPr>
          <a:xfrm xmlns:a="http://schemas.openxmlformats.org/drawingml/2006/main">
            <a:off x="2762251" y="3386138"/>
            <a:ext cx="0" cy="1657350"/>
          </a:xfrm>
          <a:prstGeom xmlns:a="http://schemas.openxmlformats.org/drawingml/2006/main" prst="straightConnector1">
            <a:avLst/>
          </a:prstGeom>
          <a:ln xmlns:a="http://schemas.openxmlformats.org/drawingml/2006/main" w="38100">
            <a:solidFill>
              <a:srgbClr val="1F1F1B"/>
            </a:solidFill>
            <a:tailEnd type="none" w="med" len="med"/>
          </a:ln>
        </p:spPr>
      </p:cxnSp>
      <p:cxnSp>
        <p:nvCxnSpPr>
          <p:cNvPr id="9" name="">
            <a:extLst xmlns:a="http://schemas.openxmlformats.org/drawingml/2006/main">
              <a:ext uri="{FF2B5EF4-FFF2-40B4-BE49-F238E27FC236}">
                <a16:creationId xmlns:a16="http://schemas.microsoft.com/office/drawing/2014/main" id="{EF35CD2B-065F-4EEA-9EC6-556FC5690C0B}"/>
              </a:ext>
            </a:extLst>
          </p:cNvPr>
          <p:cNvCxnSpPr>
            <a:stCxn xmlns:a="http://schemas.openxmlformats.org/drawingml/2006/main" id="7" idx="3"/>
            <a:endCxn xmlns:a="http://schemas.openxmlformats.org/drawingml/2006/main" id="8" idx="1"/>
          </p:cNvCxnSpPr>
          <p:nvPr/>
        </p:nvCxnSpPr>
        <p:spPr>
          <a:xfrm xmlns:a="http://schemas.openxmlformats.org/drawingml/2006/main">
            <a:off x="1385888" y="4238626"/>
            <a:ext cx="8896350" cy="0"/>
          </a:xfrm>
          <a:prstGeom xmlns:a="http://schemas.openxmlformats.org/drawingml/2006/main" prst="straightConnector1">
            <a:avLst/>
          </a:prstGeom>
          <a:ln xmlns:a="http://schemas.openxmlformats.org/drawingml/2006/main" w="28575">
            <a:solidFill>
              <a:srgbClr val="5F625C"/>
            </a:solidFill>
            <a:tailEnd type="none" w="med" len="med"/>
          </a:ln>
        </p:spPr>
      </p:cxnSp>
      <p:cxnSp>
        <p:nvCxnSpPr>
          <p:cNvPr id="6" name="">
            <a:extLst xmlns:a="http://schemas.openxmlformats.org/drawingml/2006/main">
              <a:ext uri="{FF2B5EF4-FFF2-40B4-BE49-F238E27FC236}">
                <a16:creationId xmlns:a16="http://schemas.microsoft.com/office/drawing/2014/main" id="{600E05BC-1D59-434E-8166-3D2D145C8C38}"/>
              </a:ext>
            </a:extLst>
          </p:cNvPr>
          <p:cNvCxnSpPr>
            <a:stCxn xmlns:a="http://schemas.openxmlformats.org/drawingml/2006/main" id="4" idx="3"/>
            <a:endCxn xmlns:a="http://schemas.openxmlformats.org/drawingml/2006/main" id="5" idx="1"/>
          </p:cNvCxnSpPr>
          <p:nvPr/>
        </p:nvCxnSpPr>
        <p:spPr>
          <a:xfrm xmlns:a="http://schemas.openxmlformats.org/drawingml/2006/main">
            <a:off x="1385888" y="3381376"/>
            <a:ext cx="8896350" cy="0"/>
          </a:xfrm>
          <a:prstGeom xmlns:a="http://schemas.openxmlformats.org/drawingml/2006/main" prst="straightConnector1">
            <a:avLst/>
          </a:prstGeom>
          <a:ln xmlns:a="http://schemas.openxmlformats.org/drawingml/2006/main" w="38100">
            <a:solidFill>
              <a:srgbClr val="2F5D62"/>
            </a:solidFill>
            <a:tailEnd type="none" w="med" len="med"/>
          </a:ln>
        </p:spPr>
      </p:cxnSp>
      <p:sp>
        <p:nvSpPr>
          <p:cNvPr id="25" name="">
            <a:extLst xmlns:a="http://schemas.openxmlformats.org/drawingml/2006/main">
              <a:ext uri="{FF2B5EF4-FFF2-40B4-BE49-F238E27FC236}">
                <a16:creationId xmlns:a16="http://schemas.microsoft.com/office/drawing/2014/main" id="{489ADFFA-6C42-4880-889A-7BE9D5497C05}"/>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3A53E0E6-DD7C-46B5-8880-63F728C7E163}"/>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Antropometri untuk desain kerja</a:t>
            </a:r>
          </a:p>
        </p:txBody>
      </p:sp>
      <p:sp>
        <p:nvSpPr>
          <p:cNvPr id="3" name="">
            <a:extLst xmlns:a="http://schemas.openxmlformats.org/drawingml/2006/main">
              <a:ext uri="{FF2B5EF4-FFF2-40B4-BE49-F238E27FC236}">
                <a16:creationId xmlns:a16="http://schemas.microsoft.com/office/drawing/2014/main" id="{0E4E1B8A-AC65-41AE-85EF-B7A995471B19}"/>
              </a:ext>
            </a:extLst>
          </p:cNvPr>
          <p:cNvSpPr>
            <a:spLocks xmlns:a="http://schemas.openxmlformats.org/drawingml/2006/main" noGrp="1"/>
          </p:cNvSpPr>
          <p:nvPr/>
        </p:nvSpPr>
        <p:spPr>
          <a:xfrm xmlns:a="http://schemas.openxmlformats.org/drawingml/2006/main">
            <a:off x="952500" y="20955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Rentang jangkauan pengguna</a:t>
            </a:r>
          </a:p>
        </p:txBody>
      </p:sp>
      <p:sp>
        <p:nvSpPr>
          <p:cNvPr id="4" name="">
            <a:extLst xmlns:a="http://schemas.openxmlformats.org/drawingml/2006/main">
              <a:ext uri="{FF2B5EF4-FFF2-40B4-BE49-F238E27FC236}">
                <a16:creationId xmlns:a16="http://schemas.microsoft.com/office/drawing/2014/main" id="{A4A4577D-C051-44ED-950A-EB240BB22207}"/>
              </a:ext>
            </a:extLst>
          </p:cNvPr>
          <p:cNvSpPr>
            <a:spLocks xmlns:a="http://schemas.openxmlformats.org/drawingml/2006/main" noGrp="1"/>
          </p:cNvSpPr>
          <p:nvPr/>
        </p:nvSpPr>
        <p:spPr>
          <a:xfrm xmlns:a="http://schemas.openxmlformats.org/drawingml/2006/main">
            <a:off x="1376363"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1F6A5-6271-4984-8171-01876C4F78A7}"/>
              </a:ext>
            </a:extLst>
          </p:cNvPr>
          <p:cNvSpPr>
            <a:spLocks xmlns:a="http://schemas.openxmlformats.org/drawingml/2006/main" noGrp="1"/>
          </p:cNvSpPr>
          <p:nvPr/>
        </p:nvSpPr>
        <p:spPr>
          <a:xfrm xmlns:a="http://schemas.openxmlformats.org/drawingml/2006/main">
            <a:off x="102822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7646D0-903D-40FD-8457-50B56BAC633D}"/>
              </a:ext>
            </a:extLst>
          </p:cNvPr>
          <p:cNvSpPr>
            <a:spLocks xmlns:a="http://schemas.openxmlformats.org/drawingml/2006/main" noGrp="1"/>
          </p:cNvSpPr>
          <p:nvPr/>
        </p:nvSpPr>
        <p:spPr>
          <a:xfrm xmlns:a="http://schemas.openxmlformats.org/drawingml/2006/main">
            <a:off x="1376363" y="4233863"/>
            <a:ext cx="9525" cy="9525"/>
          </a:xfrm>
          <a:prstGeom xmlns:a="http://schemas.openxmlformats.org/drawingml/2006/main" prst="rect">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35FF6C-4F98-4C3D-9CB7-B6D9CBF3BC62}"/>
              </a:ext>
            </a:extLst>
          </p:cNvPr>
          <p:cNvSpPr>
            <a:spLocks xmlns:a="http://schemas.openxmlformats.org/drawingml/2006/main" noGrp="1"/>
          </p:cNvSpPr>
          <p:nvPr/>
        </p:nvSpPr>
        <p:spPr>
          <a:xfrm xmlns:a="http://schemas.openxmlformats.org/drawingml/2006/main">
            <a:off x="10282238" y="4233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504852-1FF2-4BB4-94AA-CF34F964FC30}"/>
              </a:ext>
            </a:extLst>
          </p:cNvPr>
          <p:cNvSpPr>
            <a:spLocks xmlns:a="http://schemas.openxmlformats.org/drawingml/2006/main" noGrp="1"/>
          </p:cNvSpPr>
          <p:nvPr/>
        </p:nvSpPr>
        <p:spPr>
          <a:xfrm xmlns:a="http://schemas.openxmlformats.org/drawingml/2006/main">
            <a:off x="275748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47EE6F-4299-40D4-AD35-EA974AE38DC6}"/>
              </a:ext>
            </a:extLst>
          </p:cNvPr>
          <p:cNvSpPr>
            <a:spLocks xmlns:a="http://schemas.openxmlformats.org/drawingml/2006/main" noGrp="1"/>
          </p:cNvSpPr>
          <p:nvPr/>
        </p:nvSpPr>
        <p:spPr>
          <a:xfrm xmlns:a="http://schemas.openxmlformats.org/drawingml/2006/main">
            <a:off x="2757488" y="5043488"/>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DB3C297-9EC2-4DAF-99A3-1F3A70FF8C96}"/>
              </a:ext>
            </a:extLst>
          </p:cNvPr>
          <p:cNvSpPr>
            <a:spLocks xmlns:a="http://schemas.openxmlformats.org/drawingml/2006/main" noGrp="1"/>
          </p:cNvSpPr>
          <p:nvPr/>
        </p:nvSpPr>
        <p:spPr>
          <a:xfrm xmlns:a="http://schemas.openxmlformats.org/drawingml/2006/main">
            <a:off x="85677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AA5A33-B9A3-4CA8-826B-C04803DF1F5A}"/>
              </a:ext>
            </a:extLst>
          </p:cNvPr>
          <p:cNvSpPr>
            <a:spLocks xmlns:a="http://schemas.openxmlformats.org/drawingml/2006/main" noGrp="1"/>
          </p:cNvSpPr>
          <p:nvPr/>
        </p:nvSpPr>
        <p:spPr>
          <a:xfrm xmlns:a="http://schemas.openxmlformats.org/drawingml/2006/main">
            <a:off x="8567738" y="5043488"/>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81936D1-19E3-475D-8B81-BE37FA973670}"/>
              </a:ext>
            </a:extLst>
          </p:cNvPr>
          <p:cNvSpPr>
            <a:spLocks xmlns:a="http://schemas.openxmlformats.org/drawingml/2006/main" noGrp="1"/>
          </p:cNvSpPr>
          <p:nvPr/>
        </p:nvSpPr>
        <p:spPr>
          <a:xfrm xmlns:a="http://schemas.openxmlformats.org/drawingml/2006/main">
            <a:off x="11044238" y="3376613"/>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759C56-218D-4BEE-A3C7-02FA09DD9C09}"/>
              </a:ext>
            </a:extLst>
          </p:cNvPr>
          <p:cNvSpPr>
            <a:spLocks xmlns:a="http://schemas.openxmlformats.org/drawingml/2006/main" noGrp="1"/>
          </p:cNvSpPr>
          <p:nvPr/>
        </p:nvSpPr>
        <p:spPr>
          <a:xfrm xmlns:a="http://schemas.openxmlformats.org/drawingml/2006/main">
            <a:off x="11044238" y="4233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8B93074-71E9-4130-8242-9A138F14F255}"/>
              </a:ext>
            </a:extLst>
          </p:cNvPr>
          <p:cNvSpPr>
            <a:spLocks xmlns:a="http://schemas.openxmlformats.org/drawingml/2006/main" noGrp="1"/>
          </p:cNvSpPr>
          <p:nvPr/>
        </p:nvSpPr>
        <p:spPr>
          <a:xfrm xmlns:a="http://schemas.openxmlformats.org/drawingml/2006/main">
            <a:off x="952500" y="28384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F1F1B"/>
                </a:solidFill>
                <a:latin typeface="Arial"/>
                <a:ea typeface="Arial"/>
                <a:cs typeface="Arial"/>
              </a:defRPr>
            </a:defPPr>
            <a:lvl1pPr>
              <a:defRPr sz="1950" b="0">
                <a:solidFill>
                  <a:srgbClr val="1F1F1B"/>
                </a:solidFill>
                <a:latin typeface="Arial"/>
                <a:ea typeface="Arial"/>
                <a:cs typeface="Arial"/>
              </a:defRPr>
            </a:lvl1pPr>
            <a:lvl2pPr>
              <a:defRPr sz="1950" b="0">
                <a:solidFill>
                  <a:srgbClr val="1F1F1B"/>
                </a:solidFill>
                <a:latin typeface="Arial"/>
                <a:ea typeface="Arial"/>
                <a:cs typeface="Arial"/>
              </a:defRPr>
            </a:lvl2pPr>
            <a:lvl3pPr>
              <a:defRPr sz="1950" b="0">
                <a:solidFill>
                  <a:srgbClr val="1F1F1B"/>
                </a:solidFill>
                <a:latin typeface="Arial"/>
                <a:ea typeface="Arial"/>
                <a:cs typeface="Arial"/>
              </a:defRPr>
            </a:lvl3pPr>
            <a:lvl4pPr>
              <a:defRPr sz="1950" b="0">
                <a:solidFill>
                  <a:srgbClr val="1F1F1B"/>
                </a:solidFill>
                <a:latin typeface="Arial"/>
                <a:ea typeface="Arial"/>
                <a:cs typeface="Arial"/>
              </a:defRPr>
            </a:lvl4pPr>
            <a:lvl5pPr>
              <a:defRPr sz="1950" b="0">
                <a:solidFill>
                  <a:srgbClr val="1F1F1B"/>
                </a:solidFill>
                <a:latin typeface="Arial"/>
                <a:ea typeface="Arial"/>
                <a:cs typeface="Arial"/>
              </a:defRPr>
            </a:lvl5pPr>
            <a:lvl6pPr>
              <a:defRPr sz="1950" b="0">
                <a:solidFill>
                  <a:srgbClr val="1F1F1B"/>
                </a:solidFill>
                <a:latin typeface="Arial"/>
                <a:ea typeface="Arial"/>
                <a:cs typeface="Arial"/>
              </a:defRPr>
            </a:lvl6pPr>
            <a:lvl7pPr>
              <a:defRPr sz="1950" b="0">
                <a:solidFill>
                  <a:srgbClr val="1F1F1B"/>
                </a:solidFill>
                <a:latin typeface="Arial"/>
                <a:ea typeface="Arial"/>
                <a:cs typeface="Arial"/>
              </a:defRPr>
            </a:lvl7pPr>
            <a:lvl8pPr>
              <a:defRPr sz="1950" b="0">
                <a:solidFill>
                  <a:srgbClr val="1F1F1B"/>
                </a:solidFill>
                <a:latin typeface="Arial"/>
                <a:ea typeface="Arial"/>
                <a:cs typeface="Arial"/>
              </a:defRPr>
            </a:lvl8pPr>
            <a:lvl9pPr>
              <a:defRPr sz="1950" b="0">
                <a:solidFill>
                  <a:srgbClr val="1F1F1B"/>
                </a:solidFill>
                <a:latin typeface="Arial"/>
                <a:ea typeface="Arial"/>
                <a:cs typeface="Arial"/>
              </a:defRPr>
            </a:lvl9pPr>
          </a:lstStyle>
          <a:p xmlns:a="http://schemas.openxmlformats.org/drawingml/2006/main">
            <a:pPr>
              <a:defRPr sz="1950" b="0">
                <a:solidFill>
                  <a:srgbClr val="1F1F1B"/>
                </a:solidFill>
                <a:latin typeface="Arial"/>
                <a:ea typeface="Arial"/>
                <a:cs typeface="Arial"/>
              </a:defRPr>
            </a:pPr>
            <a:r>
              <a:rPr sz="1950" b="0">
                <a:solidFill>
                  <a:srgbClr val="1F1F1B"/>
                </a:solidFill>
                <a:latin typeface="Arial"/>
                <a:ea typeface="Arial"/>
                <a:cs typeface="Arial"/>
              </a:rPr>
              <a:t>Permukaan kerja yang dapat diatur</a:t>
            </a:r>
          </a:p>
        </p:txBody>
      </p:sp>
      <p:sp>
        <p:nvSpPr>
          <p:cNvPr id="20" name="">
            <a:extLst xmlns:a="http://schemas.openxmlformats.org/drawingml/2006/main">
              <a:ext uri="{FF2B5EF4-FFF2-40B4-BE49-F238E27FC236}">
                <a16:creationId xmlns:a16="http://schemas.microsoft.com/office/drawing/2014/main" id="{E8D17ADC-89E0-4E75-B75C-4261AB7C3779}"/>
              </a:ext>
            </a:extLst>
          </p:cNvPr>
          <p:cNvSpPr>
            <a:spLocks xmlns:a="http://schemas.openxmlformats.org/drawingml/2006/main" noGrp="1"/>
          </p:cNvSpPr>
          <p:nvPr/>
        </p:nvSpPr>
        <p:spPr>
          <a:xfrm xmlns:a="http://schemas.openxmlformats.org/drawingml/2006/main">
            <a:off x="3333750" y="44291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F625C"/>
                </a:solidFill>
                <a:latin typeface="Arial"/>
                <a:ea typeface="Arial"/>
                <a:cs typeface="Arial"/>
              </a:defRPr>
            </a:defPPr>
            <a:lvl1pPr>
              <a:defRPr sz="1875" b="0">
                <a:solidFill>
                  <a:srgbClr val="5F625C"/>
                </a:solidFill>
                <a:latin typeface="Arial"/>
                <a:ea typeface="Arial"/>
                <a:cs typeface="Arial"/>
              </a:defRPr>
            </a:lvl1pPr>
            <a:lvl2pPr>
              <a:defRPr sz="1875" b="0">
                <a:solidFill>
                  <a:srgbClr val="5F625C"/>
                </a:solidFill>
                <a:latin typeface="Arial"/>
                <a:ea typeface="Arial"/>
                <a:cs typeface="Arial"/>
              </a:defRPr>
            </a:lvl2pPr>
            <a:lvl3pPr>
              <a:defRPr sz="1875" b="0">
                <a:solidFill>
                  <a:srgbClr val="5F625C"/>
                </a:solidFill>
                <a:latin typeface="Arial"/>
                <a:ea typeface="Arial"/>
                <a:cs typeface="Arial"/>
              </a:defRPr>
            </a:lvl3pPr>
            <a:lvl4pPr>
              <a:defRPr sz="1875" b="0">
                <a:solidFill>
                  <a:srgbClr val="5F625C"/>
                </a:solidFill>
                <a:latin typeface="Arial"/>
                <a:ea typeface="Arial"/>
                <a:cs typeface="Arial"/>
              </a:defRPr>
            </a:lvl4pPr>
            <a:lvl5pPr>
              <a:defRPr sz="1875" b="0">
                <a:solidFill>
                  <a:srgbClr val="5F625C"/>
                </a:solidFill>
                <a:latin typeface="Arial"/>
                <a:ea typeface="Arial"/>
                <a:cs typeface="Arial"/>
              </a:defRPr>
            </a:lvl5pPr>
            <a:lvl6pPr>
              <a:defRPr sz="1875" b="0">
                <a:solidFill>
                  <a:srgbClr val="5F625C"/>
                </a:solidFill>
                <a:latin typeface="Arial"/>
                <a:ea typeface="Arial"/>
                <a:cs typeface="Arial"/>
              </a:defRPr>
            </a:lvl6pPr>
            <a:lvl7pPr>
              <a:defRPr sz="1875" b="0">
                <a:solidFill>
                  <a:srgbClr val="5F625C"/>
                </a:solidFill>
                <a:latin typeface="Arial"/>
                <a:ea typeface="Arial"/>
                <a:cs typeface="Arial"/>
              </a:defRPr>
            </a:lvl7pPr>
            <a:lvl8pPr>
              <a:defRPr sz="1875" b="0">
                <a:solidFill>
                  <a:srgbClr val="5F625C"/>
                </a:solidFill>
                <a:latin typeface="Arial"/>
                <a:ea typeface="Arial"/>
                <a:cs typeface="Arial"/>
              </a:defRPr>
            </a:lvl8pPr>
            <a:lvl9pPr>
              <a:defRPr sz="1875" b="0">
                <a:solidFill>
                  <a:srgbClr val="5F625C"/>
                </a:solidFill>
                <a:latin typeface="Arial"/>
                <a:ea typeface="Arial"/>
                <a:cs typeface="Arial"/>
              </a:defRPr>
            </a:lvl9pPr>
          </a:lstStyle>
          <a:p xmlns:a="http://schemas.openxmlformats.org/drawingml/2006/main">
            <a:pPr>
              <a:defRPr sz="1875" b="0">
                <a:solidFill>
                  <a:srgbClr val="5F625C"/>
                </a:solidFill>
                <a:latin typeface="Arial"/>
                <a:ea typeface="Arial"/>
                <a:cs typeface="Arial"/>
              </a:defRPr>
            </a:pPr>
            <a:r>
              <a:rPr sz="1875" b="0">
                <a:solidFill>
                  <a:srgbClr val="5F625C"/>
                </a:solidFill>
                <a:latin typeface="Arial"/>
                <a:ea typeface="Arial"/>
                <a:cs typeface="Arial"/>
              </a:rPr>
              <a:t>Pilihan tinggi, pegangan, dan posisi</a:t>
            </a:r>
          </a:p>
        </p:txBody>
      </p:sp>
      <p:sp>
        <p:nvSpPr>
          <p:cNvPr id="21" name="">
            <a:extLst xmlns:a="http://schemas.openxmlformats.org/drawingml/2006/main">
              <a:ext uri="{FF2B5EF4-FFF2-40B4-BE49-F238E27FC236}">
                <a16:creationId xmlns:a16="http://schemas.microsoft.com/office/drawing/2014/main" id="{F3B7DBB1-DD6F-4C10-9FD9-D1ADF44EDCFE}"/>
              </a:ext>
            </a:extLst>
          </p:cNvPr>
          <p:cNvSpPr>
            <a:spLocks xmlns:a="http://schemas.openxmlformats.org/drawingml/2006/main" noGrp="1"/>
          </p:cNvSpPr>
          <p:nvPr/>
        </p:nvSpPr>
        <p:spPr>
          <a:xfrm xmlns:a="http://schemas.openxmlformats.org/drawingml/2006/main">
            <a:off x="9525000" y="4524375"/>
            <a:ext cx="190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8A2D1F"/>
                </a:solidFill>
                <a:latin typeface="Arial"/>
                <a:ea typeface="Arial"/>
                <a:cs typeface="Arial"/>
              </a:defRPr>
            </a:defPPr>
            <a:lvl1pPr>
              <a:defRPr sz="1875" b="0">
                <a:solidFill>
                  <a:srgbClr val="8A2D1F"/>
                </a:solidFill>
                <a:latin typeface="Arial"/>
                <a:ea typeface="Arial"/>
                <a:cs typeface="Arial"/>
              </a:defRPr>
            </a:lvl1pPr>
            <a:lvl2pPr>
              <a:defRPr sz="1875" b="0">
                <a:solidFill>
                  <a:srgbClr val="8A2D1F"/>
                </a:solidFill>
                <a:latin typeface="Arial"/>
                <a:ea typeface="Arial"/>
                <a:cs typeface="Arial"/>
              </a:defRPr>
            </a:lvl2pPr>
            <a:lvl3pPr>
              <a:defRPr sz="1875" b="0">
                <a:solidFill>
                  <a:srgbClr val="8A2D1F"/>
                </a:solidFill>
                <a:latin typeface="Arial"/>
                <a:ea typeface="Arial"/>
                <a:cs typeface="Arial"/>
              </a:defRPr>
            </a:lvl3pPr>
            <a:lvl4pPr>
              <a:defRPr sz="1875" b="0">
                <a:solidFill>
                  <a:srgbClr val="8A2D1F"/>
                </a:solidFill>
                <a:latin typeface="Arial"/>
                <a:ea typeface="Arial"/>
                <a:cs typeface="Arial"/>
              </a:defRPr>
            </a:lvl4pPr>
            <a:lvl5pPr>
              <a:defRPr sz="1875" b="0">
                <a:solidFill>
                  <a:srgbClr val="8A2D1F"/>
                </a:solidFill>
                <a:latin typeface="Arial"/>
                <a:ea typeface="Arial"/>
                <a:cs typeface="Arial"/>
              </a:defRPr>
            </a:lvl5pPr>
            <a:lvl6pPr>
              <a:defRPr sz="1875" b="0">
                <a:solidFill>
                  <a:srgbClr val="8A2D1F"/>
                </a:solidFill>
                <a:latin typeface="Arial"/>
                <a:ea typeface="Arial"/>
                <a:cs typeface="Arial"/>
              </a:defRPr>
            </a:lvl6pPr>
            <a:lvl7pPr>
              <a:defRPr sz="1875" b="0">
                <a:solidFill>
                  <a:srgbClr val="8A2D1F"/>
                </a:solidFill>
                <a:latin typeface="Arial"/>
                <a:ea typeface="Arial"/>
                <a:cs typeface="Arial"/>
              </a:defRPr>
            </a:lvl7pPr>
            <a:lvl8pPr>
              <a:defRPr sz="1875" b="0">
                <a:solidFill>
                  <a:srgbClr val="8A2D1F"/>
                </a:solidFill>
                <a:latin typeface="Arial"/>
                <a:ea typeface="Arial"/>
                <a:cs typeface="Arial"/>
              </a:defRPr>
            </a:lvl8pPr>
            <a:lvl9pPr>
              <a:defRPr sz="1875" b="0">
                <a:solidFill>
                  <a:srgbClr val="8A2D1F"/>
                </a:solidFill>
                <a:latin typeface="Arial"/>
                <a:ea typeface="Arial"/>
                <a:cs typeface="Arial"/>
              </a:defRPr>
            </a:lvl9pPr>
          </a:lstStyle>
          <a:p xmlns:a="http://schemas.openxmlformats.org/drawingml/2006/main">
            <a:pPr>
              <a:defRPr sz="1875" b="0">
                <a:solidFill>
                  <a:srgbClr val="8A2D1F"/>
                </a:solidFill>
                <a:latin typeface="Arial"/>
                <a:ea typeface="Arial"/>
                <a:cs typeface="Arial"/>
              </a:defRPr>
            </a:pPr>
            <a:r>
              <a:rPr sz="1875" b="0">
                <a:solidFill>
                  <a:srgbClr val="8A2D1F"/>
                </a:solidFill>
                <a:latin typeface="Arial"/>
                <a:ea typeface="Arial"/>
                <a:cs typeface="Arial"/>
              </a:rPr>
              <a:t>Sesuaikan</a:t>
            </a:r>
          </a:p>
          <a:p xmlns:a="http://schemas.openxmlformats.org/drawingml/2006/main">
            <a:pPr>
              <a:defRPr sz="1875" b="0">
                <a:solidFill>
                  <a:srgbClr val="8A2D1F"/>
                </a:solidFill>
                <a:latin typeface="Arial"/>
                <a:ea typeface="Arial"/>
                <a:cs typeface="Arial"/>
              </a:defRPr>
            </a:pPr>
            <a:r>
              <a:rPr sz="1875" b="0">
                <a:solidFill>
                  <a:srgbClr val="8A2D1F"/>
                </a:solidFill>
                <a:latin typeface="Arial"/>
                <a:ea typeface="Arial"/>
                <a:cs typeface="Arial"/>
              </a:rPr>
              <a:t>dengan tugas</a:t>
            </a:r>
          </a:p>
        </p:txBody>
      </p:sp>
      <p:sp>
        <p:nvSpPr>
          <p:cNvPr id="22" name="">
            <a:extLst xmlns:a="http://schemas.openxmlformats.org/drawingml/2006/main">
              <a:ext uri="{FF2B5EF4-FFF2-40B4-BE49-F238E27FC236}">
                <a16:creationId xmlns:a16="http://schemas.microsoft.com/office/drawing/2014/main" id="{E32A6D7C-45C6-4E27-8170-B3870DE646E9}"/>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Skema desain tanpa ukuran baku; gunakan dimensi dan kebutuhan pengguna.</a:t>
            </a:r>
          </a:p>
        </p:txBody>
      </p:sp>
      <p:sp>
        <p:nvSpPr>
          <p:cNvPr id="23" name="">
            <a:extLst xmlns:a="http://schemas.openxmlformats.org/drawingml/2006/main">
              <a:ext uri="{FF2B5EF4-FFF2-40B4-BE49-F238E27FC236}">
                <a16:creationId xmlns:a16="http://schemas.microsoft.com/office/drawing/2014/main" id="{18E3B142-E2D4-4018-B8E2-7FA57A209D27}"/>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24" name="">
            <a:extLst xmlns:a="http://schemas.openxmlformats.org/drawingml/2006/main">
              <a:ext uri="{FF2B5EF4-FFF2-40B4-BE49-F238E27FC236}">
                <a16:creationId xmlns:a16="http://schemas.microsoft.com/office/drawing/2014/main" id="{EB4CCA17-A7B5-4514-8CEE-D8807F8B82EE}"/>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16 / 26</a:t>
            </a:r>
          </a:p>
        </p:txBody>
      </p:sp>
    </p:spTree>
    <p:extLst>
      <p:ext uri="{BB962C8B-B14F-4D97-AF65-F5344CB8AC3E}">
        <p14:creationId xmlns:p14="http://schemas.microsoft.com/office/powerpoint/2010/main" val="1147646822"/>
      </p:ext>
    </p:extLst>
  </p:cSld>
</p:sld>
</file>

<file path=ppt/slides/slide1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39B10C-A59D-4251-A8BC-871C693DB5F6}"/>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C8F30A02-4950-4F4E-85E9-CB07633DC81C}"/>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Risiko pemindahan alat</a:t>
            </a:r>
          </a:p>
        </p:txBody>
      </p:sp>
      <p:graphicFrame>
        <p:nvGraphicFramePr>
          <p:cNvPr id="3" name="">
            <a:extLst xmlns:a="http://schemas.openxmlformats.org/drawingml/2006/main">
              <a:ext uri="{FF2B5EF4-FFF2-40B4-BE49-F238E27FC236}">
                <a16:creationId xmlns:a16="http://schemas.microsoft.com/office/drawing/2014/main" id="{22F81CB0-FF16-4D5A-AB8D-75F783014A83}"/>
              </a:ext>
            </a:extLst>
          </p:cNvPr>
          <p:cNvGraphicFramePr/>
          <p:nvPr/>
        </p:nvGraphicFramePr>
        <p:xfrm>
          <a:off xmlns:a="http://schemas.openxmlformats.org/drawingml/2006/main" x="762000" y="2114550"/>
          <a:ext xmlns:a="http://schemas.openxmlformats.org/drawingml/2006/main" cx="10668000" cy="3429000"/>
        </p:xfrm>
        <a:graphic xmlns:a="http://schemas.openxmlformats.org/drawingml/2006/main">
          <a:graphicData uri="http://schemas.openxmlformats.org/drawingml/2006/table">
            <a:tbl>
              <a:tblPr/>
              <a:tblGrid>
                <a:gridCol w="2857500"/>
                <a:gridCol w="7810500"/>
              </a:tblGrid>
              <a:tr h="685800">
                <a:tc>
                  <a:txBody>
                    <a:bodyPr/>
                    <a:lstStyle/>
                    <a:p>
                      <a:r>
                        <a:rPr sz="1875" b="1">
                          <a:solidFill>
                            <a:srgbClr val="2F5D62"/>
                          </a:solidFill>
                          <a:latin typeface="Arial"/>
                          <a:ea typeface="Arial"/>
                          <a:cs typeface="Arial"/>
                        </a:rPr>
                        <a:t>Faktor</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75" b="1">
                          <a:solidFill>
                            <a:srgbClr val="2F5D62"/>
                          </a:solidFill>
                          <a:latin typeface="Arial"/>
                          <a:ea typeface="Arial"/>
                          <a:cs typeface="Arial"/>
                        </a:rPr>
                        <a:t>Pertanyaan sebelum mulai</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75" b="0">
                          <a:solidFill>
                            <a:srgbClr val="1F1F1B"/>
                          </a:solidFill>
                          <a:latin typeface="Arial"/>
                          <a:ea typeface="Arial"/>
                          <a:cs typeface="Arial"/>
                        </a:rPr>
                        <a:t>Beban</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Berat, isi, pegangan, dan stabilitasnya diketahui?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Tugas</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Seberapa jauh, tinggi, sering, dan lama?</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Lingkungan</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Ada lereng, tangga, kabel, atau permukaan licin?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Pengguna</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Bantuan dan penyesuaian apa yang diperlukan?</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650048C2-07DB-4C27-9DB9-C9A9CB4D65F1}"/>
              </a:ext>
            </a:extLst>
          </p:cNvPr>
          <p:cNvSpPr>
            <a:spLocks xmlns:a="http://schemas.openxmlformats.org/drawingml/2006/main" noGrp="1"/>
          </p:cNvSpPr>
          <p:nvPr/>
        </p:nvSpPr>
        <p:spPr>
          <a:xfrm xmlns:a="http://schemas.openxmlformats.org/drawingml/2006/main">
            <a:off x="762000" y="589597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CCOHS · sumber pada catatan</a:t>
            </a:r>
          </a:p>
        </p:txBody>
      </p:sp>
      <p:sp>
        <p:nvSpPr>
          <p:cNvPr id="5" name="">
            <a:extLst xmlns:a="http://schemas.openxmlformats.org/drawingml/2006/main">
              <a:ext uri="{FF2B5EF4-FFF2-40B4-BE49-F238E27FC236}">
                <a16:creationId xmlns:a16="http://schemas.microsoft.com/office/drawing/2014/main" id="{FE077F81-B9D3-41BF-A274-D8CE9E22F4E6}"/>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37275C8C-E231-4118-BA74-0C92E196C55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17 / 26</a:t>
            </a:r>
          </a:p>
        </p:txBody>
      </p:sp>
    </p:spTree>
    <p:extLst>
      <p:ext uri="{BB962C8B-B14F-4D97-AF65-F5344CB8AC3E}">
        <p14:creationId xmlns:p14="http://schemas.microsoft.com/office/powerpoint/2010/main" val="702481959"/>
      </p:ext>
    </p:extLst>
  </p:cSld>
</p:sld>
</file>

<file path=ppt/slides/slide1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F0F984-5877-46FB-ADCF-EC795152B4FB}"/>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260A7D13-87F4-4123-8C11-1848FB1D27A8}"/>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Lingkup persamaan angkat NIOSH</a:t>
            </a:r>
          </a:p>
        </p:txBody>
      </p:sp>
      <p:pic>
        <p:nvPicPr>
          <p:cNvPr id="3" name="">
            <a:extLst xmlns:a="http://schemas.openxmlformats.org/drawingml/2006/main">
              <a:ext uri="{FF2B5EF4-FFF2-40B4-BE49-F238E27FC236}">
                <a16:creationId xmlns:a16="http://schemas.microsoft.com/office/drawing/2014/main" id="{9391463C-4E14-46C8-857E-3B040463E5C5}"/>
              </a:ext>
            </a:extLst>
          </p:cNvPr>
          <p:cNvPicPr>
            <a:picLocks xmlns:a="http://schemas.openxmlformats.org/drawingml/2006/main" noChangeAspect="1"/>
          </p:cNvPicPr>
          <p:nvPr/>
        </p:nvPicPr>
        <p:blipFill>
          <a:blip xmlns:r="http://schemas.openxmlformats.org/officeDocument/2006/relationships" xmlns:a="http://schemas.openxmlformats.org/drawingml/2006/main" r:embed="R6b1a12e495054658"/>
          <a:stretch xmlns:a="http://schemas.openxmlformats.org/drawingml/2006/main"/>
        </p:blipFill>
        <p:spPr>
          <a:xfrm xmlns:a="http://schemas.openxmlformats.org/drawingml/2006/main">
            <a:off x="7792641" y="2143125"/>
            <a:ext cx="2321719" cy="3095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8F534D-5751-424D-BCE0-364322DCA5B5}"/>
              </a:ext>
            </a:extLst>
          </p:cNvPr>
          <p:cNvSpPr>
            <a:spLocks xmlns:a="http://schemas.openxmlformats.org/drawingml/2006/main" noGrp="1"/>
          </p:cNvSpPr>
          <p:nvPr/>
        </p:nvSpPr>
        <p:spPr>
          <a:xfrm xmlns:a="http://schemas.openxmlformats.org/drawingml/2006/main">
            <a:off x="6477000" y="5343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Priwo · Domain publik (PD-self)</a:t>
            </a:r>
          </a:p>
        </p:txBody>
      </p:sp>
      <p:sp>
        <p:nvSpPr>
          <p:cNvPr id="5" name="">
            <a:extLst xmlns:a="http://schemas.openxmlformats.org/drawingml/2006/main">
              <a:ext uri="{FF2B5EF4-FFF2-40B4-BE49-F238E27FC236}">
                <a16:creationId xmlns:a16="http://schemas.microsoft.com/office/drawing/2014/main" id="{404C548F-7D75-4939-B391-B1ABE11C12D0}"/>
              </a:ext>
            </a:extLst>
          </p:cNvPr>
          <p:cNvSpPr>
            <a:spLocks xmlns:a="http://schemas.openxmlformats.org/drawingml/2006/main" noGrp="1"/>
          </p:cNvSpPr>
          <p:nvPr/>
        </p:nvSpPr>
        <p:spPr>
          <a:xfrm xmlns:a="http://schemas.openxmlformats.org/drawingml/2006/main">
            <a:off x="762000" y="21907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RNLE memiliki lingkup tugas angkat dua tangan tertentu.</a:t>
            </a:r>
          </a:p>
        </p:txBody>
      </p:sp>
      <p:sp>
        <p:nvSpPr>
          <p:cNvPr id="6" name="">
            <a:extLst xmlns:a="http://schemas.openxmlformats.org/drawingml/2006/main">
              <a:ext uri="{FF2B5EF4-FFF2-40B4-BE49-F238E27FC236}">
                <a16:creationId xmlns:a16="http://schemas.microsoft.com/office/drawing/2014/main" id="{6B9B295A-8B37-4B3B-AA80-E165BC2A666A}"/>
              </a:ext>
            </a:extLst>
          </p:cNvPr>
          <p:cNvSpPr>
            <a:spLocks xmlns:a="http://schemas.openxmlformats.org/drawingml/2006/main" noGrp="1"/>
          </p:cNvSpPr>
          <p:nvPr/>
        </p:nvSpPr>
        <p:spPr>
          <a:xfrm xmlns:a="http://schemas.openxmlformats.org/drawingml/2006/main">
            <a:off x="762000" y="335280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Membawa atau mendorong alat memerlukan penilaian yang sesuai.</a:t>
            </a:r>
          </a:p>
        </p:txBody>
      </p:sp>
      <p:sp>
        <p:nvSpPr>
          <p:cNvPr id="7" name="">
            <a:extLst xmlns:a="http://schemas.openxmlformats.org/drawingml/2006/main">
              <a:ext uri="{FF2B5EF4-FFF2-40B4-BE49-F238E27FC236}">
                <a16:creationId xmlns:a16="http://schemas.microsoft.com/office/drawing/2014/main" id="{B79648C2-495E-4027-84D8-4DB77C107F5B}"/>
              </a:ext>
            </a:extLst>
          </p:cNvPr>
          <p:cNvSpPr>
            <a:spLocks xmlns:a="http://schemas.openxmlformats.org/drawingml/2006/main" noGrp="1"/>
          </p:cNvSpPr>
          <p:nvPr/>
        </p:nvSpPr>
        <p:spPr>
          <a:xfrm xmlns:a="http://schemas.openxmlformats.org/drawingml/2006/main">
            <a:off x="762000" y="45148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F1F1B"/>
                </a:solidFill>
                <a:latin typeface="Arial"/>
                <a:ea typeface="Arial"/>
                <a:cs typeface="Arial"/>
              </a:defRPr>
            </a:defPPr>
            <a:lvl1pPr>
              <a:defRPr sz="2025" b="0">
                <a:solidFill>
                  <a:srgbClr val="1F1F1B"/>
                </a:solidFill>
                <a:latin typeface="Arial"/>
                <a:ea typeface="Arial"/>
                <a:cs typeface="Arial"/>
              </a:defRPr>
            </a:lvl1pPr>
            <a:lvl2pPr>
              <a:defRPr sz="2025" b="0">
                <a:solidFill>
                  <a:srgbClr val="1F1F1B"/>
                </a:solidFill>
                <a:latin typeface="Arial"/>
                <a:ea typeface="Arial"/>
                <a:cs typeface="Arial"/>
              </a:defRPr>
            </a:lvl2pPr>
            <a:lvl3pPr>
              <a:defRPr sz="2025" b="0">
                <a:solidFill>
                  <a:srgbClr val="1F1F1B"/>
                </a:solidFill>
                <a:latin typeface="Arial"/>
                <a:ea typeface="Arial"/>
                <a:cs typeface="Arial"/>
              </a:defRPr>
            </a:lvl3pPr>
            <a:lvl4pPr>
              <a:defRPr sz="2025" b="0">
                <a:solidFill>
                  <a:srgbClr val="1F1F1B"/>
                </a:solidFill>
                <a:latin typeface="Arial"/>
                <a:ea typeface="Arial"/>
                <a:cs typeface="Arial"/>
              </a:defRPr>
            </a:lvl4pPr>
            <a:lvl5pPr>
              <a:defRPr sz="2025" b="0">
                <a:solidFill>
                  <a:srgbClr val="1F1F1B"/>
                </a:solidFill>
                <a:latin typeface="Arial"/>
                <a:ea typeface="Arial"/>
                <a:cs typeface="Arial"/>
              </a:defRPr>
            </a:lvl5pPr>
            <a:lvl6pPr>
              <a:defRPr sz="2025" b="0">
                <a:solidFill>
                  <a:srgbClr val="1F1F1B"/>
                </a:solidFill>
                <a:latin typeface="Arial"/>
                <a:ea typeface="Arial"/>
                <a:cs typeface="Arial"/>
              </a:defRPr>
            </a:lvl6pPr>
            <a:lvl7pPr>
              <a:defRPr sz="2025" b="0">
                <a:solidFill>
                  <a:srgbClr val="1F1F1B"/>
                </a:solidFill>
                <a:latin typeface="Arial"/>
                <a:ea typeface="Arial"/>
                <a:cs typeface="Arial"/>
              </a:defRPr>
            </a:lvl7pPr>
            <a:lvl8pPr>
              <a:defRPr sz="2025" b="0">
                <a:solidFill>
                  <a:srgbClr val="1F1F1B"/>
                </a:solidFill>
                <a:latin typeface="Arial"/>
                <a:ea typeface="Arial"/>
                <a:cs typeface="Arial"/>
              </a:defRPr>
            </a:lvl8pPr>
            <a:lvl9pPr>
              <a:defRPr sz="2025" b="0">
                <a:solidFill>
                  <a:srgbClr val="1F1F1B"/>
                </a:solidFill>
                <a:latin typeface="Arial"/>
                <a:ea typeface="Arial"/>
                <a:cs typeface="Arial"/>
              </a:defRPr>
            </a:lvl9pPr>
          </a:lstStyle>
          <a:p xmlns:a="http://schemas.openxmlformats.org/drawingml/2006/main">
            <a:pPr>
              <a:defRPr sz="2025" b="0">
                <a:solidFill>
                  <a:srgbClr val="1F1F1B"/>
                </a:solidFill>
                <a:latin typeface="Arial"/>
                <a:ea typeface="Arial"/>
                <a:cs typeface="Arial"/>
              </a:defRPr>
            </a:pPr>
            <a:r>
              <a:rPr sz="2025" b="0">
                <a:solidFill>
                  <a:srgbClr val="1F1F1B"/>
                </a:solidFill>
                <a:latin typeface="Arial"/>
                <a:ea typeface="Arial"/>
                <a:cs typeface="Arial"/>
              </a:rPr>
              <a:t>Troli tidak otomatis cocok untuk lereng atau jalan licin.</a:t>
            </a:r>
          </a:p>
        </p:txBody>
      </p:sp>
      <p:sp>
        <p:nvSpPr>
          <p:cNvPr id="8" name="">
            <a:extLst xmlns:a="http://schemas.openxmlformats.org/drawingml/2006/main">
              <a:ext uri="{FF2B5EF4-FFF2-40B4-BE49-F238E27FC236}">
                <a16:creationId xmlns:a16="http://schemas.microsoft.com/office/drawing/2014/main" id="{E7CC0C17-CD71-4B0A-93B5-7871D5B33832}"/>
              </a:ext>
            </a:extLst>
          </p:cNvPr>
          <p:cNvSpPr>
            <a:spLocks xmlns:a="http://schemas.openxmlformats.org/drawingml/2006/main" noGrp="1"/>
          </p:cNvSpPr>
          <p:nvPr/>
        </p:nvSpPr>
        <p:spPr>
          <a:xfrm xmlns:a="http://schemas.openxmlformats.org/drawingml/2006/main">
            <a:off x="762000" y="60960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NIOSH · CCOHS · sumber pada catatan</a:t>
            </a:r>
          </a:p>
        </p:txBody>
      </p:sp>
      <p:sp>
        <p:nvSpPr>
          <p:cNvPr id="9" name="">
            <a:extLst xmlns:a="http://schemas.openxmlformats.org/drawingml/2006/main">
              <a:ext uri="{FF2B5EF4-FFF2-40B4-BE49-F238E27FC236}">
                <a16:creationId xmlns:a16="http://schemas.microsoft.com/office/drawing/2014/main" id="{CB222B2B-2451-47E3-8B79-D4967C9EDA7C}"/>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10" name="">
            <a:extLst xmlns:a="http://schemas.openxmlformats.org/drawingml/2006/main">
              <a:ext uri="{FF2B5EF4-FFF2-40B4-BE49-F238E27FC236}">
                <a16:creationId xmlns:a16="http://schemas.microsoft.com/office/drawing/2014/main" id="{80D1758B-CB3C-441A-AE85-9575CBD2A821}"/>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18 / 26</a:t>
            </a:r>
          </a:p>
        </p:txBody>
      </p:sp>
    </p:spTree>
    <p:extLst>
      <p:ext uri="{BB962C8B-B14F-4D97-AF65-F5344CB8AC3E}">
        <p14:creationId xmlns:p14="http://schemas.microsoft.com/office/powerpoint/2010/main" val="200180428"/>
      </p:ext>
    </p:extLst>
  </p:cSld>
</p:sld>
</file>

<file path=ppt/slides/slide1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55B7758-4412-4003-B977-108F0F5CB014}"/>
              </a:ext>
            </a:extLst>
          </p:cNvPr>
          <p:cNvCxnSpPr>
            <a:stCxn xmlns:a="http://schemas.openxmlformats.org/drawingml/2006/main" id="22" idx="2"/>
            <a:endCxn xmlns:a="http://schemas.openxmlformats.org/drawingml/2006/main" id="23" idx="0"/>
          </p:cNvCxnSpPr>
          <p:nvPr/>
        </p:nvCxnSpPr>
        <p:spPr>
          <a:xfrm xmlns:a="http://schemas.openxmlformats.org/drawingml/2006/main">
            <a:off x="10715626" y="3338513"/>
            <a:ext cx="0" cy="895350"/>
          </a:xfrm>
          <a:prstGeom xmlns:a="http://schemas.openxmlformats.org/drawingml/2006/main" prst="straightConnector1">
            <a:avLst/>
          </a:prstGeom>
          <a:ln xmlns:a="http://schemas.openxmlformats.org/drawingml/2006/main" w="38100">
            <a:solidFill>
              <a:srgbClr val="8A2D1F"/>
            </a:solidFill>
            <a:tailEnd type="triangle" w="sm" len="sm"/>
          </a:ln>
        </p:spPr>
      </p:cxnSp>
      <p:cxnSp>
        <p:nvCxnSpPr>
          <p:cNvPr id="21" name="">
            <a:extLst xmlns:a="http://schemas.openxmlformats.org/drawingml/2006/main">
              <a:ext uri="{FF2B5EF4-FFF2-40B4-BE49-F238E27FC236}">
                <a16:creationId xmlns:a16="http://schemas.microsoft.com/office/drawing/2014/main" id="{91AF2D9F-AC2C-43E9-8A6A-D0D6DB0E54AB}"/>
              </a:ext>
            </a:extLst>
          </p:cNvPr>
          <p:cNvCxnSpPr>
            <a:stCxn xmlns:a="http://schemas.openxmlformats.org/drawingml/2006/main" id="19" idx="2"/>
            <a:endCxn xmlns:a="http://schemas.openxmlformats.org/drawingml/2006/main" id="20" idx="0"/>
          </p:cNvCxnSpPr>
          <p:nvPr/>
        </p:nvCxnSpPr>
        <p:spPr>
          <a:xfrm xmlns:a="http://schemas.openxmlformats.org/drawingml/2006/main">
            <a:off x="3048001" y="3338513"/>
            <a:ext cx="0" cy="895350"/>
          </a:xfrm>
          <a:prstGeom xmlns:a="http://schemas.openxmlformats.org/drawingml/2006/main" prst="straightConnector1">
            <a:avLst/>
          </a:prstGeom>
          <a:ln xmlns:a="http://schemas.openxmlformats.org/drawingml/2006/main" w="38100">
            <a:solidFill>
              <a:srgbClr val="2F5D62"/>
            </a:solidFill>
            <a:tailEnd type="triangle" w="sm" len="sm"/>
          </a:ln>
        </p:spPr>
      </p:cxnSp>
      <p:cxnSp>
        <p:nvCxnSpPr>
          <p:cNvPr id="18" name="">
            <a:extLst xmlns:a="http://schemas.openxmlformats.org/drawingml/2006/main">
              <a:ext uri="{FF2B5EF4-FFF2-40B4-BE49-F238E27FC236}">
                <a16:creationId xmlns:a16="http://schemas.microsoft.com/office/drawing/2014/main" id="{8DF9DE31-3D9E-49DC-BF16-0B6FA92C7D7F}"/>
              </a:ext>
            </a:extLst>
          </p:cNvPr>
          <p:cNvCxnSpPr>
            <a:stCxn xmlns:a="http://schemas.openxmlformats.org/drawingml/2006/main" id="16" idx="3"/>
            <a:endCxn xmlns:a="http://schemas.openxmlformats.org/drawingml/2006/main" id="17" idx="1"/>
          </p:cNvCxnSpPr>
          <p:nvPr/>
        </p:nvCxnSpPr>
        <p:spPr>
          <a:xfrm xmlns:a="http://schemas.openxmlformats.org/drawingml/2006/main">
            <a:off x="7196138" y="2952751"/>
            <a:ext cx="3514725" cy="0"/>
          </a:xfrm>
          <a:prstGeom xmlns:a="http://schemas.openxmlformats.org/drawingml/2006/main" prst="straightConnector1">
            <a:avLst/>
          </a:prstGeom>
          <a:ln xmlns:a="http://schemas.openxmlformats.org/drawingml/2006/main" w="28575">
            <a:solidFill>
              <a:srgbClr val="8A2D1F"/>
            </a:solidFill>
            <a:tailEnd type="triangle" w="sm" len="sm"/>
          </a:ln>
        </p:spPr>
      </p:cxnSp>
      <p:cxnSp>
        <p:nvCxnSpPr>
          <p:cNvPr id="15" name="">
            <a:extLst xmlns:a="http://schemas.openxmlformats.org/drawingml/2006/main">
              <a:ext uri="{FF2B5EF4-FFF2-40B4-BE49-F238E27FC236}">
                <a16:creationId xmlns:a16="http://schemas.microsoft.com/office/drawing/2014/main" id="{FA624933-4D94-4584-8D17-C22FBFC5A178}"/>
              </a:ext>
            </a:extLst>
          </p:cNvPr>
          <p:cNvCxnSpPr>
            <a:stCxn xmlns:a="http://schemas.openxmlformats.org/drawingml/2006/main" id="13" idx="3"/>
            <a:endCxn xmlns:a="http://schemas.openxmlformats.org/drawingml/2006/main" id="14" idx="1"/>
          </p:cNvCxnSpPr>
          <p:nvPr/>
        </p:nvCxnSpPr>
        <p:spPr>
          <a:xfrm xmlns:a="http://schemas.openxmlformats.org/drawingml/2006/main">
            <a:off x="1290638" y="2952751"/>
            <a:ext cx="1752600" cy="0"/>
          </a:xfrm>
          <a:prstGeom xmlns:a="http://schemas.openxmlformats.org/drawingml/2006/main" prst="straightConnector1">
            <a:avLst/>
          </a:prstGeom>
          <a:ln xmlns:a="http://schemas.openxmlformats.org/drawingml/2006/main" w="28575">
            <a:solidFill>
              <a:srgbClr val="2F5D62"/>
            </a:solidFill>
            <a:tailEnd type="triangle" w="sm" len="sm"/>
          </a:ln>
        </p:spPr>
      </p:cxnSp>
      <p:cxnSp>
        <p:nvCxnSpPr>
          <p:cNvPr id="10" name="">
            <a:extLst xmlns:a="http://schemas.openxmlformats.org/drawingml/2006/main">
              <a:ext uri="{FF2B5EF4-FFF2-40B4-BE49-F238E27FC236}">
                <a16:creationId xmlns:a16="http://schemas.microsoft.com/office/drawing/2014/main" id="{F433192C-B805-4A02-814F-43058EDAD224}"/>
              </a:ext>
            </a:extLst>
          </p:cNvPr>
          <p:cNvCxnSpPr>
            <a:stCxn xmlns:a="http://schemas.openxmlformats.org/drawingml/2006/main" id="8" idx="3"/>
            <a:endCxn xmlns:a="http://schemas.openxmlformats.org/drawingml/2006/main" id="9" idx="1"/>
          </p:cNvCxnSpPr>
          <p:nvPr/>
        </p:nvCxnSpPr>
        <p:spPr>
          <a:xfrm xmlns:a="http://schemas.openxmlformats.org/drawingml/2006/main">
            <a:off x="7196138" y="3857626"/>
            <a:ext cx="3562350" cy="0"/>
          </a:xfrm>
          <a:prstGeom xmlns:a="http://schemas.openxmlformats.org/drawingml/2006/main" prst="straightConnector1">
            <a:avLst/>
          </a:prstGeom>
          <a:ln xmlns:a="http://schemas.openxmlformats.org/drawingml/2006/main" w="47625">
            <a:solidFill>
              <a:srgbClr val="1F1F1B"/>
            </a:solidFill>
            <a:tailEnd type="none" w="med" len="med"/>
          </a:ln>
        </p:spPr>
      </p:cxnSp>
      <p:cxnSp>
        <p:nvCxnSpPr>
          <p:cNvPr id="7" name="">
            <a:extLst xmlns:a="http://schemas.openxmlformats.org/drawingml/2006/main">
              <a:ext uri="{FF2B5EF4-FFF2-40B4-BE49-F238E27FC236}">
                <a16:creationId xmlns:a16="http://schemas.microsoft.com/office/drawing/2014/main" id="{83AB3129-9D12-404D-A12C-D95E8CA778A4}"/>
              </a:ext>
            </a:extLst>
          </p:cNvPr>
          <p:cNvCxnSpPr>
            <a:stCxn xmlns:a="http://schemas.openxmlformats.org/drawingml/2006/main" id="5" idx="3"/>
            <a:endCxn xmlns:a="http://schemas.openxmlformats.org/drawingml/2006/main" id="6" idx="1"/>
          </p:cNvCxnSpPr>
          <p:nvPr/>
        </p:nvCxnSpPr>
        <p:spPr>
          <a:xfrm xmlns:a="http://schemas.openxmlformats.org/drawingml/2006/main">
            <a:off x="1290638" y="3857626"/>
            <a:ext cx="3562350" cy="0"/>
          </a:xfrm>
          <a:prstGeom xmlns:a="http://schemas.openxmlformats.org/drawingml/2006/main" prst="straightConnector1">
            <a:avLst/>
          </a:prstGeom>
          <a:ln xmlns:a="http://schemas.openxmlformats.org/drawingml/2006/main" w="47625">
            <a:solidFill>
              <a:srgbClr val="1F1F1B"/>
            </a:solidFill>
            <a:tailEnd type="none" w="med" len="med"/>
          </a:ln>
        </p:spPr>
      </p:cxnSp>
      <p:sp>
        <p:nvSpPr>
          <p:cNvPr id="34" name="">
            <a:extLst xmlns:a="http://schemas.openxmlformats.org/drawingml/2006/main">
              <a:ext uri="{FF2B5EF4-FFF2-40B4-BE49-F238E27FC236}">
                <a16:creationId xmlns:a16="http://schemas.microsoft.com/office/drawing/2014/main" id="{AE444C06-A0C9-4B01-B1B4-301F178DD498}"/>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F7AB83A1-AC48-4A4F-B537-3D400BC9E0C0}"/>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Jarak beban dan momen gaya</a:t>
            </a:r>
          </a:p>
        </p:txBody>
      </p:sp>
      <p:sp>
        <p:nvSpPr>
          <p:cNvPr id="3" name="">
            <a:extLst xmlns:a="http://schemas.openxmlformats.org/drawingml/2006/main">
              <a:ext uri="{FF2B5EF4-FFF2-40B4-BE49-F238E27FC236}">
                <a16:creationId xmlns:a16="http://schemas.microsoft.com/office/drawing/2014/main" id="{5A41DCD0-540E-4612-93C6-D7BBF2A1A6E4}"/>
              </a:ext>
            </a:extLst>
          </p:cNvPr>
          <p:cNvSpPr>
            <a:spLocks xmlns:a="http://schemas.openxmlformats.org/drawingml/2006/main" noGrp="1"/>
          </p:cNvSpPr>
          <p:nvPr/>
        </p:nvSpPr>
        <p:spPr>
          <a:xfrm xmlns:a="http://schemas.openxmlformats.org/drawingml/2006/main">
            <a:off x="762000" y="2000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F5D62"/>
                </a:solidFill>
                <a:latin typeface="Arial"/>
                <a:ea typeface="Arial"/>
                <a:cs typeface="Arial"/>
              </a:defRPr>
            </a:defPPr>
            <a:lvl1pPr>
              <a:defRPr sz="2325" b="1">
                <a:solidFill>
                  <a:srgbClr val="2F5D62"/>
                </a:solidFill>
                <a:latin typeface="Arial"/>
                <a:ea typeface="Arial"/>
                <a:cs typeface="Arial"/>
              </a:defRPr>
            </a:lvl1pPr>
            <a:lvl2pPr>
              <a:defRPr sz="2325" b="1">
                <a:solidFill>
                  <a:srgbClr val="2F5D62"/>
                </a:solidFill>
                <a:latin typeface="Arial"/>
                <a:ea typeface="Arial"/>
                <a:cs typeface="Arial"/>
              </a:defRPr>
            </a:lvl2pPr>
            <a:lvl3pPr>
              <a:defRPr sz="2325" b="1">
                <a:solidFill>
                  <a:srgbClr val="2F5D62"/>
                </a:solidFill>
                <a:latin typeface="Arial"/>
                <a:ea typeface="Arial"/>
                <a:cs typeface="Arial"/>
              </a:defRPr>
            </a:lvl3pPr>
            <a:lvl4pPr>
              <a:defRPr sz="2325" b="1">
                <a:solidFill>
                  <a:srgbClr val="2F5D62"/>
                </a:solidFill>
                <a:latin typeface="Arial"/>
                <a:ea typeface="Arial"/>
                <a:cs typeface="Arial"/>
              </a:defRPr>
            </a:lvl4pPr>
            <a:lvl5pPr>
              <a:defRPr sz="2325" b="1">
                <a:solidFill>
                  <a:srgbClr val="2F5D62"/>
                </a:solidFill>
                <a:latin typeface="Arial"/>
                <a:ea typeface="Arial"/>
                <a:cs typeface="Arial"/>
              </a:defRPr>
            </a:lvl5pPr>
            <a:lvl6pPr>
              <a:defRPr sz="2325" b="1">
                <a:solidFill>
                  <a:srgbClr val="2F5D62"/>
                </a:solidFill>
                <a:latin typeface="Arial"/>
                <a:ea typeface="Arial"/>
                <a:cs typeface="Arial"/>
              </a:defRPr>
            </a:lvl6pPr>
            <a:lvl7pPr>
              <a:defRPr sz="2325" b="1">
                <a:solidFill>
                  <a:srgbClr val="2F5D62"/>
                </a:solidFill>
                <a:latin typeface="Arial"/>
                <a:ea typeface="Arial"/>
                <a:cs typeface="Arial"/>
              </a:defRPr>
            </a:lvl7pPr>
            <a:lvl8pPr>
              <a:defRPr sz="2325" b="1">
                <a:solidFill>
                  <a:srgbClr val="2F5D62"/>
                </a:solidFill>
                <a:latin typeface="Arial"/>
                <a:ea typeface="Arial"/>
                <a:cs typeface="Arial"/>
              </a:defRPr>
            </a:lvl8pPr>
            <a:lvl9pPr>
              <a:defRPr sz="2325" b="1">
                <a:solidFill>
                  <a:srgbClr val="2F5D62"/>
                </a:solidFill>
                <a:latin typeface="Arial"/>
                <a:ea typeface="Arial"/>
                <a:cs typeface="Arial"/>
              </a:defRPr>
            </a:lvl9pPr>
          </a:lstStyle>
          <a:p xmlns:a="http://schemas.openxmlformats.org/drawingml/2006/main">
            <a:pPr>
              <a:defRPr sz="2325" b="1">
                <a:solidFill>
                  <a:srgbClr val="2F5D62"/>
                </a:solidFill>
                <a:latin typeface="Arial"/>
                <a:ea typeface="Arial"/>
                <a:cs typeface="Arial"/>
              </a:defRPr>
            </a:pPr>
            <a:r>
              <a:rPr sz="2325" b="1">
                <a:solidFill>
                  <a:srgbClr val="2F5D62"/>
                </a:solidFill>
                <a:latin typeface="Arial"/>
                <a:ea typeface="Arial"/>
                <a:cs typeface="Arial"/>
              </a:rPr>
              <a:t>Jarak 0,20 m</a:t>
            </a:r>
          </a:p>
        </p:txBody>
      </p:sp>
      <p:sp>
        <p:nvSpPr>
          <p:cNvPr id="4" name="">
            <a:extLst xmlns:a="http://schemas.openxmlformats.org/drawingml/2006/main">
              <a:ext uri="{FF2B5EF4-FFF2-40B4-BE49-F238E27FC236}">
                <a16:creationId xmlns:a16="http://schemas.microsoft.com/office/drawing/2014/main" id="{C6F85056-6930-4B57-8E01-40FDB9923BAA}"/>
              </a:ext>
            </a:extLst>
          </p:cNvPr>
          <p:cNvSpPr>
            <a:spLocks xmlns:a="http://schemas.openxmlformats.org/drawingml/2006/main" noGrp="1"/>
          </p:cNvSpPr>
          <p:nvPr/>
        </p:nvSpPr>
        <p:spPr>
          <a:xfrm xmlns:a="http://schemas.openxmlformats.org/drawingml/2006/main">
            <a:off x="6667500" y="2000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8A2D1F"/>
                </a:solidFill>
                <a:latin typeface="Arial"/>
                <a:ea typeface="Arial"/>
                <a:cs typeface="Arial"/>
              </a:defRPr>
            </a:defPPr>
            <a:lvl1pPr>
              <a:defRPr sz="2325" b="1">
                <a:solidFill>
                  <a:srgbClr val="8A2D1F"/>
                </a:solidFill>
                <a:latin typeface="Arial"/>
                <a:ea typeface="Arial"/>
                <a:cs typeface="Arial"/>
              </a:defRPr>
            </a:lvl1pPr>
            <a:lvl2pPr>
              <a:defRPr sz="2325" b="1">
                <a:solidFill>
                  <a:srgbClr val="8A2D1F"/>
                </a:solidFill>
                <a:latin typeface="Arial"/>
                <a:ea typeface="Arial"/>
                <a:cs typeface="Arial"/>
              </a:defRPr>
            </a:lvl2pPr>
            <a:lvl3pPr>
              <a:defRPr sz="2325" b="1">
                <a:solidFill>
                  <a:srgbClr val="8A2D1F"/>
                </a:solidFill>
                <a:latin typeface="Arial"/>
                <a:ea typeface="Arial"/>
                <a:cs typeface="Arial"/>
              </a:defRPr>
            </a:lvl3pPr>
            <a:lvl4pPr>
              <a:defRPr sz="2325" b="1">
                <a:solidFill>
                  <a:srgbClr val="8A2D1F"/>
                </a:solidFill>
                <a:latin typeface="Arial"/>
                <a:ea typeface="Arial"/>
                <a:cs typeface="Arial"/>
              </a:defRPr>
            </a:lvl4pPr>
            <a:lvl5pPr>
              <a:defRPr sz="2325" b="1">
                <a:solidFill>
                  <a:srgbClr val="8A2D1F"/>
                </a:solidFill>
                <a:latin typeface="Arial"/>
                <a:ea typeface="Arial"/>
                <a:cs typeface="Arial"/>
              </a:defRPr>
            </a:lvl5pPr>
            <a:lvl6pPr>
              <a:defRPr sz="2325" b="1">
                <a:solidFill>
                  <a:srgbClr val="8A2D1F"/>
                </a:solidFill>
                <a:latin typeface="Arial"/>
                <a:ea typeface="Arial"/>
                <a:cs typeface="Arial"/>
              </a:defRPr>
            </a:lvl6pPr>
            <a:lvl7pPr>
              <a:defRPr sz="2325" b="1">
                <a:solidFill>
                  <a:srgbClr val="8A2D1F"/>
                </a:solidFill>
                <a:latin typeface="Arial"/>
                <a:ea typeface="Arial"/>
                <a:cs typeface="Arial"/>
              </a:defRPr>
            </a:lvl7pPr>
            <a:lvl8pPr>
              <a:defRPr sz="2325" b="1">
                <a:solidFill>
                  <a:srgbClr val="8A2D1F"/>
                </a:solidFill>
                <a:latin typeface="Arial"/>
                <a:ea typeface="Arial"/>
                <a:cs typeface="Arial"/>
              </a:defRPr>
            </a:lvl8pPr>
            <a:lvl9pPr>
              <a:defRPr sz="2325" b="1">
                <a:solidFill>
                  <a:srgbClr val="8A2D1F"/>
                </a:solidFill>
                <a:latin typeface="Arial"/>
                <a:ea typeface="Arial"/>
                <a:cs typeface="Arial"/>
              </a:defRPr>
            </a:lvl9pPr>
          </a:lstStyle>
          <a:p xmlns:a="http://schemas.openxmlformats.org/drawingml/2006/main">
            <a:pPr>
              <a:defRPr sz="2325" b="1">
                <a:solidFill>
                  <a:srgbClr val="8A2D1F"/>
                </a:solidFill>
                <a:latin typeface="Arial"/>
                <a:ea typeface="Arial"/>
                <a:cs typeface="Arial"/>
              </a:defRPr>
            </a:pPr>
            <a:r>
              <a:rPr sz="2325" b="1">
                <a:solidFill>
                  <a:srgbClr val="8A2D1F"/>
                </a:solidFill>
                <a:latin typeface="Arial"/>
                <a:ea typeface="Arial"/>
                <a:cs typeface="Arial"/>
              </a:rPr>
              <a:t>Jarak 0,40 m</a:t>
            </a:r>
          </a:p>
        </p:txBody>
      </p:sp>
      <p:sp>
        <p:nvSpPr>
          <p:cNvPr id="5" name="">
            <a:extLst xmlns:a="http://schemas.openxmlformats.org/drawingml/2006/main">
              <a:ext uri="{FF2B5EF4-FFF2-40B4-BE49-F238E27FC236}">
                <a16:creationId xmlns:a16="http://schemas.microsoft.com/office/drawing/2014/main" id="{161DCF41-32A8-46EA-A834-C0054A68A6CD}"/>
              </a:ext>
            </a:extLst>
          </p:cNvPr>
          <p:cNvSpPr>
            <a:spLocks xmlns:a="http://schemas.openxmlformats.org/drawingml/2006/main" noGrp="1"/>
          </p:cNvSpPr>
          <p:nvPr/>
        </p:nvSpPr>
        <p:spPr>
          <a:xfrm xmlns:a="http://schemas.openxmlformats.org/drawingml/2006/main">
            <a:off x="1281113" y="3852863"/>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1770B2-49AD-4111-839D-C86DCFF073AE}"/>
              </a:ext>
            </a:extLst>
          </p:cNvPr>
          <p:cNvSpPr>
            <a:spLocks xmlns:a="http://schemas.openxmlformats.org/drawingml/2006/main" noGrp="1"/>
          </p:cNvSpPr>
          <p:nvPr/>
        </p:nvSpPr>
        <p:spPr>
          <a:xfrm xmlns:a="http://schemas.openxmlformats.org/drawingml/2006/main">
            <a:off x="4852988" y="3852863"/>
            <a:ext cx="9525" cy="9525"/>
          </a:xfrm>
          <a:prstGeom xmlns:a="http://schemas.openxmlformats.org/drawingml/2006/main" prst="rect">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51254E-CA63-4EA9-9E8A-87C384C55CA9}"/>
              </a:ext>
            </a:extLst>
          </p:cNvPr>
          <p:cNvSpPr>
            <a:spLocks xmlns:a="http://schemas.openxmlformats.org/drawingml/2006/main" noGrp="1"/>
          </p:cNvSpPr>
          <p:nvPr/>
        </p:nvSpPr>
        <p:spPr>
          <a:xfrm xmlns:a="http://schemas.openxmlformats.org/drawingml/2006/main">
            <a:off x="7186613" y="3852863"/>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036787-8168-43A5-B25D-22F5E0DFF0AC}"/>
              </a:ext>
            </a:extLst>
          </p:cNvPr>
          <p:cNvSpPr>
            <a:spLocks xmlns:a="http://schemas.openxmlformats.org/drawingml/2006/main" noGrp="1"/>
          </p:cNvSpPr>
          <p:nvPr/>
        </p:nvSpPr>
        <p:spPr>
          <a:xfrm xmlns:a="http://schemas.openxmlformats.org/drawingml/2006/main">
            <a:off x="10758488" y="3852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180EDD-D497-4045-8246-056CEB4F6CC2}"/>
              </a:ext>
            </a:extLst>
          </p:cNvPr>
          <p:cNvSpPr>
            <a:spLocks xmlns:a="http://schemas.openxmlformats.org/drawingml/2006/main" noGrp="1"/>
          </p:cNvSpPr>
          <p:nvPr/>
        </p:nvSpPr>
        <p:spPr>
          <a:xfrm xmlns:a="http://schemas.openxmlformats.org/drawingml/2006/main">
            <a:off x="1238250" y="3810000"/>
            <a:ext cx="114300" cy="1047750"/>
          </a:xfrm>
          <a:prstGeom xmlns:a="http://schemas.openxmlformats.org/drawingml/2006/main" prst="rect">
            <a:avLst/>
          </a:prstGeom>
          <a:solidFill xmlns:a="http://schemas.openxmlformats.org/drawingml/2006/main">
            <a:srgbClr val="2F5D62"/>
          </a:solidFill>
          <a:ln xmlns:a="http://schemas.openxmlformats.org/drawingml/2006/main" w="9525">
            <a:solidFill>
              <a:srgbClr val="2F5D62"/>
            </a:solidFill>
          </a:ln>
        </p:spPr>
      </p:sp>
      <p:sp>
        <p:nvSpPr>
          <p:cNvPr id="12" name="">
            <a:extLst xmlns:a="http://schemas.openxmlformats.org/drawingml/2006/main">
              <a:ext uri="{FF2B5EF4-FFF2-40B4-BE49-F238E27FC236}">
                <a16:creationId xmlns:a16="http://schemas.microsoft.com/office/drawing/2014/main" id="{8BE9D860-6A97-400E-AD42-6BBB8598A7B3}"/>
              </a:ext>
            </a:extLst>
          </p:cNvPr>
          <p:cNvSpPr>
            <a:spLocks xmlns:a="http://schemas.openxmlformats.org/drawingml/2006/main" noGrp="1"/>
          </p:cNvSpPr>
          <p:nvPr/>
        </p:nvSpPr>
        <p:spPr>
          <a:xfrm xmlns:a="http://schemas.openxmlformats.org/drawingml/2006/main">
            <a:off x="7143750" y="3810000"/>
            <a:ext cx="114300" cy="1047750"/>
          </a:xfrm>
          <a:prstGeom xmlns:a="http://schemas.openxmlformats.org/drawingml/2006/main" prst="rect">
            <a:avLst/>
          </a:prstGeom>
          <a:solidFill xmlns:a="http://schemas.openxmlformats.org/drawingml/2006/main">
            <a:srgbClr val="2F5D62"/>
          </a:solidFill>
          <a:ln xmlns:a="http://schemas.openxmlformats.org/drawingml/2006/main" w="9525">
            <a:solidFill>
              <a:srgbClr val="2F5D62"/>
            </a:solidFill>
          </a:ln>
        </p:spPr>
      </p:sp>
      <p:sp>
        <p:nvSpPr>
          <p:cNvPr id="13" name="">
            <a:extLst xmlns:a="http://schemas.openxmlformats.org/drawingml/2006/main">
              <a:ext uri="{FF2B5EF4-FFF2-40B4-BE49-F238E27FC236}">
                <a16:creationId xmlns:a16="http://schemas.microsoft.com/office/drawing/2014/main" id="{9CE87EA9-9917-4221-8E3F-AD3528E1E36D}"/>
              </a:ext>
            </a:extLst>
          </p:cNvPr>
          <p:cNvSpPr>
            <a:spLocks xmlns:a="http://schemas.openxmlformats.org/drawingml/2006/main" noGrp="1"/>
          </p:cNvSpPr>
          <p:nvPr/>
        </p:nvSpPr>
        <p:spPr>
          <a:xfrm xmlns:a="http://schemas.openxmlformats.org/drawingml/2006/main">
            <a:off x="1281113" y="2947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23EEF0A-149E-4A20-9CE4-6011799920C0}"/>
              </a:ext>
            </a:extLst>
          </p:cNvPr>
          <p:cNvSpPr>
            <a:spLocks xmlns:a="http://schemas.openxmlformats.org/drawingml/2006/main" noGrp="1"/>
          </p:cNvSpPr>
          <p:nvPr/>
        </p:nvSpPr>
        <p:spPr>
          <a:xfrm xmlns:a="http://schemas.openxmlformats.org/drawingml/2006/main">
            <a:off x="3043238" y="2947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8B785FF-62B4-4B49-B650-67A3CA826D9E}"/>
              </a:ext>
            </a:extLst>
          </p:cNvPr>
          <p:cNvSpPr>
            <a:spLocks xmlns:a="http://schemas.openxmlformats.org/drawingml/2006/main" noGrp="1"/>
          </p:cNvSpPr>
          <p:nvPr/>
        </p:nvSpPr>
        <p:spPr>
          <a:xfrm xmlns:a="http://schemas.openxmlformats.org/drawingml/2006/main">
            <a:off x="7186613" y="2947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387339-4499-4753-9317-7431A0C0364E}"/>
              </a:ext>
            </a:extLst>
          </p:cNvPr>
          <p:cNvSpPr>
            <a:spLocks xmlns:a="http://schemas.openxmlformats.org/drawingml/2006/main" noGrp="1"/>
          </p:cNvSpPr>
          <p:nvPr/>
        </p:nvSpPr>
        <p:spPr>
          <a:xfrm xmlns:a="http://schemas.openxmlformats.org/drawingml/2006/main">
            <a:off x="10710863" y="2947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91407D-B388-4425-93C8-DD4756ECCF3B}"/>
              </a:ext>
            </a:extLst>
          </p:cNvPr>
          <p:cNvSpPr>
            <a:spLocks xmlns:a="http://schemas.openxmlformats.org/drawingml/2006/main" noGrp="1"/>
          </p:cNvSpPr>
          <p:nvPr/>
        </p:nvSpPr>
        <p:spPr>
          <a:xfrm xmlns:a="http://schemas.openxmlformats.org/drawingml/2006/main">
            <a:off x="3043238" y="3328988"/>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E61ED6-2915-4F4B-9C1A-6F22403039C6}"/>
              </a:ext>
            </a:extLst>
          </p:cNvPr>
          <p:cNvSpPr>
            <a:spLocks xmlns:a="http://schemas.openxmlformats.org/drawingml/2006/main" noGrp="1"/>
          </p:cNvSpPr>
          <p:nvPr/>
        </p:nvSpPr>
        <p:spPr>
          <a:xfrm xmlns:a="http://schemas.openxmlformats.org/drawingml/2006/main">
            <a:off x="3043238" y="4233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34C226D-5DCF-485E-8DE8-9A9019607D2D}"/>
              </a:ext>
            </a:extLst>
          </p:cNvPr>
          <p:cNvSpPr>
            <a:spLocks xmlns:a="http://schemas.openxmlformats.org/drawingml/2006/main" noGrp="1"/>
          </p:cNvSpPr>
          <p:nvPr/>
        </p:nvSpPr>
        <p:spPr>
          <a:xfrm xmlns:a="http://schemas.openxmlformats.org/drawingml/2006/main">
            <a:off x="10710863" y="3328988"/>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5231084-55AF-42E9-92B7-C3A901243C1E}"/>
              </a:ext>
            </a:extLst>
          </p:cNvPr>
          <p:cNvSpPr>
            <a:spLocks xmlns:a="http://schemas.openxmlformats.org/drawingml/2006/main" noGrp="1"/>
          </p:cNvSpPr>
          <p:nvPr/>
        </p:nvSpPr>
        <p:spPr>
          <a:xfrm xmlns:a="http://schemas.openxmlformats.org/drawingml/2006/main">
            <a:off x="10710863" y="4233863"/>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30A228F-D9A5-42E6-889A-B857A5E89D45}"/>
              </a:ext>
            </a:extLst>
          </p:cNvPr>
          <p:cNvSpPr>
            <a:spLocks xmlns:a="http://schemas.openxmlformats.org/drawingml/2006/main" noGrp="1"/>
          </p:cNvSpPr>
          <p:nvPr/>
        </p:nvSpPr>
        <p:spPr>
          <a:xfrm xmlns:a="http://schemas.openxmlformats.org/drawingml/2006/main">
            <a:off x="2333625" y="25336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F5D62"/>
                </a:solidFill>
                <a:latin typeface="Arial"/>
                <a:ea typeface="Arial"/>
                <a:cs typeface="Arial"/>
              </a:defRPr>
            </a:defPPr>
            <a:lvl1pPr>
              <a:defRPr sz="1875" b="0">
                <a:solidFill>
                  <a:srgbClr val="2F5D62"/>
                </a:solidFill>
                <a:latin typeface="Arial"/>
                <a:ea typeface="Arial"/>
                <a:cs typeface="Arial"/>
              </a:defRPr>
            </a:lvl1pPr>
            <a:lvl2pPr>
              <a:defRPr sz="1875" b="0">
                <a:solidFill>
                  <a:srgbClr val="2F5D62"/>
                </a:solidFill>
                <a:latin typeface="Arial"/>
                <a:ea typeface="Arial"/>
                <a:cs typeface="Arial"/>
              </a:defRPr>
            </a:lvl2pPr>
            <a:lvl3pPr>
              <a:defRPr sz="1875" b="0">
                <a:solidFill>
                  <a:srgbClr val="2F5D62"/>
                </a:solidFill>
                <a:latin typeface="Arial"/>
                <a:ea typeface="Arial"/>
                <a:cs typeface="Arial"/>
              </a:defRPr>
            </a:lvl3pPr>
            <a:lvl4pPr>
              <a:defRPr sz="1875" b="0">
                <a:solidFill>
                  <a:srgbClr val="2F5D62"/>
                </a:solidFill>
                <a:latin typeface="Arial"/>
                <a:ea typeface="Arial"/>
                <a:cs typeface="Arial"/>
              </a:defRPr>
            </a:lvl4pPr>
            <a:lvl5pPr>
              <a:defRPr sz="1875" b="0">
                <a:solidFill>
                  <a:srgbClr val="2F5D62"/>
                </a:solidFill>
                <a:latin typeface="Arial"/>
                <a:ea typeface="Arial"/>
                <a:cs typeface="Arial"/>
              </a:defRPr>
            </a:lvl5pPr>
            <a:lvl6pPr>
              <a:defRPr sz="1875" b="0">
                <a:solidFill>
                  <a:srgbClr val="2F5D62"/>
                </a:solidFill>
                <a:latin typeface="Arial"/>
                <a:ea typeface="Arial"/>
                <a:cs typeface="Arial"/>
              </a:defRPr>
            </a:lvl6pPr>
            <a:lvl7pPr>
              <a:defRPr sz="1875" b="0">
                <a:solidFill>
                  <a:srgbClr val="2F5D62"/>
                </a:solidFill>
                <a:latin typeface="Arial"/>
                <a:ea typeface="Arial"/>
                <a:cs typeface="Arial"/>
              </a:defRPr>
            </a:lvl7pPr>
            <a:lvl8pPr>
              <a:defRPr sz="1875" b="0">
                <a:solidFill>
                  <a:srgbClr val="2F5D62"/>
                </a:solidFill>
                <a:latin typeface="Arial"/>
                <a:ea typeface="Arial"/>
                <a:cs typeface="Arial"/>
              </a:defRPr>
            </a:lvl8pPr>
            <a:lvl9pPr>
              <a:defRPr sz="1875" b="0">
                <a:solidFill>
                  <a:srgbClr val="2F5D62"/>
                </a:solidFill>
                <a:latin typeface="Arial"/>
                <a:ea typeface="Arial"/>
                <a:cs typeface="Arial"/>
              </a:defRPr>
            </a:lvl9pPr>
          </a:lstStyle>
          <a:p xmlns:a="http://schemas.openxmlformats.org/drawingml/2006/main">
            <a:pPr>
              <a:defRPr sz="1875" b="0">
                <a:solidFill>
                  <a:srgbClr val="2F5D62"/>
                </a:solidFill>
                <a:latin typeface="Arial"/>
                <a:ea typeface="Arial"/>
                <a:cs typeface="Arial"/>
              </a:defRPr>
            </a:pPr>
            <a:r>
              <a:rPr sz="1875" b="0">
                <a:solidFill>
                  <a:srgbClr val="2F5D62"/>
                </a:solidFill>
                <a:latin typeface="Arial"/>
                <a:ea typeface="Arial"/>
                <a:cs typeface="Arial"/>
              </a:rPr>
              <a:t>d = 0,20 m</a:t>
            </a:r>
          </a:p>
        </p:txBody>
      </p:sp>
      <p:sp>
        <p:nvSpPr>
          <p:cNvPr id="26" name="">
            <a:extLst xmlns:a="http://schemas.openxmlformats.org/drawingml/2006/main">
              <a:ext uri="{FF2B5EF4-FFF2-40B4-BE49-F238E27FC236}">
                <a16:creationId xmlns:a16="http://schemas.microsoft.com/office/drawing/2014/main" id="{2E1841B6-7B14-436F-9BA1-FC59CAEEC13D}"/>
              </a:ext>
            </a:extLst>
          </p:cNvPr>
          <p:cNvSpPr>
            <a:spLocks xmlns:a="http://schemas.openxmlformats.org/drawingml/2006/main" noGrp="1"/>
          </p:cNvSpPr>
          <p:nvPr/>
        </p:nvSpPr>
        <p:spPr>
          <a:xfrm xmlns:a="http://schemas.openxmlformats.org/drawingml/2006/main">
            <a:off x="8382000" y="25336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8A2D1F"/>
                </a:solidFill>
                <a:latin typeface="Arial"/>
                <a:ea typeface="Arial"/>
                <a:cs typeface="Arial"/>
              </a:defRPr>
            </a:defPPr>
            <a:lvl1pPr>
              <a:defRPr sz="1875" b="0">
                <a:solidFill>
                  <a:srgbClr val="8A2D1F"/>
                </a:solidFill>
                <a:latin typeface="Arial"/>
                <a:ea typeface="Arial"/>
                <a:cs typeface="Arial"/>
              </a:defRPr>
            </a:lvl1pPr>
            <a:lvl2pPr>
              <a:defRPr sz="1875" b="0">
                <a:solidFill>
                  <a:srgbClr val="8A2D1F"/>
                </a:solidFill>
                <a:latin typeface="Arial"/>
                <a:ea typeface="Arial"/>
                <a:cs typeface="Arial"/>
              </a:defRPr>
            </a:lvl2pPr>
            <a:lvl3pPr>
              <a:defRPr sz="1875" b="0">
                <a:solidFill>
                  <a:srgbClr val="8A2D1F"/>
                </a:solidFill>
                <a:latin typeface="Arial"/>
                <a:ea typeface="Arial"/>
                <a:cs typeface="Arial"/>
              </a:defRPr>
            </a:lvl3pPr>
            <a:lvl4pPr>
              <a:defRPr sz="1875" b="0">
                <a:solidFill>
                  <a:srgbClr val="8A2D1F"/>
                </a:solidFill>
                <a:latin typeface="Arial"/>
                <a:ea typeface="Arial"/>
                <a:cs typeface="Arial"/>
              </a:defRPr>
            </a:lvl4pPr>
            <a:lvl5pPr>
              <a:defRPr sz="1875" b="0">
                <a:solidFill>
                  <a:srgbClr val="8A2D1F"/>
                </a:solidFill>
                <a:latin typeface="Arial"/>
                <a:ea typeface="Arial"/>
                <a:cs typeface="Arial"/>
              </a:defRPr>
            </a:lvl5pPr>
            <a:lvl6pPr>
              <a:defRPr sz="1875" b="0">
                <a:solidFill>
                  <a:srgbClr val="8A2D1F"/>
                </a:solidFill>
                <a:latin typeface="Arial"/>
                <a:ea typeface="Arial"/>
                <a:cs typeface="Arial"/>
              </a:defRPr>
            </a:lvl6pPr>
            <a:lvl7pPr>
              <a:defRPr sz="1875" b="0">
                <a:solidFill>
                  <a:srgbClr val="8A2D1F"/>
                </a:solidFill>
                <a:latin typeface="Arial"/>
                <a:ea typeface="Arial"/>
                <a:cs typeface="Arial"/>
              </a:defRPr>
            </a:lvl7pPr>
            <a:lvl8pPr>
              <a:defRPr sz="1875" b="0">
                <a:solidFill>
                  <a:srgbClr val="8A2D1F"/>
                </a:solidFill>
                <a:latin typeface="Arial"/>
                <a:ea typeface="Arial"/>
                <a:cs typeface="Arial"/>
              </a:defRPr>
            </a:lvl8pPr>
            <a:lvl9pPr>
              <a:defRPr sz="1875" b="0">
                <a:solidFill>
                  <a:srgbClr val="8A2D1F"/>
                </a:solidFill>
                <a:latin typeface="Arial"/>
                <a:ea typeface="Arial"/>
                <a:cs typeface="Arial"/>
              </a:defRPr>
            </a:lvl9pPr>
          </a:lstStyle>
          <a:p xmlns:a="http://schemas.openxmlformats.org/drawingml/2006/main">
            <a:pPr>
              <a:defRPr sz="1875" b="0">
                <a:solidFill>
                  <a:srgbClr val="8A2D1F"/>
                </a:solidFill>
                <a:latin typeface="Arial"/>
                <a:ea typeface="Arial"/>
                <a:cs typeface="Arial"/>
              </a:defRPr>
            </a:pPr>
            <a:r>
              <a:rPr sz="1875" b="0">
                <a:solidFill>
                  <a:srgbClr val="8A2D1F"/>
                </a:solidFill>
                <a:latin typeface="Arial"/>
                <a:ea typeface="Arial"/>
                <a:cs typeface="Arial"/>
              </a:rPr>
              <a:t>d = 0,40 m</a:t>
            </a:r>
          </a:p>
        </p:txBody>
      </p:sp>
      <p:sp>
        <p:nvSpPr>
          <p:cNvPr id="27" name="">
            <a:extLst xmlns:a="http://schemas.openxmlformats.org/drawingml/2006/main">
              <a:ext uri="{FF2B5EF4-FFF2-40B4-BE49-F238E27FC236}">
                <a16:creationId xmlns:a16="http://schemas.microsoft.com/office/drawing/2014/main" id="{1C6D75B1-494B-4CDE-8EC3-8DC1131D0D83}"/>
              </a:ext>
            </a:extLst>
          </p:cNvPr>
          <p:cNvSpPr>
            <a:spLocks xmlns:a="http://schemas.openxmlformats.org/drawingml/2006/main" noGrp="1"/>
          </p:cNvSpPr>
          <p:nvPr/>
        </p:nvSpPr>
        <p:spPr>
          <a:xfrm xmlns:a="http://schemas.openxmlformats.org/drawingml/2006/main">
            <a:off x="2524125" y="43053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F1F1B"/>
                </a:solidFill>
                <a:latin typeface="Arial"/>
                <a:ea typeface="Arial"/>
                <a:cs typeface="Arial"/>
              </a:defRPr>
            </a:defPPr>
            <a:lvl1pPr>
              <a:defRPr sz="2100" b="0">
                <a:solidFill>
                  <a:srgbClr val="1F1F1B"/>
                </a:solidFill>
                <a:latin typeface="Arial"/>
                <a:ea typeface="Arial"/>
                <a:cs typeface="Arial"/>
              </a:defRPr>
            </a:lvl1pPr>
            <a:lvl2pPr>
              <a:defRPr sz="2100" b="0">
                <a:solidFill>
                  <a:srgbClr val="1F1F1B"/>
                </a:solidFill>
                <a:latin typeface="Arial"/>
                <a:ea typeface="Arial"/>
                <a:cs typeface="Arial"/>
              </a:defRPr>
            </a:lvl2pPr>
            <a:lvl3pPr>
              <a:defRPr sz="2100" b="0">
                <a:solidFill>
                  <a:srgbClr val="1F1F1B"/>
                </a:solidFill>
                <a:latin typeface="Arial"/>
                <a:ea typeface="Arial"/>
                <a:cs typeface="Arial"/>
              </a:defRPr>
            </a:lvl3pPr>
            <a:lvl4pPr>
              <a:defRPr sz="2100" b="0">
                <a:solidFill>
                  <a:srgbClr val="1F1F1B"/>
                </a:solidFill>
                <a:latin typeface="Arial"/>
                <a:ea typeface="Arial"/>
                <a:cs typeface="Arial"/>
              </a:defRPr>
            </a:lvl4pPr>
            <a:lvl5pPr>
              <a:defRPr sz="2100" b="0">
                <a:solidFill>
                  <a:srgbClr val="1F1F1B"/>
                </a:solidFill>
                <a:latin typeface="Arial"/>
                <a:ea typeface="Arial"/>
                <a:cs typeface="Arial"/>
              </a:defRPr>
            </a:lvl5pPr>
            <a:lvl6pPr>
              <a:defRPr sz="2100" b="0">
                <a:solidFill>
                  <a:srgbClr val="1F1F1B"/>
                </a:solidFill>
                <a:latin typeface="Arial"/>
                <a:ea typeface="Arial"/>
                <a:cs typeface="Arial"/>
              </a:defRPr>
            </a:lvl6pPr>
            <a:lvl7pPr>
              <a:defRPr sz="2100" b="0">
                <a:solidFill>
                  <a:srgbClr val="1F1F1B"/>
                </a:solidFill>
                <a:latin typeface="Arial"/>
                <a:ea typeface="Arial"/>
                <a:cs typeface="Arial"/>
              </a:defRPr>
            </a:lvl7pPr>
            <a:lvl8pPr>
              <a:defRPr sz="2100" b="0">
                <a:solidFill>
                  <a:srgbClr val="1F1F1B"/>
                </a:solidFill>
                <a:latin typeface="Arial"/>
                <a:ea typeface="Arial"/>
                <a:cs typeface="Arial"/>
              </a:defRPr>
            </a:lvl8pPr>
            <a:lvl9pPr>
              <a:defRPr sz="2100" b="0">
                <a:solidFill>
                  <a:srgbClr val="1F1F1B"/>
                </a:solidFill>
                <a:latin typeface="Arial"/>
                <a:ea typeface="Arial"/>
                <a:cs typeface="Arial"/>
              </a:defRPr>
            </a:lvl9pPr>
          </a:lstStyle>
          <a:p xmlns:a="http://schemas.openxmlformats.org/drawingml/2006/main">
            <a:pPr>
              <a:defRPr sz="2100" b="0">
                <a:solidFill>
                  <a:srgbClr val="1F1F1B"/>
                </a:solidFill>
                <a:latin typeface="Arial"/>
                <a:ea typeface="Arial"/>
                <a:cs typeface="Arial"/>
              </a:defRPr>
            </a:pPr>
            <a:r>
              <a:rPr sz="2100" b="0">
                <a:solidFill>
                  <a:srgbClr val="1F1F1B"/>
                </a:solidFill>
                <a:latin typeface="Arial"/>
                <a:ea typeface="Arial"/>
                <a:cs typeface="Arial"/>
              </a:rPr>
              <a:t>10 kg</a:t>
            </a:r>
          </a:p>
        </p:txBody>
      </p:sp>
      <p:sp>
        <p:nvSpPr>
          <p:cNvPr id="28" name="">
            <a:extLst xmlns:a="http://schemas.openxmlformats.org/drawingml/2006/main">
              <a:ext uri="{FF2B5EF4-FFF2-40B4-BE49-F238E27FC236}">
                <a16:creationId xmlns:a16="http://schemas.microsoft.com/office/drawing/2014/main" id="{5410953F-5AF8-4ED9-BCC5-990AC43E784E}"/>
              </a:ext>
            </a:extLst>
          </p:cNvPr>
          <p:cNvSpPr>
            <a:spLocks xmlns:a="http://schemas.openxmlformats.org/drawingml/2006/main" noGrp="1"/>
          </p:cNvSpPr>
          <p:nvPr/>
        </p:nvSpPr>
        <p:spPr>
          <a:xfrm xmlns:a="http://schemas.openxmlformats.org/drawingml/2006/main">
            <a:off x="9715500" y="43053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F1F1B"/>
                </a:solidFill>
                <a:latin typeface="Arial"/>
                <a:ea typeface="Arial"/>
                <a:cs typeface="Arial"/>
              </a:defRPr>
            </a:defPPr>
            <a:lvl1pPr>
              <a:defRPr sz="2100" b="0">
                <a:solidFill>
                  <a:srgbClr val="1F1F1B"/>
                </a:solidFill>
                <a:latin typeface="Arial"/>
                <a:ea typeface="Arial"/>
                <a:cs typeface="Arial"/>
              </a:defRPr>
            </a:lvl1pPr>
            <a:lvl2pPr>
              <a:defRPr sz="2100" b="0">
                <a:solidFill>
                  <a:srgbClr val="1F1F1B"/>
                </a:solidFill>
                <a:latin typeface="Arial"/>
                <a:ea typeface="Arial"/>
                <a:cs typeface="Arial"/>
              </a:defRPr>
            </a:lvl2pPr>
            <a:lvl3pPr>
              <a:defRPr sz="2100" b="0">
                <a:solidFill>
                  <a:srgbClr val="1F1F1B"/>
                </a:solidFill>
                <a:latin typeface="Arial"/>
                <a:ea typeface="Arial"/>
                <a:cs typeface="Arial"/>
              </a:defRPr>
            </a:lvl3pPr>
            <a:lvl4pPr>
              <a:defRPr sz="2100" b="0">
                <a:solidFill>
                  <a:srgbClr val="1F1F1B"/>
                </a:solidFill>
                <a:latin typeface="Arial"/>
                <a:ea typeface="Arial"/>
                <a:cs typeface="Arial"/>
              </a:defRPr>
            </a:lvl4pPr>
            <a:lvl5pPr>
              <a:defRPr sz="2100" b="0">
                <a:solidFill>
                  <a:srgbClr val="1F1F1B"/>
                </a:solidFill>
                <a:latin typeface="Arial"/>
                <a:ea typeface="Arial"/>
                <a:cs typeface="Arial"/>
              </a:defRPr>
            </a:lvl5pPr>
            <a:lvl6pPr>
              <a:defRPr sz="2100" b="0">
                <a:solidFill>
                  <a:srgbClr val="1F1F1B"/>
                </a:solidFill>
                <a:latin typeface="Arial"/>
                <a:ea typeface="Arial"/>
                <a:cs typeface="Arial"/>
              </a:defRPr>
            </a:lvl6pPr>
            <a:lvl7pPr>
              <a:defRPr sz="2100" b="0">
                <a:solidFill>
                  <a:srgbClr val="1F1F1B"/>
                </a:solidFill>
                <a:latin typeface="Arial"/>
                <a:ea typeface="Arial"/>
                <a:cs typeface="Arial"/>
              </a:defRPr>
            </a:lvl7pPr>
            <a:lvl8pPr>
              <a:defRPr sz="2100" b="0">
                <a:solidFill>
                  <a:srgbClr val="1F1F1B"/>
                </a:solidFill>
                <a:latin typeface="Arial"/>
                <a:ea typeface="Arial"/>
                <a:cs typeface="Arial"/>
              </a:defRPr>
            </a:lvl8pPr>
            <a:lvl9pPr>
              <a:defRPr sz="2100" b="0">
                <a:solidFill>
                  <a:srgbClr val="1F1F1B"/>
                </a:solidFill>
                <a:latin typeface="Arial"/>
                <a:ea typeface="Arial"/>
                <a:cs typeface="Arial"/>
              </a:defRPr>
            </a:lvl9pPr>
          </a:lstStyle>
          <a:p xmlns:a="http://schemas.openxmlformats.org/drawingml/2006/main">
            <a:pPr>
              <a:defRPr sz="2100" b="0">
                <a:solidFill>
                  <a:srgbClr val="1F1F1B"/>
                </a:solidFill>
                <a:latin typeface="Arial"/>
                <a:ea typeface="Arial"/>
                <a:cs typeface="Arial"/>
              </a:defRPr>
            </a:pPr>
            <a:r>
              <a:rPr sz="2100" b="0">
                <a:solidFill>
                  <a:srgbClr val="1F1F1B"/>
                </a:solidFill>
                <a:latin typeface="Arial"/>
                <a:ea typeface="Arial"/>
                <a:cs typeface="Arial"/>
              </a:rPr>
              <a:t>10 kg</a:t>
            </a:r>
          </a:p>
        </p:txBody>
      </p:sp>
      <p:sp>
        <p:nvSpPr>
          <p:cNvPr id="29" name="">
            <a:extLst xmlns:a="http://schemas.openxmlformats.org/drawingml/2006/main">
              <a:ext uri="{FF2B5EF4-FFF2-40B4-BE49-F238E27FC236}">
                <a16:creationId xmlns:a16="http://schemas.microsoft.com/office/drawing/2014/main" id="{298D3A9A-2989-469F-9CB1-A8C37BFF52BD}"/>
              </a:ext>
            </a:extLst>
          </p:cNvPr>
          <p:cNvSpPr>
            <a:spLocks xmlns:a="http://schemas.openxmlformats.org/drawingml/2006/main" noGrp="1"/>
          </p:cNvSpPr>
          <p:nvPr/>
        </p:nvSpPr>
        <p:spPr>
          <a:xfrm xmlns:a="http://schemas.openxmlformats.org/drawingml/2006/main">
            <a:off x="904875" y="49530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F5D62"/>
                </a:solidFill>
                <a:latin typeface="Arial"/>
                <a:ea typeface="Arial"/>
                <a:cs typeface="Arial"/>
              </a:defRPr>
            </a:defPPr>
            <a:lvl1pPr>
              <a:defRPr sz="2550" b="1">
                <a:solidFill>
                  <a:srgbClr val="2F5D62"/>
                </a:solidFill>
                <a:latin typeface="Arial"/>
                <a:ea typeface="Arial"/>
                <a:cs typeface="Arial"/>
              </a:defRPr>
            </a:lvl1pPr>
            <a:lvl2pPr>
              <a:defRPr sz="2550" b="1">
                <a:solidFill>
                  <a:srgbClr val="2F5D62"/>
                </a:solidFill>
                <a:latin typeface="Arial"/>
                <a:ea typeface="Arial"/>
                <a:cs typeface="Arial"/>
              </a:defRPr>
            </a:lvl2pPr>
            <a:lvl3pPr>
              <a:defRPr sz="2550" b="1">
                <a:solidFill>
                  <a:srgbClr val="2F5D62"/>
                </a:solidFill>
                <a:latin typeface="Arial"/>
                <a:ea typeface="Arial"/>
                <a:cs typeface="Arial"/>
              </a:defRPr>
            </a:lvl3pPr>
            <a:lvl4pPr>
              <a:defRPr sz="2550" b="1">
                <a:solidFill>
                  <a:srgbClr val="2F5D62"/>
                </a:solidFill>
                <a:latin typeface="Arial"/>
                <a:ea typeface="Arial"/>
                <a:cs typeface="Arial"/>
              </a:defRPr>
            </a:lvl4pPr>
            <a:lvl5pPr>
              <a:defRPr sz="2550" b="1">
                <a:solidFill>
                  <a:srgbClr val="2F5D62"/>
                </a:solidFill>
                <a:latin typeface="Arial"/>
                <a:ea typeface="Arial"/>
                <a:cs typeface="Arial"/>
              </a:defRPr>
            </a:lvl5pPr>
            <a:lvl6pPr>
              <a:defRPr sz="2550" b="1">
                <a:solidFill>
                  <a:srgbClr val="2F5D62"/>
                </a:solidFill>
                <a:latin typeface="Arial"/>
                <a:ea typeface="Arial"/>
                <a:cs typeface="Arial"/>
              </a:defRPr>
            </a:lvl6pPr>
            <a:lvl7pPr>
              <a:defRPr sz="2550" b="1">
                <a:solidFill>
                  <a:srgbClr val="2F5D62"/>
                </a:solidFill>
                <a:latin typeface="Arial"/>
                <a:ea typeface="Arial"/>
                <a:cs typeface="Arial"/>
              </a:defRPr>
            </a:lvl7pPr>
            <a:lvl8pPr>
              <a:defRPr sz="2550" b="1">
                <a:solidFill>
                  <a:srgbClr val="2F5D62"/>
                </a:solidFill>
                <a:latin typeface="Arial"/>
                <a:ea typeface="Arial"/>
                <a:cs typeface="Arial"/>
              </a:defRPr>
            </a:lvl8pPr>
            <a:lvl9pPr>
              <a:defRPr sz="2550" b="1">
                <a:solidFill>
                  <a:srgbClr val="2F5D62"/>
                </a:solidFill>
                <a:latin typeface="Arial"/>
                <a:ea typeface="Arial"/>
                <a:cs typeface="Arial"/>
              </a:defRPr>
            </a:lvl9pPr>
          </a:lstStyle>
          <a:p xmlns:a="http://schemas.openxmlformats.org/drawingml/2006/main">
            <a:pPr>
              <a:defRPr sz="2550" b="1">
                <a:solidFill>
                  <a:srgbClr val="2F5D62"/>
                </a:solidFill>
                <a:latin typeface="Arial"/>
                <a:ea typeface="Arial"/>
                <a:cs typeface="Arial"/>
              </a:defRPr>
            </a:pPr>
            <a:r>
              <a:rPr sz="2550" b="1">
                <a:solidFill>
                  <a:srgbClr val="2F5D62"/>
                </a:solidFill>
                <a:latin typeface="Arial"/>
                <a:ea typeface="Arial"/>
                <a:cs typeface="Arial"/>
              </a:rPr>
              <a:t>M ≈ 19,6 N·m</a:t>
            </a:r>
          </a:p>
        </p:txBody>
      </p:sp>
      <p:sp>
        <p:nvSpPr>
          <p:cNvPr id="30" name="">
            <a:extLst xmlns:a="http://schemas.openxmlformats.org/drawingml/2006/main">
              <a:ext uri="{FF2B5EF4-FFF2-40B4-BE49-F238E27FC236}">
                <a16:creationId xmlns:a16="http://schemas.microsoft.com/office/drawing/2014/main" id="{8DBD3F85-B9C9-44B7-B2E0-3232C458A442}"/>
              </a:ext>
            </a:extLst>
          </p:cNvPr>
          <p:cNvSpPr>
            <a:spLocks xmlns:a="http://schemas.openxmlformats.org/drawingml/2006/main" noGrp="1"/>
          </p:cNvSpPr>
          <p:nvPr/>
        </p:nvSpPr>
        <p:spPr>
          <a:xfrm xmlns:a="http://schemas.openxmlformats.org/drawingml/2006/main">
            <a:off x="6810375" y="49530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8A2D1F"/>
                </a:solidFill>
                <a:latin typeface="Arial"/>
                <a:ea typeface="Arial"/>
                <a:cs typeface="Arial"/>
              </a:defRPr>
            </a:defPPr>
            <a:lvl1pPr>
              <a:defRPr sz="2550" b="1">
                <a:solidFill>
                  <a:srgbClr val="8A2D1F"/>
                </a:solidFill>
                <a:latin typeface="Arial"/>
                <a:ea typeface="Arial"/>
                <a:cs typeface="Arial"/>
              </a:defRPr>
            </a:lvl1pPr>
            <a:lvl2pPr>
              <a:defRPr sz="2550" b="1">
                <a:solidFill>
                  <a:srgbClr val="8A2D1F"/>
                </a:solidFill>
                <a:latin typeface="Arial"/>
                <a:ea typeface="Arial"/>
                <a:cs typeface="Arial"/>
              </a:defRPr>
            </a:lvl2pPr>
            <a:lvl3pPr>
              <a:defRPr sz="2550" b="1">
                <a:solidFill>
                  <a:srgbClr val="8A2D1F"/>
                </a:solidFill>
                <a:latin typeface="Arial"/>
                <a:ea typeface="Arial"/>
                <a:cs typeface="Arial"/>
              </a:defRPr>
            </a:lvl3pPr>
            <a:lvl4pPr>
              <a:defRPr sz="2550" b="1">
                <a:solidFill>
                  <a:srgbClr val="8A2D1F"/>
                </a:solidFill>
                <a:latin typeface="Arial"/>
                <a:ea typeface="Arial"/>
                <a:cs typeface="Arial"/>
              </a:defRPr>
            </a:lvl4pPr>
            <a:lvl5pPr>
              <a:defRPr sz="2550" b="1">
                <a:solidFill>
                  <a:srgbClr val="8A2D1F"/>
                </a:solidFill>
                <a:latin typeface="Arial"/>
                <a:ea typeface="Arial"/>
                <a:cs typeface="Arial"/>
              </a:defRPr>
            </a:lvl5pPr>
            <a:lvl6pPr>
              <a:defRPr sz="2550" b="1">
                <a:solidFill>
                  <a:srgbClr val="8A2D1F"/>
                </a:solidFill>
                <a:latin typeface="Arial"/>
                <a:ea typeface="Arial"/>
                <a:cs typeface="Arial"/>
              </a:defRPr>
            </a:lvl6pPr>
            <a:lvl7pPr>
              <a:defRPr sz="2550" b="1">
                <a:solidFill>
                  <a:srgbClr val="8A2D1F"/>
                </a:solidFill>
                <a:latin typeface="Arial"/>
                <a:ea typeface="Arial"/>
                <a:cs typeface="Arial"/>
              </a:defRPr>
            </a:lvl7pPr>
            <a:lvl8pPr>
              <a:defRPr sz="2550" b="1">
                <a:solidFill>
                  <a:srgbClr val="8A2D1F"/>
                </a:solidFill>
                <a:latin typeface="Arial"/>
                <a:ea typeface="Arial"/>
                <a:cs typeface="Arial"/>
              </a:defRPr>
            </a:lvl8pPr>
            <a:lvl9pPr>
              <a:defRPr sz="2550" b="1">
                <a:solidFill>
                  <a:srgbClr val="8A2D1F"/>
                </a:solidFill>
                <a:latin typeface="Arial"/>
                <a:ea typeface="Arial"/>
                <a:cs typeface="Arial"/>
              </a:defRPr>
            </a:lvl9pPr>
          </a:lstStyle>
          <a:p xmlns:a="http://schemas.openxmlformats.org/drawingml/2006/main">
            <a:pPr>
              <a:defRPr sz="2550" b="1">
                <a:solidFill>
                  <a:srgbClr val="8A2D1F"/>
                </a:solidFill>
                <a:latin typeface="Arial"/>
                <a:ea typeface="Arial"/>
                <a:cs typeface="Arial"/>
              </a:defRPr>
            </a:pPr>
            <a:r>
              <a:rPr sz="2550" b="1">
                <a:solidFill>
                  <a:srgbClr val="8A2D1F"/>
                </a:solidFill>
                <a:latin typeface="Arial"/>
                <a:ea typeface="Arial"/>
                <a:cs typeface="Arial"/>
              </a:rPr>
              <a:t>M ≈ 39,2 N·m</a:t>
            </a:r>
          </a:p>
        </p:txBody>
      </p:sp>
      <p:sp>
        <p:nvSpPr>
          <p:cNvPr id="31" name="">
            <a:extLst xmlns:a="http://schemas.openxmlformats.org/drawingml/2006/main">
              <a:ext uri="{FF2B5EF4-FFF2-40B4-BE49-F238E27FC236}">
                <a16:creationId xmlns:a16="http://schemas.microsoft.com/office/drawing/2014/main" id="{F459D159-AA71-4174-9E55-76D246F19AEB}"/>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Model ideal M = m g d. Titik acuan tetap; bukan estimasi gaya tulang belakang.</a:t>
            </a:r>
          </a:p>
        </p:txBody>
      </p:sp>
      <p:sp>
        <p:nvSpPr>
          <p:cNvPr id="32" name="">
            <a:extLst xmlns:a="http://schemas.openxmlformats.org/drawingml/2006/main">
              <a:ext uri="{FF2B5EF4-FFF2-40B4-BE49-F238E27FC236}">
                <a16:creationId xmlns:a16="http://schemas.microsoft.com/office/drawing/2014/main" id="{6D1A4AA0-944A-43CE-B13D-FC5FCB296C64}"/>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33" name="">
            <a:extLst xmlns:a="http://schemas.openxmlformats.org/drawingml/2006/main">
              <a:ext uri="{FF2B5EF4-FFF2-40B4-BE49-F238E27FC236}">
                <a16:creationId xmlns:a16="http://schemas.microsoft.com/office/drawing/2014/main" id="{9EB60DEE-DA43-4F72-927D-989510B9183A}"/>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19 / 26</a:t>
            </a:r>
          </a:p>
        </p:txBody>
      </p:sp>
    </p:spTree>
    <p:extLst>
      <p:ext uri="{BB962C8B-B14F-4D97-AF65-F5344CB8AC3E}">
        <p14:creationId xmlns:p14="http://schemas.microsoft.com/office/powerpoint/2010/main" val="1642231430"/>
      </p:ext>
    </p:extLst>
  </p:cSld>
</p:sld>
</file>

<file path=ppt/slides/slide2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8D6BBD-841B-4A17-B32D-D9C7CF1A256E}"/>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75794435-AC4E-4E37-8437-413CB2A1A397}"/>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Pilihan pengendalian</a:t>
            </a:r>
          </a:p>
        </p:txBody>
      </p:sp>
      <p:sp>
        <p:nvSpPr>
          <p:cNvPr id="3" name="">
            <a:extLst xmlns:a="http://schemas.openxmlformats.org/drawingml/2006/main">
              <a:ext uri="{FF2B5EF4-FFF2-40B4-BE49-F238E27FC236}">
                <a16:creationId xmlns:a16="http://schemas.microsoft.com/office/drawing/2014/main" id="{4857DF5A-EC64-4951-822D-9D3495EFA255}"/>
              </a:ext>
            </a:extLst>
          </p:cNvPr>
          <p:cNvSpPr>
            <a:spLocks xmlns:a="http://schemas.openxmlformats.org/drawingml/2006/main" noGrp="1"/>
          </p:cNvSpPr>
          <p:nvPr/>
        </p:nvSpPr>
        <p:spPr>
          <a:xfrm xmlns:a="http://schemas.openxmlformats.org/drawingml/2006/main">
            <a:off x="762000" y="2076450"/>
            <a:ext cx="10668000" cy="542925"/>
          </a:xfrm>
          <a:prstGeom xmlns:a="http://schemas.openxmlformats.org/drawingml/2006/main" prst="rect">
            <a:avLst/>
          </a:prstGeom>
          <a:solidFill xmlns:a="http://schemas.openxmlformats.org/drawingml/2006/main">
            <a:srgbClr val="2F5D62"/>
          </a:solidFill>
          <a:ln xmlns:a="http://schemas.openxmlformats.org/drawingml/2006/main" w="9525">
            <a:solidFill>
              <a:srgbClr val="F8F6F1"/>
            </a:solidFill>
          </a:ln>
        </p:spPr>
      </p:sp>
      <p:sp>
        <p:nvSpPr>
          <p:cNvPr id="4" name="">
            <a:extLst xmlns:a="http://schemas.openxmlformats.org/drawingml/2006/main">
              <a:ext uri="{FF2B5EF4-FFF2-40B4-BE49-F238E27FC236}">
                <a16:creationId xmlns:a16="http://schemas.microsoft.com/office/drawing/2014/main" id="{605D36C9-19A9-41E3-B583-662FF62D5050}"/>
              </a:ext>
            </a:extLst>
          </p:cNvPr>
          <p:cNvSpPr>
            <a:spLocks xmlns:a="http://schemas.openxmlformats.org/drawingml/2006/main" noGrp="1"/>
          </p:cNvSpPr>
          <p:nvPr/>
        </p:nvSpPr>
        <p:spPr>
          <a:xfrm xmlns:a="http://schemas.openxmlformats.org/drawingml/2006/main">
            <a:off x="933450" y="21621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Eliminasi</a:t>
            </a:r>
          </a:p>
        </p:txBody>
      </p:sp>
      <p:sp>
        <p:nvSpPr>
          <p:cNvPr id="5" name="">
            <a:extLst xmlns:a="http://schemas.openxmlformats.org/drawingml/2006/main">
              <a:ext uri="{FF2B5EF4-FFF2-40B4-BE49-F238E27FC236}">
                <a16:creationId xmlns:a16="http://schemas.microsoft.com/office/drawing/2014/main" id="{27F9B5E8-F2C1-4590-B607-3677CF880C9F}"/>
              </a:ext>
            </a:extLst>
          </p:cNvPr>
          <p:cNvSpPr>
            <a:spLocks xmlns:a="http://schemas.openxmlformats.org/drawingml/2006/main" noGrp="1"/>
          </p:cNvSpPr>
          <p:nvPr/>
        </p:nvSpPr>
        <p:spPr>
          <a:xfrm xmlns:a="http://schemas.openxmlformats.org/drawingml/2006/main">
            <a:off x="3286125" y="218122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Hilangkan kebutuhan memindahkan</a:t>
            </a:r>
          </a:p>
        </p:txBody>
      </p:sp>
      <p:sp>
        <p:nvSpPr>
          <p:cNvPr id="6" name="">
            <a:extLst xmlns:a="http://schemas.openxmlformats.org/drawingml/2006/main">
              <a:ext uri="{FF2B5EF4-FFF2-40B4-BE49-F238E27FC236}">
                <a16:creationId xmlns:a16="http://schemas.microsoft.com/office/drawing/2014/main" id="{FDB0768D-B023-4672-8DF9-7A407AB75D9B}"/>
              </a:ext>
            </a:extLst>
          </p:cNvPr>
          <p:cNvSpPr>
            <a:spLocks xmlns:a="http://schemas.openxmlformats.org/drawingml/2006/main" noGrp="1"/>
          </p:cNvSpPr>
          <p:nvPr/>
        </p:nvSpPr>
        <p:spPr>
          <a:xfrm xmlns:a="http://schemas.openxmlformats.org/drawingml/2006/main">
            <a:off x="762000" y="2724150"/>
            <a:ext cx="9953625" cy="542925"/>
          </a:xfrm>
          <a:prstGeom xmlns:a="http://schemas.openxmlformats.org/drawingml/2006/main" prst="rect">
            <a:avLst/>
          </a:prstGeom>
          <a:solidFill xmlns:a="http://schemas.openxmlformats.org/drawingml/2006/main">
            <a:srgbClr val="DCE7E4"/>
          </a:solidFill>
          <a:ln xmlns:a="http://schemas.openxmlformats.org/drawingml/2006/main" w="9525">
            <a:solidFill>
              <a:srgbClr val="F8F6F1"/>
            </a:solidFill>
          </a:ln>
        </p:spPr>
      </p:sp>
      <p:sp>
        <p:nvSpPr>
          <p:cNvPr id="7" name="">
            <a:extLst xmlns:a="http://schemas.openxmlformats.org/drawingml/2006/main">
              <a:ext uri="{FF2B5EF4-FFF2-40B4-BE49-F238E27FC236}">
                <a16:creationId xmlns:a16="http://schemas.microsoft.com/office/drawing/2014/main" id="{3B53E757-2439-4C37-A2E4-95A2A93CB6E4}"/>
              </a:ext>
            </a:extLst>
          </p:cNvPr>
          <p:cNvSpPr>
            <a:spLocks xmlns:a="http://schemas.openxmlformats.org/drawingml/2006/main" noGrp="1"/>
          </p:cNvSpPr>
          <p:nvPr/>
        </p:nvSpPr>
        <p:spPr>
          <a:xfrm xmlns:a="http://schemas.openxmlformats.org/drawingml/2006/main">
            <a:off x="933450" y="28098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F1F1B"/>
                </a:solidFill>
                <a:latin typeface="Arial"/>
                <a:ea typeface="Arial"/>
                <a:cs typeface="Arial"/>
              </a:defRPr>
            </a:defPPr>
            <a:lvl1pPr>
              <a:defRPr sz="2025" b="1">
                <a:solidFill>
                  <a:srgbClr val="1F1F1B"/>
                </a:solidFill>
                <a:latin typeface="Arial"/>
                <a:ea typeface="Arial"/>
                <a:cs typeface="Arial"/>
              </a:defRPr>
            </a:lvl1pPr>
            <a:lvl2pPr>
              <a:defRPr sz="2025" b="1">
                <a:solidFill>
                  <a:srgbClr val="1F1F1B"/>
                </a:solidFill>
                <a:latin typeface="Arial"/>
                <a:ea typeface="Arial"/>
                <a:cs typeface="Arial"/>
              </a:defRPr>
            </a:lvl2pPr>
            <a:lvl3pPr>
              <a:defRPr sz="2025" b="1">
                <a:solidFill>
                  <a:srgbClr val="1F1F1B"/>
                </a:solidFill>
                <a:latin typeface="Arial"/>
                <a:ea typeface="Arial"/>
                <a:cs typeface="Arial"/>
              </a:defRPr>
            </a:lvl3pPr>
            <a:lvl4pPr>
              <a:defRPr sz="2025" b="1">
                <a:solidFill>
                  <a:srgbClr val="1F1F1B"/>
                </a:solidFill>
                <a:latin typeface="Arial"/>
                <a:ea typeface="Arial"/>
                <a:cs typeface="Arial"/>
              </a:defRPr>
            </a:lvl4pPr>
            <a:lvl5pPr>
              <a:defRPr sz="2025" b="1">
                <a:solidFill>
                  <a:srgbClr val="1F1F1B"/>
                </a:solidFill>
                <a:latin typeface="Arial"/>
                <a:ea typeface="Arial"/>
                <a:cs typeface="Arial"/>
              </a:defRPr>
            </a:lvl5pPr>
            <a:lvl6pPr>
              <a:defRPr sz="2025" b="1">
                <a:solidFill>
                  <a:srgbClr val="1F1F1B"/>
                </a:solidFill>
                <a:latin typeface="Arial"/>
                <a:ea typeface="Arial"/>
                <a:cs typeface="Arial"/>
              </a:defRPr>
            </a:lvl6pPr>
            <a:lvl7pPr>
              <a:defRPr sz="2025" b="1">
                <a:solidFill>
                  <a:srgbClr val="1F1F1B"/>
                </a:solidFill>
                <a:latin typeface="Arial"/>
                <a:ea typeface="Arial"/>
                <a:cs typeface="Arial"/>
              </a:defRPr>
            </a:lvl7pPr>
            <a:lvl8pPr>
              <a:defRPr sz="2025" b="1">
                <a:solidFill>
                  <a:srgbClr val="1F1F1B"/>
                </a:solidFill>
                <a:latin typeface="Arial"/>
                <a:ea typeface="Arial"/>
                <a:cs typeface="Arial"/>
              </a:defRPr>
            </a:lvl8pPr>
            <a:lvl9pPr>
              <a:defRPr sz="2025" b="1">
                <a:solidFill>
                  <a:srgbClr val="1F1F1B"/>
                </a:solidFill>
                <a:latin typeface="Arial"/>
                <a:ea typeface="Arial"/>
                <a:cs typeface="Arial"/>
              </a:defRPr>
            </a:lvl9pPr>
          </a:lstStyle>
          <a:p xmlns:a="http://schemas.openxmlformats.org/drawingml/2006/main">
            <a:pPr>
              <a:defRPr sz="2025" b="1">
                <a:solidFill>
                  <a:srgbClr val="1F1F1B"/>
                </a:solidFill>
                <a:latin typeface="Arial"/>
                <a:ea typeface="Arial"/>
                <a:cs typeface="Arial"/>
              </a:defRPr>
            </a:pPr>
            <a:r>
              <a:rPr sz="2025" b="1">
                <a:solidFill>
                  <a:srgbClr val="1F1F1B"/>
                </a:solidFill>
                <a:latin typeface="Arial"/>
                <a:ea typeface="Arial"/>
                <a:cs typeface="Arial"/>
              </a:rPr>
              <a:t>Substitusi</a:t>
            </a:r>
          </a:p>
        </p:txBody>
      </p:sp>
      <p:sp>
        <p:nvSpPr>
          <p:cNvPr id="8" name="">
            <a:extLst xmlns:a="http://schemas.openxmlformats.org/drawingml/2006/main">
              <a:ext uri="{FF2B5EF4-FFF2-40B4-BE49-F238E27FC236}">
                <a16:creationId xmlns:a16="http://schemas.microsoft.com/office/drawing/2014/main" id="{E5E61E20-395D-41C0-8F40-8DFAF869CD3B}"/>
              </a:ext>
            </a:extLst>
          </p:cNvPr>
          <p:cNvSpPr>
            <a:spLocks xmlns:a="http://schemas.openxmlformats.org/drawingml/2006/main" noGrp="1"/>
          </p:cNvSpPr>
          <p:nvPr/>
        </p:nvSpPr>
        <p:spPr>
          <a:xfrm xmlns:a="http://schemas.openxmlformats.org/drawingml/2006/main">
            <a:off x="3286125" y="2828925"/>
            <a:ext cx="681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F1F1B"/>
                </a:solidFill>
                <a:latin typeface="Arial"/>
                <a:ea typeface="Arial"/>
                <a:cs typeface="Arial"/>
              </a:defRPr>
            </a:defPPr>
            <a:lvl1pPr>
              <a:defRPr sz="1725" b="0">
                <a:solidFill>
                  <a:srgbClr val="1F1F1B"/>
                </a:solidFill>
                <a:latin typeface="Arial"/>
                <a:ea typeface="Arial"/>
                <a:cs typeface="Arial"/>
              </a:defRPr>
            </a:lvl1pPr>
            <a:lvl2pPr>
              <a:defRPr sz="1725" b="0">
                <a:solidFill>
                  <a:srgbClr val="1F1F1B"/>
                </a:solidFill>
                <a:latin typeface="Arial"/>
                <a:ea typeface="Arial"/>
                <a:cs typeface="Arial"/>
              </a:defRPr>
            </a:lvl2pPr>
            <a:lvl3pPr>
              <a:defRPr sz="1725" b="0">
                <a:solidFill>
                  <a:srgbClr val="1F1F1B"/>
                </a:solidFill>
                <a:latin typeface="Arial"/>
                <a:ea typeface="Arial"/>
                <a:cs typeface="Arial"/>
              </a:defRPr>
            </a:lvl3pPr>
            <a:lvl4pPr>
              <a:defRPr sz="1725" b="0">
                <a:solidFill>
                  <a:srgbClr val="1F1F1B"/>
                </a:solidFill>
                <a:latin typeface="Arial"/>
                <a:ea typeface="Arial"/>
                <a:cs typeface="Arial"/>
              </a:defRPr>
            </a:lvl4pPr>
            <a:lvl5pPr>
              <a:defRPr sz="1725" b="0">
                <a:solidFill>
                  <a:srgbClr val="1F1F1B"/>
                </a:solidFill>
                <a:latin typeface="Arial"/>
                <a:ea typeface="Arial"/>
                <a:cs typeface="Arial"/>
              </a:defRPr>
            </a:lvl5pPr>
            <a:lvl6pPr>
              <a:defRPr sz="1725" b="0">
                <a:solidFill>
                  <a:srgbClr val="1F1F1B"/>
                </a:solidFill>
                <a:latin typeface="Arial"/>
                <a:ea typeface="Arial"/>
                <a:cs typeface="Arial"/>
              </a:defRPr>
            </a:lvl6pPr>
            <a:lvl7pPr>
              <a:defRPr sz="1725" b="0">
                <a:solidFill>
                  <a:srgbClr val="1F1F1B"/>
                </a:solidFill>
                <a:latin typeface="Arial"/>
                <a:ea typeface="Arial"/>
                <a:cs typeface="Arial"/>
              </a:defRPr>
            </a:lvl7pPr>
            <a:lvl8pPr>
              <a:defRPr sz="1725" b="0">
                <a:solidFill>
                  <a:srgbClr val="1F1F1B"/>
                </a:solidFill>
                <a:latin typeface="Arial"/>
                <a:ea typeface="Arial"/>
                <a:cs typeface="Arial"/>
              </a:defRPr>
            </a:lvl8pPr>
            <a:lvl9pPr>
              <a:defRPr sz="1725" b="0">
                <a:solidFill>
                  <a:srgbClr val="1F1F1B"/>
                </a:solidFill>
                <a:latin typeface="Arial"/>
                <a:ea typeface="Arial"/>
                <a:cs typeface="Arial"/>
              </a:defRPr>
            </a:lvl9pPr>
          </a:lstStyle>
          <a:p xmlns:a="http://schemas.openxmlformats.org/drawingml/2006/main">
            <a:pPr>
              <a:defRPr sz="1725" b="0">
                <a:solidFill>
                  <a:srgbClr val="1F1F1B"/>
                </a:solidFill>
                <a:latin typeface="Arial"/>
                <a:ea typeface="Arial"/>
                <a:cs typeface="Arial"/>
              </a:defRPr>
            </a:pPr>
            <a:r>
              <a:rPr sz="1725" b="0">
                <a:solidFill>
                  <a:srgbClr val="1F1F1B"/>
                </a:solidFill>
                <a:latin typeface="Arial"/>
                <a:ea typeface="Arial"/>
                <a:cs typeface="Arial"/>
              </a:rPr>
              <a:t>Ganti alat atau metode setelah menilai risiko</a:t>
            </a:r>
          </a:p>
        </p:txBody>
      </p:sp>
      <p:sp>
        <p:nvSpPr>
          <p:cNvPr id="9" name="">
            <a:extLst xmlns:a="http://schemas.openxmlformats.org/drawingml/2006/main">
              <a:ext uri="{FF2B5EF4-FFF2-40B4-BE49-F238E27FC236}">
                <a16:creationId xmlns:a16="http://schemas.microsoft.com/office/drawing/2014/main" id="{ABADA7C3-0FF4-4259-9FA5-32DC5BBBB90F}"/>
              </a:ext>
            </a:extLst>
          </p:cNvPr>
          <p:cNvSpPr>
            <a:spLocks xmlns:a="http://schemas.openxmlformats.org/drawingml/2006/main" noGrp="1"/>
          </p:cNvSpPr>
          <p:nvPr/>
        </p:nvSpPr>
        <p:spPr>
          <a:xfrm xmlns:a="http://schemas.openxmlformats.org/drawingml/2006/main">
            <a:off x="762000" y="3371850"/>
            <a:ext cx="9239250" cy="542925"/>
          </a:xfrm>
          <a:prstGeom xmlns:a="http://schemas.openxmlformats.org/drawingml/2006/main" prst="rect">
            <a:avLst/>
          </a:prstGeom>
          <a:solidFill xmlns:a="http://schemas.openxmlformats.org/drawingml/2006/main">
            <a:srgbClr val="F1EEE7"/>
          </a:solidFill>
          <a:ln xmlns:a="http://schemas.openxmlformats.org/drawingml/2006/main" w="9525">
            <a:solidFill>
              <a:srgbClr val="F8F6F1"/>
            </a:solidFill>
          </a:ln>
        </p:spPr>
      </p:sp>
      <p:sp>
        <p:nvSpPr>
          <p:cNvPr id="10" name="">
            <a:extLst xmlns:a="http://schemas.openxmlformats.org/drawingml/2006/main">
              <a:ext uri="{FF2B5EF4-FFF2-40B4-BE49-F238E27FC236}">
                <a16:creationId xmlns:a16="http://schemas.microsoft.com/office/drawing/2014/main" id="{636083B9-8751-4A00-BC9A-8A826B827091}"/>
              </a:ext>
            </a:extLst>
          </p:cNvPr>
          <p:cNvSpPr>
            <a:spLocks xmlns:a="http://schemas.openxmlformats.org/drawingml/2006/main" noGrp="1"/>
          </p:cNvSpPr>
          <p:nvPr/>
        </p:nvSpPr>
        <p:spPr>
          <a:xfrm xmlns:a="http://schemas.openxmlformats.org/drawingml/2006/main">
            <a:off x="933450" y="34575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F1F1B"/>
                </a:solidFill>
                <a:latin typeface="Arial"/>
                <a:ea typeface="Arial"/>
                <a:cs typeface="Arial"/>
              </a:defRPr>
            </a:defPPr>
            <a:lvl1pPr>
              <a:defRPr sz="2025" b="1">
                <a:solidFill>
                  <a:srgbClr val="1F1F1B"/>
                </a:solidFill>
                <a:latin typeface="Arial"/>
                <a:ea typeface="Arial"/>
                <a:cs typeface="Arial"/>
              </a:defRPr>
            </a:lvl1pPr>
            <a:lvl2pPr>
              <a:defRPr sz="2025" b="1">
                <a:solidFill>
                  <a:srgbClr val="1F1F1B"/>
                </a:solidFill>
                <a:latin typeface="Arial"/>
                <a:ea typeface="Arial"/>
                <a:cs typeface="Arial"/>
              </a:defRPr>
            </a:lvl2pPr>
            <a:lvl3pPr>
              <a:defRPr sz="2025" b="1">
                <a:solidFill>
                  <a:srgbClr val="1F1F1B"/>
                </a:solidFill>
                <a:latin typeface="Arial"/>
                <a:ea typeface="Arial"/>
                <a:cs typeface="Arial"/>
              </a:defRPr>
            </a:lvl3pPr>
            <a:lvl4pPr>
              <a:defRPr sz="2025" b="1">
                <a:solidFill>
                  <a:srgbClr val="1F1F1B"/>
                </a:solidFill>
                <a:latin typeface="Arial"/>
                <a:ea typeface="Arial"/>
                <a:cs typeface="Arial"/>
              </a:defRPr>
            </a:lvl4pPr>
            <a:lvl5pPr>
              <a:defRPr sz="2025" b="1">
                <a:solidFill>
                  <a:srgbClr val="1F1F1B"/>
                </a:solidFill>
                <a:latin typeface="Arial"/>
                <a:ea typeface="Arial"/>
                <a:cs typeface="Arial"/>
              </a:defRPr>
            </a:lvl5pPr>
            <a:lvl6pPr>
              <a:defRPr sz="2025" b="1">
                <a:solidFill>
                  <a:srgbClr val="1F1F1B"/>
                </a:solidFill>
                <a:latin typeface="Arial"/>
                <a:ea typeface="Arial"/>
                <a:cs typeface="Arial"/>
              </a:defRPr>
            </a:lvl6pPr>
            <a:lvl7pPr>
              <a:defRPr sz="2025" b="1">
                <a:solidFill>
                  <a:srgbClr val="1F1F1B"/>
                </a:solidFill>
                <a:latin typeface="Arial"/>
                <a:ea typeface="Arial"/>
                <a:cs typeface="Arial"/>
              </a:defRPr>
            </a:lvl7pPr>
            <a:lvl8pPr>
              <a:defRPr sz="2025" b="1">
                <a:solidFill>
                  <a:srgbClr val="1F1F1B"/>
                </a:solidFill>
                <a:latin typeface="Arial"/>
                <a:ea typeface="Arial"/>
                <a:cs typeface="Arial"/>
              </a:defRPr>
            </a:lvl8pPr>
            <a:lvl9pPr>
              <a:defRPr sz="2025" b="1">
                <a:solidFill>
                  <a:srgbClr val="1F1F1B"/>
                </a:solidFill>
                <a:latin typeface="Arial"/>
                <a:ea typeface="Arial"/>
                <a:cs typeface="Arial"/>
              </a:defRPr>
            </a:lvl9pPr>
          </a:lstStyle>
          <a:p xmlns:a="http://schemas.openxmlformats.org/drawingml/2006/main">
            <a:pPr>
              <a:defRPr sz="2025" b="1">
                <a:solidFill>
                  <a:srgbClr val="1F1F1B"/>
                </a:solidFill>
                <a:latin typeface="Arial"/>
                <a:ea typeface="Arial"/>
                <a:cs typeface="Arial"/>
              </a:defRPr>
            </a:pPr>
            <a:r>
              <a:rPr sz="2025" b="1">
                <a:solidFill>
                  <a:srgbClr val="1F1F1B"/>
                </a:solidFill>
                <a:latin typeface="Arial"/>
                <a:ea typeface="Arial"/>
                <a:cs typeface="Arial"/>
              </a:rPr>
              <a:t>Rekayasa</a:t>
            </a:r>
          </a:p>
        </p:txBody>
      </p:sp>
      <p:sp>
        <p:nvSpPr>
          <p:cNvPr id="11" name="">
            <a:extLst xmlns:a="http://schemas.openxmlformats.org/drawingml/2006/main">
              <a:ext uri="{FF2B5EF4-FFF2-40B4-BE49-F238E27FC236}">
                <a16:creationId xmlns:a16="http://schemas.microsoft.com/office/drawing/2014/main" id="{8F177885-C864-451C-BB16-7285D34B3BD3}"/>
              </a:ext>
            </a:extLst>
          </p:cNvPr>
          <p:cNvSpPr>
            <a:spLocks xmlns:a="http://schemas.openxmlformats.org/drawingml/2006/main" noGrp="1"/>
          </p:cNvSpPr>
          <p:nvPr/>
        </p:nvSpPr>
        <p:spPr>
          <a:xfrm xmlns:a="http://schemas.openxmlformats.org/drawingml/2006/main">
            <a:off x="3286125" y="34766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F1F1B"/>
                </a:solidFill>
                <a:latin typeface="Arial"/>
                <a:ea typeface="Arial"/>
                <a:cs typeface="Arial"/>
              </a:defRPr>
            </a:defPPr>
            <a:lvl1pPr>
              <a:defRPr sz="1725" b="0">
                <a:solidFill>
                  <a:srgbClr val="1F1F1B"/>
                </a:solidFill>
                <a:latin typeface="Arial"/>
                <a:ea typeface="Arial"/>
                <a:cs typeface="Arial"/>
              </a:defRPr>
            </a:lvl1pPr>
            <a:lvl2pPr>
              <a:defRPr sz="1725" b="0">
                <a:solidFill>
                  <a:srgbClr val="1F1F1B"/>
                </a:solidFill>
                <a:latin typeface="Arial"/>
                <a:ea typeface="Arial"/>
                <a:cs typeface="Arial"/>
              </a:defRPr>
            </a:lvl2pPr>
            <a:lvl3pPr>
              <a:defRPr sz="1725" b="0">
                <a:solidFill>
                  <a:srgbClr val="1F1F1B"/>
                </a:solidFill>
                <a:latin typeface="Arial"/>
                <a:ea typeface="Arial"/>
                <a:cs typeface="Arial"/>
              </a:defRPr>
            </a:lvl3pPr>
            <a:lvl4pPr>
              <a:defRPr sz="1725" b="0">
                <a:solidFill>
                  <a:srgbClr val="1F1F1B"/>
                </a:solidFill>
                <a:latin typeface="Arial"/>
                <a:ea typeface="Arial"/>
                <a:cs typeface="Arial"/>
              </a:defRPr>
            </a:lvl4pPr>
            <a:lvl5pPr>
              <a:defRPr sz="1725" b="0">
                <a:solidFill>
                  <a:srgbClr val="1F1F1B"/>
                </a:solidFill>
                <a:latin typeface="Arial"/>
                <a:ea typeface="Arial"/>
                <a:cs typeface="Arial"/>
              </a:defRPr>
            </a:lvl5pPr>
            <a:lvl6pPr>
              <a:defRPr sz="1725" b="0">
                <a:solidFill>
                  <a:srgbClr val="1F1F1B"/>
                </a:solidFill>
                <a:latin typeface="Arial"/>
                <a:ea typeface="Arial"/>
                <a:cs typeface="Arial"/>
              </a:defRPr>
            </a:lvl6pPr>
            <a:lvl7pPr>
              <a:defRPr sz="1725" b="0">
                <a:solidFill>
                  <a:srgbClr val="1F1F1B"/>
                </a:solidFill>
                <a:latin typeface="Arial"/>
                <a:ea typeface="Arial"/>
                <a:cs typeface="Arial"/>
              </a:defRPr>
            </a:lvl7pPr>
            <a:lvl8pPr>
              <a:defRPr sz="1725" b="0">
                <a:solidFill>
                  <a:srgbClr val="1F1F1B"/>
                </a:solidFill>
                <a:latin typeface="Arial"/>
                <a:ea typeface="Arial"/>
                <a:cs typeface="Arial"/>
              </a:defRPr>
            </a:lvl8pPr>
            <a:lvl9pPr>
              <a:defRPr sz="1725" b="0">
                <a:solidFill>
                  <a:srgbClr val="1F1F1B"/>
                </a:solidFill>
                <a:latin typeface="Arial"/>
                <a:ea typeface="Arial"/>
                <a:cs typeface="Arial"/>
              </a:defRPr>
            </a:lvl9pPr>
          </a:lstStyle>
          <a:p xmlns:a="http://schemas.openxmlformats.org/drawingml/2006/main">
            <a:pPr>
              <a:defRPr sz="1725" b="0">
                <a:solidFill>
                  <a:srgbClr val="1F1F1B"/>
                </a:solidFill>
                <a:latin typeface="Arial"/>
                <a:ea typeface="Arial"/>
                <a:cs typeface="Arial"/>
              </a:defRPr>
            </a:pPr>
            <a:r>
              <a:rPr sz="1725" b="0">
                <a:solidFill>
                  <a:srgbClr val="1F1F1B"/>
                </a:solidFill>
                <a:latin typeface="Arial"/>
                <a:ea typeface="Arial"/>
                <a:cs typeface="Arial"/>
              </a:rPr>
              <a:t>Pisahkan manusia dari bahaya</a:t>
            </a:r>
          </a:p>
        </p:txBody>
      </p:sp>
      <p:sp>
        <p:nvSpPr>
          <p:cNvPr id="12" name="">
            <a:extLst xmlns:a="http://schemas.openxmlformats.org/drawingml/2006/main">
              <a:ext uri="{FF2B5EF4-FFF2-40B4-BE49-F238E27FC236}">
                <a16:creationId xmlns:a16="http://schemas.microsoft.com/office/drawing/2014/main" id="{0018D7C4-A5FD-48ED-9BF0-7F22FBEC11C8}"/>
              </a:ext>
            </a:extLst>
          </p:cNvPr>
          <p:cNvSpPr>
            <a:spLocks xmlns:a="http://schemas.openxmlformats.org/drawingml/2006/main" noGrp="1"/>
          </p:cNvSpPr>
          <p:nvPr/>
        </p:nvSpPr>
        <p:spPr>
          <a:xfrm xmlns:a="http://schemas.openxmlformats.org/drawingml/2006/main">
            <a:off x="762000" y="4019550"/>
            <a:ext cx="8524875" cy="542925"/>
          </a:xfrm>
          <a:prstGeom xmlns:a="http://schemas.openxmlformats.org/drawingml/2006/main" prst="rect">
            <a:avLst/>
          </a:prstGeom>
          <a:solidFill xmlns:a="http://schemas.openxmlformats.org/drawingml/2006/main">
            <a:srgbClr val="F1EEE7"/>
          </a:solidFill>
          <a:ln xmlns:a="http://schemas.openxmlformats.org/drawingml/2006/main" w="9525">
            <a:solidFill>
              <a:srgbClr val="F8F6F1"/>
            </a:solidFill>
          </a:ln>
        </p:spPr>
      </p:sp>
      <p:sp>
        <p:nvSpPr>
          <p:cNvPr id="13" name="">
            <a:extLst xmlns:a="http://schemas.openxmlformats.org/drawingml/2006/main">
              <a:ext uri="{FF2B5EF4-FFF2-40B4-BE49-F238E27FC236}">
                <a16:creationId xmlns:a16="http://schemas.microsoft.com/office/drawing/2014/main" id="{36FDBEF9-8D32-4920-9297-148C10FD1C3B}"/>
              </a:ext>
            </a:extLst>
          </p:cNvPr>
          <p:cNvSpPr>
            <a:spLocks xmlns:a="http://schemas.openxmlformats.org/drawingml/2006/main" noGrp="1"/>
          </p:cNvSpPr>
          <p:nvPr/>
        </p:nvSpPr>
        <p:spPr>
          <a:xfrm xmlns:a="http://schemas.openxmlformats.org/drawingml/2006/main">
            <a:off x="933450" y="41052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F1F1B"/>
                </a:solidFill>
                <a:latin typeface="Arial"/>
                <a:ea typeface="Arial"/>
                <a:cs typeface="Arial"/>
              </a:defRPr>
            </a:defPPr>
            <a:lvl1pPr>
              <a:defRPr sz="2025" b="1">
                <a:solidFill>
                  <a:srgbClr val="1F1F1B"/>
                </a:solidFill>
                <a:latin typeface="Arial"/>
                <a:ea typeface="Arial"/>
                <a:cs typeface="Arial"/>
              </a:defRPr>
            </a:lvl1pPr>
            <a:lvl2pPr>
              <a:defRPr sz="2025" b="1">
                <a:solidFill>
                  <a:srgbClr val="1F1F1B"/>
                </a:solidFill>
                <a:latin typeface="Arial"/>
                <a:ea typeface="Arial"/>
                <a:cs typeface="Arial"/>
              </a:defRPr>
            </a:lvl2pPr>
            <a:lvl3pPr>
              <a:defRPr sz="2025" b="1">
                <a:solidFill>
                  <a:srgbClr val="1F1F1B"/>
                </a:solidFill>
                <a:latin typeface="Arial"/>
                <a:ea typeface="Arial"/>
                <a:cs typeface="Arial"/>
              </a:defRPr>
            </a:lvl3pPr>
            <a:lvl4pPr>
              <a:defRPr sz="2025" b="1">
                <a:solidFill>
                  <a:srgbClr val="1F1F1B"/>
                </a:solidFill>
                <a:latin typeface="Arial"/>
                <a:ea typeface="Arial"/>
                <a:cs typeface="Arial"/>
              </a:defRPr>
            </a:lvl4pPr>
            <a:lvl5pPr>
              <a:defRPr sz="2025" b="1">
                <a:solidFill>
                  <a:srgbClr val="1F1F1B"/>
                </a:solidFill>
                <a:latin typeface="Arial"/>
                <a:ea typeface="Arial"/>
                <a:cs typeface="Arial"/>
              </a:defRPr>
            </a:lvl5pPr>
            <a:lvl6pPr>
              <a:defRPr sz="2025" b="1">
                <a:solidFill>
                  <a:srgbClr val="1F1F1B"/>
                </a:solidFill>
                <a:latin typeface="Arial"/>
                <a:ea typeface="Arial"/>
                <a:cs typeface="Arial"/>
              </a:defRPr>
            </a:lvl6pPr>
            <a:lvl7pPr>
              <a:defRPr sz="2025" b="1">
                <a:solidFill>
                  <a:srgbClr val="1F1F1B"/>
                </a:solidFill>
                <a:latin typeface="Arial"/>
                <a:ea typeface="Arial"/>
                <a:cs typeface="Arial"/>
              </a:defRPr>
            </a:lvl7pPr>
            <a:lvl8pPr>
              <a:defRPr sz="2025" b="1">
                <a:solidFill>
                  <a:srgbClr val="1F1F1B"/>
                </a:solidFill>
                <a:latin typeface="Arial"/>
                <a:ea typeface="Arial"/>
                <a:cs typeface="Arial"/>
              </a:defRPr>
            </a:lvl8pPr>
            <a:lvl9pPr>
              <a:defRPr sz="2025" b="1">
                <a:solidFill>
                  <a:srgbClr val="1F1F1B"/>
                </a:solidFill>
                <a:latin typeface="Arial"/>
                <a:ea typeface="Arial"/>
                <a:cs typeface="Arial"/>
              </a:defRPr>
            </a:lvl9pPr>
          </a:lstStyle>
          <a:p xmlns:a="http://schemas.openxmlformats.org/drawingml/2006/main">
            <a:pPr>
              <a:defRPr sz="2025" b="1">
                <a:solidFill>
                  <a:srgbClr val="1F1F1B"/>
                </a:solidFill>
                <a:latin typeface="Arial"/>
                <a:ea typeface="Arial"/>
                <a:cs typeface="Arial"/>
              </a:defRPr>
            </a:pPr>
            <a:r>
              <a:rPr sz="2025" b="1">
                <a:solidFill>
                  <a:srgbClr val="1F1F1B"/>
                </a:solidFill>
                <a:latin typeface="Arial"/>
                <a:ea typeface="Arial"/>
                <a:cs typeface="Arial"/>
              </a:rPr>
              <a:t>Administratif</a:t>
            </a:r>
          </a:p>
        </p:txBody>
      </p:sp>
      <p:sp>
        <p:nvSpPr>
          <p:cNvPr id="14" name="">
            <a:extLst xmlns:a="http://schemas.openxmlformats.org/drawingml/2006/main">
              <a:ext uri="{FF2B5EF4-FFF2-40B4-BE49-F238E27FC236}">
                <a16:creationId xmlns:a16="http://schemas.microsoft.com/office/drawing/2014/main" id="{17766E7D-AA48-4F9B-9AC4-28441639A693}"/>
              </a:ext>
            </a:extLst>
          </p:cNvPr>
          <p:cNvSpPr>
            <a:spLocks xmlns:a="http://schemas.openxmlformats.org/drawingml/2006/main" noGrp="1"/>
          </p:cNvSpPr>
          <p:nvPr/>
        </p:nvSpPr>
        <p:spPr>
          <a:xfrm xmlns:a="http://schemas.openxmlformats.org/drawingml/2006/main">
            <a:off x="3286125" y="4124325"/>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F1F1B"/>
                </a:solidFill>
                <a:latin typeface="Arial"/>
                <a:ea typeface="Arial"/>
                <a:cs typeface="Arial"/>
              </a:defRPr>
            </a:defPPr>
            <a:lvl1pPr>
              <a:defRPr sz="1725" b="0">
                <a:solidFill>
                  <a:srgbClr val="1F1F1B"/>
                </a:solidFill>
                <a:latin typeface="Arial"/>
                <a:ea typeface="Arial"/>
                <a:cs typeface="Arial"/>
              </a:defRPr>
            </a:lvl1pPr>
            <a:lvl2pPr>
              <a:defRPr sz="1725" b="0">
                <a:solidFill>
                  <a:srgbClr val="1F1F1B"/>
                </a:solidFill>
                <a:latin typeface="Arial"/>
                <a:ea typeface="Arial"/>
                <a:cs typeface="Arial"/>
              </a:defRPr>
            </a:lvl2pPr>
            <a:lvl3pPr>
              <a:defRPr sz="1725" b="0">
                <a:solidFill>
                  <a:srgbClr val="1F1F1B"/>
                </a:solidFill>
                <a:latin typeface="Arial"/>
                <a:ea typeface="Arial"/>
                <a:cs typeface="Arial"/>
              </a:defRPr>
            </a:lvl3pPr>
            <a:lvl4pPr>
              <a:defRPr sz="1725" b="0">
                <a:solidFill>
                  <a:srgbClr val="1F1F1B"/>
                </a:solidFill>
                <a:latin typeface="Arial"/>
                <a:ea typeface="Arial"/>
                <a:cs typeface="Arial"/>
              </a:defRPr>
            </a:lvl4pPr>
            <a:lvl5pPr>
              <a:defRPr sz="1725" b="0">
                <a:solidFill>
                  <a:srgbClr val="1F1F1B"/>
                </a:solidFill>
                <a:latin typeface="Arial"/>
                <a:ea typeface="Arial"/>
                <a:cs typeface="Arial"/>
              </a:defRPr>
            </a:lvl5pPr>
            <a:lvl6pPr>
              <a:defRPr sz="1725" b="0">
                <a:solidFill>
                  <a:srgbClr val="1F1F1B"/>
                </a:solidFill>
                <a:latin typeface="Arial"/>
                <a:ea typeface="Arial"/>
                <a:cs typeface="Arial"/>
              </a:defRPr>
            </a:lvl6pPr>
            <a:lvl7pPr>
              <a:defRPr sz="1725" b="0">
                <a:solidFill>
                  <a:srgbClr val="1F1F1B"/>
                </a:solidFill>
                <a:latin typeface="Arial"/>
                <a:ea typeface="Arial"/>
                <a:cs typeface="Arial"/>
              </a:defRPr>
            </a:lvl7pPr>
            <a:lvl8pPr>
              <a:defRPr sz="1725" b="0">
                <a:solidFill>
                  <a:srgbClr val="1F1F1B"/>
                </a:solidFill>
                <a:latin typeface="Arial"/>
                <a:ea typeface="Arial"/>
                <a:cs typeface="Arial"/>
              </a:defRPr>
            </a:lvl8pPr>
            <a:lvl9pPr>
              <a:defRPr sz="1725" b="0">
                <a:solidFill>
                  <a:srgbClr val="1F1F1B"/>
                </a:solidFill>
                <a:latin typeface="Arial"/>
                <a:ea typeface="Arial"/>
                <a:cs typeface="Arial"/>
              </a:defRPr>
            </a:lvl9pPr>
          </a:lstStyle>
          <a:p xmlns:a="http://schemas.openxmlformats.org/drawingml/2006/main">
            <a:pPr>
              <a:defRPr sz="1725" b="0">
                <a:solidFill>
                  <a:srgbClr val="1F1F1B"/>
                </a:solidFill>
                <a:latin typeface="Arial"/>
                <a:ea typeface="Arial"/>
                <a:cs typeface="Arial"/>
              </a:defRPr>
            </a:pPr>
            <a:r>
              <a:rPr sz="1725" b="0">
                <a:solidFill>
                  <a:srgbClr val="1F1F1B"/>
                </a:solidFill>
                <a:latin typeface="Arial"/>
                <a:ea typeface="Arial"/>
                <a:cs typeface="Arial"/>
              </a:rPr>
              <a:t>Atur cara, peran, dan waktu kerja</a:t>
            </a:r>
          </a:p>
        </p:txBody>
      </p:sp>
      <p:sp>
        <p:nvSpPr>
          <p:cNvPr id="15" name="">
            <a:extLst xmlns:a="http://schemas.openxmlformats.org/drawingml/2006/main">
              <a:ext uri="{FF2B5EF4-FFF2-40B4-BE49-F238E27FC236}">
                <a16:creationId xmlns:a16="http://schemas.microsoft.com/office/drawing/2014/main" id="{D0520E0B-11CA-492E-A015-25F4BCA008BC}"/>
              </a:ext>
            </a:extLst>
          </p:cNvPr>
          <p:cNvSpPr>
            <a:spLocks xmlns:a="http://schemas.openxmlformats.org/drawingml/2006/main" noGrp="1"/>
          </p:cNvSpPr>
          <p:nvPr/>
        </p:nvSpPr>
        <p:spPr>
          <a:xfrm xmlns:a="http://schemas.openxmlformats.org/drawingml/2006/main">
            <a:off x="762000" y="4667250"/>
            <a:ext cx="7810500" cy="542925"/>
          </a:xfrm>
          <a:prstGeom xmlns:a="http://schemas.openxmlformats.org/drawingml/2006/main" prst="rect">
            <a:avLst/>
          </a:prstGeom>
          <a:solidFill xmlns:a="http://schemas.openxmlformats.org/drawingml/2006/main">
            <a:srgbClr val="F1EEE7"/>
          </a:solidFill>
          <a:ln xmlns:a="http://schemas.openxmlformats.org/drawingml/2006/main" w="9525">
            <a:solidFill>
              <a:srgbClr val="F8F6F1"/>
            </a:solidFill>
          </a:ln>
        </p:spPr>
      </p:sp>
      <p:sp>
        <p:nvSpPr>
          <p:cNvPr id="16" name="">
            <a:extLst xmlns:a="http://schemas.openxmlformats.org/drawingml/2006/main">
              <a:ext uri="{FF2B5EF4-FFF2-40B4-BE49-F238E27FC236}">
                <a16:creationId xmlns:a16="http://schemas.microsoft.com/office/drawing/2014/main" id="{8E4BBCDE-1C56-486B-AAAE-D12C26C8D53A}"/>
              </a:ext>
            </a:extLst>
          </p:cNvPr>
          <p:cNvSpPr>
            <a:spLocks xmlns:a="http://schemas.openxmlformats.org/drawingml/2006/main" noGrp="1"/>
          </p:cNvSpPr>
          <p:nvPr/>
        </p:nvSpPr>
        <p:spPr>
          <a:xfrm xmlns:a="http://schemas.openxmlformats.org/drawingml/2006/main">
            <a:off x="933450" y="47529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F1F1B"/>
                </a:solidFill>
                <a:latin typeface="Arial"/>
                <a:ea typeface="Arial"/>
                <a:cs typeface="Arial"/>
              </a:defRPr>
            </a:defPPr>
            <a:lvl1pPr>
              <a:defRPr sz="2025" b="1">
                <a:solidFill>
                  <a:srgbClr val="1F1F1B"/>
                </a:solidFill>
                <a:latin typeface="Arial"/>
                <a:ea typeface="Arial"/>
                <a:cs typeface="Arial"/>
              </a:defRPr>
            </a:lvl1pPr>
            <a:lvl2pPr>
              <a:defRPr sz="2025" b="1">
                <a:solidFill>
                  <a:srgbClr val="1F1F1B"/>
                </a:solidFill>
                <a:latin typeface="Arial"/>
                <a:ea typeface="Arial"/>
                <a:cs typeface="Arial"/>
              </a:defRPr>
            </a:lvl2pPr>
            <a:lvl3pPr>
              <a:defRPr sz="2025" b="1">
                <a:solidFill>
                  <a:srgbClr val="1F1F1B"/>
                </a:solidFill>
                <a:latin typeface="Arial"/>
                <a:ea typeface="Arial"/>
                <a:cs typeface="Arial"/>
              </a:defRPr>
            </a:lvl3pPr>
            <a:lvl4pPr>
              <a:defRPr sz="2025" b="1">
                <a:solidFill>
                  <a:srgbClr val="1F1F1B"/>
                </a:solidFill>
                <a:latin typeface="Arial"/>
                <a:ea typeface="Arial"/>
                <a:cs typeface="Arial"/>
              </a:defRPr>
            </a:lvl4pPr>
            <a:lvl5pPr>
              <a:defRPr sz="2025" b="1">
                <a:solidFill>
                  <a:srgbClr val="1F1F1B"/>
                </a:solidFill>
                <a:latin typeface="Arial"/>
                <a:ea typeface="Arial"/>
                <a:cs typeface="Arial"/>
              </a:defRPr>
            </a:lvl5pPr>
            <a:lvl6pPr>
              <a:defRPr sz="2025" b="1">
                <a:solidFill>
                  <a:srgbClr val="1F1F1B"/>
                </a:solidFill>
                <a:latin typeface="Arial"/>
                <a:ea typeface="Arial"/>
                <a:cs typeface="Arial"/>
              </a:defRPr>
            </a:lvl6pPr>
            <a:lvl7pPr>
              <a:defRPr sz="2025" b="1">
                <a:solidFill>
                  <a:srgbClr val="1F1F1B"/>
                </a:solidFill>
                <a:latin typeface="Arial"/>
                <a:ea typeface="Arial"/>
                <a:cs typeface="Arial"/>
              </a:defRPr>
            </a:lvl7pPr>
            <a:lvl8pPr>
              <a:defRPr sz="2025" b="1">
                <a:solidFill>
                  <a:srgbClr val="1F1F1B"/>
                </a:solidFill>
                <a:latin typeface="Arial"/>
                <a:ea typeface="Arial"/>
                <a:cs typeface="Arial"/>
              </a:defRPr>
            </a:lvl8pPr>
            <a:lvl9pPr>
              <a:defRPr sz="2025" b="1">
                <a:solidFill>
                  <a:srgbClr val="1F1F1B"/>
                </a:solidFill>
                <a:latin typeface="Arial"/>
                <a:ea typeface="Arial"/>
                <a:cs typeface="Arial"/>
              </a:defRPr>
            </a:lvl9pPr>
          </a:lstStyle>
          <a:p xmlns:a="http://schemas.openxmlformats.org/drawingml/2006/main">
            <a:pPr>
              <a:defRPr sz="2025" b="1">
                <a:solidFill>
                  <a:srgbClr val="1F1F1B"/>
                </a:solidFill>
                <a:latin typeface="Arial"/>
                <a:ea typeface="Arial"/>
                <a:cs typeface="Arial"/>
              </a:defRPr>
            </a:pPr>
            <a:r>
              <a:rPr sz="2025" b="1">
                <a:solidFill>
                  <a:srgbClr val="1F1F1B"/>
                </a:solidFill>
                <a:latin typeface="Arial"/>
                <a:ea typeface="Arial"/>
                <a:cs typeface="Arial"/>
              </a:rPr>
              <a:t>APD</a:t>
            </a:r>
          </a:p>
        </p:txBody>
      </p:sp>
      <p:sp>
        <p:nvSpPr>
          <p:cNvPr id="17" name="">
            <a:extLst xmlns:a="http://schemas.openxmlformats.org/drawingml/2006/main">
              <a:ext uri="{FF2B5EF4-FFF2-40B4-BE49-F238E27FC236}">
                <a16:creationId xmlns:a16="http://schemas.microsoft.com/office/drawing/2014/main" id="{234497A1-96E4-43F0-A6F3-47AB6FEB242B}"/>
              </a:ext>
            </a:extLst>
          </p:cNvPr>
          <p:cNvSpPr>
            <a:spLocks xmlns:a="http://schemas.openxmlformats.org/drawingml/2006/main" noGrp="1"/>
          </p:cNvSpPr>
          <p:nvPr/>
        </p:nvSpPr>
        <p:spPr>
          <a:xfrm xmlns:a="http://schemas.openxmlformats.org/drawingml/2006/main">
            <a:off x="3286125" y="477202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F1F1B"/>
                </a:solidFill>
                <a:latin typeface="Arial"/>
                <a:ea typeface="Arial"/>
                <a:cs typeface="Arial"/>
              </a:defRPr>
            </a:defPPr>
            <a:lvl1pPr>
              <a:defRPr sz="1725" b="0">
                <a:solidFill>
                  <a:srgbClr val="1F1F1B"/>
                </a:solidFill>
                <a:latin typeface="Arial"/>
                <a:ea typeface="Arial"/>
                <a:cs typeface="Arial"/>
              </a:defRPr>
            </a:lvl1pPr>
            <a:lvl2pPr>
              <a:defRPr sz="1725" b="0">
                <a:solidFill>
                  <a:srgbClr val="1F1F1B"/>
                </a:solidFill>
                <a:latin typeface="Arial"/>
                <a:ea typeface="Arial"/>
                <a:cs typeface="Arial"/>
              </a:defRPr>
            </a:lvl2pPr>
            <a:lvl3pPr>
              <a:defRPr sz="1725" b="0">
                <a:solidFill>
                  <a:srgbClr val="1F1F1B"/>
                </a:solidFill>
                <a:latin typeface="Arial"/>
                <a:ea typeface="Arial"/>
                <a:cs typeface="Arial"/>
              </a:defRPr>
            </a:lvl3pPr>
            <a:lvl4pPr>
              <a:defRPr sz="1725" b="0">
                <a:solidFill>
                  <a:srgbClr val="1F1F1B"/>
                </a:solidFill>
                <a:latin typeface="Arial"/>
                <a:ea typeface="Arial"/>
                <a:cs typeface="Arial"/>
              </a:defRPr>
            </a:lvl4pPr>
            <a:lvl5pPr>
              <a:defRPr sz="1725" b="0">
                <a:solidFill>
                  <a:srgbClr val="1F1F1B"/>
                </a:solidFill>
                <a:latin typeface="Arial"/>
                <a:ea typeface="Arial"/>
                <a:cs typeface="Arial"/>
              </a:defRPr>
            </a:lvl5pPr>
            <a:lvl6pPr>
              <a:defRPr sz="1725" b="0">
                <a:solidFill>
                  <a:srgbClr val="1F1F1B"/>
                </a:solidFill>
                <a:latin typeface="Arial"/>
                <a:ea typeface="Arial"/>
                <a:cs typeface="Arial"/>
              </a:defRPr>
            </a:lvl6pPr>
            <a:lvl7pPr>
              <a:defRPr sz="1725" b="0">
                <a:solidFill>
                  <a:srgbClr val="1F1F1B"/>
                </a:solidFill>
                <a:latin typeface="Arial"/>
                <a:ea typeface="Arial"/>
                <a:cs typeface="Arial"/>
              </a:defRPr>
            </a:lvl7pPr>
            <a:lvl8pPr>
              <a:defRPr sz="1725" b="0">
                <a:solidFill>
                  <a:srgbClr val="1F1F1B"/>
                </a:solidFill>
                <a:latin typeface="Arial"/>
                <a:ea typeface="Arial"/>
                <a:cs typeface="Arial"/>
              </a:defRPr>
            </a:lvl8pPr>
            <a:lvl9pPr>
              <a:defRPr sz="1725" b="0">
                <a:solidFill>
                  <a:srgbClr val="1F1F1B"/>
                </a:solidFill>
                <a:latin typeface="Arial"/>
                <a:ea typeface="Arial"/>
                <a:cs typeface="Arial"/>
              </a:defRPr>
            </a:lvl9pPr>
          </a:lstStyle>
          <a:p xmlns:a="http://schemas.openxmlformats.org/drawingml/2006/main">
            <a:pPr>
              <a:defRPr sz="1725" b="0">
                <a:solidFill>
                  <a:srgbClr val="1F1F1B"/>
                </a:solidFill>
                <a:latin typeface="Arial"/>
                <a:ea typeface="Arial"/>
                <a:cs typeface="Arial"/>
              </a:defRPr>
            </a:pPr>
            <a:r>
              <a:rPr sz="1725" b="0">
                <a:solidFill>
                  <a:srgbClr val="1F1F1B"/>
                </a:solidFill>
                <a:latin typeface="Arial"/>
                <a:ea typeface="Arial"/>
                <a:cs typeface="Arial"/>
              </a:rPr>
              <a:t>Lindungi individu sesuai bahaya</a:t>
            </a:r>
          </a:p>
        </p:txBody>
      </p:sp>
      <p:sp>
        <p:nvSpPr>
          <p:cNvPr id="18" name="">
            <a:extLst xmlns:a="http://schemas.openxmlformats.org/drawingml/2006/main">
              <a:ext uri="{FF2B5EF4-FFF2-40B4-BE49-F238E27FC236}">
                <a16:creationId xmlns:a16="http://schemas.microsoft.com/office/drawing/2014/main" id="{ED5BBF76-1020-46BE-9A85-DC174CA8163A}"/>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Utamakan perubahan pada sumber bahaya; beberapa kendali dapat digabung.</a:t>
            </a:r>
          </a:p>
        </p:txBody>
      </p:sp>
      <p:sp>
        <p:nvSpPr>
          <p:cNvPr id="19" name="">
            <a:extLst xmlns:a="http://schemas.openxmlformats.org/drawingml/2006/main">
              <a:ext uri="{FF2B5EF4-FFF2-40B4-BE49-F238E27FC236}">
                <a16:creationId xmlns:a16="http://schemas.microsoft.com/office/drawing/2014/main" id="{3C5A36A2-BD6A-4F5C-8B64-664EA6220D9F}"/>
              </a:ext>
            </a:extLst>
          </p:cNvPr>
          <p:cNvSpPr>
            <a:spLocks xmlns:a="http://schemas.openxmlformats.org/drawingml/2006/main" noGrp="1"/>
          </p:cNvSpPr>
          <p:nvPr/>
        </p:nvSpPr>
        <p:spPr>
          <a:xfrm xmlns:a="http://schemas.openxmlformats.org/drawingml/2006/main">
            <a:off x="762000" y="60960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25C"/>
                </a:solidFill>
                <a:latin typeface="Arial"/>
                <a:ea typeface="Arial"/>
                <a:cs typeface="Arial"/>
              </a:defRPr>
            </a:defPPr>
            <a:lvl1pPr>
              <a:defRPr sz="975" b="0">
                <a:solidFill>
                  <a:srgbClr val="5F625C"/>
                </a:solidFill>
                <a:latin typeface="Arial"/>
                <a:ea typeface="Arial"/>
                <a:cs typeface="Arial"/>
              </a:defRPr>
            </a:lvl1pPr>
            <a:lvl2pPr>
              <a:defRPr sz="975" b="0">
                <a:solidFill>
                  <a:srgbClr val="5F625C"/>
                </a:solidFill>
                <a:latin typeface="Arial"/>
                <a:ea typeface="Arial"/>
                <a:cs typeface="Arial"/>
              </a:defRPr>
            </a:lvl2pPr>
            <a:lvl3pPr>
              <a:defRPr sz="975" b="0">
                <a:solidFill>
                  <a:srgbClr val="5F625C"/>
                </a:solidFill>
                <a:latin typeface="Arial"/>
                <a:ea typeface="Arial"/>
                <a:cs typeface="Arial"/>
              </a:defRPr>
            </a:lvl3pPr>
            <a:lvl4pPr>
              <a:defRPr sz="975" b="0">
                <a:solidFill>
                  <a:srgbClr val="5F625C"/>
                </a:solidFill>
                <a:latin typeface="Arial"/>
                <a:ea typeface="Arial"/>
                <a:cs typeface="Arial"/>
              </a:defRPr>
            </a:lvl4pPr>
            <a:lvl5pPr>
              <a:defRPr sz="975" b="0">
                <a:solidFill>
                  <a:srgbClr val="5F625C"/>
                </a:solidFill>
                <a:latin typeface="Arial"/>
                <a:ea typeface="Arial"/>
                <a:cs typeface="Arial"/>
              </a:defRPr>
            </a:lvl5pPr>
            <a:lvl6pPr>
              <a:defRPr sz="975" b="0">
                <a:solidFill>
                  <a:srgbClr val="5F625C"/>
                </a:solidFill>
                <a:latin typeface="Arial"/>
                <a:ea typeface="Arial"/>
                <a:cs typeface="Arial"/>
              </a:defRPr>
            </a:lvl6pPr>
            <a:lvl7pPr>
              <a:defRPr sz="975" b="0">
                <a:solidFill>
                  <a:srgbClr val="5F625C"/>
                </a:solidFill>
                <a:latin typeface="Arial"/>
                <a:ea typeface="Arial"/>
                <a:cs typeface="Arial"/>
              </a:defRPr>
            </a:lvl7pPr>
            <a:lvl8pPr>
              <a:defRPr sz="975" b="0">
                <a:solidFill>
                  <a:srgbClr val="5F625C"/>
                </a:solidFill>
                <a:latin typeface="Arial"/>
                <a:ea typeface="Arial"/>
                <a:cs typeface="Arial"/>
              </a:defRPr>
            </a:lvl8pPr>
            <a:lvl9pPr>
              <a:defRPr sz="975" b="0">
                <a:solidFill>
                  <a:srgbClr val="5F625C"/>
                </a:solidFill>
                <a:latin typeface="Arial"/>
                <a:ea typeface="Arial"/>
                <a:cs typeface="Arial"/>
              </a:defRPr>
            </a:lvl9pPr>
          </a:lstStyle>
          <a:p xmlns:a="http://schemas.openxmlformats.org/drawingml/2006/main">
            <a:pPr>
              <a:defRPr sz="975" b="0">
                <a:solidFill>
                  <a:srgbClr val="5F625C"/>
                </a:solidFill>
                <a:latin typeface="Arial"/>
                <a:ea typeface="Arial"/>
                <a:cs typeface="Arial"/>
              </a:defRPr>
            </a:pPr>
            <a:r>
              <a:rPr sz="975" b="0">
                <a:solidFill>
                  <a:srgbClr val="5F625C"/>
                </a:solidFill>
                <a:latin typeface="Arial"/>
                <a:ea typeface="Arial"/>
                <a:cs typeface="Arial"/>
              </a:rPr>
              <a:t>OSHA · sumber pada catatan</a:t>
            </a:r>
          </a:p>
        </p:txBody>
      </p:sp>
      <p:sp>
        <p:nvSpPr>
          <p:cNvPr id="20" name="">
            <a:extLst xmlns:a="http://schemas.openxmlformats.org/drawingml/2006/main">
              <a:ext uri="{FF2B5EF4-FFF2-40B4-BE49-F238E27FC236}">
                <a16:creationId xmlns:a16="http://schemas.microsoft.com/office/drawing/2014/main" id="{EF05125C-A0B6-4B06-B4B4-9791D0F2FC8B}"/>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21" name="">
            <a:extLst xmlns:a="http://schemas.openxmlformats.org/drawingml/2006/main">
              <a:ext uri="{FF2B5EF4-FFF2-40B4-BE49-F238E27FC236}">
                <a16:creationId xmlns:a16="http://schemas.microsoft.com/office/drawing/2014/main" id="{35EA0AAE-4814-4408-9E9C-D22792DE998C}"/>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20 / 26</a:t>
            </a:r>
          </a:p>
        </p:txBody>
      </p:sp>
    </p:spTree>
    <p:extLst>
      <p:ext uri="{BB962C8B-B14F-4D97-AF65-F5344CB8AC3E}">
        <p14:creationId xmlns:p14="http://schemas.microsoft.com/office/powerpoint/2010/main" val="479353069"/>
      </p:ext>
    </p:extLst>
  </p:cSld>
</p:sld>
</file>

<file path=ppt/slides/slide2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F887BED-5255-4C0F-90A9-376F98E4EE1D}"/>
              </a:ext>
            </a:extLst>
          </p:cNvPr>
          <p:cNvCxnSpPr>
            <a:stCxn xmlns:a="http://schemas.openxmlformats.org/drawingml/2006/main" id="12" idx="3"/>
            <a:endCxn xmlns:a="http://schemas.openxmlformats.org/drawingml/2006/main" id="13" idx="1"/>
          </p:cNvCxnSpPr>
          <p:nvPr/>
        </p:nvCxnSpPr>
        <p:spPr>
          <a:xfrm xmlns:a="http://schemas.openxmlformats.org/drawingml/2006/main">
            <a:off x="7793038" y="3267076"/>
            <a:ext cx="285750" cy="0"/>
          </a:xfrm>
          <a:prstGeom xmlns:a="http://schemas.openxmlformats.org/drawingml/2006/main" prst="straightConnector1">
            <a:avLst/>
          </a:prstGeom>
          <a:ln xmlns:a="http://schemas.openxmlformats.org/drawingml/2006/main" w="28575">
            <a:solidFill>
              <a:srgbClr val="2F5D62"/>
            </a:solidFill>
            <a:tailEnd type="triangle" w="sm" len="sm"/>
          </a:ln>
        </p:spPr>
      </p:cxnSp>
      <p:cxnSp>
        <p:nvCxnSpPr>
          <p:cNvPr id="8" name="">
            <a:extLst xmlns:a="http://schemas.openxmlformats.org/drawingml/2006/main">
              <a:ext uri="{FF2B5EF4-FFF2-40B4-BE49-F238E27FC236}">
                <a16:creationId xmlns:a16="http://schemas.microsoft.com/office/drawing/2014/main" id="{E4064AAD-EE00-46DB-8A6F-F833C96EB978}"/>
              </a:ext>
            </a:extLst>
          </p:cNvPr>
          <p:cNvCxnSpPr>
            <a:stCxn xmlns:a="http://schemas.openxmlformats.org/drawingml/2006/main" id="6" idx="3"/>
            <a:endCxn xmlns:a="http://schemas.openxmlformats.org/drawingml/2006/main" id="7" idx="1"/>
          </p:cNvCxnSpPr>
          <p:nvPr/>
        </p:nvCxnSpPr>
        <p:spPr>
          <a:xfrm xmlns:a="http://schemas.openxmlformats.org/drawingml/2006/main">
            <a:off x="4103688" y="3267076"/>
            <a:ext cx="285750" cy="0"/>
          </a:xfrm>
          <a:prstGeom xmlns:a="http://schemas.openxmlformats.org/drawingml/2006/main" prst="straightConnector1">
            <a:avLst/>
          </a:prstGeom>
          <a:ln xmlns:a="http://schemas.openxmlformats.org/drawingml/2006/main" w="28575">
            <a:solidFill>
              <a:srgbClr val="2F5D62"/>
            </a:solidFill>
            <a:tailEnd type="triangle" w="sm" len="sm"/>
          </a:ln>
        </p:spPr>
      </p:cxnSp>
      <p:sp>
        <p:nvSpPr>
          <p:cNvPr id="21" name="">
            <a:extLst xmlns:a="http://schemas.openxmlformats.org/drawingml/2006/main">
              <a:ext uri="{FF2B5EF4-FFF2-40B4-BE49-F238E27FC236}">
                <a16:creationId xmlns:a16="http://schemas.microsoft.com/office/drawing/2014/main" id="{81454A19-3A54-40A5-9A7A-FA94BA6E41F3}"/>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932189C3-5C7D-4774-AA69-1D218A2DED66}"/>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Praktik pemindahan kotak ringan</a:t>
            </a:r>
          </a:p>
        </p:txBody>
      </p:sp>
      <p:sp>
        <p:nvSpPr>
          <p:cNvPr id="3" name="">
            <a:extLst xmlns:a="http://schemas.openxmlformats.org/drawingml/2006/main">
              <a:ext uri="{FF2B5EF4-FFF2-40B4-BE49-F238E27FC236}">
                <a16:creationId xmlns:a16="http://schemas.microsoft.com/office/drawing/2014/main" id="{A8B6B6F0-0D2E-40B9-A612-D4BC746B1900}"/>
              </a:ext>
            </a:extLst>
          </p:cNvPr>
          <p:cNvSpPr>
            <a:spLocks xmlns:a="http://schemas.openxmlformats.org/drawingml/2006/main" noGrp="1"/>
          </p:cNvSpPr>
          <p:nvPr/>
        </p:nvSpPr>
        <p:spPr>
          <a:xfrm xmlns:a="http://schemas.openxmlformats.org/drawingml/2006/main">
            <a:off x="762000" y="2571750"/>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4" name="">
            <a:extLst xmlns:a="http://schemas.openxmlformats.org/drawingml/2006/main">
              <a:ext uri="{FF2B5EF4-FFF2-40B4-BE49-F238E27FC236}">
                <a16:creationId xmlns:a16="http://schemas.microsoft.com/office/drawing/2014/main" id="{6CBCA84C-A6C2-402C-9FB1-303971587CA1}"/>
              </a:ext>
            </a:extLst>
          </p:cNvPr>
          <p:cNvSpPr>
            <a:spLocks xmlns:a="http://schemas.openxmlformats.org/drawingml/2006/main" noGrp="1"/>
          </p:cNvSpPr>
          <p:nvPr/>
        </p:nvSpPr>
        <p:spPr>
          <a:xfrm xmlns:a="http://schemas.openxmlformats.org/drawingml/2006/main">
            <a:off x="933450" y="2705100"/>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Periksa</a:t>
            </a:r>
          </a:p>
        </p:txBody>
      </p:sp>
      <p:sp>
        <p:nvSpPr>
          <p:cNvPr id="5" name="">
            <a:extLst xmlns:a="http://schemas.openxmlformats.org/drawingml/2006/main">
              <a:ext uri="{FF2B5EF4-FFF2-40B4-BE49-F238E27FC236}">
                <a16:creationId xmlns:a16="http://schemas.microsoft.com/office/drawing/2014/main" id="{5F85C013-7783-4AD9-88B9-BE6CF93EB1F9}"/>
              </a:ext>
            </a:extLst>
          </p:cNvPr>
          <p:cNvSpPr>
            <a:spLocks xmlns:a="http://schemas.openxmlformats.org/drawingml/2006/main" noGrp="1"/>
          </p:cNvSpPr>
          <p:nvPr/>
        </p:nvSpPr>
        <p:spPr>
          <a:xfrm xmlns:a="http://schemas.openxmlformats.org/drawingml/2006/main">
            <a:off x="933450" y="3152775"/>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Kotak, jalur, dan tujuan</a:t>
            </a:r>
          </a:p>
        </p:txBody>
      </p:sp>
      <p:sp>
        <p:nvSpPr>
          <p:cNvPr id="6" name="">
            <a:extLst xmlns:a="http://schemas.openxmlformats.org/drawingml/2006/main">
              <a:ext uri="{FF2B5EF4-FFF2-40B4-BE49-F238E27FC236}">
                <a16:creationId xmlns:a16="http://schemas.microsoft.com/office/drawing/2014/main" id="{6EB892E8-71A7-403F-8A64-0FFEDE487D59}"/>
              </a:ext>
            </a:extLst>
          </p:cNvPr>
          <p:cNvSpPr>
            <a:spLocks xmlns:a="http://schemas.openxmlformats.org/drawingml/2006/main" noGrp="1"/>
          </p:cNvSpPr>
          <p:nvPr/>
        </p:nvSpPr>
        <p:spPr>
          <a:xfrm xmlns:a="http://schemas.openxmlformats.org/drawingml/2006/main">
            <a:off x="4094163" y="3262313"/>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405FD1-8ED1-4F36-94A9-33ADF38B0B75}"/>
              </a:ext>
            </a:extLst>
          </p:cNvPr>
          <p:cNvSpPr>
            <a:spLocks xmlns:a="http://schemas.openxmlformats.org/drawingml/2006/main" noGrp="1"/>
          </p:cNvSpPr>
          <p:nvPr/>
        </p:nvSpPr>
        <p:spPr>
          <a:xfrm xmlns:a="http://schemas.openxmlformats.org/drawingml/2006/main">
            <a:off x="4389438" y="3262313"/>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7C3D40-3720-43A6-8471-C1FDEED78DBE}"/>
              </a:ext>
            </a:extLst>
          </p:cNvPr>
          <p:cNvSpPr>
            <a:spLocks xmlns:a="http://schemas.openxmlformats.org/drawingml/2006/main" noGrp="1"/>
          </p:cNvSpPr>
          <p:nvPr/>
        </p:nvSpPr>
        <p:spPr>
          <a:xfrm xmlns:a="http://schemas.openxmlformats.org/drawingml/2006/main">
            <a:off x="4451350" y="2571750"/>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0" name="">
            <a:extLst xmlns:a="http://schemas.openxmlformats.org/drawingml/2006/main">
              <a:ext uri="{FF2B5EF4-FFF2-40B4-BE49-F238E27FC236}">
                <a16:creationId xmlns:a16="http://schemas.microsoft.com/office/drawing/2014/main" id="{E09651F5-FBA5-4016-9927-9A73842E5F8A}"/>
              </a:ext>
            </a:extLst>
          </p:cNvPr>
          <p:cNvSpPr>
            <a:spLocks xmlns:a="http://schemas.openxmlformats.org/drawingml/2006/main" noGrp="1"/>
          </p:cNvSpPr>
          <p:nvPr/>
        </p:nvSpPr>
        <p:spPr>
          <a:xfrm xmlns:a="http://schemas.openxmlformats.org/drawingml/2006/main">
            <a:off x="4622800" y="2705100"/>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Sepakati</a:t>
            </a:r>
          </a:p>
        </p:txBody>
      </p:sp>
      <p:sp>
        <p:nvSpPr>
          <p:cNvPr id="11" name="">
            <a:extLst xmlns:a="http://schemas.openxmlformats.org/drawingml/2006/main">
              <a:ext uri="{FF2B5EF4-FFF2-40B4-BE49-F238E27FC236}">
                <a16:creationId xmlns:a16="http://schemas.microsoft.com/office/drawing/2014/main" id="{D390B33C-8B0A-4EB7-9FBB-303A98266CD9}"/>
              </a:ext>
            </a:extLst>
          </p:cNvPr>
          <p:cNvSpPr>
            <a:spLocks xmlns:a="http://schemas.openxmlformats.org/drawingml/2006/main" noGrp="1"/>
          </p:cNvSpPr>
          <p:nvPr/>
        </p:nvSpPr>
        <p:spPr>
          <a:xfrm xmlns:a="http://schemas.openxmlformats.org/drawingml/2006/main">
            <a:off x="4622800" y="3152775"/>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Metode, bantuan, dan</a:t>
            </a:r>
          </a:p>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aba-aba</a:t>
            </a:r>
          </a:p>
        </p:txBody>
      </p:sp>
      <p:sp>
        <p:nvSpPr>
          <p:cNvPr id="12" name="">
            <a:extLst xmlns:a="http://schemas.openxmlformats.org/drawingml/2006/main">
              <a:ext uri="{FF2B5EF4-FFF2-40B4-BE49-F238E27FC236}">
                <a16:creationId xmlns:a16="http://schemas.microsoft.com/office/drawing/2014/main" id="{515CB023-1EF5-4CE6-97E5-EF3553C3694F}"/>
              </a:ext>
            </a:extLst>
          </p:cNvPr>
          <p:cNvSpPr>
            <a:spLocks xmlns:a="http://schemas.openxmlformats.org/drawingml/2006/main" noGrp="1"/>
          </p:cNvSpPr>
          <p:nvPr/>
        </p:nvSpPr>
        <p:spPr>
          <a:xfrm xmlns:a="http://schemas.openxmlformats.org/drawingml/2006/main">
            <a:off x="7783513" y="3262313"/>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9142C1-2074-450C-8C8D-EEEDD05001CF}"/>
              </a:ext>
            </a:extLst>
          </p:cNvPr>
          <p:cNvSpPr>
            <a:spLocks xmlns:a="http://schemas.openxmlformats.org/drawingml/2006/main" noGrp="1"/>
          </p:cNvSpPr>
          <p:nvPr/>
        </p:nvSpPr>
        <p:spPr>
          <a:xfrm xmlns:a="http://schemas.openxmlformats.org/drawingml/2006/main">
            <a:off x="8078788" y="3262313"/>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662287C-7727-4ACD-AB6C-55EC5BC4FECF}"/>
              </a:ext>
            </a:extLst>
          </p:cNvPr>
          <p:cNvSpPr>
            <a:spLocks xmlns:a="http://schemas.openxmlformats.org/drawingml/2006/main" noGrp="1"/>
          </p:cNvSpPr>
          <p:nvPr/>
        </p:nvSpPr>
        <p:spPr>
          <a:xfrm xmlns:a="http://schemas.openxmlformats.org/drawingml/2006/main">
            <a:off x="8140700" y="2571750"/>
            <a:ext cx="3289300" cy="1381125"/>
          </a:xfrm>
          <a:prstGeom xmlns:a="http://schemas.openxmlformats.org/drawingml/2006/main" prst="rect">
            <a:avLst/>
          </a:prstGeom>
          <a:solidFill xmlns:a="http://schemas.openxmlformats.org/drawingml/2006/main">
            <a:srgbClr val="F8F6F1"/>
          </a:solidFill>
          <a:ln xmlns:a="http://schemas.openxmlformats.org/drawingml/2006/main" w="9525">
            <a:solidFill>
              <a:srgbClr val="2F5D62"/>
            </a:solidFill>
          </a:ln>
        </p:spPr>
      </p:sp>
      <p:sp>
        <p:nvSpPr>
          <p:cNvPr id="16" name="">
            <a:extLst xmlns:a="http://schemas.openxmlformats.org/drawingml/2006/main">
              <a:ext uri="{FF2B5EF4-FFF2-40B4-BE49-F238E27FC236}">
                <a16:creationId xmlns:a16="http://schemas.microsoft.com/office/drawing/2014/main" id="{6A1591E9-0E0D-48E4-8136-AEE2E12FD511}"/>
              </a:ext>
            </a:extLst>
          </p:cNvPr>
          <p:cNvSpPr>
            <a:spLocks xmlns:a="http://schemas.openxmlformats.org/drawingml/2006/main" noGrp="1"/>
          </p:cNvSpPr>
          <p:nvPr/>
        </p:nvSpPr>
        <p:spPr>
          <a:xfrm xmlns:a="http://schemas.openxmlformats.org/drawingml/2006/main">
            <a:off x="8312150" y="2705100"/>
            <a:ext cx="294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F5D62"/>
                </a:solidFill>
                <a:latin typeface="Arial"/>
                <a:ea typeface="Arial"/>
                <a:cs typeface="Arial"/>
              </a:defRPr>
            </a:defPPr>
            <a:lvl1pPr>
              <a:defRPr sz="2175" b="1">
                <a:solidFill>
                  <a:srgbClr val="2F5D62"/>
                </a:solidFill>
                <a:latin typeface="Arial"/>
                <a:ea typeface="Arial"/>
                <a:cs typeface="Arial"/>
              </a:defRPr>
            </a:lvl1pPr>
            <a:lvl2pPr>
              <a:defRPr sz="2175" b="1">
                <a:solidFill>
                  <a:srgbClr val="2F5D62"/>
                </a:solidFill>
                <a:latin typeface="Arial"/>
                <a:ea typeface="Arial"/>
                <a:cs typeface="Arial"/>
              </a:defRPr>
            </a:lvl2pPr>
            <a:lvl3pPr>
              <a:defRPr sz="2175" b="1">
                <a:solidFill>
                  <a:srgbClr val="2F5D62"/>
                </a:solidFill>
                <a:latin typeface="Arial"/>
                <a:ea typeface="Arial"/>
                <a:cs typeface="Arial"/>
              </a:defRPr>
            </a:lvl3pPr>
            <a:lvl4pPr>
              <a:defRPr sz="2175" b="1">
                <a:solidFill>
                  <a:srgbClr val="2F5D62"/>
                </a:solidFill>
                <a:latin typeface="Arial"/>
                <a:ea typeface="Arial"/>
                <a:cs typeface="Arial"/>
              </a:defRPr>
            </a:lvl4pPr>
            <a:lvl5pPr>
              <a:defRPr sz="2175" b="1">
                <a:solidFill>
                  <a:srgbClr val="2F5D62"/>
                </a:solidFill>
                <a:latin typeface="Arial"/>
                <a:ea typeface="Arial"/>
                <a:cs typeface="Arial"/>
              </a:defRPr>
            </a:lvl5pPr>
            <a:lvl6pPr>
              <a:defRPr sz="2175" b="1">
                <a:solidFill>
                  <a:srgbClr val="2F5D62"/>
                </a:solidFill>
                <a:latin typeface="Arial"/>
                <a:ea typeface="Arial"/>
                <a:cs typeface="Arial"/>
              </a:defRPr>
            </a:lvl6pPr>
            <a:lvl7pPr>
              <a:defRPr sz="2175" b="1">
                <a:solidFill>
                  <a:srgbClr val="2F5D62"/>
                </a:solidFill>
                <a:latin typeface="Arial"/>
                <a:ea typeface="Arial"/>
                <a:cs typeface="Arial"/>
              </a:defRPr>
            </a:lvl7pPr>
            <a:lvl8pPr>
              <a:defRPr sz="2175" b="1">
                <a:solidFill>
                  <a:srgbClr val="2F5D62"/>
                </a:solidFill>
                <a:latin typeface="Arial"/>
                <a:ea typeface="Arial"/>
                <a:cs typeface="Arial"/>
              </a:defRPr>
            </a:lvl8pPr>
            <a:lvl9pPr>
              <a:defRPr sz="2175" b="1">
                <a:solidFill>
                  <a:srgbClr val="2F5D62"/>
                </a:solidFill>
                <a:latin typeface="Arial"/>
                <a:ea typeface="Arial"/>
                <a:cs typeface="Arial"/>
              </a:defRPr>
            </a:lvl9pPr>
          </a:lstStyle>
          <a:p xmlns:a="http://schemas.openxmlformats.org/drawingml/2006/main">
            <a:pPr>
              <a:defRPr sz="2175" b="1">
                <a:solidFill>
                  <a:srgbClr val="2F5D62"/>
                </a:solidFill>
                <a:latin typeface="Arial"/>
                <a:ea typeface="Arial"/>
                <a:cs typeface="Arial"/>
              </a:defRPr>
            </a:pPr>
            <a:r>
              <a:rPr sz="2175" b="1">
                <a:solidFill>
                  <a:srgbClr val="2F5D62"/>
                </a:solidFill>
                <a:latin typeface="Arial"/>
                <a:ea typeface="Arial"/>
                <a:cs typeface="Arial"/>
              </a:rPr>
              <a:t>Lakukan</a:t>
            </a:r>
          </a:p>
        </p:txBody>
      </p:sp>
      <p:sp>
        <p:nvSpPr>
          <p:cNvPr id="17" name="">
            <a:extLst xmlns:a="http://schemas.openxmlformats.org/drawingml/2006/main">
              <a:ext uri="{FF2B5EF4-FFF2-40B4-BE49-F238E27FC236}">
                <a16:creationId xmlns:a16="http://schemas.microsoft.com/office/drawing/2014/main" id="{54BBB4A0-3D12-4ED9-A655-2C506389D438}"/>
              </a:ext>
            </a:extLst>
          </p:cNvPr>
          <p:cNvSpPr>
            <a:spLocks xmlns:a="http://schemas.openxmlformats.org/drawingml/2006/main" noGrp="1"/>
          </p:cNvSpPr>
          <p:nvPr/>
        </p:nvSpPr>
        <p:spPr>
          <a:xfrm xmlns:a="http://schemas.openxmlformats.org/drawingml/2006/main">
            <a:off x="8312150" y="3152775"/>
            <a:ext cx="294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F625C"/>
                </a:solidFill>
                <a:latin typeface="Arial"/>
                <a:ea typeface="Arial"/>
                <a:cs typeface="Arial"/>
              </a:defRPr>
            </a:defPPr>
            <a:lvl1pPr>
              <a:defRPr sz="1725" b="0">
                <a:solidFill>
                  <a:srgbClr val="5F625C"/>
                </a:solidFill>
                <a:latin typeface="Arial"/>
                <a:ea typeface="Arial"/>
                <a:cs typeface="Arial"/>
              </a:defRPr>
            </a:lvl1pPr>
            <a:lvl2pPr>
              <a:defRPr sz="1725" b="0">
                <a:solidFill>
                  <a:srgbClr val="5F625C"/>
                </a:solidFill>
                <a:latin typeface="Arial"/>
                <a:ea typeface="Arial"/>
                <a:cs typeface="Arial"/>
              </a:defRPr>
            </a:lvl2pPr>
            <a:lvl3pPr>
              <a:defRPr sz="1725" b="0">
                <a:solidFill>
                  <a:srgbClr val="5F625C"/>
                </a:solidFill>
                <a:latin typeface="Arial"/>
                <a:ea typeface="Arial"/>
                <a:cs typeface="Arial"/>
              </a:defRPr>
            </a:lvl3pPr>
            <a:lvl4pPr>
              <a:defRPr sz="1725" b="0">
                <a:solidFill>
                  <a:srgbClr val="5F625C"/>
                </a:solidFill>
                <a:latin typeface="Arial"/>
                <a:ea typeface="Arial"/>
                <a:cs typeface="Arial"/>
              </a:defRPr>
            </a:lvl4pPr>
            <a:lvl5pPr>
              <a:defRPr sz="1725" b="0">
                <a:solidFill>
                  <a:srgbClr val="5F625C"/>
                </a:solidFill>
                <a:latin typeface="Arial"/>
                <a:ea typeface="Arial"/>
                <a:cs typeface="Arial"/>
              </a:defRPr>
            </a:lvl5pPr>
            <a:lvl6pPr>
              <a:defRPr sz="1725" b="0">
                <a:solidFill>
                  <a:srgbClr val="5F625C"/>
                </a:solidFill>
                <a:latin typeface="Arial"/>
                <a:ea typeface="Arial"/>
                <a:cs typeface="Arial"/>
              </a:defRPr>
            </a:lvl6pPr>
            <a:lvl7pPr>
              <a:defRPr sz="1725" b="0">
                <a:solidFill>
                  <a:srgbClr val="5F625C"/>
                </a:solidFill>
                <a:latin typeface="Arial"/>
                <a:ea typeface="Arial"/>
                <a:cs typeface="Arial"/>
              </a:defRPr>
            </a:lvl7pPr>
            <a:lvl8pPr>
              <a:defRPr sz="1725" b="0">
                <a:solidFill>
                  <a:srgbClr val="5F625C"/>
                </a:solidFill>
                <a:latin typeface="Arial"/>
                <a:ea typeface="Arial"/>
                <a:cs typeface="Arial"/>
              </a:defRPr>
            </a:lvl8pPr>
            <a:lvl9pPr>
              <a:defRPr sz="1725" b="0">
                <a:solidFill>
                  <a:srgbClr val="5F625C"/>
                </a:solidFill>
                <a:latin typeface="Arial"/>
                <a:ea typeface="Arial"/>
                <a:cs typeface="Arial"/>
              </a:defRPr>
            </a:lvl9pPr>
          </a:lstStyle>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Gerak terkendali atau</a:t>
            </a:r>
          </a:p>
          <a:p xmlns:a="http://schemas.openxmlformats.org/drawingml/2006/main">
            <a:pPr>
              <a:defRPr sz="1725" b="0">
                <a:solidFill>
                  <a:srgbClr val="5F625C"/>
                </a:solidFill>
                <a:latin typeface="Arial"/>
                <a:ea typeface="Arial"/>
                <a:cs typeface="Arial"/>
              </a:defRPr>
            </a:pPr>
            <a:r>
              <a:rPr sz="1725" b="0">
                <a:solidFill>
                  <a:srgbClr val="5F625C"/>
                </a:solidFill>
                <a:latin typeface="Arial"/>
                <a:ea typeface="Arial"/>
                <a:cs typeface="Arial"/>
              </a:rPr>
              <a:t>amati</a:t>
            </a:r>
          </a:p>
        </p:txBody>
      </p:sp>
      <p:sp>
        <p:nvSpPr>
          <p:cNvPr id="18" name="">
            <a:extLst xmlns:a="http://schemas.openxmlformats.org/drawingml/2006/main">
              <a:ext uri="{FF2B5EF4-FFF2-40B4-BE49-F238E27FC236}">
                <a16:creationId xmlns:a16="http://schemas.microsoft.com/office/drawing/2014/main" id="{F4FCFD18-3E1C-44F9-919E-EC33C21EB1EE}"/>
              </a:ext>
            </a:extLst>
          </p:cNvPr>
          <p:cNvSpPr>
            <a:spLocks xmlns:a="http://schemas.openxmlformats.org/drawingml/2006/main" noGrp="1"/>
          </p:cNvSpPr>
          <p:nvPr/>
        </p:nvSpPr>
        <p:spPr>
          <a:xfrm xmlns:a="http://schemas.openxmlformats.org/drawingml/2006/main">
            <a:off x="762000" y="54387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F5D62"/>
                </a:solidFill>
                <a:latin typeface="Arial"/>
                <a:ea typeface="Arial"/>
                <a:cs typeface="Arial"/>
              </a:defRPr>
            </a:defPPr>
            <a:lvl1pPr>
              <a:defRPr sz="1725" b="0">
                <a:solidFill>
                  <a:srgbClr val="2F5D62"/>
                </a:solidFill>
                <a:latin typeface="Arial"/>
                <a:ea typeface="Arial"/>
                <a:cs typeface="Arial"/>
              </a:defRPr>
            </a:lvl1pPr>
            <a:lvl2pPr>
              <a:defRPr sz="1725" b="0">
                <a:solidFill>
                  <a:srgbClr val="2F5D62"/>
                </a:solidFill>
                <a:latin typeface="Arial"/>
                <a:ea typeface="Arial"/>
                <a:cs typeface="Arial"/>
              </a:defRPr>
            </a:lvl2pPr>
            <a:lvl3pPr>
              <a:defRPr sz="1725" b="0">
                <a:solidFill>
                  <a:srgbClr val="2F5D62"/>
                </a:solidFill>
                <a:latin typeface="Arial"/>
                <a:ea typeface="Arial"/>
                <a:cs typeface="Arial"/>
              </a:defRPr>
            </a:lvl3pPr>
            <a:lvl4pPr>
              <a:defRPr sz="1725" b="0">
                <a:solidFill>
                  <a:srgbClr val="2F5D62"/>
                </a:solidFill>
                <a:latin typeface="Arial"/>
                <a:ea typeface="Arial"/>
                <a:cs typeface="Arial"/>
              </a:defRPr>
            </a:lvl4pPr>
            <a:lvl5pPr>
              <a:defRPr sz="1725" b="0">
                <a:solidFill>
                  <a:srgbClr val="2F5D62"/>
                </a:solidFill>
                <a:latin typeface="Arial"/>
                <a:ea typeface="Arial"/>
                <a:cs typeface="Arial"/>
              </a:defRPr>
            </a:lvl5pPr>
            <a:lvl6pPr>
              <a:defRPr sz="1725" b="0">
                <a:solidFill>
                  <a:srgbClr val="2F5D62"/>
                </a:solidFill>
                <a:latin typeface="Arial"/>
                <a:ea typeface="Arial"/>
                <a:cs typeface="Arial"/>
              </a:defRPr>
            </a:lvl6pPr>
            <a:lvl7pPr>
              <a:defRPr sz="1725" b="0">
                <a:solidFill>
                  <a:srgbClr val="2F5D62"/>
                </a:solidFill>
                <a:latin typeface="Arial"/>
                <a:ea typeface="Arial"/>
                <a:cs typeface="Arial"/>
              </a:defRPr>
            </a:lvl7pPr>
            <a:lvl8pPr>
              <a:defRPr sz="1725" b="0">
                <a:solidFill>
                  <a:srgbClr val="2F5D62"/>
                </a:solidFill>
                <a:latin typeface="Arial"/>
                <a:ea typeface="Arial"/>
                <a:cs typeface="Arial"/>
              </a:defRPr>
            </a:lvl8pPr>
            <a:lvl9pPr>
              <a:defRPr sz="1725" b="0">
                <a:solidFill>
                  <a:srgbClr val="2F5D62"/>
                </a:solidFill>
                <a:latin typeface="Arial"/>
                <a:ea typeface="Arial"/>
                <a:cs typeface="Arial"/>
              </a:defRPr>
            </a:lvl9pPr>
          </a:lstStyle>
          <a:p xmlns:a="http://schemas.openxmlformats.org/drawingml/2006/main">
            <a:pPr>
              <a:defRPr sz="1725" b="0">
                <a:solidFill>
                  <a:srgbClr val="2F5D62"/>
                </a:solidFill>
                <a:latin typeface="Arial"/>
                <a:ea typeface="Arial"/>
                <a:cs typeface="Arial"/>
              </a:defRPr>
            </a:pPr>
            <a:r>
              <a:rPr sz="1725" b="0">
                <a:solidFill>
                  <a:srgbClr val="2F5D62"/>
                </a:solidFill>
                <a:latin typeface="Arial"/>
                <a:ea typeface="Arial"/>
                <a:cs typeface="Arial"/>
              </a:rPr>
              <a:t>Kotak kosong atau sangat ringan, di ruang datar; berhenti bila ada keluhan.</a:t>
            </a:r>
          </a:p>
        </p:txBody>
      </p:sp>
      <p:sp>
        <p:nvSpPr>
          <p:cNvPr id="19" name="">
            <a:extLst xmlns:a="http://schemas.openxmlformats.org/drawingml/2006/main">
              <a:ext uri="{FF2B5EF4-FFF2-40B4-BE49-F238E27FC236}">
                <a16:creationId xmlns:a16="http://schemas.microsoft.com/office/drawing/2014/main" id="{0BA9B394-CC59-47C1-9A1A-18C3DA597F1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20" name="">
            <a:extLst xmlns:a="http://schemas.openxmlformats.org/drawingml/2006/main">
              <a:ext uri="{FF2B5EF4-FFF2-40B4-BE49-F238E27FC236}">
                <a16:creationId xmlns:a16="http://schemas.microsoft.com/office/drawing/2014/main" id="{A8D1D770-DFB0-406D-96AB-FBC7A6EE835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21 / 26</a:t>
            </a:r>
          </a:p>
        </p:txBody>
      </p:sp>
    </p:spTree>
    <p:extLst>
      <p:ext uri="{BB962C8B-B14F-4D97-AF65-F5344CB8AC3E}">
        <p14:creationId xmlns:p14="http://schemas.microsoft.com/office/powerpoint/2010/main" val="1328960611"/>
      </p:ext>
    </p:extLst>
  </p:cSld>
</p:sld>
</file>

<file path=ppt/slides/slide2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D413AC-B2A4-4DE4-A87B-A93BD46B48D7}"/>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D0A92072-DCD1-4E70-9D96-94073BB2D098}"/>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Rancangan kelompok</a:t>
            </a:r>
          </a:p>
        </p:txBody>
      </p:sp>
      <p:sp>
        <p:nvSpPr>
          <p:cNvPr id="3" name="">
            <a:extLst xmlns:a="http://schemas.openxmlformats.org/drawingml/2006/main">
              <a:ext uri="{FF2B5EF4-FFF2-40B4-BE49-F238E27FC236}">
                <a16:creationId xmlns:a16="http://schemas.microsoft.com/office/drawing/2014/main" id="{7FADE4D1-A45F-4CB9-993F-D309D93F06BE}"/>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Gunakan foto alat dari pertemuan pertama.</a:t>
            </a:r>
          </a:p>
        </p:txBody>
      </p:sp>
      <p:sp>
        <p:nvSpPr>
          <p:cNvPr id="4" name="">
            <a:extLst xmlns:a="http://schemas.openxmlformats.org/drawingml/2006/main">
              <a:ext uri="{FF2B5EF4-FFF2-40B4-BE49-F238E27FC236}">
                <a16:creationId xmlns:a16="http://schemas.microsoft.com/office/drawing/2014/main" id="{A3835A48-E71E-4B58-A0C9-112F127497E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Tuliskan informasi yang sudah diketahui dan yang masih perlu diverifikasi.</a:t>
            </a:r>
          </a:p>
        </p:txBody>
      </p:sp>
      <p:sp>
        <p:nvSpPr>
          <p:cNvPr id="5" name="">
            <a:extLst xmlns:a="http://schemas.openxmlformats.org/drawingml/2006/main">
              <a:ext uri="{FF2B5EF4-FFF2-40B4-BE49-F238E27FC236}">
                <a16:creationId xmlns:a16="http://schemas.microsoft.com/office/drawing/2014/main" id="{9A9A9A93-60F5-43A8-846D-2E503BD9F082}"/>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Usulkan satu perubahan desain serta satu cara memeriksa hasilnya.</a:t>
            </a:r>
          </a:p>
        </p:txBody>
      </p:sp>
      <p:sp>
        <p:nvSpPr>
          <p:cNvPr id="6" name="">
            <a:extLst xmlns:a="http://schemas.openxmlformats.org/drawingml/2006/main">
              <a:ext uri="{FF2B5EF4-FFF2-40B4-BE49-F238E27FC236}">
                <a16:creationId xmlns:a16="http://schemas.microsoft.com/office/drawing/2014/main" id="{DA3AD11F-4663-450F-90B7-54B21DEF063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74D89DE0-CF0A-4A2A-B62F-75B7D8B97CEE}"/>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22 / 26</a:t>
            </a:r>
          </a:p>
        </p:txBody>
      </p:sp>
    </p:spTree>
    <p:extLst>
      <p:ext uri="{BB962C8B-B14F-4D97-AF65-F5344CB8AC3E}">
        <p14:creationId xmlns:p14="http://schemas.microsoft.com/office/powerpoint/2010/main" val="947970261"/>
      </p:ext>
    </p:extLst>
  </p:cSld>
</p:sld>
</file>

<file path=ppt/slides/slide2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B8665D-FEF2-4904-873A-10F4EBB3A6F5}"/>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E1B03F63-31EB-4862-A465-A40839B40BF4}"/>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Exit ticket</a:t>
            </a:r>
          </a:p>
        </p:txBody>
      </p:sp>
      <p:sp>
        <p:nvSpPr>
          <p:cNvPr id="3" name="">
            <a:extLst xmlns:a="http://schemas.openxmlformats.org/drawingml/2006/main">
              <a:ext uri="{FF2B5EF4-FFF2-40B4-BE49-F238E27FC236}">
                <a16:creationId xmlns:a16="http://schemas.microsoft.com/office/drawing/2014/main" id="{FAF3A83F-1E33-4D84-BABC-A5DD0DE0BF99}"/>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Mengapa denyut saja belum cukup untuk menilai beban kerja?</a:t>
            </a:r>
          </a:p>
        </p:txBody>
      </p:sp>
      <p:sp>
        <p:nvSpPr>
          <p:cNvPr id="4" name="">
            <a:extLst xmlns:a="http://schemas.openxmlformats.org/drawingml/2006/main">
              <a:ext uri="{FF2B5EF4-FFF2-40B4-BE49-F238E27FC236}">
                <a16:creationId xmlns:a16="http://schemas.microsoft.com/office/drawing/2014/main" id="{A2B03F6F-FEE1-4D25-A6FB-03476701DBE5}"/>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Apa perbedaan kapasitas aerobik dan tuntutan tugas?</a:t>
            </a:r>
          </a:p>
        </p:txBody>
      </p:sp>
      <p:sp>
        <p:nvSpPr>
          <p:cNvPr id="5" name="">
            <a:extLst xmlns:a="http://schemas.openxmlformats.org/drawingml/2006/main">
              <a:ext uri="{FF2B5EF4-FFF2-40B4-BE49-F238E27FC236}">
                <a16:creationId xmlns:a16="http://schemas.microsoft.com/office/drawing/2014/main" id="{B06B1962-ED1A-4E42-99CE-58236CD44836}"/>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Perubahan apa yang paling membantu pada kasus kotak alat Anda?</a:t>
            </a:r>
          </a:p>
        </p:txBody>
      </p:sp>
      <p:sp>
        <p:nvSpPr>
          <p:cNvPr id="6" name="">
            <a:extLst xmlns:a="http://schemas.openxmlformats.org/drawingml/2006/main">
              <a:ext uri="{FF2B5EF4-FFF2-40B4-BE49-F238E27FC236}">
                <a16:creationId xmlns:a16="http://schemas.microsoft.com/office/drawing/2014/main" id="{67230F60-4A52-441A-85BD-95331E330D14}"/>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A0CDF1EE-A8E6-4E4B-BA3D-6B41C78DBD76}"/>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23 / 26</a:t>
            </a:r>
          </a:p>
        </p:txBody>
      </p:sp>
    </p:spTree>
    <p:extLst>
      <p:ext uri="{BB962C8B-B14F-4D97-AF65-F5344CB8AC3E}">
        <p14:creationId xmlns:p14="http://schemas.microsoft.com/office/powerpoint/2010/main" val="719104954"/>
      </p:ext>
    </p:extLst>
  </p:cSld>
</p:sld>
</file>

<file path=ppt/slides/slide2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2E2219-7F48-4FF5-B12D-EF3E2C3EA87C}"/>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D0CE2D94-380B-4D7B-96C8-7C9A5FA239F1}"/>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Tugas penghubung</a:t>
            </a:r>
          </a:p>
        </p:txBody>
      </p:sp>
      <p:sp>
        <p:nvSpPr>
          <p:cNvPr id="3" name="">
            <a:extLst xmlns:a="http://schemas.openxmlformats.org/drawingml/2006/main">
              <a:ext uri="{FF2B5EF4-FFF2-40B4-BE49-F238E27FC236}">
                <a16:creationId xmlns:a16="http://schemas.microsoft.com/office/drawing/2014/main" id="{2E433029-721C-478E-A012-B478731B6487}"/>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Buat profil pekerjaan satu halaman berdasarkan foto alat.</a:t>
            </a:r>
          </a:p>
        </p:txBody>
      </p:sp>
      <p:sp>
        <p:nvSpPr>
          <p:cNvPr id="4" name="">
            <a:extLst xmlns:a="http://schemas.openxmlformats.org/drawingml/2006/main">
              <a:ext uri="{FF2B5EF4-FFF2-40B4-BE49-F238E27FC236}">
                <a16:creationId xmlns:a16="http://schemas.microsoft.com/office/drawing/2014/main" id="{05AF4909-CBEA-43EE-8C5D-6E3D2EDF88B4}"/>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Cantumkan tugas, rute, paparan, informasi yang belum diketahui, dan usulan kendali.</a:t>
            </a:r>
          </a:p>
        </p:txBody>
      </p:sp>
      <p:sp>
        <p:nvSpPr>
          <p:cNvPr id="5" name="">
            <a:extLst xmlns:a="http://schemas.openxmlformats.org/drawingml/2006/main">
              <a:ext uri="{FF2B5EF4-FFF2-40B4-BE49-F238E27FC236}">
                <a16:creationId xmlns:a16="http://schemas.microsoft.com/office/drawing/2014/main" id="{7BD34E78-F0EC-4D3D-A212-19F487DE57DD}"/>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Bawa profil ini untuk menyusun JSA pada pertemuan ke-3.</a:t>
            </a:r>
          </a:p>
        </p:txBody>
      </p:sp>
      <p:sp>
        <p:nvSpPr>
          <p:cNvPr id="6" name="">
            <a:extLst xmlns:a="http://schemas.openxmlformats.org/drawingml/2006/main">
              <a:ext uri="{FF2B5EF4-FFF2-40B4-BE49-F238E27FC236}">
                <a16:creationId xmlns:a16="http://schemas.microsoft.com/office/drawing/2014/main" id="{85A2BC78-EF89-42F0-A7E8-A6F5AEBBA810}"/>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261945D3-6B8D-475F-8C66-6EB0B07A465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24 / 26</a:t>
            </a:r>
          </a:p>
        </p:txBody>
      </p:sp>
    </p:spTree>
    <p:extLst>
      <p:ext uri="{BB962C8B-B14F-4D97-AF65-F5344CB8AC3E}">
        <p14:creationId xmlns:p14="http://schemas.microsoft.com/office/powerpoint/2010/main" val="757433470"/>
      </p:ext>
    </p:extLst>
  </p:cSld>
</p:sld>
</file>

<file path=ppt/slides/slide2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30E418-E307-4A01-A3BA-F662D4C88686}"/>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FA8902A1-F000-43DF-8978-465E1A116B02}"/>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Bacaan utama</a:t>
            </a:r>
          </a:p>
        </p:txBody>
      </p:sp>
      <p:sp>
        <p:nvSpPr>
          <p:cNvPr id="3" name="">
            <a:extLst xmlns:a="http://schemas.openxmlformats.org/drawingml/2006/main">
              <a:ext uri="{FF2B5EF4-FFF2-40B4-BE49-F238E27FC236}">
                <a16:creationId xmlns:a16="http://schemas.microsoft.com/office/drawing/2014/main" id="{0F22B238-42D7-4BA3-9A74-576EF2CBC7E4}"/>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CDC: intensitas aktivitas dan talk test.</a:t>
            </a:r>
          </a:p>
        </p:txBody>
      </p:sp>
      <p:sp>
        <p:nvSpPr>
          <p:cNvPr id="4" name="">
            <a:extLst xmlns:a="http://schemas.openxmlformats.org/drawingml/2006/main">
              <a:ext uri="{FF2B5EF4-FFF2-40B4-BE49-F238E27FC236}">
                <a16:creationId xmlns:a16="http://schemas.microsoft.com/office/drawing/2014/main" id="{A5184355-0DE4-49B1-9F5C-048416414D95}"/>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NIOSH dan CCOHS: lingkup penilaian angkat.</a:t>
            </a:r>
          </a:p>
        </p:txBody>
      </p:sp>
      <p:sp>
        <p:nvSpPr>
          <p:cNvPr id="5" name="">
            <a:extLst xmlns:a="http://schemas.openxmlformats.org/drawingml/2006/main">
              <a:ext uri="{FF2B5EF4-FFF2-40B4-BE49-F238E27FC236}">
                <a16:creationId xmlns:a16="http://schemas.microsoft.com/office/drawing/2014/main" id="{57568121-B22E-4470-9154-36BA6E21462A}"/>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NASA: NASA-TLX. OSHA: hierarki pengendalian.</a:t>
            </a:r>
          </a:p>
        </p:txBody>
      </p:sp>
      <p:sp>
        <p:nvSpPr>
          <p:cNvPr id="6" name="">
            <a:extLst xmlns:a="http://schemas.openxmlformats.org/drawingml/2006/main">
              <a:ext uri="{FF2B5EF4-FFF2-40B4-BE49-F238E27FC236}">
                <a16:creationId xmlns:a16="http://schemas.microsoft.com/office/drawing/2014/main" id="{A2B13102-EBD1-4479-8E7B-A1A6793072BC}"/>
              </a:ext>
            </a:extLst>
          </p:cNvPr>
          <p:cNvSpPr>
            <a:spLocks xmlns:a="http://schemas.openxmlformats.org/drawingml/2006/main" noGrp="1"/>
          </p:cNvSpPr>
          <p:nvPr/>
        </p:nvSpPr>
        <p:spPr>
          <a:xfrm xmlns:a="http://schemas.openxmlformats.org/drawingml/2006/main">
            <a:off x="762000" y="589597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NIOSH · CCOHS · NASA · OSHA · sumber pada catatan</a:t>
            </a:r>
          </a:p>
        </p:txBody>
      </p:sp>
      <p:sp>
        <p:nvSpPr>
          <p:cNvPr id="7" name="">
            <a:extLst xmlns:a="http://schemas.openxmlformats.org/drawingml/2006/main">
              <a:ext uri="{FF2B5EF4-FFF2-40B4-BE49-F238E27FC236}">
                <a16:creationId xmlns:a16="http://schemas.microsoft.com/office/drawing/2014/main" id="{612D4486-BB1B-4151-A78A-1F6A6D6AFF31}"/>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2200CF11-0546-403D-911E-0CFB36D6AE02}"/>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25 / 26</a:t>
            </a:r>
          </a:p>
        </p:txBody>
      </p:sp>
    </p:spTree>
    <p:extLst>
      <p:ext uri="{BB962C8B-B14F-4D97-AF65-F5344CB8AC3E}">
        <p14:creationId xmlns:p14="http://schemas.microsoft.com/office/powerpoint/2010/main" val="1396355752"/>
      </p:ext>
    </p:extLst>
  </p:cSld>
</p:sld>
</file>

<file path=ppt/slides/slide26.xml><?xml version="1.0" encoding="utf-8"?>
<p:sld xmlns:p="http://schemas.openxmlformats.org/presentationml/2006/main">
  <p:cSld>
    <p:bg>
      <p:bgPr>
        <a:solidFill xmlns:a="http://schemas.openxmlformats.org/drawingml/2006/main">
          <a:srgbClr val="2F5D6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468E15-42DF-477F-B90C-E36B9CC0BC9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Pendidikan Jasmani &amp; HSE Geofisika · Pertemuan 2</a:t>
            </a:r>
          </a:p>
        </p:txBody>
      </p:sp>
      <p:sp>
        <p:nvSpPr>
          <p:cNvPr id="2" name="">
            <a:extLst xmlns:a="http://schemas.openxmlformats.org/drawingml/2006/main">
              <a:ext uri="{FF2B5EF4-FFF2-40B4-BE49-F238E27FC236}">
                <a16:creationId xmlns:a16="http://schemas.microsoft.com/office/drawing/2014/main" id="{E6E1BF01-2FC9-4DFD-B409-DBC250AC9A8F}"/>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FFFFFF"/>
                </a:solidFill>
                <a:latin typeface="Georgia"/>
                <a:ea typeface="Georgia"/>
                <a:cs typeface="Georgia"/>
              </a:defRPr>
            </a:defPPr>
            <a:lvl1pPr>
              <a:defRPr sz="3450" b="0">
                <a:solidFill>
                  <a:srgbClr val="FFFFFF"/>
                </a:solidFill>
                <a:latin typeface="Georgia"/>
                <a:ea typeface="Georgia"/>
                <a:cs typeface="Georgia"/>
              </a:defRPr>
            </a:lvl1pPr>
            <a:lvl2pPr>
              <a:defRPr sz="3450" b="0">
                <a:solidFill>
                  <a:srgbClr val="FFFFFF"/>
                </a:solidFill>
                <a:latin typeface="Georgia"/>
                <a:ea typeface="Georgia"/>
                <a:cs typeface="Georgia"/>
              </a:defRPr>
            </a:lvl2pPr>
            <a:lvl3pPr>
              <a:defRPr sz="3450" b="0">
                <a:solidFill>
                  <a:srgbClr val="FFFFFF"/>
                </a:solidFill>
                <a:latin typeface="Georgia"/>
                <a:ea typeface="Georgia"/>
                <a:cs typeface="Georgia"/>
              </a:defRPr>
            </a:lvl3pPr>
            <a:lvl4pPr>
              <a:defRPr sz="3450" b="0">
                <a:solidFill>
                  <a:srgbClr val="FFFFFF"/>
                </a:solidFill>
                <a:latin typeface="Georgia"/>
                <a:ea typeface="Georgia"/>
                <a:cs typeface="Georgia"/>
              </a:defRPr>
            </a:lvl4pPr>
            <a:lvl5pPr>
              <a:defRPr sz="3450" b="0">
                <a:solidFill>
                  <a:srgbClr val="FFFFFF"/>
                </a:solidFill>
                <a:latin typeface="Georgia"/>
                <a:ea typeface="Georgia"/>
                <a:cs typeface="Georgia"/>
              </a:defRPr>
            </a:lvl5pPr>
            <a:lvl6pPr>
              <a:defRPr sz="3450" b="0">
                <a:solidFill>
                  <a:srgbClr val="FFFFFF"/>
                </a:solidFill>
                <a:latin typeface="Georgia"/>
                <a:ea typeface="Georgia"/>
                <a:cs typeface="Georgia"/>
              </a:defRPr>
            </a:lvl6pPr>
            <a:lvl7pPr>
              <a:defRPr sz="3450" b="0">
                <a:solidFill>
                  <a:srgbClr val="FFFFFF"/>
                </a:solidFill>
                <a:latin typeface="Georgia"/>
                <a:ea typeface="Georgia"/>
                <a:cs typeface="Georgia"/>
              </a:defRPr>
            </a:lvl7pPr>
            <a:lvl8pPr>
              <a:defRPr sz="3450" b="0">
                <a:solidFill>
                  <a:srgbClr val="FFFFFF"/>
                </a:solidFill>
                <a:latin typeface="Georgia"/>
                <a:ea typeface="Georgia"/>
                <a:cs typeface="Georgia"/>
              </a:defRPr>
            </a:lvl8pPr>
            <a:lvl9pPr>
              <a:defRPr sz="3450" b="0">
                <a:solidFill>
                  <a:srgbClr val="FFFFFF"/>
                </a:solidFill>
                <a:latin typeface="Georgia"/>
                <a:ea typeface="Georgia"/>
                <a:cs typeface="Georgia"/>
              </a:defRPr>
            </a:lvl9pPr>
          </a:lstStyle>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Pertemuan berikutnya</a:t>
            </a:r>
          </a:p>
        </p:txBody>
      </p:sp>
      <p:sp>
        <p:nvSpPr>
          <p:cNvPr id="3" name="">
            <a:extLst xmlns:a="http://schemas.openxmlformats.org/drawingml/2006/main">
              <a:ext uri="{FF2B5EF4-FFF2-40B4-BE49-F238E27FC236}">
                <a16:creationId xmlns:a16="http://schemas.microsoft.com/office/drawing/2014/main" id="{C5EECF00-53CA-48A0-930C-E2849A1605CE}"/>
              </a:ext>
            </a:extLst>
          </p:cNvPr>
          <p:cNvSpPr>
            <a:spLocks xmlns:a="http://schemas.openxmlformats.org/drawingml/2006/main" noGrp="1"/>
          </p:cNvSpPr>
          <p:nvPr/>
        </p:nvSpPr>
        <p:spPr>
          <a:xfrm xmlns:a="http://schemas.openxmlformats.org/drawingml/2006/main">
            <a:off x="762000" y="2333625"/>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Kelelahan, tidur, dan kerja dalam panas.</a:t>
            </a:r>
          </a:p>
        </p:txBody>
      </p:sp>
      <p:sp>
        <p:nvSpPr>
          <p:cNvPr id="4" name="">
            <a:extLst xmlns:a="http://schemas.openxmlformats.org/drawingml/2006/main">
              <a:ext uri="{FF2B5EF4-FFF2-40B4-BE49-F238E27FC236}">
                <a16:creationId xmlns:a16="http://schemas.microsoft.com/office/drawing/2014/main" id="{C4CF8A57-9F34-4A14-9A2E-C0AD51202865}"/>
              </a:ext>
            </a:extLst>
          </p:cNvPr>
          <p:cNvSpPr>
            <a:spLocks xmlns:a="http://schemas.openxmlformats.org/drawingml/2006/main" noGrp="1"/>
          </p:cNvSpPr>
          <p:nvPr/>
        </p:nvSpPr>
        <p:spPr>
          <a:xfrm xmlns:a="http://schemas.openxmlformats.org/drawingml/2006/main">
            <a:off x="762000" y="3457575"/>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Profil pekerjaan menjadi JSA dengan kendali, PIC, dan verifikasi.</a:t>
            </a:r>
          </a:p>
        </p:txBody>
      </p:sp>
      <p:sp>
        <p:nvSpPr>
          <p:cNvPr id="5" name="">
            <a:extLst xmlns:a="http://schemas.openxmlformats.org/drawingml/2006/main">
              <a:ext uri="{FF2B5EF4-FFF2-40B4-BE49-F238E27FC236}">
                <a16:creationId xmlns:a16="http://schemas.microsoft.com/office/drawing/2014/main" id="{A228FAE8-D448-464A-AA5D-D68B746B7C6E}"/>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8FDB3914-EE47-4967-8E0C-7749DE6F04E4}"/>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26 / 26</a:t>
            </a:r>
          </a:p>
        </p:txBody>
      </p:sp>
    </p:spTree>
    <p:extLst>
      <p:ext uri="{BB962C8B-B14F-4D97-AF65-F5344CB8AC3E}">
        <p14:creationId xmlns:p14="http://schemas.microsoft.com/office/powerpoint/2010/main" val="1661244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2026-10-27T23:18:47.9890000Z</dcterms:created>
  <dcterms:modified xsi:type="dcterms:W3CDTF">2026-10-27T23:18:47.9890000Z</dcterms:modified>
</coreProperties>
</file>