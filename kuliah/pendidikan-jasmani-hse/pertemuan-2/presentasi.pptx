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d7e9b17b5343c7" /><Relationship Type="http://schemas.openxmlformats.org/officeDocument/2006/relationships/extended-properties" Target="/docProps/app.xml" Id="R821bebdaff6f4e7e" /><Relationship Type="http://schemas.openxmlformats.org/officeDocument/2006/relationships/officeDocument" Target="/ppt/presentation.xml" Id="Rb4d009ea1a304059" /></Relationships>
</file>

<file path=ppt/presentation.xml><?xml version="1.0" encoding="utf-8"?>
<p:presentation xmlns:p="http://schemas.openxmlformats.org/presentationml/2006/main">
  <p:sldMasterIdLst>
    <p:sldMasterId xmlns:r="http://schemas.openxmlformats.org/officeDocument/2006/relationships" id="2147483648" r:id="R9ba88fa5e2824458"/>
  </p:sldMasterIdLst>
  <p:notesMasterIdLst>
    <p:notesMasterId xmlns:r="http://schemas.openxmlformats.org/officeDocument/2006/relationships" r:id="R04d6f8af739a4cda"/>
  </p:notesMasterIdLst>
  <p:sldIdLst>
    <p:sldId xmlns:r="http://schemas.openxmlformats.org/officeDocument/2006/relationships" id="256" r:id="Rbda56d4ff68d4f55"/>
    <p:sldId xmlns:r="http://schemas.openxmlformats.org/officeDocument/2006/relationships" id="257" r:id="Rdbc928b83b084c32"/>
    <p:sldId xmlns:r="http://schemas.openxmlformats.org/officeDocument/2006/relationships" id="258" r:id="Rbf9ae5722498432d"/>
    <p:sldId xmlns:r="http://schemas.openxmlformats.org/officeDocument/2006/relationships" id="259" r:id="R6720e41eeb614a8e"/>
    <p:sldId xmlns:r="http://schemas.openxmlformats.org/officeDocument/2006/relationships" id="260" r:id="R270b72551d1a4144"/>
    <p:sldId xmlns:r="http://schemas.openxmlformats.org/officeDocument/2006/relationships" id="261" r:id="R2fd1e0993f474de1"/>
    <p:sldId xmlns:r="http://schemas.openxmlformats.org/officeDocument/2006/relationships" id="262" r:id="R09cea5f976f34055"/>
    <p:sldId xmlns:r="http://schemas.openxmlformats.org/officeDocument/2006/relationships" id="263" r:id="Rd167d49282c34a01"/>
    <p:sldId xmlns:r="http://schemas.openxmlformats.org/officeDocument/2006/relationships" id="264" r:id="R42121ad05f804e0e"/>
    <p:sldId xmlns:r="http://schemas.openxmlformats.org/officeDocument/2006/relationships" id="265" r:id="R29673db02e1a4066"/>
    <p:sldId xmlns:r="http://schemas.openxmlformats.org/officeDocument/2006/relationships" id="266" r:id="R91f2b0edfb724bd9"/>
    <p:sldId xmlns:r="http://schemas.openxmlformats.org/officeDocument/2006/relationships" id="267" r:id="R7c1171d02ced41e4"/>
    <p:sldId xmlns:r="http://schemas.openxmlformats.org/officeDocument/2006/relationships" id="268" r:id="R70c4c2d06dad4b3b"/>
    <p:sldId xmlns:r="http://schemas.openxmlformats.org/officeDocument/2006/relationships" id="269" r:id="R0444615e374c454f"/>
    <p:sldId xmlns:r="http://schemas.openxmlformats.org/officeDocument/2006/relationships" id="270" r:id="Ra193d62b5dea4411"/>
    <p:sldId xmlns:r="http://schemas.openxmlformats.org/officeDocument/2006/relationships" id="271" r:id="Re3f813b284984f4f"/>
    <p:sldId xmlns:r="http://schemas.openxmlformats.org/officeDocument/2006/relationships" id="272" r:id="R60755a21046e4aa3"/>
    <p:sldId xmlns:r="http://schemas.openxmlformats.org/officeDocument/2006/relationships" id="273" r:id="R71d16654ded24089"/>
    <p:sldId xmlns:r="http://schemas.openxmlformats.org/officeDocument/2006/relationships" id="274" r:id="Rf8a14e0e82be47ca"/>
    <p:sldId xmlns:r="http://schemas.openxmlformats.org/officeDocument/2006/relationships" id="275" r:id="R55cd3209aa5b4a55"/>
    <p:sldId xmlns:r="http://schemas.openxmlformats.org/officeDocument/2006/relationships" id="276" r:id="Rc7fe4a398f8f4ac9"/>
    <p:sldId xmlns:r="http://schemas.openxmlformats.org/officeDocument/2006/relationships" id="277" r:id="R43ba26fbb5584c26"/>
    <p:sldId xmlns:r="http://schemas.openxmlformats.org/officeDocument/2006/relationships" id="278" r:id="R30dc034db95f4411"/>
    <p:sldId xmlns:r="http://schemas.openxmlformats.org/officeDocument/2006/relationships" id="279" r:id="R339dd2efee0d4d6f"/>
    <p:sldId xmlns:r="http://schemas.openxmlformats.org/officeDocument/2006/relationships" id="280" r:id="Ra8f8915ae07f47a8"/>
    <p:sldId xmlns:r="http://schemas.openxmlformats.org/officeDocument/2006/relationships" id="281" r:id="Ra88dfa91dafc49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5c863cfd914735" /><Relationship Type="http://schemas.openxmlformats.org/officeDocument/2006/relationships/slideMaster" Target="/ppt/slideMasters/slideMaster1.xml" Id="R9ba88fa5e2824458" /><Relationship Type="http://schemas.openxmlformats.org/officeDocument/2006/relationships/notesMaster" Target="/ppt/notesMasters/notesMaster1.xml" Id="R04d6f8af739a4cda" /><Relationship Type="http://schemas.openxmlformats.org/officeDocument/2006/relationships/presProps" Target="/ppt/presProps.xml" Id="R2693f4dea8ae4e47" /><Relationship Type="http://schemas.openxmlformats.org/officeDocument/2006/relationships/tableStyles" Target="/ppt/tableStyles.xml" Id="R44cbc9890ace40c3" /><Relationship Type="http://schemas.openxmlformats.org/officeDocument/2006/relationships/slide" Target="/ppt/slides/slide1.xml" Id="Rbda56d4ff68d4f55" /><Relationship Type="http://schemas.openxmlformats.org/officeDocument/2006/relationships/slide" Target="/ppt/slides/slide2.xml" Id="Rdbc928b83b084c32" /><Relationship Type="http://schemas.openxmlformats.org/officeDocument/2006/relationships/slide" Target="/ppt/slides/slide3.xml" Id="Rbf9ae5722498432d" /><Relationship Type="http://schemas.openxmlformats.org/officeDocument/2006/relationships/slide" Target="/ppt/slides/slide4.xml" Id="R6720e41eeb614a8e" /><Relationship Type="http://schemas.openxmlformats.org/officeDocument/2006/relationships/slide" Target="/ppt/slides/slide5.xml" Id="R270b72551d1a4144" /><Relationship Type="http://schemas.openxmlformats.org/officeDocument/2006/relationships/slide" Target="/ppt/slides/slide6.xml" Id="R2fd1e0993f474de1" /><Relationship Type="http://schemas.openxmlformats.org/officeDocument/2006/relationships/slide" Target="/ppt/slides/slide7.xml" Id="R09cea5f976f34055" /><Relationship Type="http://schemas.openxmlformats.org/officeDocument/2006/relationships/slide" Target="/ppt/slides/slide8.xml" Id="Rd167d49282c34a01" /><Relationship Type="http://schemas.openxmlformats.org/officeDocument/2006/relationships/slide" Target="/ppt/slides/slide9.xml" Id="R42121ad05f804e0e" /><Relationship Type="http://schemas.openxmlformats.org/officeDocument/2006/relationships/slide" Target="/ppt/slides/slide10.xml" Id="R29673db02e1a4066" /><Relationship Type="http://schemas.openxmlformats.org/officeDocument/2006/relationships/slide" Target="/ppt/slides/slide11.xml" Id="R91f2b0edfb724bd9" /><Relationship Type="http://schemas.openxmlformats.org/officeDocument/2006/relationships/slide" Target="/ppt/slides/slide12.xml" Id="R7c1171d02ced41e4" /><Relationship Type="http://schemas.openxmlformats.org/officeDocument/2006/relationships/slide" Target="/ppt/slides/slide13.xml" Id="R70c4c2d06dad4b3b" /><Relationship Type="http://schemas.openxmlformats.org/officeDocument/2006/relationships/slide" Target="/ppt/slides/slide14.xml" Id="R0444615e374c454f" /><Relationship Type="http://schemas.openxmlformats.org/officeDocument/2006/relationships/slide" Target="/ppt/slides/slide15.xml" Id="Ra193d62b5dea4411" /><Relationship Type="http://schemas.openxmlformats.org/officeDocument/2006/relationships/slide" Target="/ppt/slides/slide16.xml" Id="Re3f813b284984f4f" /><Relationship Type="http://schemas.openxmlformats.org/officeDocument/2006/relationships/slide" Target="/ppt/slides/slide17.xml" Id="R60755a21046e4aa3" /><Relationship Type="http://schemas.openxmlformats.org/officeDocument/2006/relationships/slide" Target="/ppt/slides/slide18.xml" Id="R71d16654ded24089" /><Relationship Type="http://schemas.openxmlformats.org/officeDocument/2006/relationships/slide" Target="/ppt/slides/slide19.xml" Id="Rf8a14e0e82be47ca" /><Relationship Type="http://schemas.openxmlformats.org/officeDocument/2006/relationships/slide" Target="/ppt/slides/slide20.xml" Id="R55cd3209aa5b4a55" /><Relationship Type="http://schemas.openxmlformats.org/officeDocument/2006/relationships/slide" Target="/ppt/slides/slide21.xml" Id="Rc7fe4a398f8f4ac9" /><Relationship Type="http://schemas.openxmlformats.org/officeDocument/2006/relationships/slide" Target="/ppt/slides/slide22.xml" Id="R43ba26fbb5584c26" /><Relationship Type="http://schemas.openxmlformats.org/officeDocument/2006/relationships/slide" Target="/ppt/slides/slide23.xml" Id="R30dc034db95f4411" /><Relationship Type="http://schemas.openxmlformats.org/officeDocument/2006/relationships/slide" Target="/ppt/slides/slide24.xml" Id="R339dd2efee0d4d6f" /><Relationship Type="http://schemas.openxmlformats.org/officeDocument/2006/relationships/slide" Target="/ppt/slides/slide25.xml" Id="Ra8f8915ae07f47a8" /><Relationship Type="http://schemas.openxmlformats.org/officeDocument/2006/relationships/slide" Target="/ppt/slides/slide26.xml" Id="Ra88dfa91dafc49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a0df94a9dd47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0378f1110f46a2" /><Relationship Type="http://schemas.openxmlformats.org/officeDocument/2006/relationships/notesMaster" Target="/ppt/notesMasters/notesMaster1.xml" Id="R3cd83703bbf94cb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b6d4b1bc9647d6" /><Relationship Type="http://schemas.openxmlformats.org/officeDocument/2006/relationships/notesMaster" Target="/ppt/notesMasters/notesMaster1.xml" Id="R72d2a8096e8a47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50df7b49b345e8" /><Relationship Type="http://schemas.openxmlformats.org/officeDocument/2006/relationships/notesMaster" Target="/ppt/notesMasters/notesMaster1.xml" Id="R6bc9894fa1cb47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8ade6ab9eb4f35" /><Relationship Type="http://schemas.openxmlformats.org/officeDocument/2006/relationships/notesMaster" Target="/ppt/notesMasters/notesMaster1.xml" Id="R08bfe893c19e440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2f822815dc4fb1" /><Relationship Type="http://schemas.openxmlformats.org/officeDocument/2006/relationships/notesMaster" Target="/ppt/notesMasters/notesMaster1.xml" Id="Rd3326db9da4a49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d08fdae72c43d8" /><Relationship Type="http://schemas.openxmlformats.org/officeDocument/2006/relationships/notesMaster" Target="/ppt/notesMasters/notesMaster1.xml" Id="R1f2d74ea9f7649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df05dc09fe4762" /><Relationship Type="http://schemas.openxmlformats.org/officeDocument/2006/relationships/notesMaster" Target="/ppt/notesMasters/notesMaster1.xml" Id="R324c5011287445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ab3540ef65c43bf" /><Relationship Type="http://schemas.openxmlformats.org/officeDocument/2006/relationships/notesMaster" Target="/ppt/notesMasters/notesMaster1.xml" Id="R528a100a5e114d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f6380039d744c7" /><Relationship Type="http://schemas.openxmlformats.org/officeDocument/2006/relationships/notesMaster" Target="/ppt/notesMasters/notesMaster1.xml" Id="Rd05f79c1fedc478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9eb7e809224f87" /><Relationship Type="http://schemas.openxmlformats.org/officeDocument/2006/relationships/notesMaster" Target="/ppt/notesMasters/notesMaster1.xml" Id="Rb21f8a0eb0a948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337012d548c4f30" /><Relationship Type="http://schemas.openxmlformats.org/officeDocument/2006/relationships/notesMaster" Target="/ppt/notesMasters/notesMaster1.xml" Id="R7c370ceee81346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96b8af20744cd3" /><Relationship Type="http://schemas.openxmlformats.org/officeDocument/2006/relationships/notesMaster" Target="/ppt/notesMasters/notesMaster1.xml" Id="Re5ea2ecec43c4da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6da6a5affc2439a" /><Relationship Type="http://schemas.openxmlformats.org/officeDocument/2006/relationships/notesMaster" Target="/ppt/notesMasters/notesMaster1.xml" Id="Ree6cc1abdeab46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9c8147c6b2446b" /><Relationship Type="http://schemas.openxmlformats.org/officeDocument/2006/relationships/notesMaster" Target="/ppt/notesMasters/notesMaster1.xml" Id="Rda70eb8e971542e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06c3a2c2ce64608" /><Relationship Type="http://schemas.openxmlformats.org/officeDocument/2006/relationships/notesMaster" Target="/ppt/notesMasters/notesMaster1.xml" Id="R26a0a784bc0243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f3d751f9bb3495a" /><Relationship Type="http://schemas.openxmlformats.org/officeDocument/2006/relationships/notesMaster" Target="/ppt/notesMasters/notesMaster1.xml" Id="R21a2d3c1648942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f49045a4884d84" /><Relationship Type="http://schemas.openxmlformats.org/officeDocument/2006/relationships/notesMaster" Target="/ppt/notesMasters/notesMaster1.xml" Id="R1fd913d146c14bd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31598c345d4dfa" /><Relationship Type="http://schemas.openxmlformats.org/officeDocument/2006/relationships/notesMaster" Target="/ppt/notesMasters/notesMaster1.xml" Id="R0e2b6d3970054d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05ec7799e104524" /><Relationship Type="http://schemas.openxmlformats.org/officeDocument/2006/relationships/notesMaster" Target="/ppt/notesMasters/notesMaster1.xml" Id="Rd9f01e0b35d446c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074725c1860403d" /><Relationship Type="http://schemas.openxmlformats.org/officeDocument/2006/relationships/notesMaster" Target="/ppt/notesMasters/notesMaster1.xml" Id="R283a18409f4c4b3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2e994cd79ad402d" /><Relationship Type="http://schemas.openxmlformats.org/officeDocument/2006/relationships/notesMaster" Target="/ppt/notesMasters/notesMaster1.xml" Id="R5bff48dcfcd9442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41ba5c959c47c4" /><Relationship Type="http://schemas.openxmlformats.org/officeDocument/2006/relationships/notesMaster" Target="/ppt/notesMasters/notesMaster1.xml" Id="R42c2703bd99a45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aafe15f6d844622" /><Relationship Type="http://schemas.openxmlformats.org/officeDocument/2006/relationships/notesMaster" Target="/ppt/notesMasters/notesMaster1.xml" Id="Rd8adaf00d6dd4f2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8f13f4a6d86474b" /><Relationship Type="http://schemas.openxmlformats.org/officeDocument/2006/relationships/notesMaster" Target="/ppt/notesMasters/notesMaster1.xml" Id="Rae37a118185f40c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0af1b72b9f48ae" /><Relationship Type="http://schemas.openxmlformats.org/officeDocument/2006/relationships/notesMaster" Target="/ppt/notesMasters/notesMaster1.xml" Id="R4f8aad8dc60c4bf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2c3f5f196b54ca8" /><Relationship Type="http://schemas.openxmlformats.org/officeDocument/2006/relationships/notesMaster" Target="/ppt/notesMasters/notesMaster1.xml" Id="R23044d72074048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 menit. Hubungkan dengan observasi alat pada pertemuan pertama. Fokus pada penyesuaian pekerjaan terhadap manusia, tanpa merangking kemampuan fisik.</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 menit. Gunakan foto kotak instrumen mahasiswa. Kumpulkan jawaban tentang rute, durasi, pegangan, lingkungan, kecepatan, dan kondisi individu. Jangan meminta pengungkapan kondisi medis.</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 menit. Bukti belajar berupa lembar observasi, usulan perubahan kerja, dan exit ticket. Durasi 90 menit mencakup aktivitas, bukan ceramah terus-menerus.</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10–13 menit. Materi sumber ODP slide 2–4 dan 52. Bedakan kerja mekanik eksternal dengan energi metabolik. Kedua jalur energi aerobik dan anaerobik berkontribusi, dengan proporsi bergantung intensitas dan durasi.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13–16 menit. Materi sumber slide 4, 19–22, 53. Kerja statis dapat melelahkan meskipun perpindahan mekaniknya kecil. Contoh merupakan penerapan pengajaran, bukan hasil pengukuran lapangan.</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16–18 menit. Sumber ODP slide 6 dan 8–9. Kurva lama merupakan skema konsep; jangan memperlakukan bentuk dan angkanya sebagai data mahasiswa. Istilah oxygen debt historis tidak menjelaskan seluruh fisiologi pemulihan.</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18–20 menit. Materi ODP slide 13, 23–24. Kapasitas aerobik tidak sama dengan seluruh kapasitas kerja atau kekuatan otot. Tidak ada tes maksimal pada kelas ini. Nilai VO₂max bukan izin bekerja di lereng, dekat listrik, atau dalam panas.</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20–23 menit. Sumber ODP slide 12–18, 44–45; CDC intensitas. Gunakan beberapa indikator sebagai informasi pelengkap, bukan satu angka untuk mengesahkan keselamatan.</a:t>
            </a:r>
          </a:p>
          <a:p xmlns:a="http://schemas.openxmlformats.org/drawingml/2006/main">
            <a:r>
              <a:t/>
            </a:r>
          </a:p>
          <a:p xmlns:a="http://schemas.openxmlformats.org/drawingml/2006/main">
            <a:r>
              <a:t>CDC — Intensitas aktivitas fisik (2025): https://www.cdc.gov/physical-activity-basics/measuring/index.html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23–25 menit. ODP memuat beberapa persamaan denyut maksimal yang berbeda. Jangan memilih salah satunya sebagai batas penghentian universal. Data jam tangan dapat mengandung galat gerak. Gejala dan SOP tetap harus ditindaklanjuti.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25–27 menit. Angka simulasi untuk aritmetika, bukan target mahasiswa. Jawaban: jenis aktivitas, waktu ukur, suhu, faktor individu, kualitas alat. Selisih tidak langsung menjadi kalori, diagnosis, atau keputusan layak bekerja.</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27–29 menit. ODP slide 14–16. Jangan mencampur skor dari skala yang berbeda. RPE dikali 10 bukan konversi denyut jantung yang berlaku pada setiap individu. Skala refleksi 0–10 kelas ini bukan administrasi instrumen Borg tervalidasi.</a:t>
            </a:r>
          </a:p>
          <a:p xmlns:a="http://schemas.openxmlformats.org/drawingml/2006/main">
            <a:r>
              <a:t/>
            </a:r>
          </a:p>
          <a:p xmlns:a="http://schemas.openxmlformats.org/drawingml/2006/main">
            <a:r>
              <a:t>CDC — Intensitas aktivitas fisik (2025): https://www.cdc.gov/physical-activity-basics/measuring/index.html</a:t>
            </a:r>
          </a:p>
          <a:p xmlns:a="http://schemas.openxmlformats.org/drawingml/2006/main">
            <a:r>
              <a:t>Borg Perception — RPE dan CR scales: https://borgperception.se/wp-content/uploads/2019/10/The-Borg-CR-Scales-Folder.pdf</a:t>
            </a:r>
          </a:p>
          <a:p xmlns:a="http://schemas.openxmlformats.org/drawingml/2006/main">
            <a:r>
              <a:t>Studi RPE dan denyut pada tugas kerja simulasi: https://pubmed.ncbi.nlm.nih.gov/10327895/</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29–30 menit. Gunakan sebagai petunjuk intensitas aktivitas aerobik sesuai CDC, bukan tes keselamatan seluruh pekerjaan. Praktik tetap ringan; tidak perlu mencapai intensitas sedang atau berat.</a:t>
            </a:r>
          </a:p>
          <a:p xmlns:a="http://schemas.openxmlformats.org/drawingml/2006/main">
            <a:r>
              <a:t/>
            </a:r>
          </a:p>
          <a:p xmlns:a="http://schemas.openxmlformats.org/drawingml/2006/main">
            <a:r>
              <a:t>CDC — Intensitas aktivitas fisik (2025): https://www.cdc.gov/physical-activity-basics/measuring/index.html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30–38 menit. Pilihan sukarela di ruang datar bebas hambatan, tanpa beban dan tanpa target denyut. Sediakan peran pengamat. Tidak melakukan tes maksimal atau memaksa peningkatan intensitas. Pengajar memberi waktu untuk pulih dan mengisi lembar kerja.</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38–45 menit. Diskusi berpasangan lalu dua tanggapan kelas. Catatan tubuh disimpan pribadi; kelompok boleh menggunakan data simulasi. Hubungkan dengan perubahan ritme, rute, dan pemulihan.</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45–48 menit. ODP slide 17–18. NASA-TLX adalah alat penilaian subjektif beban tugas. Pengenalan dimensi bukan pelaksanaan skor NASA-TLX resmi. Gunakan prosedur asli bila ingin menerapkannya sebagai instrumen.</a:t>
            </a:r>
          </a:p>
          <a:p xmlns:a="http://schemas.openxmlformats.org/drawingml/2006/main">
            <a:r>
              <a:t/>
            </a:r>
          </a:p>
          <a:p xmlns:a="http://schemas.openxmlformats.org/drawingml/2006/main">
            <a:r>
              <a:t>NASA — Task Load Index: https://www.nasa.gov/human-systems-integration-division/nasa-task-load-index-tlx/</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48–51 menit. ODP slide 19–20. Jangan menyalin tinggi meja historis berdasarkan laki-laki/perempuan menjadi ketentuan semua mahasiswa. Gunakan kebutuhan tugas dan pengukuran yang relevan, dengan persetujuan pengguna.</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51–54 menit. Sambungkan dengan materi situs lama tentang pemindahan alat. Tidak ada satu batas kilogram yang menjamin semua tugas aman. Jangan menilai kemampuan hanya dari jenis kelamin, usia, atau penampilan.</a:t>
            </a:r>
          </a:p>
          <a:p xmlns:a="http://schemas.openxmlformats.org/drawingml/2006/main">
            <a:r>
              <a:t/>
            </a:r>
          </a:p>
          <a:p xmlns:a="http://schemas.openxmlformats.org/drawingml/2006/main">
            <a:r>
              <a:t>NIOSH — Revised NIOSH Lifting Equation: https://www.cdc.gov/niosh/ergonomics/about/rnle.html</a:t>
            </a:r>
          </a:p>
          <a:p xmlns:a="http://schemas.openxmlformats.org/drawingml/2006/main">
            <a:r>
              <a:t>CCOHS — Lingkup persamaan angkat NIOSH: https://www.ccohs.ca/oshanswers/ergonomics/niosh/assessing.html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54–56 menit. Jelaskan bahwa hasil RNLE bukan sertifikat aman. Tidak menerapkan kalkulator RNLE pada tugas membawa, mendorong, atau kondisi pijakan buruk yang berada di luar lingkupnya.</a:t>
            </a:r>
          </a:p>
          <a:p xmlns:a="http://schemas.openxmlformats.org/drawingml/2006/main">
            <a:r>
              <a:t/>
            </a:r>
          </a:p>
          <a:p xmlns:a="http://schemas.openxmlformats.org/drawingml/2006/main">
            <a:r>
              <a:t>NIOSH — Revised NIOSH Lifting Equation: https://www.cdc.gov/niosh/ergonomics/about/rnle.html</a:t>
            </a:r>
          </a:p>
          <a:p xmlns:a="http://schemas.openxmlformats.org/drawingml/2006/main">
            <a:r>
              <a:t>CCOHS — Lingkup persamaan angkat NIOSH: https://www.ccohs.ca/oshanswers/ergonomics/niosh/assessing.html</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56–60 menit. Model statika sederhana M=m g d terhadap titik acuan yang sama. Menggandakan lengan momen menggandakan momen beban. Ini bukan estimasi gaya tulang belakang, beban aman, atau tugas angkat nyata.</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60–63 menit. Hierarki lama dipertahankan. Roda atau troli tidak selalu cocok di lereng. Pelatihan mengangkat dan kebugaran tidak menggantikan perubahan tugas.</a:t>
            </a:r>
          </a:p>
          <a:p xmlns:a="http://schemas.openxmlformats.org/drawingml/2006/main">
            <a:r>
              <a:t/>
            </a:r>
          </a:p>
          <a:p xmlns:a="http://schemas.openxmlformats.org/drawingml/2006/main">
            <a:r>
              <a:t>OSHA — Hazard Prevention and Control: https://www.osha.gov/safety-management/hazard-prevention</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63–73 menit. Dua menit pengarahan, lima menit praktik bergantian, tiga menit refleksi. Ruang datar, kotak kosong/sangat ringan, tanpa aki atau instrumen aktif. Hindari titik jepit dan memutar badan sambil menahan beban. Hentikan bila ada keluhan.</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73–80 menit. Kelompok 3–4 orang. Kumpulkan satu lembar rencana. Contoh jawaban: menurunkan frekuensi angkut dengan perubahan titik bongkar, lalu memeriksa kelayakan akses dan dampaknya pada survei.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80–87 menit. Setiap jawaban harus memberi alasan. Kunci: konteks dan keterbatasan indikator; kemampuan individu versus kebutuhan tugas; kendali yang spesifik dan dapat diperiksa. Kesalahan kritis dibahas kembali.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87–90 menit. Tanpa praktik alat sungguhan atau pengukuran kesehatan wajib. Penilaian usulan: ketepatan konsep 30%, alasan rancangan 40%, verifikasi 30%. AI boleh membantu draf; mahasiswa harus mampu menjelaskan sendiri.</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Referensi lengkap tersedia pada materi daring dan catatan slide. Materi dasar: berkas ODP “Fisiologi manusia kerja”, April 2025, diberikan pengampu. Kutipan gambar tabel lama tidak dipakai sebagai batas operasional.</a:t>
            </a:r>
          </a:p>
          <a:p xmlns:a="http://schemas.openxmlformats.org/drawingml/2006/main">
            <a:r>
              <a:t/>
            </a:r>
          </a:p>
          <a:p xmlns:a="http://schemas.openxmlformats.org/drawingml/2006/main">
            <a:r>
              <a:t>CDC — Intensitas aktivitas fisik (2025): https://www.cdc.gov/physical-activity-basics/measuring/index.html</a:t>
            </a:r>
          </a:p>
          <a:p xmlns:a="http://schemas.openxmlformats.org/drawingml/2006/main">
            <a:r>
              <a:t>NIOSH — Revised NIOSH Lifting Equation: https://www.cdc.gov/niosh/ergonomics/about/rnle.html</a:t>
            </a:r>
          </a:p>
          <a:p xmlns:a="http://schemas.openxmlformats.org/drawingml/2006/main">
            <a:r>
              <a:t>CCOHS — Lingkup persamaan angkat NIOSH: https://www.ccohs.ca/oshanswers/ergonomics/niosh/assessing.html</a:t>
            </a:r>
          </a:p>
          <a:p xmlns:a="http://schemas.openxmlformats.org/drawingml/2006/main">
            <a:r>
              <a:t>NASA — Task Load Index: https://www.nasa.gov/human-systems-integration-division/nasa-task-load-index-tlx/</a:t>
            </a:r>
          </a:p>
          <a:p xmlns:a="http://schemas.openxmlformats.org/drawingml/2006/main">
            <a:r>
              <a:t>OSHA — Hazard Prevention and Control: https://www.osha.gov/safety-management/hazard-prevention</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Jembatan ke pertemuan ke-3. Seluruh kegiatan lapangan nyata mengikuti SOP UGM, manual instrumen, aturan lokasi, dan pengarahan petugas kompeten.</a:t>
            </a:r>
          </a:p>
          <a:p xmlns:a="http://schemas.openxmlformats.org/drawingml/2006/main">
            <a:r>
              <a:t/>
            </a:r>
          </a:p>
          <a:p xmlns:a="http://schemas.openxmlformats.org/drawingml/2006/main">
            <a:r>
              <a:t/>
            </a:r>
          </a:p>
          <a:p xmlns:a="http://schemas.openxmlformats.org/drawingml/2006/main">
            <a:r>
              <a:t/>
            </a:r>
          </a:p>
          <a:p xmlns:a="http://schemas.openxmlformats.org/drawingml/2006/main">
            <a:r>
              <a:t>Materi dasar: “Fisiologi manusia kerja”, berkas ODP April 2025 yang diberikan pengampu. Penyesuaian untuk S1 Geofisika dan peninjauan sumber: 28 Oktober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6c6629df85b45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b434405142b49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74a5aa2c2a4e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434dede7174d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6f3ee452ada45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86dd18759a41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E76303-6483-4C23-8FE1-7FCBC4D85D4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4F01BD-8319-4AEB-859C-1AE72FE6BDE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048219-B08E-4992-9A80-93B1FFECA5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9EF388-509A-431C-A265-CF658037F4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4B5AFBC-4E13-438B-8642-463F80D6E0B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01E24A8-1576-45F8-87B4-D11121324C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B8A2C3-7098-4581-8D90-87B7F4B3760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6258060-96DF-4998-A9D3-9E98F185A6A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2EB6E7-5B4F-47BF-B921-1EAADD4242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55B6ED-2E25-45C6-99F9-F05BBD5034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9dbe80ac044c8f" /><Relationship Type="http://schemas.openxmlformats.org/officeDocument/2006/relationships/slideLayout" Target="/ppt/slideLayouts/slideLayout1.xml" Id="R6f5d6db4e33b4e52" /><Relationship Type="http://schemas.openxmlformats.org/officeDocument/2006/relationships/slideLayout" Target="/ppt/slideLayouts/slideLayout2.xml" Id="R177da16761ba4cab" /><Relationship Type="http://schemas.openxmlformats.org/officeDocument/2006/relationships/slideLayout" Target="/ppt/slideLayouts/slideLayout3.xml" Id="R8e767735118c42d8" /><Relationship Type="http://schemas.openxmlformats.org/officeDocument/2006/relationships/slideLayout" Target="/ppt/slideLayouts/slideLayout4.xml" Id="R05e072f3a5994c20" /><Relationship Type="http://schemas.openxmlformats.org/officeDocument/2006/relationships/slideLayout" Target="/ppt/slideLayouts/slideLayout5.xml" Id="Re71d71167e5a49a9" /><Relationship Type="http://schemas.openxmlformats.org/officeDocument/2006/relationships/slideLayout" Target="/ppt/slideLayouts/slideLayout6.xml" Id="R1f38b8f7333b4a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5d6db4e33b4e52"/>
    <p:sldLayoutId xmlns:r="http://schemas.openxmlformats.org/officeDocument/2006/relationships" id="2147483650" r:id="R177da16761ba4cab"/>
    <p:sldLayoutId xmlns:r="http://schemas.openxmlformats.org/officeDocument/2006/relationships" id="2147483651" r:id="R8e767735118c42d8"/>
    <p:sldLayoutId xmlns:r="http://schemas.openxmlformats.org/officeDocument/2006/relationships" id="2147483652" r:id="R05e072f3a5994c20"/>
    <p:sldLayoutId xmlns:r="http://schemas.openxmlformats.org/officeDocument/2006/relationships" id="2147483653" r:id="Re71d71167e5a49a9"/>
    <p:sldLayoutId xmlns:r="http://schemas.openxmlformats.org/officeDocument/2006/relationships" id="2147483654" r:id="R1f38b8f7333b4a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dc652ea24ed4b98" /><Relationship Type="http://schemas.openxmlformats.org/officeDocument/2006/relationships/notesSlide" Target="/ppt/notesSlides/notesSlide1.xml" Id="R589b8826b5624e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5f2fcf28ac44972" /><Relationship Type="http://schemas.openxmlformats.org/officeDocument/2006/relationships/notesSlide" Target="/ppt/notesSlides/notesSlide2.xml" Id="Rad53e7f7e2a14d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98c12fedb04da5" /><Relationship Type="http://schemas.openxmlformats.org/officeDocument/2006/relationships/notesSlide" Target="/ppt/notesSlides/notesSlide3.xml" Id="R5019d8136f8e49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06e3aafebce43a6" /><Relationship Type="http://schemas.openxmlformats.org/officeDocument/2006/relationships/notesSlide" Target="/ppt/notesSlides/notesSlide4.xml" Id="R0d23a74f6d2147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e2590df37a74bc5" /><Relationship Type="http://schemas.openxmlformats.org/officeDocument/2006/relationships/notesSlide" Target="/ppt/notesSlides/notesSlide5.xml" Id="Rd2c0bf7f7aab45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69d7050fd074d06" /><Relationship Type="http://schemas.openxmlformats.org/officeDocument/2006/relationships/notesSlide" Target="/ppt/notesSlides/notesSlide6.xml" Id="R6e998989005641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7a18fab5f674a0a" /><Relationship Type="http://schemas.openxmlformats.org/officeDocument/2006/relationships/notesSlide" Target="/ppt/notesSlides/notesSlide7.xml" Id="Rf9c88dfd79074a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90770578ab24360" /><Relationship Type="http://schemas.openxmlformats.org/officeDocument/2006/relationships/notesSlide" Target="/ppt/notesSlides/notesSlide8.xml" Id="R7c248a372a4b4e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2187deccfe24930" /><Relationship Type="http://schemas.openxmlformats.org/officeDocument/2006/relationships/notesSlide" Target="/ppt/notesSlides/notesSlide9.xml" Id="R2f4c67daedc646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a961e0a2209425d" /><Relationship Type="http://schemas.openxmlformats.org/officeDocument/2006/relationships/notesSlide" Target="/ppt/notesSlides/notesSlide10.xml" Id="Rd94702de55a146e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19f4d9dd03a467d" /><Relationship Type="http://schemas.openxmlformats.org/officeDocument/2006/relationships/notesSlide" Target="/ppt/notesSlides/notesSlide11.xml" Id="R69b511d3a00d41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23649744ad54f1b" /><Relationship Type="http://schemas.openxmlformats.org/officeDocument/2006/relationships/notesSlide" Target="/ppt/notesSlides/notesSlide12.xml" Id="R8f4a8d86fe484c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252ec66a7fe4078" /><Relationship Type="http://schemas.openxmlformats.org/officeDocument/2006/relationships/notesSlide" Target="/ppt/notesSlides/notesSlide13.xml" Id="Rcf477d0495b744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50077afc699439f" /><Relationship Type="http://schemas.openxmlformats.org/officeDocument/2006/relationships/notesSlide" Target="/ppt/notesSlides/notesSlide14.xml" Id="Ra036b0df34ef414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926fa4e777f4240" /><Relationship Type="http://schemas.openxmlformats.org/officeDocument/2006/relationships/notesSlide" Target="/ppt/notesSlides/notesSlide15.xml" Id="R1eba2716a9504a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00ce288d7d6400f" /><Relationship Type="http://schemas.openxmlformats.org/officeDocument/2006/relationships/notesSlide" Target="/ppt/notesSlides/notesSlide16.xml" Id="R0e5cb78939ce41f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bde8c40dd9e4790" /><Relationship Type="http://schemas.openxmlformats.org/officeDocument/2006/relationships/notesSlide" Target="/ppt/notesSlides/notesSlide17.xml" Id="R4740a06186f945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c86b5f012ed4e74" /><Relationship Type="http://schemas.openxmlformats.org/officeDocument/2006/relationships/notesSlide" Target="/ppt/notesSlides/notesSlide18.xml" Id="R43f360b7be9a423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a0caca68b5e41da" /><Relationship Type="http://schemas.openxmlformats.org/officeDocument/2006/relationships/notesSlide" Target="/ppt/notesSlides/notesSlide19.xml" Id="Rc99c90ea359648c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c10e5b6819740f4" /><Relationship Type="http://schemas.openxmlformats.org/officeDocument/2006/relationships/notesSlide" Target="/ppt/notesSlides/notesSlide20.xml" Id="R341426aec38b4a7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0db44adcb1d4d5b" /><Relationship Type="http://schemas.openxmlformats.org/officeDocument/2006/relationships/notesSlide" Target="/ppt/notesSlides/notesSlide21.xml" Id="R92d79e6e1c38429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adc6a7aa2384f69" /><Relationship Type="http://schemas.openxmlformats.org/officeDocument/2006/relationships/notesSlide" Target="/ppt/notesSlides/notesSlide22.xml" Id="R3b73e5d3992245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759705503d242ce" /><Relationship Type="http://schemas.openxmlformats.org/officeDocument/2006/relationships/notesSlide" Target="/ppt/notesSlides/notesSlide23.xml" Id="R17f0360912544f0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b82e56bcee34c93" /><Relationship Type="http://schemas.openxmlformats.org/officeDocument/2006/relationships/notesSlide" Target="/ppt/notesSlides/notesSlide24.xml" Id="R1ecc835910a649e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a0dfe4ab5dd4dc3" /><Relationship Type="http://schemas.openxmlformats.org/officeDocument/2006/relationships/notesSlide" Target="/ppt/notesSlides/notesSlide25.xml" Id="R4f6e5e16c4e5460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845d6a12f1044ee" /><Relationship Type="http://schemas.openxmlformats.org/officeDocument/2006/relationships/notesSlide" Target="/ppt/notesSlides/notesSlide26.xml" Id="R98d0972ad7d94f0a" /></Relationships>
</file>

<file path=ppt/slides/slide1.xml><?xml version="1.0" encoding="utf-8"?>
<p:sld xmlns:p="http://schemas.openxmlformats.org/presentationml/2006/main">
  <p:cSld>
    <p:bg>
      <p:bgPr>
        <a:solidFill xmlns:a="http://schemas.openxmlformats.org/drawingml/2006/main">
          <a:srgbClr val="8A2D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EC2FCA-6401-4026-953D-F3DB14F603F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FFFFFF"/>
                </a:solidFill>
                <a:latin typeface="Arial"/>
                <a:ea typeface="Arial"/>
                <a:cs typeface="Arial"/>
              </a:defRPr>
            </a:defPPr>
            <a:lvl1pPr>
              <a:defRPr sz="1350" b="0">
                <a:solidFill>
                  <a:srgbClr val="FFFFFF"/>
                </a:solidFill>
                <a:latin typeface="Arial"/>
                <a:ea typeface="Arial"/>
                <a:cs typeface="Arial"/>
              </a:defRPr>
            </a:lvl1pPr>
            <a:lvl2pPr>
              <a:defRPr sz="1350" b="0">
                <a:solidFill>
                  <a:srgbClr val="FFFFFF"/>
                </a:solidFill>
                <a:latin typeface="Arial"/>
                <a:ea typeface="Arial"/>
                <a:cs typeface="Arial"/>
              </a:defRPr>
            </a:lvl2pPr>
            <a:lvl3pPr>
              <a:defRPr sz="1350" b="0">
                <a:solidFill>
                  <a:srgbClr val="FFFFFF"/>
                </a:solidFill>
                <a:latin typeface="Arial"/>
                <a:ea typeface="Arial"/>
                <a:cs typeface="Arial"/>
              </a:defRPr>
            </a:lvl3pPr>
            <a:lvl4pPr>
              <a:defRPr sz="1350" b="0">
                <a:solidFill>
                  <a:srgbClr val="FFFFFF"/>
                </a:solidFill>
                <a:latin typeface="Arial"/>
                <a:ea typeface="Arial"/>
                <a:cs typeface="Arial"/>
              </a:defRPr>
            </a:lvl4pPr>
            <a:lvl5pPr>
              <a:defRPr sz="1350" b="0">
                <a:solidFill>
                  <a:srgbClr val="FFFFFF"/>
                </a:solidFill>
                <a:latin typeface="Arial"/>
                <a:ea typeface="Arial"/>
                <a:cs typeface="Arial"/>
              </a:defRPr>
            </a:lvl5pPr>
            <a:lvl6pPr>
              <a:defRPr sz="1350" b="0">
                <a:solidFill>
                  <a:srgbClr val="FFFFFF"/>
                </a:solidFill>
                <a:latin typeface="Arial"/>
                <a:ea typeface="Arial"/>
                <a:cs typeface="Arial"/>
              </a:defRPr>
            </a:lvl6pPr>
            <a:lvl7pPr>
              <a:defRPr sz="1350" b="0">
                <a:solidFill>
                  <a:srgbClr val="FFFFFF"/>
                </a:solidFill>
                <a:latin typeface="Arial"/>
                <a:ea typeface="Arial"/>
                <a:cs typeface="Arial"/>
              </a:defRPr>
            </a:lvl7pPr>
            <a:lvl8pPr>
              <a:defRPr sz="1350" b="0">
                <a:solidFill>
                  <a:srgbClr val="FFFFFF"/>
                </a:solidFill>
                <a:latin typeface="Arial"/>
                <a:ea typeface="Arial"/>
                <a:cs typeface="Arial"/>
              </a:defRPr>
            </a:lvl8pPr>
            <a:lvl9pPr>
              <a:defRPr sz="1350" b="0">
                <a:solidFill>
                  <a:srgbClr val="FFFFFF"/>
                </a:solidFill>
                <a:latin typeface="Arial"/>
                <a:ea typeface="Arial"/>
                <a:cs typeface="Arial"/>
              </a:defRPr>
            </a:lvl9pPr>
          </a:lstStyle>
          <a:p xmlns:a="http://schemas.openxmlformats.org/drawingml/2006/main">
            <a:pPr>
              <a:defRPr sz="1350" b="0">
                <a:solidFill>
                  <a:srgbClr val="FFFFFF"/>
                </a:solidFill>
                <a:latin typeface="Arial"/>
                <a:ea typeface="Arial"/>
                <a:cs typeface="Arial"/>
              </a:defRPr>
            </a:pPr>
            <a:r>
              <a:rPr sz="1350" b="0">
                <a:solidFill>
                  <a:srgbClr val="FFFFFF"/>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01759E88-2A5F-4B05-B3E5-316CB1AFE4B7}"/>
              </a:ext>
            </a:extLst>
          </p:cNvPr>
          <p:cNvSpPr>
            <a:spLocks xmlns:a="http://schemas.openxmlformats.org/drawingml/2006/main" noGrp="1"/>
          </p:cNvSpPr>
          <p:nvPr/>
        </p:nvSpPr>
        <p:spPr>
          <a:xfrm xmlns:a="http://schemas.openxmlformats.org/drawingml/2006/main">
            <a:off x="762000" y="1476375"/>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FFFFFF"/>
                </a:solidFill>
                <a:latin typeface="Georgia"/>
                <a:ea typeface="Georgia"/>
                <a:cs typeface="Georgia"/>
              </a:defRPr>
            </a:defPPr>
            <a:lvl1pPr>
              <a:defRPr sz="4800" b="0">
                <a:solidFill>
                  <a:srgbClr val="FFFFFF"/>
                </a:solidFill>
                <a:latin typeface="Georgia"/>
                <a:ea typeface="Georgia"/>
                <a:cs typeface="Georgia"/>
              </a:defRPr>
            </a:lvl1pPr>
            <a:lvl2pPr>
              <a:defRPr sz="4800" b="0">
                <a:solidFill>
                  <a:srgbClr val="FFFFFF"/>
                </a:solidFill>
                <a:latin typeface="Georgia"/>
                <a:ea typeface="Georgia"/>
                <a:cs typeface="Georgia"/>
              </a:defRPr>
            </a:lvl2pPr>
            <a:lvl3pPr>
              <a:defRPr sz="4800" b="0">
                <a:solidFill>
                  <a:srgbClr val="FFFFFF"/>
                </a:solidFill>
                <a:latin typeface="Georgia"/>
                <a:ea typeface="Georgia"/>
                <a:cs typeface="Georgia"/>
              </a:defRPr>
            </a:lvl3pPr>
            <a:lvl4pPr>
              <a:defRPr sz="4800" b="0">
                <a:solidFill>
                  <a:srgbClr val="FFFFFF"/>
                </a:solidFill>
                <a:latin typeface="Georgia"/>
                <a:ea typeface="Georgia"/>
                <a:cs typeface="Georgia"/>
              </a:defRPr>
            </a:lvl4pPr>
            <a:lvl5pPr>
              <a:defRPr sz="4800" b="0">
                <a:solidFill>
                  <a:srgbClr val="FFFFFF"/>
                </a:solidFill>
                <a:latin typeface="Georgia"/>
                <a:ea typeface="Georgia"/>
                <a:cs typeface="Georgia"/>
              </a:defRPr>
            </a:lvl5pPr>
            <a:lvl6pPr>
              <a:defRPr sz="4800" b="0">
                <a:solidFill>
                  <a:srgbClr val="FFFFFF"/>
                </a:solidFill>
                <a:latin typeface="Georgia"/>
                <a:ea typeface="Georgia"/>
                <a:cs typeface="Georgia"/>
              </a:defRPr>
            </a:lvl6pPr>
            <a:lvl7pPr>
              <a:defRPr sz="4800" b="0">
                <a:solidFill>
                  <a:srgbClr val="FFFFFF"/>
                </a:solidFill>
                <a:latin typeface="Georgia"/>
                <a:ea typeface="Georgia"/>
                <a:cs typeface="Georgia"/>
              </a:defRPr>
            </a:lvl7pPr>
            <a:lvl8pPr>
              <a:defRPr sz="4800" b="0">
                <a:solidFill>
                  <a:srgbClr val="FFFFFF"/>
                </a:solidFill>
                <a:latin typeface="Georgia"/>
                <a:ea typeface="Georgia"/>
                <a:cs typeface="Georgia"/>
              </a:defRPr>
            </a:lvl8pPr>
            <a:lvl9pPr>
              <a:defRPr sz="4800" b="0">
                <a:solidFill>
                  <a:srgbClr val="FFFFFF"/>
                </a:solidFill>
                <a:latin typeface="Georgia"/>
                <a:ea typeface="Georgia"/>
                <a:cs typeface="Georgia"/>
              </a:defRPr>
            </a:lvl9pPr>
          </a:lstStyle>
          <a:p xmlns:a="http://schemas.openxmlformats.org/drawingml/2006/main">
            <a:pPr>
              <a:defRPr sz="4800" b="0">
                <a:solidFill>
                  <a:srgbClr val="FFFFFF"/>
                </a:solidFill>
                <a:latin typeface="Georgia"/>
                <a:ea typeface="Georgia"/>
                <a:cs typeface="Georgia"/>
              </a:defRPr>
            </a:pPr>
            <a:r>
              <a:rPr sz="4800" b="0">
                <a:solidFill>
                  <a:srgbClr val="FFFFFF"/>
                </a:solidFill>
                <a:latin typeface="Georgia"/>
                <a:ea typeface="Georgia"/>
                <a:cs typeface="Georgia"/>
              </a:rPr>
              <a:t>Fisiologi kerja dan ergonomi lapangan</a:t>
            </a:r>
          </a:p>
        </p:txBody>
      </p:sp>
      <p:sp>
        <p:nvSpPr>
          <p:cNvPr id="3" name="">
            <a:extLst xmlns:a="http://schemas.openxmlformats.org/drawingml/2006/main">
              <a:ext uri="{FF2B5EF4-FFF2-40B4-BE49-F238E27FC236}">
                <a16:creationId xmlns:a16="http://schemas.microsoft.com/office/drawing/2014/main" id="{1ED31853-4309-43FD-B531-6BF8443C0087}"/>
              </a:ext>
            </a:extLst>
          </p:cNvPr>
          <p:cNvSpPr>
            <a:spLocks xmlns:a="http://schemas.openxmlformats.org/drawingml/2006/main" noGrp="1"/>
          </p:cNvSpPr>
          <p:nvPr/>
        </p:nvSpPr>
        <p:spPr>
          <a:xfrm xmlns:a="http://schemas.openxmlformats.org/drawingml/2006/main">
            <a:off x="762000" y="3638550"/>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vl1pPr>
              <a:defRPr sz="2175" b="0">
                <a:solidFill>
                  <a:srgbClr val="FFFFFF"/>
                </a:solidFill>
                <a:latin typeface="Arial"/>
                <a:ea typeface="Arial"/>
                <a:cs typeface="Arial"/>
              </a:defRPr>
            </a:lvl1pPr>
            <a:lvl2pPr>
              <a:defRPr sz="2175" b="0">
                <a:solidFill>
                  <a:srgbClr val="FFFFFF"/>
                </a:solidFill>
                <a:latin typeface="Arial"/>
                <a:ea typeface="Arial"/>
                <a:cs typeface="Arial"/>
              </a:defRPr>
            </a:lvl2pPr>
            <a:lvl3pPr>
              <a:defRPr sz="2175" b="0">
                <a:solidFill>
                  <a:srgbClr val="FFFFFF"/>
                </a:solidFill>
                <a:latin typeface="Arial"/>
                <a:ea typeface="Arial"/>
                <a:cs typeface="Arial"/>
              </a:defRPr>
            </a:lvl3pPr>
            <a:lvl4pPr>
              <a:defRPr sz="2175" b="0">
                <a:solidFill>
                  <a:srgbClr val="FFFFFF"/>
                </a:solidFill>
                <a:latin typeface="Arial"/>
                <a:ea typeface="Arial"/>
                <a:cs typeface="Arial"/>
              </a:defRPr>
            </a:lvl4pPr>
            <a:lvl5pPr>
              <a:defRPr sz="2175" b="0">
                <a:solidFill>
                  <a:srgbClr val="FFFFFF"/>
                </a:solidFill>
                <a:latin typeface="Arial"/>
                <a:ea typeface="Arial"/>
                <a:cs typeface="Arial"/>
              </a:defRPr>
            </a:lvl5pPr>
            <a:lvl6pPr>
              <a:defRPr sz="2175" b="0">
                <a:solidFill>
                  <a:srgbClr val="FFFFFF"/>
                </a:solidFill>
                <a:latin typeface="Arial"/>
                <a:ea typeface="Arial"/>
                <a:cs typeface="Arial"/>
              </a:defRPr>
            </a:lvl6pPr>
            <a:lvl7pPr>
              <a:defRPr sz="2175" b="0">
                <a:solidFill>
                  <a:srgbClr val="FFFFFF"/>
                </a:solidFill>
                <a:latin typeface="Arial"/>
                <a:ea typeface="Arial"/>
                <a:cs typeface="Arial"/>
              </a:defRPr>
            </a:lvl7pPr>
            <a:lvl8pPr>
              <a:defRPr sz="2175" b="0">
                <a:solidFill>
                  <a:srgbClr val="FFFFFF"/>
                </a:solidFill>
                <a:latin typeface="Arial"/>
                <a:ea typeface="Arial"/>
                <a:cs typeface="Arial"/>
              </a:defRPr>
            </a:lvl8pPr>
            <a:lvl9pPr>
              <a:defRPr sz="2175" b="0">
                <a:solidFill>
                  <a:srgbClr val="FFFFFF"/>
                </a:solidFill>
                <a:latin typeface="Arial"/>
                <a:ea typeface="Arial"/>
                <a:cs typeface="Arial"/>
              </a:defRPr>
            </a:lvl9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Pendidikan Jasmani &amp; HSE Geofisika</a:t>
            </a:r>
          </a:p>
        </p:txBody>
      </p:sp>
      <p:sp>
        <p:nvSpPr>
          <p:cNvPr id="4" name="">
            <a:extLst xmlns:a="http://schemas.openxmlformats.org/drawingml/2006/main">
              <a:ext uri="{FF2B5EF4-FFF2-40B4-BE49-F238E27FC236}">
                <a16:creationId xmlns:a16="http://schemas.microsoft.com/office/drawing/2014/main" id="{447AB53D-1466-4133-A09E-E2C8EB7B2A0B}"/>
              </a:ext>
            </a:extLst>
          </p:cNvPr>
          <p:cNvSpPr>
            <a:spLocks xmlns:a="http://schemas.openxmlformats.org/drawingml/2006/main" noGrp="1"/>
          </p:cNvSpPr>
          <p:nvPr/>
        </p:nvSpPr>
        <p:spPr>
          <a:xfrm xmlns:a="http://schemas.openxmlformats.org/drawingml/2006/main">
            <a:off x="762000" y="4762500"/>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FFFFF"/>
                </a:solidFill>
                <a:latin typeface="Arial"/>
                <a:ea typeface="Arial"/>
                <a:cs typeface="Arial"/>
              </a:defRPr>
            </a:defPPr>
            <a:lvl1pPr>
              <a:defRPr sz="2175" b="0">
                <a:solidFill>
                  <a:srgbClr val="FFFFFF"/>
                </a:solidFill>
                <a:latin typeface="Arial"/>
                <a:ea typeface="Arial"/>
                <a:cs typeface="Arial"/>
              </a:defRPr>
            </a:lvl1pPr>
            <a:lvl2pPr>
              <a:defRPr sz="2175" b="0">
                <a:solidFill>
                  <a:srgbClr val="FFFFFF"/>
                </a:solidFill>
                <a:latin typeface="Arial"/>
                <a:ea typeface="Arial"/>
                <a:cs typeface="Arial"/>
              </a:defRPr>
            </a:lvl2pPr>
            <a:lvl3pPr>
              <a:defRPr sz="2175" b="0">
                <a:solidFill>
                  <a:srgbClr val="FFFFFF"/>
                </a:solidFill>
                <a:latin typeface="Arial"/>
                <a:ea typeface="Arial"/>
                <a:cs typeface="Arial"/>
              </a:defRPr>
            </a:lvl3pPr>
            <a:lvl4pPr>
              <a:defRPr sz="2175" b="0">
                <a:solidFill>
                  <a:srgbClr val="FFFFFF"/>
                </a:solidFill>
                <a:latin typeface="Arial"/>
                <a:ea typeface="Arial"/>
                <a:cs typeface="Arial"/>
              </a:defRPr>
            </a:lvl4pPr>
            <a:lvl5pPr>
              <a:defRPr sz="2175" b="0">
                <a:solidFill>
                  <a:srgbClr val="FFFFFF"/>
                </a:solidFill>
                <a:latin typeface="Arial"/>
                <a:ea typeface="Arial"/>
                <a:cs typeface="Arial"/>
              </a:defRPr>
            </a:lvl5pPr>
            <a:lvl6pPr>
              <a:defRPr sz="2175" b="0">
                <a:solidFill>
                  <a:srgbClr val="FFFFFF"/>
                </a:solidFill>
                <a:latin typeface="Arial"/>
                <a:ea typeface="Arial"/>
                <a:cs typeface="Arial"/>
              </a:defRPr>
            </a:lvl6pPr>
            <a:lvl7pPr>
              <a:defRPr sz="2175" b="0">
                <a:solidFill>
                  <a:srgbClr val="FFFFFF"/>
                </a:solidFill>
                <a:latin typeface="Arial"/>
                <a:ea typeface="Arial"/>
                <a:cs typeface="Arial"/>
              </a:defRPr>
            </a:lvl7pPr>
            <a:lvl8pPr>
              <a:defRPr sz="2175" b="0">
                <a:solidFill>
                  <a:srgbClr val="FFFFFF"/>
                </a:solidFill>
                <a:latin typeface="Arial"/>
                <a:ea typeface="Arial"/>
                <a:cs typeface="Arial"/>
              </a:defRPr>
            </a:lvl8pPr>
            <a:lvl9pPr>
              <a:defRPr sz="2175" b="0">
                <a:solidFill>
                  <a:srgbClr val="FFFFFF"/>
                </a:solidFill>
                <a:latin typeface="Arial"/>
                <a:ea typeface="Arial"/>
                <a:cs typeface="Arial"/>
              </a:defRPr>
            </a:lvl9pPr>
          </a:lstStyle>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Pertemuan 2 · Wiwit Suryanto · S1 Geofisika UGM</a:t>
            </a:r>
          </a:p>
        </p:txBody>
      </p:sp>
      <p:sp>
        <p:nvSpPr>
          <p:cNvPr id="5" name="">
            <a:extLst xmlns:a="http://schemas.openxmlformats.org/drawingml/2006/main">
              <a:ext uri="{FF2B5EF4-FFF2-40B4-BE49-F238E27FC236}">
                <a16:creationId xmlns:a16="http://schemas.microsoft.com/office/drawing/2014/main" id="{9C47857A-5CFC-4707-AC9F-1AAA685C2E86}"/>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ACD8C8DB-CE55-48CA-B3C3-A1C1B4863D4A}"/>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01 / 26</a:t>
            </a:r>
          </a:p>
        </p:txBody>
      </p:sp>
    </p:spTree>
    <p:extLst>
      <p:ext uri="{BB962C8B-B14F-4D97-AF65-F5344CB8AC3E}">
        <p14:creationId xmlns:p14="http://schemas.microsoft.com/office/powerpoint/2010/main" val="180893746"/>
      </p:ext>
    </p:extLst>
  </p:cSld>
</p:sld>
</file>

<file path=ppt/slides/slide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6B9E8-EE97-4689-A39B-BD4A18CF785F}"/>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7FF4AC66-53CB-431F-86E0-C7335DAB9F24}"/>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Satu alat, dua pengalaman</a:t>
            </a:r>
          </a:p>
        </p:txBody>
      </p:sp>
      <p:sp>
        <p:nvSpPr>
          <p:cNvPr id="3" name="">
            <a:extLst xmlns:a="http://schemas.openxmlformats.org/drawingml/2006/main">
              <a:ext uri="{FF2B5EF4-FFF2-40B4-BE49-F238E27FC236}">
                <a16:creationId xmlns:a16="http://schemas.microsoft.com/office/drawing/2014/main" id="{A267BDEF-A25E-45B8-9FF6-74AB52298C7D}"/>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Dua mahasiswa membawa kotak yang sama di rute berbeda.</a:t>
            </a:r>
          </a:p>
        </p:txBody>
      </p:sp>
      <p:sp>
        <p:nvSpPr>
          <p:cNvPr id="4" name="">
            <a:extLst xmlns:a="http://schemas.openxmlformats.org/drawingml/2006/main">
              <a:ext uri="{FF2B5EF4-FFF2-40B4-BE49-F238E27FC236}">
                <a16:creationId xmlns:a16="http://schemas.microsoft.com/office/drawing/2014/main" id="{A3184AA4-580A-4E0E-BC27-1E0DBAD61A69}"/>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Yang satu melewati jalan datar, yang lain menanjak di bawah matahari.</a:t>
            </a:r>
          </a:p>
        </p:txBody>
      </p:sp>
      <p:sp>
        <p:nvSpPr>
          <p:cNvPr id="5" name="">
            <a:extLst xmlns:a="http://schemas.openxmlformats.org/drawingml/2006/main">
              <a:ext uri="{FF2B5EF4-FFF2-40B4-BE49-F238E27FC236}">
                <a16:creationId xmlns:a16="http://schemas.microsoft.com/office/drawing/2014/main" id="{930A1429-23DC-479A-A877-78719C79807D}"/>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Data apa yang dibutuhkan untuk membandingkan beban kerjanya?</a:t>
            </a:r>
          </a:p>
        </p:txBody>
      </p:sp>
      <p:sp>
        <p:nvSpPr>
          <p:cNvPr id="6" name="">
            <a:extLst xmlns:a="http://schemas.openxmlformats.org/drawingml/2006/main">
              <a:ext uri="{FF2B5EF4-FFF2-40B4-BE49-F238E27FC236}">
                <a16:creationId xmlns:a16="http://schemas.microsoft.com/office/drawing/2014/main" id="{A5D18121-E960-4B55-B35C-1B4AE8651F29}"/>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28132BFD-1BAB-4F40-8C9B-8F0C079B143A}"/>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02 / 26</a:t>
            </a:r>
          </a:p>
        </p:txBody>
      </p:sp>
    </p:spTree>
    <p:extLst>
      <p:ext uri="{BB962C8B-B14F-4D97-AF65-F5344CB8AC3E}">
        <p14:creationId xmlns:p14="http://schemas.microsoft.com/office/powerpoint/2010/main" val="812393891"/>
      </p:ext>
    </p:extLst>
  </p:cSld>
</p:sld>
</file>

<file path=ppt/slides/slide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5092613-4239-4560-9CBE-E0ECADDAE9DC}"/>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C2424AF5-A408-4EAD-994C-DC40A97956A2}"/>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Capaian pertemuan</a:t>
            </a:r>
          </a:p>
        </p:txBody>
      </p:sp>
      <p:sp>
        <p:nvSpPr>
          <p:cNvPr id="3" name="">
            <a:extLst xmlns:a="http://schemas.openxmlformats.org/drawingml/2006/main">
              <a:ext uri="{FF2B5EF4-FFF2-40B4-BE49-F238E27FC236}">
                <a16:creationId xmlns:a16="http://schemas.microsoft.com/office/drawing/2014/main" id="{A66D7662-995C-465E-9A2E-13EFCF804182}"/>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Menjelaskan respons tubuh selama kerja dan pemulihan.</a:t>
            </a:r>
          </a:p>
        </p:txBody>
      </p:sp>
      <p:sp>
        <p:nvSpPr>
          <p:cNvPr id="4" name="">
            <a:extLst xmlns:a="http://schemas.openxmlformats.org/drawingml/2006/main">
              <a:ext uri="{FF2B5EF4-FFF2-40B4-BE49-F238E27FC236}">
                <a16:creationId xmlns:a16="http://schemas.microsoft.com/office/drawing/2014/main" id="{49B3B6BB-3C5E-4FBB-9980-47CDE4651D2A}"/>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Membaca indikator dengan mengetahui keterbatasannya.</a:t>
            </a:r>
          </a:p>
        </p:txBody>
      </p:sp>
      <p:sp>
        <p:nvSpPr>
          <p:cNvPr id="5" name="">
            <a:extLst xmlns:a="http://schemas.openxmlformats.org/drawingml/2006/main">
              <a:ext uri="{FF2B5EF4-FFF2-40B4-BE49-F238E27FC236}">
                <a16:creationId xmlns:a16="http://schemas.microsoft.com/office/drawing/2014/main" id="{E7653CE2-B389-4A33-89AE-645BC0544CFA}"/>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Merancang pemindahan alat dengan paparan yang lebih rendah.</a:t>
            </a:r>
          </a:p>
        </p:txBody>
      </p:sp>
      <p:sp>
        <p:nvSpPr>
          <p:cNvPr id="6" name="">
            <a:extLst xmlns:a="http://schemas.openxmlformats.org/drawingml/2006/main">
              <a:ext uri="{FF2B5EF4-FFF2-40B4-BE49-F238E27FC236}">
                <a16:creationId xmlns:a16="http://schemas.microsoft.com/office/drawing/2014/main" id="{72BABB65-5765-489E-A1AA-012F3845C3A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4F83E236-A600-4BD4-8DF7-EA59C950DC6F}"/>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03 / 26</a:t>
            </a:r>
          </a:p>
        </p:txBody>
      </p:sp>
    </p:spTree>
    <p:extLst>
      <p:ext uri="{BB962C8B-B14F-4D97-AF65-F5344CB8AC3E}">
        <p14:creationId xmlns:p14="http://schemas.microsoft.com/office/powerpoint/2010/main" val="1995278487"/>
      </p:ext>
    </p:extLst>
  </p:cSld>
</p:sld>
</file>

<file path=ppt/slides/slide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0B0B942-39FF-41B2-BFD1-3CE27B6531A2}"/>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43BADD48-FB52-465B-BF16-2CED6761ECF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Kebutuhan energi saat bekerja</a:t>
            </a:r>
          </a:p>
        </p:txBody>
      </p:sp>
      <p:sp>
        <p:nvSpPr>
          <p:cNvPr id="3" name="">
            <a:extLst xmlns:a="http://schemas.openxmlformats.org/drawingml/2006/main">
              <a:ext uri="{FF2B5EF4-FFF2-40B4-BE49-F238E27FC236}">
                <a16:creationId xmlns:a16="http://schemas.microsoft.com/office/drawing/2014/main" id="{945CFEBB-BB2E-45B0-9C12-E24D470C7C40}"/>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Otot membutuhkan ATP untuk berkontraksi.</a:t>
            </a:r>
          </a:p>
        </p:txBody>
      </p:sp>
      <p:sp>
        <p:nvSpPr>
          <p:cNvPr id="4" name="">
            <a:extLst xmlns:a="http://schemas.openxmlformats.org/drawingml/2006/main">
              <a:ext uri="{FF2B5EF4-FFF2-40B4-BE49-F238E27FC236}">
                <a16:creationId xmlns:a16="http://schemas.microsoft.com/office/drawing/2014/main" id="{7BA4828A-07A6-4974-BF14-6CA590FBF4DA}"/>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Pernapasan dan sirkulasi mendukung pasokan oksigen serta zat gizi.</a:t>
            </a:r>
          </a:p>
        </p:txBody>
      </p:sp>
      <p:sp>
        <p:nvSpPr>
          <p:cNvPr id="5" name="">
            <a:extLst xmlns:a="http://schemas.openxmlformats.org/drawingml/2006/main">
              <a:ext uri="{FF2B5EF4-FFF2-40B4-BE49-F238E27FC236}">
                <a16:creationId xmlns:a16="http://schemas.microsoft.com/office/drawing/2014/main" id="{400ACA7E-9DFC-4433-85BF-F31B6B83154C}"/>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Energi metabolik juga menghasilkan panas yang perlu dilepaskan.</a:t>
            </a:r>
          </a:p>
        </p:txBody>
      </p:sp>
      <p:sp>
        <p:nvSpPr>
          <p:cNvPr id="6" name="">
            <a:extLst xmlns:a="http://schemas.openxmlformats.org/drawingml/2006/main">
              <a:ext uri="{FF2B5EF4-FFF2-40B4-BE49-F238E27FC236}">
                <a16:creationId xmlns:a16="http://schemas.microsoft.com/office/drawing/2014/main" id="{CF2F3212-5BF9-4D92-9486-269B51E02906}"/>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4DBFA0B5-9D8B-4169-8729-428FCB81D19E}"/>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04 / 26</a:t>
            </a:r>
          </a:p>
        </p:txBody>
      </p:sp>
    </p:spTree>
    <p:extLst>
      <p:ext uri="{BB962C8B-B14F-4D97-AF65-F5344CB8AC3E}">
        <p14:creationId xmlns:p14="http://schemas.microsoft.com/office/powerpoint/2010/main" val="753430996"/>
      </p:ext>
    </p:extLst>
  </p:cSld>
</p:sld>
</file>

<file path=ppt/slides/slide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6BC2DDD-A8FA-4273-B488-8BC33C0F0A6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A2CA49BB-F699-422C-9D62-74F8002A2E2C}"/>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Kerja dinamis dan kerja statis</a:t>
            </a:r>
          </a:p>
        </p:txBody>
      </p:sp>
      <p:graphicFrame>
        <p:nvGraphicFramePr>
          <p:cNvPr id="3" name="">
            <a:extLst xmlns:a="http://schemas.openxmlformats.org/drawingml/2006/main">
              <a:ext uri="{FF2B5EF4-FFF2-40B4-BE49-F238E27FC236}">
                <a16:creationId xmlns:a16="http://schemas.microsoft.com/office/drawing/2014/main" id="{81B3DF54-316F-4306-916B-0BC69D3F326A}"/>
              </a:ext>
            </a:extLst>
          </p:cNvPr>
          <p:cNvGraphicFramePr/>
          <p:nvPr/>
        </p:nvGraphicFramePr>
        <p:xfrm>
          <a:off xmlns:a="http://schemas.openxmlformats.org/drawingml/2006/main" x="762000" y="2114550"/>
          <a:ext xmlns:a="http://schemas.openxmlformats.org/drawingml/2006/main" cx="10668000" cy="2743200"/>
        </p:xfrm>
        <a:graphic xmlns:a="http://schemas.openxmlformats.org/drawingml/2006/main">
          <a:graphicData uri="http://schemas.openxmlformats.org/drawingml/2006/table">
            <a:tbl>
              <a:tblPr/>
              <a:tblGrid>
                <a:gridCol w="2667000"/>
                <a:gridCol w="3619500"/>
                <a:gridCol w="4381500"/>
              </a:tblGrid>
              <a:tr h="685800">
                <a:tc>
                  <a:txBody>
                    <a:bodyPr/>
                    <a:lstStyle/>
                    <a:p>
                      <a:r>
                        <a:rPr sz="1800" b="1">
                          <a:solidFill>
                            <a:srgbClr val="2F5D62"/>
                          </a:solidFill>
                          <a:latin typeface="Arial"/>
                          <a:ea typeface="Arial"/>
                          <a:cs typeface="Arial"/>
                        </a:rPr>
                        <a:t>Pola kerja</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Contoh geofisika</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Implikasi desain</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00" b="0">
                          <a:solidFill>
                            <a:srgbClr val="1F1F1B"/>
                          </a:solidFill>
                          <a:latin typeface="Arial"/>
                          <a:ea typeface="Arial"/>
                          <a:cs typeface="Arial"/>
                        </a:rPr>
                        <a:t>Dinamis</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Berjalan membawa kabel</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Kurangi jarak dan pengulangan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Statis</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Menahan alat pada posisi tetap</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Sediakan penopang atau ubah posisi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Gabungan</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Membungkuk saat memasang sensor</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Ubah tinggi kerja dan urutan tugas</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C6303B62-C8F6-4A8A-9F33-48A4D21D1C04}"/>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5" name="">
            <a:extLst xmlns:a="http://schemas.openxmlformats.org/drawingml/2006/main">
              <a:ext uri="{FF2B5EF4-FFF2-40B4-BE49-F238E27FC236}">
                <a16:creationId xmlns:a16="http://schemas.microsoft.com/office/drawing/2014/main" id="{41B487D3-7EF1-47EB-9014-1F4F3557AC7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05 / 26</a:t>
            </a:r>
          </a:p>
        </p:txBody>
      </p:sp>
    </p:spTree>
    <p:extLst>
      <p:ext uri="{BB962C8B-B14F-4D97-AF65-F5344CB8AC3E}">
        <p14:creationId xmlns:p14="http://schemas.microsoft.com/office/powerpoint/2010/main" val="626195710"/>
      </p:ext>
    </p:extLst>
  </p:cSld>
</p:sld>
</file>

<file path=ppt/slides/slide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D370B2-E880-4F88-B630-4E3F1CEA3656}"/>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4C725C91-2B66-4BBC-9B26-FD045F09E27F}"/>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Respons awal dan pemulihan</a:t>
            </a:r>
          </a:p>
        </p:txBody>
      </p:sp>
      <p:sp>
        <p:nvSpPr>
          <p:cNvPr id="3" name="">
            <a:extLst xmlns:a="http://schemas.openxmlformats.org/drawingml/2006/main">
              <a:ext uri="{FF2B5EF4-FFF2-40B4-BE49-F238E27FC236}">
                <a16:creationId xmlns:a16="http://schemas.microsoft.com/office/drawing/2014/main" id="{88F3B173-B448-4DDE-8B47-AFD433E2E509}"/>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Saat aktivitas dimulai, kebutuhan energi meningkat.</a:t>
            </a:r>
          </a:p>
        </p:txBody>
      </p:sp>
      <p:sp>
        <p:nvSpPr>
          <p:cNvPr id="4" name="">
            <a:extLst xmlns:a="http://schemas.openxmlformats.org/drawingml/2006/main">
              <a:ext uri="{FF2B5EF4-FFF2-40B4-BE49-F238E27FC236}">
                <a16:creationId xmlns:a16="http://schemas.microsoft.com/office/drawing/2014/main" id="{975214F9-2B6E-4021-96BC-4B47C35C468A}"/>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Denyut dan pernapasan menyesuaikan selama aktivitas.</a:t>
            </a:r>
          </a:p>
        </p:txBody>
      </p:sp>
      <p:sp>
        <p:nvSpPr>
          <p:cNvPr id="5" name="">
            <a:extLst xmlns:a="http://schemas.openxmlformats.org/drawingml/2006/main">
              <a:ext uri="{FF2B5EF4-FFF2-40B4-BE49-F238E27FC236}">
                <a16:creationId xmlns:a16="http://schemas.microsoft.com/office/drawing/2014/main" id="{08525F99-6D7F-4A45-BF13-672B6BB89206}"/>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Setelah berhenti, pemulihan berlangsung bertahap.</a:t>
            </a:r>
          </a:p>
        </p:txBody>
      </p:sp>
      <p:sp>
        <p:nvSpPr>
          <p:cNvPr id="6" name="">
            <a:extLst xmlns:a="http://schemas.openxmlformats.org/drawingml/2006/main">
              <a:ext uri="{FF2B5EF4-FFF2-40B4-BE49-F238E27FC236}">
                <a16:creationId xmlns:a16="http://schemas.microsoft.com/office/drawing/2014/main" id="{95B6DABC-C47C-4E6D-ADCA-ECE318BF9CA4}"/>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84E3497E-5F27-4733-95BE-8E2EA8C085F0}"/>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06 / 26</a:t>
            </a:r>
          </a:p>
        </p:txBody>
      </p:sp>
    </p:spTree>
    <p:extLst>
      <p:ext uri="{BB962C8B-B14F-4D97-AF65-F5344CB8AC3E}">
        <p14:creationId xmlns:p14="http://schemas.microsoft.com/office/powerpoint/2010/main" val="1945747187"/>
      </p:ext>
    </p:extLst>
  </p:cSld>
</p:sld>
</file>

<file path=ppt/slides/slide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ED6A47-81E6-4213-964F-805589871FE8}"/>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F22BCF77-6B7F-4D98-8EBD-13A4ACD0880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Kapasitas aerobik dan VO₂max</a:t>
            </a:r>
          </a:p>
        </p:txBody>
      </p:sp>
      <p:sp>
        <p:nvSpPr>
          <p:cNvPr id="3" name="">
            <a:extLst xmlns:a="http://schemas.openxmlformats.org/drawingml/2006/main">
              <a:ext uri="{FF2B5EF4-FFF2-40B4-BE49-F238E27FC236}">
                <a16:creationId xmlns:a16="http://schemas.microsoft.com/office/drawing/2014/main" id="{78069F47-C925-448C-9F05-AD5F4670DA17}"/>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VO₂max menggambarkan kapasitas maksimal penggunaan oksigen.</a:t>
            </a:r>
          </a:p>
        </p:txBody>
      </p:sp>
      <p:sp>
        <p:nvSpPr>
          <p:cNvPr id="4" name="">
            <a:extLst xmlns:a="http://schemas.openxmlformats.org/drawingml/2006/main">
              <a:ext uri="{FF2B5EF4-FFF2-40B4-BE49-F238E27FC236}">
                <a16:creationId xmlns:a16="http://schemas.microsoft.com/office/drawing/2014/main" id="{3000CAD6-A9A6-44BF-9EF8-105F64BF9D37}"/>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Nilainya berbeda dari kebutuhan oksigen pada satu tugas tertentu.</a:t>
            </a:r>
          </a:p>
        </p:txBody>
      </p:sp>
      <p:sp>
        <p:nvSpPr>
          <p:cNvPr id="5" name="">
            <a:extLst xmlns:a="http://schemas.openxmlformats.org/drawingml/2006/main">
              <a:ext uri="{FF2B5EF4-FFF2-40B4-BE49-F238E27FC236}">
                <a16:creationId xmlns:a16="http://schemas.microsoft.com/office/drawing/2014/main" id="{B5A4D6E4-461F-420A-9CC3-E8C7CBBA2BBC}"/>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Pengukuran maksimal memerlukan prosedur dan pengawasan yang sesuai.</a:t>
            </a:r>
          </a:p>
        </p:txBody>
      </p:sp>
      <p:sp>
        <p:nvSpPr>
          <p:cNvPr id="6" name="">
            <a:extLst xmlns:a="http://schemas.openxmlformats.org/drawingml/2006/main">
              <a:ext uri="{FF2B5EF4-FFF2-40B4-BE49-F238E27FC236}">
                <a16:creationId xmlns:a16="http://schemas.microsoft.com/office/drawing/2014/main" id="{188CEEEF-9337-4EBA-A9DC-1B1F84F5474B}"/>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BB6340A9-4DA3-4689-976A-0A7492BE98E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07 / 26</a:t>
            </a:r>
          </a:p>
        </p:txBody>
      </p:sp>
    </p:spTree>
    <p:extLst>
      <p:ext uri="{BB962C8B-B14F-4D97-AF65-F5344CB8AC3E}">
        <p14:creationId xmlns:p14="http://schemas.microsoft.com/office/powerpoint/2010/main" val="753324532"/>
      </p:ext>
    </p:extLst>
  </p:cSld>
</p:sld>
</file>

<file path=ppt/slides/slide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478E87-5758-42D5-9B1B-095FBC92CE90}"/>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B01FB0F0-A943-494C-A377-4A3A9375A94E}"/>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Indikator menjawab pertanyaan berbeda</a:t>
            </a:r>
          </a:p>
        </p:txBody>
      </p:sp>
      <p:graphicFrame>
        <p:nvGraphicFramePr>
          <p:cNvPr id="3" name="">
            <a:extLst xmlns:a="http://schemas.openxmlformats.org/drawingml/2006/main">
              <a:ext uri="{FF2B5EF4-FFF2-40B4-BE49-F238E27FC236}">
                <a16:creationId xmlns:a16="http://schemas.microsoft.com/office/drawing/2014/main" id="{3676F7FD-D094-41C2-9206-6C32A3C2CD3D}"/>
              </a:ext>
            </a:extLst>
          </p:cNvPr>
          <p:cNvGraphicFramePr/>
          <p:nvPr/>
        </p:nvGraphicFramePr>
        <p:xfrm>
          <a:off xmlns:a="http://schemas.openxmlformats.org/drawingml/2006/main" x="762000" y="2114550"/>
          <a:ext xmlns:a="http://schemas.openxmlformats.org/drawingml/2006/main" cx="10668000" cy="3429000"/>
        </p:xfrm>
        <a:graphic xmlns:a="http://schemas.openxmlformats.org/drawingml/2006/main">
          <a:graphicData uri="http://schemas.openxmlformats.org/drawingml/2006/table">
            <a:tbl>
              <a:tblPr/>
              <a:tblGrid>
                <a:gridCol w="2667000"/>
                <a:gridCol w="3619500"/>
                <a:gridCol w="4381500"/>
              </a:tblGrid>
              <a:tr h="685800">
                <a:tc>
                  <a:txBody>
                    <a:bodyPr/>
                    <a:lstStyle/>
                    <a:p>
                      <a:r>
                        <a:rPr sz="1800" b="1">
                          <a:solidFill>
                            <a:srgbClr val="2F5D62"/>
                          </a:solidFill>
                          <a:latin typeface="Arial"/>
                          <a:ea typeface="Arial"/>
                          <a:cs typeface="Arial"/>
                        </a:rPr>
                        <a:t>Indikator</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Kegunaan</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00" b="1">
                          <a:solidFill>
                            <a:srgbClr val="2F5D62"/>
                          </a:solidFill>
                          <a:latin typeface="Arial"/>
                          <a:ea typeface="Arial"/>
                          <a:cs typeface="Arial"/>
                        </a:rPr>
                        <a:t>Batas interpretasi</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00" b="0">
                          <a:solidFill>
                            <a:srgbClr val="1F1F1B"/>
                          </a:solidFill>
                          <a:latin typeface="Arial"/>
                          <a:ea typeface="Arial"/>
                          <a:cs typeface="Arial"/>
                        </a:rPr>
                        <a:t>Denyut jantung</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Respons sirkulasi</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Dipengaruhi panas, stres, dan faktor lain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Persepsi usaha</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Pengalaman intensitas</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Subjektif dan perlu instruksi konsisten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Observasi tugas</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Paparan pekerjaan</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Butuh konteks rute dan durasi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00" b="0">
                          <a:solidFill>
                            <a:srgbClr val="1F1F1B"/>
                          </a:solidFill>
                          <a:latin typeface="Arial"/>
                          <a:ea typeface="Arial"/>
                          <a:cs typeface="Arial"/>
                        </a:rPr>
                        <a:t>VO₂</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Kebutuhan metabolik</a:t>
                      </a:r>
                    </a:p>
                  </a:txBody>
                  <a:tcPr marL="91440" marR="91440" marT="45720" marB="45720">
                    <a:lnR w="5715">
                      <a:solidFill>
                        <a:srgbClr val="D8D2C5"/>
                      </a:solidFill>
                      <a:prstDash val="solid"/>
                    </a:lnR>
                    <a:lnB w="5715">
                      <a:solidFill>
                        <a:srgbClr val="D8D2C5"/>
                      </a:solidFill>
                      <a:prstDash val="solid"/>
                    </a:lnB>
                    <a:solidFill>
                      <a:srgbClr val="F8F6F1"/>
                    </a:solidFill>
                  </a:tcPr>
                </a:tc>
                <a:tc>
                  <a:txBody>
                    <a:bodyPr/>
                    <a:lstStyle/>
                    <a:p>
                      <a:r>
                        <a:rPr sz="1800" b="0">
                          <a:solidFill>
                            <a:srgbClr val="1F1F1B"/>
                          </a:solidFill>
                          <a:latin typeface="Arial"/>
                          <a:ea typeface="Arial"/>
                          <a:cs typeface="Arial"/>
                        </a:rPr>
                        <a:t>Memerlukan alat dan protokol</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EB79A29B-ADE7-4FC4-B832-58C768001CBA}"/>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CDC · sumber pada catatan</a:t>
            </a:r>
          </a:p>
        </p:txBody>
      </p:sp>
      <p:sp>
        <p:nvSpPr>
          <p:cNvPr id="5" name="">
            <a:extLst xmlns:a="http://schemas.openxmlformats.org/drawingml/2006/main">
              <a:ext uri="{FF2B5EF4-FFF2-40B4-BE49-F238E27FC236}">
                <a16:creationId xmlns:a16="http://schemas.microsoft.com/office/drawing/2014/main" id="{8C64EDDC-3F47-4EFC-B592-BBD7FFCD146A}"/>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E2D094A9-3B15-4937-A84B-5FE77A2FE68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08 / 26</a:t>
            </a:r>
          </a:p>
        </p:txBody>
      </p:sp>
    </p:spTree>
    <p:extLst>
      <p:ext uri="{BB962C8B-B14F-4D97-AF65-F5344CB8AC3E}">
        <p14:creationId xmlns:p14="http://schemas.microsoft.com/office/powerpoint/2010/main" val="1275114533"/>
      </p:ext>
    </p:extLst>
  </p:cSld>
</p:sld>
</file>

<file path=ppt/slides/slide9.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1F04B0-760A-4B4B-AC24-21187E46EE8C}"/>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A69FDEAE-77DD-4421-8AA0-04E079D47A2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Denyut jantung dalam konteks</a:t>
            </a:r>
          </a:p>
        </p:txBody>
      </p:sp>
      <p:sp>
        <p:nvSpPr>
          <p:cNvPr id="3" name="">
            <a:extLst xmlns:a="http://schemas.openxmlformats.org/drawingml/2006/main">
              <a:ext uri="{FF2B5EF4-FFF2-40B4-BE49-F238E27FC236}">
                <a16:creationId xmlns:a16="http://schemas.microsoft.com/office/drawing/2014/main" id="{6C8F8C2F-32E4-4229-9097-385D18083935}"/>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Catat aktivitas, durasi, lingkungan, dan waktu pengamatan.</a:t>
            </a:r>
          </a:p>
        </p:txBody>
      </p:sp>
      <p:sp>
        <p:nvSpPr>
          <p:cNvPr id="4" name="">
            <a:extLst xmlns:a="http://schemas.openxmlformats.org/drawingml/2006/main">
              <a:ext uri="{FF2B5EF4-FFF2-40B4-BE49-F238E27FC236}">
                <a16:creationId xmlns:a16="http://schemas.microsoft.com/office/drawing/2014/main" id="{2F72BFC1-AD22-4FB8-8DDF-4DFCAAB0EE06}"/>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Bandingkan respons seseorang pada kondisi yang sebanding.</a:t>
            </a:r>
          </a:p>
        </p:txBody>
      </p:sp>
      <p:sp>
        <p:nvSpPr>
          <p:cNvPr id="5" name="">
            <a:extLst xmlns:a="http://schemas.openxmlformats.org/drawingml/2006/main">
              <a:ext uri="{FF2B5EF4-FFF2-40B4-BE49-F238E27FC236}">
                <a16:creationId xmlns:a16="http://schemas.microsoft.com/office/drawing/2014/main" id="{A985913E-96B5-4483-B4B5-6EDA179B6C21}"/>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Rumus denyut maksimal berbasis usia hanya memberikan perkiraan.</a:t>
            </a:r>
          </a:p>
        </p:txBody>
      </p:sp>
      <p:sp>
        <p:nvSpPr>
          <p:cNvPr id="6" name="">
            <a:extLst xmlns:a="http://schemas.openxmlformats.org/drawingml/2006/main">
              <a:ext uri="{FF2B5EF4-FFF2-40B4-BE49-F238E27FC236}">
                <a16:creationId xmlns:a16="http://schemas.microsoft.com/office/drawing/2014/main" id="{FC829E4E-809A-4615-ACBC-40C88C32EAFD}"/>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7DF6039E-85B8-49A0-A304-62EB8DD7B29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09 / 26</a:t>
            </a:r>
          </a:p>
        </p:txBody>
      </p:sp>
    </p:spTree>
    <p:extLst>
      <p:ext uri="{BB962C8B-B14F-4D97-AF65-F5344CB8AC3E}">
        <p14:creationId xmlns:p14="http://schemas.microsoft.com/office/powerpoint/2010/main" val="548291456"/>
      </p:ext>
    </p:extLst>
  </p:cSld>
</p:sld>
</file>

<file path=ppt/slides/slide10.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669981-DFF0-4C4C-9E8E-5C9584C065D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961A7AF7-5ECB-4B55-B1ED-51185D7A6378}"/>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Contoh selisih denyut</a:t>
            </a:r>
          </a:p>
        </p:txBody>
      </p:sp>
      <p:sp>
        <p:nvSpPr>
          <p:cNvPr id="3" name="">
            <a:extLst xmlns:a="http://schemas.openxmlformats.org/drawingml/2006/main">
              <a:ext uri="{FF2B5EF4-FFF2-40B4-BE49-F238E27FC236}">
                <a16:creationId xmlns:a16="http://schemas.microsoft.com/office/drawing/2014/main" id="{9BD3D6B7-84C5-4EB0-BCBA-14F2574BBF7A}"/>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Sebelum aktivitas: 72 denyut/menit.</a:t>
            </a:r>
          </a:p>
        </p:txBody>
      </p:sp>
      <p:sp>
        <p:nvSpPr>
          <p:cNvPr id="4" name="">
            <a:extLst xmlns:a="http://schemas.openxmlformats.org/drawingml/2006/main">
              <a:ext uri="{FF2B5EF4-FFF2-40B4-BE49-F238E27FC236}">
                <a16:creationId xmlns:a16="http://schemas.microsoft.com/office/drawing/2014/main" id="{A43A8D45-19B2-4CB5-BEB5-53DA4E06847F}"/>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Saat aktivitas ringan: 96 denyut/menit.</a:t>
            </a:r>
          </a:p>
        </p:txBody>
      </p:sp>
      <p:sp>
        <p:nvSpPr>
          <p:cNvPr id="5" name="">
            <a:extLst xmlns:a="http://schemas.openxmlformats.org/drawingml/2006/main">
              <a:ext uri="{FF2B5EF4-FFF2-40B4-BE49-F238E27FC236}">
                <a16:creationId xmlns:a16="http://schemas.microsoft.com/office/drawing/2014/main" id="{493E9C2E-82BD-45B7-BDEA-A86F6534FE8F}"/>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Selisih: 24 denyut/menit. Apa yang belum diketahui?</a:t>
            </a:r>
          </a:p>
        </p:txBody>
      </p:sp>
      <p:sp>
        <p:nvSpPr>
          <p:cNvPr id="6" name="">
            <a:extLst xmlns:a="http://schemas.openxmlformats.org/drawingml/2006/main">
              <a:ext uri="{FF2B5EF4-FFF2-40B4-BE49-F238E27FC236}">
                <a16:creationId xmlns:a16="http://schemas.microsoft.com/office/drawing/2014/main" id="{E4994CF7-2BC6-4E14-B3F0-EDB4AC5E7B8B}"/>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3FA69430-27ED-41C6-8016-D40F0DC9D22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10 / 26</a:t>
            </a:r>
          </a:p>
        </p:txBody>
      </p:sp>
    </p:spTree>
    <p:extLst>
      <p:ext uri="{BB962C8B-B14F-4D97-AF65-F5344CB8AC3E}">
        <p14:creationId xmlns:p14="http://schemas.microsoft.com/office/powerpoint/2010/main" val="1553077599"/>
      </p:ext>
    </p:extLst>
  </p:cSld>
</p:sld>
</file>

<file path=ppt/slides/slide11.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43A8FC-2D0C-405D-9BFC-BDAE725B58C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E4248878-114E-474C-AA1B-28F5D1B24429}"/>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Skala persepsi usaha</a:t>
            </a:r>
          </a:p>
        </p:txBody>
      </p:sp>
      <p:graphicFrame>
        <p:nvGraphicFramePr>
          <p:cNvPr id="3" name="">
            <a:extLst xmlns:a="http://schemas.openxmlformats.org/drawingml/2006/main">
              <a:ext uri="{FF2B5EF4-FFF2-40B4-BE49-F238E27FC236}">
                <a16:creationId xmlns:a16="http://schemas.microsoft.com/office/drawing/2014/main" id="{5B5A0141-0839-4A83-90F1-BC832800D992}"/>
              </a:ext>
            </a:extLst>
          </p:cNvPr>
          <p:cNvGraphicFramePr/>
          <p:nvPr/>
        </p:nvGraphicFramePr>
        <p:xfrm>
          <a:off xmlns:a="http://schemas.openxmlformats.org/drawingml/2006/main" x="762000" y="2114550"/>
          <a:ext xmlns:a="http://schemas.openxmlformats.org/drawingml/2006/main" cx="10668000" cy="2743200"/>
        </p:xfrm>
        <a:graphic xmlns:a="http://schemas.openxmlformats.org/drawingml/2006/main">
          <a:graphicData uri="http://schemas.openxmlformats.org/drawingml/2006/table">
            <a:tbl>
              <a:tblPr/>
              <a:tblGrid>
                <a:gridCol w="2857500"/>
                <a:gridCol w="7810500"/>
              </a:tblGrid>
              <a:tr h="685800">
                <a:tc>
                  <a:txBody>
                    <a:bodyPr/>
                    <a:lstStyle/>
                    <a:p>
                      <a:r>
                        <a:rPr sz="1875" b="1">
                          <a:solidFill>
                            <a:srgbClr val="2F5D62"/>
                          </a:solidFill>
                          <a:latin typeface="Arial"/>
                          <a:ea typeface="Arial"/>
                          <a:cs typeface="Arial"/>
                        </a:rPr>
                        <a:t>Skala</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75" b="1">
                          <a:solidFill>
                            <a:srgbClr val="2F5D62"/>
                          </a:solidFill>
                          <a:latin typeface="Arial"/>
                          <a:ea typeface="Arial"/>
                          <a:cs typeface="Arial"/>
                        </a:rPr>
                        <a:t>Penggunaan yang tepat</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75" b="0">
                          <a:solidFill>
                            <a:srgbClr val="1F1F1B"/>
                          </a:solidFill>
                          <a:latin typeface="Arial"/>
                          <a:ea typeface="Arial"/>
                          <a:cs typeface="Arial"/>
                        </a:rPr>
                        <a:t>Borg RPE 6–20</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Gunakan instruksi skala aslinya secara konsisten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Borg CR10</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Skala tersendiri dengan instruksi dan jangkar khusus</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Skala usaha umum 0–10</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Dapat dipakai untuk refleksi kelas, dengan jangkar dijelaskan</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3B8279A1-13A4-473D-935D-44AE1192709C}"/>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CDC · Borg Perception · Studi RPE dan denyut pada tugas kerja simulasi · sumber pada catatan</a:t>
            </a:r>
          </a:p>
        </p:txBody>
      </p:sp>
      <p:sp>
        <p:nvSpPr>
          <p:cNvPr id="5" name="">
            <a:extLst xmlns:a="http://schemas.openxmlformats.org/drawingml/2006/main">
              <a:ext uri="{FF2B5EF4-FFF2-40B4-BE49-F238E27FC236}">
                <a16:creationId xmlns:a16="http://schemas.microsoft.com/office/drawing/2014/main" id="{6CC952D9-6A2D-4C7E-A349-B1F27CEDF6EF}"/>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4DEE58A1-9B42-4B37-BC58-E35F6E619A3C}"/>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11 / 26</a:t>
            </a:r>
          </a:p>
        </p:txBody>
      </p:sp>
    </p:spTree>
    <p:extLst>
      <p:ext uri="{BB962C8B-B14F-4D97-AF65-F5344CB8AC3E}">
        <p14:creationId xmlns:p14="http://schemas.microsoft.com/office/powerpoint/2010/main" val="875065999"/>
      </p:ext>
    </p:extLst>
  </p:cSld>
</p:sld>
</file>

<file path=ppt/slides/slide1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DA91CE-AA1A-429C-8091-0CA8B6C51633}"/>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0CB04211-5747-4B93-9F3C-7802C1E4DA46}"/>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Talk test</a:t>
            </a:r>
          </a:p>
        </p:txBody>
      </p:sp>
      <p:sp>
        <p:nvSpPr>
          <p:cNvPr id="3" name="">
            <a:extLst xmlns:a="http://schemas.openxmlformats.org/drawingml/2006/main">
              <a:ext uri="{FF2B5EF4-FFF2-40B4-BE49-F238E27FC236}">
                <a16:creationId xmlns:a16="http://schemas.microsoft.com/office/drawing/2014/main" id="{3F88FA1D-EB14-467E-B370-E5BA95D89091}"/>
              </a:ext>
            </a:extLst>
          </p:cNvPr>
          <p:cNvSpPr>
            <a:spLocks xmlns:a="http://schemas.openxmlformats.org/drawingml/2006/main" noGrp="1"/>
          </p:cNvSpPr>
          <p:nvPr/>
        </p:nvSpPr>
        <p:spPr>
          <a:xfrm xmlns:a="http://schemas.openxmlformats.org/drawingml/2006/main">
            <a:off x="762000" y="2333625"/>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Pada intensitas sedang, orang umumnya masih dapat berbicara, tetapi sulit bernyanyi.</a:t>
            </a:r>
          </a:p>
        </p:txBody>
      </p:sp>
      <p:sp>
        <p:nvSpPr>
          <p:cNvPr id="4" name="">
            <a:extLst xmlns:a="http://schemas.openxmlformats.org/drawingml/2006/main">
              <a:ext uri="{FF2B5EF4-FFF2-40B4-BE49-F238E27FC236}">
                <a16:creationId xmlns:a16="http://schemas.microsoft.com/office/drawing/2014/main" id="{F81C71B9-12ED-44DC-A3A8-51C1534C90A2}"/>
              </a:ext>
            </a:extLst>
          </p:cNvPr>
          <p:cNvSpPr>
            <a:spLocks xmlns:a="http://schemas.openxmlformats.org/drawingml/2006/main" noGrp="1"/>
          </p:cNvSpPr>
          <p:nvPr/>
        </p:nvSpPr>
        <p:spPr>
          <a:xfrm xmlns:a="http://schemas.openxmlformats.org/drawingml/2006/main">
            <a:off x="762000" y="3457575"/>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Pada intensitas berat, orang umumnya hanya dapat mengucapkan beberapa kata sebelum mengambil napas.</a:t>
            </a:r>
          </a:p>
        </p:txBody>
      </p:sp>
      <p:sp>
        <p:nvSpPr>
          <p:cNvPr id="5" name="">
            <a:extLst xmlns:a="http://schemas.openxmlformats.org/drawingml/2006/main">
              <a:ext uri="{FF2B5EF4-FFF2-40B4-BE49-F238E27FC236}">
                <a16:creationId xmlns:a16="http://schemas.microsoft.com/office/drawing/2014/main" id="{7B22369A-5C63-4DC1-AC43-3A14ECB3FE5D}"/>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CDC · sumber pada catatan</a:t>
            </a:r>
          </a:p>
        </p:txBody>
      </p:sp>
      <p:sp>
        <p:nvSpPr>
          <p:cNvPr id="6" name="">
            <a:extLst xmlns:a="http://schemas.openxmlformats.org/drawingml/2006/main">
              <a:ext uri="{FF2B5EF4-FFF2-40B4-BE49-F238E27FC236}">
                <a16:creationId xmlns:a16="http://schemas.microsoft.com/office/drawing/2014/main" id="{B10FF2F4-7D10-4375-89F0-0C6A32FE88BC}"/>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FA162AE5-AF5D-4CE5-AD0D-D5D349D045CF}"/>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12 / 26</a:t>
            </a:r>
          </a:p>
        </p:txBody>
      </p:sp>
    </p:spTree>
    <p:extLst>
      <p:ext uri="{BB962C8B-B14F-4D97-AF65-F5344CB8AC3E}">
        <p14:creationId xmlns:p14="http://schemas.microsoft.com/office/powerpoint/2010/main" val="1877867277"/>
      </p:ext>
    </p:extLst>
  </p:cSld>
</p:sld>
</file>

<file path=ppt/slides/slide1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35673C-1BDD-4334-9C76-3C921645FA76}"/>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5A50A998-F39B-4333-9629-E228D8296507}"/>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Observasi gerak ringan</a:t>
            </a:r>
          </a:p>
        </p:txBody>
      </p:sp>
      <p:sp>
        <p:nvSpPr>
          <p:cNvPr id="3" name="">
            <a:extLst xmlns:a="http://schemas.openxmlformats.org/drawingml/2006/main">
              <a:ext uri="{FF2B5EF4-FFF2-40B4-BE49-F238E27FC236}">
                <a16:creationId xmlns:a16="http://schemas.microsoft.com/office/drawing/2014/main" id="{788B857A-67E2-493F-AA89-1E27A328DD93}"/>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Jalan santai di tempat selama sekitar satu menit, bila nyaman.</a:t>
            </a:r>
          </a:p>
        </p:txBody>
      </p:sp>
      <p:sp>
        <p:nvSpPr>
          <p:cNvPr id="4" name="">
            <a:extLst xmlns:a="http://schemas.openxmlformats.org/drawingml/2006/main">
              <a:ext uri="{FF2B5EF4-FFF2-40B4-BE49-F238E27FC236}">
                <a16:creationId xmlns:a16="http://schemas.microsoft.com/office/drawing/2014/main" id="{E1CA986C-A1B2-48B6-8ECE-6D1FCE8CBDD0}"/>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Amati perubahan napas dan persepsi usaha sebelum serta sesudahnya.</a:t>
            </a:r>
          </a:p>
        </p:txBody>
      </p:sp>
      <p:sp>
        <p:nvSpPr>
          <p:cNvPr id="5" name="">
            <a:extLst xmlns:a="http://schemas.openxmlformats.org/drawingml/2006/main">
              <a:ext uri="{FF2B5EF4-FFF2-40B4-BE49-F238E27FC236}">
                <a16:creationId xmlns:a16="http://schemas.microsoft.com/office/drawing/2014/main" id="{2DE6A8C8-E67A-40D0-A6BF-FFB628E53473}"/>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Berhenti bila muncul keluhan. Peran pengamat memiliki nilai belajar setara.</a:t>
            </a:r>
          </a:p>
        </p:txBody>
      </p:sp>
      <p:sp>
        <p:nvSpPr>
          <p:cNvPr id="6" name="">
            <a:extLst xmlns:a="http://schemas.openxmlformats.org/drawingml/2006/main">
              <a:ext uri="{FF2B5EF4-FFF2-40B4-BE49-F238E27FC236}">
                <a16:creationId xmlns:a16="http://schemas.microsoft.com/office/drawing/2014/main" id="{595E2165-CA53-4120-A0CD-442D2BA3D2D6}"/>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EF7C8193-263F-4113-8741-3DDD9E3E2DEC}"/>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13 / 26</a:t>
            </a:r>
          </a:p>
        </p:txBody>
      </p:sp>
    </p:spTree>
    <p:extLst>
      <p:ext uri="{BB962C8B-B14F-4D97-AF65-F5344CB8AC3E}">
        <p14:creationId xmlns:p14="http://schemas.microsoft.com/office/powerpoint/2010/main" val="1186689082"/>
      </p:ext>
    </p:extLst>
  </p:cSld>
</p:sld>
</file>

<file path=ppt/slides/slide1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64F93E-C0F2-4A51-81A9-63A7C4FF25A9}"/>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CAD421A9-02D3-487B-A207-A2491F0F9EA6}"/>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Refleksi pengamatan</a:t>
            </a:r>
          </a:p>
        </p:txBody>
      </p:sp>
      <p:sp>
        <p:nvSpPr>
          <p:cNvPr id="3" name="">
            <a:extLst xmlns:a="http://schemas.openxmlformats.org/drawingml/2006/main">
              <a:ext uri="{FF2B5EF4-FFF2-40B4-BE49-F238E27FC236}">
                <a16:creationId xmlns:a16="http://schemas.microsoft.com/office/drawing/2014/main" id="{69CC67DC-992A-45D6-89A5-463F58431E0C}"/>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Apa yang berubah, dan apa yang tetap?</a:t>
            </a:r>
          </a:p>
        </p:txBody>
      </p:sp>
      <p:sp>
        <p:nvSpPr>
          <p:cNvPr id="4" name="">
            <a:extLst xmlns:a="http://schemas.openxmlformats.org/drawingml/2006/main">
              <a:ext uri="{FF2B5EF4-FFF2-40B4-BE49-F238E27FC236}">
                <a16:creationId xmlns:a16="http://schemas.microsoft.com/office/drawing/2014/main" id="{AF863AF6-A21C-4EB0-A29E-2A45FDE83835}"/>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Faktor apa yang membuat perbandingan antarorang kurang tepat?</a:t>
            </a:r>
          </a:p>
        </p:txBody>
      </p:sp>
      <p:sp>
        <p:nvSpPr>
          <p:cNvPr id="5" name="">
            <a:extLst xmlns:a="http://schemas.openxmlformats.org/drawingml/2006/main">
              <a:ext uri="{FF2B5EF4-FFF2-40B4-BE49-F238E27FC236}">
                <a16:creationId xmlns:a16="http://schemas.microsoft.com/office/drawing/2014/main" id="{77F50BEF-ED31-42D7-8C1A-8DFEC96797D1}"/>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Bagaimana informasi ini membantu merancang tugas lapangan?</a:t>
            </a:r>
          </a:p>
        </p:txBody>
      </p:sp>
      <p:sp>
        <p:nvSpPr>
          <p:cNvPr id="6" name="">
            <a:extLst xmlns:a="http://schemas.openxmlformats.org/drawingml/2006/main">
              <a:ext uri="{FF2B5EF4-FFF2-40B4-BE49-F238E27FC236}">
                <a16:creationId xmlns:a16="http://schemas.microsoft.com/office/drawing/2014/main" id="{89C817E6-837E-4426-9453-44234ADE2F8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94EEA574-FEA6-40AB-9452-4296E5536422}"/>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14 / 26</a:t>
            </a:r>
          </a:p>
        </p:txBody>
      </p:sp>
    </p:spTree>
    <p:extLst>
      <p:ext uri="{BB962C8B-B14F-4D97-AF65-F5344CB8AC3E}">
        <p14:creationId xmlns:p14="http://schemas.microsoft.com/office/powerpoint/2010/main" val="1109110486"/>
      </p:ext>
    </p:extLst>
  </p:cSld>
</p:sld>
</file>

<file path=ppt/slides/slide1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C84A47-D92B-422E-BC8D-DB3101C50C41}"/>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E823BECF-153F-4853-A8AD-EF92BCAFA7D6}"/>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Beban tugas juga memerlukan perhatian</a:t>
            </a:r>
          </a:p>
        </p:txBody>
      </p:sp>
      <p:sp>
        <p:nvSpPr>
          <p:cNvPr id="3" name="">
            <a:extLst xmlns:a="http://schemas.openxmlformats.org/drawingml/2006/main">
              <a:ext uri="{FF2B5EF4-FFF2-40B4-BE49-F238E27FC236}">
                <a16:creationId xmlns:a16="http://schemas.microsoft.com/office/drawing/2014/main" id="{7A70056B-9937-4CE2-81EA-972BE05D0B19}"/>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NASA-TLX mencakup tuntutan mental, fisik, dan waktu.</a:t>
            </a:r>
          </a:p>
        </p:txBody>
      </p:sp>
      <p:sp>
        <p:nvSpPr>
          <p:cNvPr id="4" name="">
            <a:extLst xmlns:a="http://schemas.openxmlformats.org/drawingml/2006/main">
              <a:ext uri="{FF2B5EF4-FFF2-40B4-BE49-F238E27FC236}">
                <a16:creationId xmlns:a16="http://schemas.microsoft.com/office/drawing/2014/main" id="{186B88C4-3154-4D7A-B8B4-866707091C86}"/>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Dimensi lainnya adalah kinerja, usaha, dan frustrasi.</a:t>
            </a:r>
          </a:p>
        </p:txBody>
      </p:sp>
      <p:sp>
        <p:nvSpPr>
          <p:cNvPr id="5" name="">
            <a:extLst xmlns:a="http://schemas.openxmlformats.org/drawingml/2006/main">
              <a:ext uri="{FF2B5EF4-FFF2-40B4-BE49-F238E27FC236}">
                <a16:creationId xmlns:a16="http://schemas.microsoft.com/office/drawing/2014/main" id="{3434A2AE-78A3-4032-A28C-6E12EB2667C5}"/>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Operator pencatat data dapat terbebani meskipun duduk.</a:t>
            </a:r>
          </a:p>
        </p:txBody>
      </p:sp>
      <p:sp>
        <p:nvSpPr>
          <p:cNvPr id="6" name="">
            <a:extLst xmlns:a="http://schemas.openxmlformats.org/drawingml/2006/main">
              <a:ext uri="{FF2B5EF4-FFF2-40B4-BE49-F238E27FC236}">
                <a16:creationId xmlns:a16="http://schemas.microsoft.com/office/drawing/2014/main" id="{300D66AE-C6E9-4B41-BA86-425C88178D6F}"/>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NASA · sumber pada catatan</a:t>
            </a:r>
          </a:p>
        </p:txBody>
      </p:sp>
      <p:sp>
        <p:nvSpPr>
          <p:cNvPr id="7" name="">
            <a:extLst xmlns:a="http://schemas.openxmlformats.org/drawingml/2006/main">
              <a:ext uri="{FF2B5EF4-FFF2-40B4-BE49-F238E27FC236}">
                <a16:creationId xmlns:a16="http://schemas.microsoft.com/office/drawing/2014/main" id="{7B433407-AB2A-4916-A6C1-F1FC61DDEAF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32BF8738-DBBF-458F-B506-733A009EB11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15 / 26</a:t>
            </a:r>
          </a:p>
        </p:txBody>
      </p:sp>
    </p:spTree>
    <p:extLst>
      <p:ext uri="{BB962C8B-B14F-4D97-AF65-F5344CB8AC3E}">
        <p14:creationId xmlns:p14="http://schemas.microsoft.com/office/powerpoint/2010/main" val="752691024"/>
      </p:ext>
    </p:extLst>
  </p:cSld>
</p:sld>
</file>

<file path=ppt/slides/slide16.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7172D3-8FEE-4618-A747-6A27920B2FF7}"/>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1ECF0418-CD90-4E18-900A-6597DC9A044C}"/>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Antropometri untuk desain kerja</a:t>
            </a:r>
          </a:p>
        </p:txBody>
      </p:sp>
      <p:sp>
        <p:nvSpPr>
          <p:cNvPr id="3" name="">
            <a:extLst xmlns:a="http://schemas.openxmlformats.org/drawingml/2006/main">
              <a:ext uri="{FF2B5EF4-FFF2-40B4-BE49-F238E27FC236}">
                <a16:creationId xmlns:a16="http://schemas.microsoft.com/office/drawing/2014/main" id="{A1C630E0-0D0F-4F58-9791-A6D88C290CAA}"/>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Sesuaikan tinggi meja, jangkauan, dan pegangan dengan pengguna.</a:t>
            </a:r>
          </a:p>
        </p:txBody>
      </p:sp>
      <p:sp>
        <p:nvSpPr>
          <p:cNvPr id="4" name="">
            <a:extLst xmlns:a="http://schemas.openxmlformats.org/drawingml/2006/main">
              <a:ext uri="{FF2B5EF4-FFF2-40B4-BE49-F238E27FC236}">
                <a16:creationId xmlns:a16="http://schemas.microsoft.com/office/drawing/2014/main" id="{C10F3DE9-C4DD-4A65-9CC3-88CC31B72CC1}"/>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Pertimbangkan variasi ukuran tubuh dalam satu tim.</a:t>
            </a:r>
          </a:p>
        </p:txBody>
      </p:sp>
      <p:sp>
        <p:nvSpPr>
          <p:cNvPr id="5" name="">
            <a:extLst xmlns:a="http://schemas.openxmlformats.org/drawingml/2006/main">
              <a:ext uri="{FF2B5EF4-FFF2-40B4-BE49-F238E27FC236}">
                <a16:creationId xmlns:a16="http://schemas.microsoft.com/office/drawing/2014/main" id="{088F46CD-6BA1-46A3-9C1A-6B04AD401FC8}"/>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Pengaturan yang dapat disesuaikan membantu lebih banyak pengguna.</a:t>
            </a:r>
          </a:p>
        </p:txBody>
      </p:sp>
      <p:sp>
        <p:nvSpPr>
          <p:cNvPr id="6" name="">
            <a:extLst xmlns:a="http://schemas.openxmlformats.org/drawingml/2006/main">
              <a:ext uri="{FF2B5EF4-FFF2-40B4-BE49-F238E27FC236}">
                <a16:creationId xmlns:a16="http://schemas.microsoft.com/office/drawing/2014/main" id="{12F8AF1A-DFC4-45E5-84C1-0BBC40D0836B}"/>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FB37B462-4A54-46DE-86A9-B92DBD685527}"/>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16 / 26</a:t>
            </a:r>
          </a:p>
        </p:txBody>
      </p:sp>
    </p:spTree>
    <p:extLst>
      <p:ext uri="{BB962C8B-B14F-4D97-AF65-F5344CB8AC3E}">
        <p14:creationId xmlns:p14="http://schemas.microsoft.com/office/powerpoint/2010/main" val="490573419"/>
      </p:ext>
    </p:extLst>
  </p:cSld>
</p:sld>
</file>

<file path=ppt/slides/slide17.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856CBE-4411-4700-8ADE-DD4D5F0029CA}"/>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8166B3E7-0577-4771-BF78-959CB352D5A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Risiko pemindahan alat</a:t>
            </a:r>
          </a:p>
        </p:txBody>
      </p:sp>
      <p:graphicFrame>
        <p:nvGraphicFramePr>
          <p:cNvPr id="3" name="">
            <a:extLst xmlns:a="http://schemas.openxmlformats.org/drawingml/2006/main">
              <a:ext uri="{FF2B5EF4-FFF2-40B4-BE49-F238E27FC236}">
                <a16:creationId xmlns:a16="http://schemas.microsoft.com/office/drawing/2014/main" id="{28BC9D56-5E55-4ED8-9C50-6F0052E9501F}"/>
              </a:ext>
            </a:extLst>
          </p:cNvPr>
          <p:cNvGraphicFramePr/>
          <p:nvPr/>
        </p:nvGraphicFramePr>
        <p:xfrm>
          <a:off xmlns:a="http://schemas.openxmlformats.org/drawingml/2006/main" x="762000" y="2114550"/>
          <a:ext xmlns:a="http://schemas.openxmlformats.org/drawingml/2006/main" cx="10668000" cy="3429000"/>
        </p:xfrm>
        <a:graphic xmlns:a="http://schemas.openxmlformats.org/drawingml/2006/main">
          <a:graphicData uri="http://schemas.openxmlformats.org/drawingml/2006/table">
            <a:tbl>
              <a:tblPr/>
              <a:tblGrid>
                <a:gridCol w="2857500"/>
                <a:gridCol w="7810500"/>
              </a:tblGrid>
              <a:tr h="685800">
                <a:tc>
                  <a:txBody>
                    <a:bodyPr/>
                    <a:lstStyle/>
                    <a:p>
                      <a:r>
                        <a:rPr sz="1875" b="1">
                          <a:solidFill>
                            <a:srgbClr val="2F5D62"/>
                          </a:solidFill>
                          <a:latin typeface="Arial"/>
                          <a:ea typeface="Arial"/>
                          <a:cs typeface="Arial"/>
                        </a:rPr>
                        <a:t>Faktor</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75" b="1">
                          <a:solidFill>
                            <a:srgbClr val="2F5D62"/>
                          </a:solidFill>
                          <a:latin typeface="Arial"/>
                          <a:ea typeface="Arial"/>
                          <a:cs typeface="Arial"/>
                        </a:rPr>
                        <a:t>Pertanyaan sebelum mulai</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685800">
                <a:tc>
                  <a:txBody>
                    <a:bodyPr/>
                    <a:lstStyle/>
                    <a:p>
                      <a:r>
                        <a:rPr sz="1875" b="0">
                          <a:solidFill>
                            <a:srgbClr val="1F1F1B"/>
                          </a:solidFill>
                          <a:latin typeface="Arial"/>
                          <a:ea typeface="Arial"/>
                          <a:cs typeface="Arial"/>
                        </a:rPr>
                        <a:t>Beban</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Berat, isi, pegangan, dan stabilitasnya diketahui?</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Tugas</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Seberapa jauh, tinggi, sering, dan lama?</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Lingkungan</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Ada lereng, tangga, kabel, atau permukaan licin?</a:t>
                      </a:r>
                    </a:p>
                  </a:txBody>
                  <a:tcPr marL="91440" marR="91440" marT="45720" marB="45720">
                    <a:lnR w="5715">
                      <a:solidFill>
                        <a:srgbClr val="D8D2C5"/>
                      </a:solidFill>
                      <a:prstDash val="solid"/>
                    </a:lnR>
                    <a:lnB w="5715">
                      <a:solidFill>
                        <a:srgbClr val="D8D2C5"/>
                      </a:solidFill>
                      <a:prstDash val="solid"/>
                    </a:lnB>
                    <a:solidFill>
                      <a:srgbClr val="F8F6F1"/>
                    </a:solidFill>
                  </a:tcPr>
                </a:tc>
              </a:tr>
              <a:tr h="685800">
                <a:tc>
                  <a:txBody>
                    <a:bodyPr/>
                    <a:lstStyle/>
                    <a:p>
                      <a:r>
                        <a:rPr sz="1875" b="0">
                          <a:solidFill>
                            <a:srgbClr val="1F1F1B"/>
                          </a:solidFill>
                          <a:latin typeface="Arial"/>
                          <a:ea typeface="Arial"/>
                          <a:cs typeface="Arial"/>
                        </a:rPr>
                        <a:t>Pengguna</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Bantuan dan penyesuaian apa yang diperlukan?</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DF5907AF-D8D9-462A-9AFE-E5DC51DE5FFC}"/>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NIOSH · CCOHS · sumber pada catatan</a:t>
            </a:r>
          </a:p>
        </p:txBody>
      </p:sp>
      <p:sp>
        <p:nvSpPr>
          <p:cNvPr id="5" name="">
            <a:extLst xmlns:a="http://schemas.openxmlformats.org/drawingml/2006/main">
              <a:ext uri="{FF2B5EF4-FFF2-40B4-BE49-F238E27FC236}">
                <a16:creationId xmlns:a16="http://schemas.microsoft.com/office/drawing/2014/main" id="{322225E8-751B-4AD4-82BA-A67214D9D980}"/>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45F061F1-F3F8-45AC-A02F-2ED05ECF9431}"/>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17 / 26</a:t>
            </a:r>
          </a:p>
        </p:txBody>
      </p:sp>
    </p:spTree>
    <p:extLst>
      <p:ext uri="{BB962C8B-B14F-4D97-AF65-F5344CB8AC3E}">
        <p14:creationId xmlns:p14="http://schemas.microsoft.com/office/powerpoint/2010/main" val="1711466147"/>
      </p:ext>
    </p:extLst>
  </p:cSld>
</p:sld>
</file>

<file path=ppt/slides/slide18.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B86714-CE04-4F6F-B771-72557EEB212A}"/>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EFC8DA35-EAD2-433D-9887-172D6F3EBE34}"/>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Lingkup persamaan angkat NIOSH</a:t>
            </a:r>
          </a:p>
        </p:txBody>
      </p:sp>
      <p:sp>
        <p:nvSpPr>
          <p:cNvPr id="3" name="">
            <a:extLst xmlns:a="http://schemas.openxmlformats.org/drawingml/2006/main">
              <a:ext uri="{FF2B5EF4-FFF2-40B4-BE49-F238E27FC236}">
                <a16:creationId xmlns:a16="http://schemas.microsoft.com/office/drawing/2014/main" id="{829339D6-04D5-4E6E-A0D6-99C2D8E519A5}"/>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RNLE menilai tugas angkat manual dengan dua tangan dalam lingkup tertentu.</a:t>
            </a:r>
          </a:p>
        </p:txBody>
      </p:sp>
      <p:sp>
        <p:nvSpPr>
          <p:cNvPr id="4" name="">
            <a:extLst xmlns:a="http://schemas.openxmlformats.org/drawingml/2006/main">
              <a:ext uri="{FF2B5EF4-FFF2-40B4-BE49-F238E27FC236}">
                <a16:creationId xmlns:a16="http://schemas.microsoft.com/office/drawing/2014/main" id="{0067F4C3-3E66-4960-90CC-8EA8119F2433}"/>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Variabelnya mencakup posisi tangan, frekuensi, durasi, dan kualitas pegangan.</a:t>
            </a:r>
          </a:p>
        </p:txBody>
      </p:sp>
      <p:sp>
        <p:nvSpPr>
          <p:cNvPr id="5" name="">
            <a:extLst xmlns:a="http://schemas.openxmlformats.org/drawingml/2006/main">
              <a:ext uri="{FF2B5EF4-FFF2-40B4-BE49-F238E27FC236}">
                <a16:creationId xmlns:a16="http://schemas.microsoft.com/office/drawing/2014/main" id="{81E31086-56A1-4FC8-9704-D3AA1944CB57}"/>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Membawa kotak di lereng licin memerlukan penilaian yang lebih luas.</a:t>
            </a:r>
          </a:p>
        </p:txBody>
      </p:sp>
      <p:sp>
        <p:nvSpPr>
          <p:cNvPr id="6" name="">
            <a:extLst xmlns:a="http://schemas.openxmlformats.org/drawingml/2006/main">
              <a:ext uri="{FF2B5EF4-FFF2-40B4-BE49-F238E27FC236}">
                <a16:creationId xmlns:a16="http://schemas.microsoft.com/office/drawing/2014/main" id="{0EFB01F7-8167-4383-95E3-370C2C2A3E2A}"/>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NIOSH · CCOHS · sumber pada catatan</a:t>
            </a:r>
          </a:p>
        </p:txBody>
      </p:sp>
      <p:sp>
        <p:nvSpPr>
          <p:cNvPr id="7" name="">
            <a:extLst xmlns:a="http://schemas.openxmlformats.org/drawingml/2006/main">
              <a:ext uri="{FF2B5EF4-FFF2-40B4-BE49-F238E27FC236}">
                <a16:creationId xmlns:a16="http://schemas.microsoft.com/office/drawing/2014/main" id="{AB19E7CD-1B1E-492B-8CB1-5B232184B3B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741F691D-208D-4740-94FC-E5EB6AED367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18 / 26</a:t>
            </a:r>
          </a:p>
        </p:txBody>
      </p:sp>
    </p:spTree>
    <p:extLst>
      <p:ext uri="{BB962C8B-B14F-4D97-AF65-F5344CB8AC3E}">
        <p14:creationId xmlns:p14="http://schemas.microsoft.com/office/powerpoint/2010/main" val="1457749339"/>
      </p:ext>
    </p:extLst>
  </p:cSld>
</p:sld>
</file>

<file path=ppt/slides/slide19.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B0EDCE-CF95-4F24-BD2B-306A278B89B7}"/>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83A80D55-A6BF-4960-8A43-396DACC52EF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Jarak beban dan momen gaya</a:t>
            </a:r>
          </a:p>
        </p:txBody>
      </p:sp>
      <p:sp>
        <p:nvSpPr>
          <p:cNvPr id="3" name="">
            <a:extLst xmlns:a="http://schemas.openxmlformats.org/drawingml/2006/main">
              <a:ext uri="{FF2B5EF4-FFF2-40B4-BE49-F238E27FC236}">
                <a16:creationId xmlns:a16="http://schemas.microsoft.com/office/drawing/2014/main" id="{9D19DB58-ACDD-4994-83C1-021F2EBB2F0C}"/>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Contoh ideal: massa 10 kg, g = 9,81 m/s².</a:t>
            </a:r>
          </a:p>
        </p:txBody>
      </p:sp>
      <p:sp>
        <p:nvSpPr>
          <p:cNvPr id="4" name="">
            <a:extLst xmlns:a="http://schemas.openxmlformats.org/drawingml/2006/main">
              <a:ext uri="{FF2B5EF4-FFF2-40B4-BE49-F238E27FC236}">
                <a16:creationId xmlns:a16="http://schemas.microsoft.com/office/drawing/2014/main" id="{8CB411B9-1859-4027-955E-4B338B09F6EE}"/>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Pada jarak 0,20 m: momen ≈ 19,6 N·m.</a:t>
            </a:r>
          </a:p>
        </p:txBody>
      </p:sp>
      <p:sp>
        <p:nvSpPr>
          <p:cNvPr id="5" name="">
            <a:extLst xmlns:a="http://schemas.openxmlformats.org/drawingml/2006/main">
              <a:ext uri="{FF2B5EF4-FFF2-40B4-BE49-F238E27FC236}">
                <a16:creationId xmlns:a16="http://schemas.microsoft.com/office/drawing/2014/main" id="{1D0A4BF8-B424-430B-A032-D0B82F19F735}"/>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F1F1B"/>
                </a:solidFill>
                <a:latin typeface="Arial"/>
                <a:ea typeface="Arial"/>
                <a:cs typeface="Arial"/>
              </a:defRPr>
            </a:defPPr>
            <a:lvl1pPr>
              <a:defRPr sz="2550" b="0">
                <a:solidFill>
                  <a:srgbClr val="1F1F1B"/>
                </a:solidFill>
                <a:latin typeface="Arial"/>
                <a:ea typeface="Arial"/>
                <a:cs typeface="Arial"/>
              </a:defRPr>
            </a:lvl1pPr>
            <a:lvl2pPr>
              <a:defRPr sz="2550" b="0">
                <a:solidFill>
                  <a:srgbClr val="1F1F1B"/>
                </a:solidFill>
                <a:latin typeface="Arial"/>
                <a:ea typeface="Arial"/>
                <a:cs typeface="Arial"/>
              </a:defRPr>
            </a:lvl2pPr>
            <a:lvl3pPr>
              <a:defRPr sz="2550" b="0">
                <a:solidFill>
                  <a:srgbClr val="1F1F1B"/>
                </a:solidFill>
                <a:latin typeface="Arial"/>
                <a:ea typeface="Arial"/>
                <a:cs typeface="Arial"/>
              </a:defRPr>
            </a:lvl3pPr>
            <a:lvl4pPr>
              <a:defRPr sz="2550" b="0">
                <a:solidFill>
                  <a:srgbClr val="1F1F1B"/>
                </a:solidFill>
                <a:latin typeface="Arial"/>
                <a:ea typeface="Arial"/>
                <a:cs typeface="Arial"/>
              </a:defRPr>
            </a:lvl4pPr>
            <a:lvl5pPr>
              <a:defRPr sz="2550" b="0">
                <a:solidFill>
                  <a:srgbClr val="1F1F1B"/>
                </a:solidFill>
                <a:latin typeface="Arial"/>
                <a:ea typeface="Arial"/>
                <a:cs typeface="Arial"/>
              </a:defRPr>
            </a:lvl5pPr>
            <a:lvl6pPr>
              <a:defRPr sz="2550" b="0">
                <a:solidFill>
                  <a:srgbClr val="1F1F1B"/>
                </a:solidFill>
                <a:latin typeface="Arial"/>
                <a:ea typeface="Arial"/>
                <a:cs typeface="Arial"/>
              </a:defRPr>
            </a:lvl6pPr>
            <a:lvl7pPr>
              <a:defRPr sz="2550" b="0">
                <a:solidFill>
                  <a:srgbClr val="1F1F1B"/>
                </a:solidFill>
                <a:latin typeface="Arial"/>
                <a:ea typeface="Arial"/>
                <a:cs typeface="Arial"/>
              </a:defRPr>
            </a:lvl7pPr>
            <a:lvl8pPr>
              <a:defRPr sz="2550" b="0">
                <a:solidFill>
                  <a:srgbClr val="1F1F1B"/>
                </a:solidFill>
                <a:latin typeface="Arial"/>
                <a:ea typeface="Arial"/>
                <a:cs typeface="Arial"/>
              </a:defRPr>
            </a:lvl8pPr>
            <a:lvl9pPr>
              <a:defRPr sz="2550" b="0">
                <a:solidFill>
                  <a:srgbClr val="1F1F1B"/>
                </a:solidFill>
                <a:latin typeface="Arial"/>
                <a:ea typeface="Arial"/>
                <a:cs typeface="Arial"/>
              </a:defRPr>
            </a:lvl9pPr>
          </a:lstStyle>
          <a:p xmlns:a="http://schemas.openxmlformats.org/drawingml/2006/main">
            <a:pPr>
              <a:defRPr sz="2550" b="0">
                <a:solidFill>
                  <a:srgbClr val="1F1F1B"/>
                </a:solidFill>
                <a:latin typeface="Arial"/>
                <a:ea typeface="Arial"/>
                <a:cs typeface="Arial"/>
              </a:defRPr>
            </a:pPr>
            <a:r>
              <a:rPr sz="2550" b="0">
                <a:solidFill>
                  <a:srgbClr val="1F1F1B"/>
                </a:solidFill>
                <a:latin typeface="Arial"/>
                <a:ea typeface="Arial"/>
                <a:cs typeface="Arial"/>
              </a:rPr>
              <a:t>Pada jarak 0,40 m: momen ≈ 39,2 N·m.</a:t>
            </a:r>
          </a:p>
        </p:txBody>
      </p:sp>
      <p:sp>
        <p:nvSpPr>
          <p:cNvPr id="6" name="">
            <a:extLst xmlns:a="http://schemas.openxmlformats.org/drawingml/2006/main">
              <a:ext uri="{FF2B5EF4-FFF2-40B4-BE49-F238E27FC236}">
                <a16:creationId xmlns:a16="http://schemas.microsoft.com/office/drawing/2014/main" id="{1980805D-7714-4D6B-8126-60168DBC9A7E}"/>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193C9042-26B4-483D-9340-701B53150E6E}"/>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19 / 26</a:t>
            </a:r>
          </a:p>
        </p:txBody>
      </p:sp>
    </p:spTree>
    <p:extLst>
      <p:ext uri="{BB962C8B-B14F-4D97-AF65-F5344CB8AC3E}">
        <p14:creationId xmlns:p14="http://schemas.microsoft.com/office/powerpoint/2010/main" val="2137734046"/>
      </p:ext>
    </p:extLst>
  </p:cSld>
</p:sld>
</file>

<file path=ppt/slides/slide20.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536035-E98D-4C76-8AAC-4F6A64E9A76D}"/>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DFF7AD20-ADB2-45E4-9C63-16EDBEC22BD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Pilihan pengendalian</a:t>
            </a:r>
          </a:p>
        </p:txBody>
      </p:sp>
      <p:graphicFrame>
        <p:nvGraphicFramePr>
          <p:cNvPr id="3" name="">
            <a:extLst xmlns:a="http://schemas.openxmlformats.org/drawingml/2006/main">
              <a:ext uri="{FF2B5EF4-FFF2-40B4-BE49-F238E27FC236}">
                <a16:creationId xmlns:a16="http://schemas.microsoft.com/office/drawing/2014/main" id="{CB1CB592-F433-43F3-A084-BD8C391BD8F1}"/>
              </a:ext>
            </a:extLst>
          </p:cNvPr>
          <p:cNvGraphicFramePr/>
          <p:nvPr/>
        </p:nvGraphicFramePr>
        <p:xfrm>
          <a:off xmlns:a="http://schemas.openxmlformats.org/drawingml/2006/main" x="762000" y="2114550"/>
          <a:ext xmlns:a="http://schemas.openxmlformats.org/drawingml/2006/main" cx="10668000" cy="3581400"/>
        </p:xfrm>
        <a:graphic xmlns:a="http://schemas.openxmlformats.org/drawingml/2006/main">
          <a:graphicData uri="http://schemas.openxmlformats.org/drawingml/2006/table">
            <a:tbl>
              <a:tblPr/>
              <a:tblGrid>
                <a:gridCol w="2857500"/>
                <a:gridCol w="7810500"/>
              </a:tblGrid>
              <a:tr h="596900">
                <a:tc>
                  <a:txBody>
                    <a:bodyPr/>
                    <a:lstStyle/>
                    <a:p>
                      <a:r>
                        <a:rPr sz="1875" b="1">
                          <a:solidFill>
                            <a:srgbClr val="2F5D62"/>
                          </a:solidFill>
                          <a:latin typeface="Arial"/>
                          <a:ea typeface="Arial"/>
                          <a:cs typeface="Arial"/>
                        </a:rPr>
                        <a:t>Prioritas</a:t>
                      </a:r>
                    </a:p>
                  </a:txBody>
                  <a:tcPr marL="91440" marR="91440" marT="45720" marB="45720">
                    <a:lnL w="5715">
                      <a:solidFill>
                        <a:srgbClr val="D8D2C5"/>
                      </a:solidFill>
                      <a:prstDash val="solid"/>
                    </a:lnL>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c>
                  <a:txBody>
                    <a:bodyPr/>
                    <a:lstStyle/>
                    <a:p>
                      <a:r>
                        <a:rPr sz="1875" b="1">
                          <a:solidFill>
                            <a:srgbClr val="2F5D62"/>
                          </a:solidFill>
                          <a:latin typeface="Arial"/>
                          <a:ea typeface="Arial"/>
                          <a:cs typeface="Arial"/>
                        </a:rPr>
                        <a:t>Contoh perubahan pekerjaan</a:t>
                      </a:r>
                    </a:p>
                  </a:txBody>
                  <a:tcPr marL="91440" marR="91440" marT="45720" marB="45720">
                    <a:lnR w="5715">
                      <a:solidFill>
                        <a:srgbClr val="D8D2C5"/>
                      </a:solidFill>
                      <a:prstDash val="solid"/>
                    </a:lnR>
                    <a:lnT w="5715">
                      <a:solidFill>
                        <a:srgbClr val="D8D2C5"/>
                      </a:solidFill>
                      <a:prstDash val="solid"/>
                    </a:lnT>
                    <a:lnB w="5715">
                      <a:solidFill>
                        <a:srgbClr val="D8D2C5"/>
                      </a:solidFill>
                      <a:prstDash val="solid"/>
                    </a:lnB>
                    <a:solidFill>
                      <a:srgbClr val="F1EEE7"/>
                    </a:solidFill>
                  </a:tcPr>
                </a:tc>
              </a:tr>
              <a:tr h="596900">
                <a:tc>
                  <a:txBody>
                    <a:bodyPr/>
                    <a:lstStyle/>
                    <a:p>
                      <a:r>
                        <a:rPr sz="1875" b="0">
                          <a:solidFill>
                            <a:srgbClr val="1F1F1B"/>
                          </a:solidFill>
                          <a:latin typeface="Arial"/>
                          <a:ea typeface="Arial"/>
                          <a:cs typeface="Arial"/>
                        </a:rPr>
                        <a:t>Eliminasi</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Kurangi kebutuhan memindahkan alat</a:t>
                      </a:r>
                    </a:p>
                  </a:txBody>
                  <a:tcPr marL="91440" marR="91440" marT="45720" marB="45720">
                    <a:lnR w="5715">
                      <a:solidFill>
                        <a:srgbClr val="D8D2C5"/>
                      </a:solidFill>
                      <a:prstDash val="solid"/>
                    </a:lnR>
                    <a:lnB w="5715">
                      <a:solidFill>
                        <a:srgbClr val="D8D2C5"/>
                      </a:solidFill>
                      <a:prstDash val="solid"/>
                    </a:lnB>
                    <a:solidFill>
                      <a:srgbClr val="F8F6F1"/>
                    </a:solidFill>
                  </a:tcPr>
                </a:tc>
              </a:tr>
              <a:tr h="596900">
                <a:tc>
                  <a:txBody>
                    <a:bodyPr/>
                    <a:lstStyle/>
                    <a:p>
                      <a:r>
                        <a:rPr sz="1875" b="0">
                          <a:solidFill>
                            <a:srgbClr val="1F1F1B"/>
                          </a:solidFill>
                          <a:latin typeface="Arial"/>
                          <a:ea typeface="Arial"/>
                          <a:cs typeface="Arial"/>
                        </a:rPr>
                        <a:t>Substitusi</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Pilih unit lebih ringan setelah menilai risiko baru</a:t>
                      </a:r>
                    </a:p>
                  </a:txBody>
                  <a:tcPr marL="91440" marR="91440" marT="45720" marB="45720">
                    <a:lnR w="5715">
                      <a:solidFill>
                        <a:srgbClr val="D8D2C5"/>
                      </a:solidFill>
                      <a:prstDash val="solid"/>
                    </a:lnR>
                    <a:lnB w="5715">
                      <a:solidFill>
                        <a:srgbClr val="D8D2C5"/>
                      </a:solidFill>
                      <a:prstDash val="solid"/>
                    </a:lnB>
                    <a:solidFill>
                      <a:srgbClr val="F8F6F1"/>
                    </a:solidFill>
                  </a:tcPr>
                </a:tc>
              </a:tr>
              <a:tr h="596900">
                <a:tc>
                  <a:txBody>
                    <a:bodyPr/>
                    <a:lstStyle/>
                    <a:p>
                      <a:r>
                        <a:rPr sz="1875" b="0">
                          <a:solidFill>
                            <a:srgbClr val="1F1F1B"/>
                          </a:solidFill>
                          <a:latin typeface="Arial"/>
                          <a:ea typeface="Arial"/>
                          <a:cs typeface="Arial"/>
                        </a:rPr>
                        <a:t>Rekayasa</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Gunakan alat bantu yang sesuai medan</a:t>
                      </a:r>
                    </a:p>
                  </a:txBody>
                  <a:tcPr marL="91440" marR="91440" marT="45720" marB="45720">
                    <a:lnR w="5715">
                      <a:solidFill>
                        <a:srgbClr val="D8D2C5"/>
                      </a:solidFill>
                      <a:prstDash val="solid"/>
                    </a:lnR>
                    <a:lnB w="5715">
                      <a:solidFill>
                        <a:srgbClr val="D8D2C5"/>
                      </a:solidFill>
                      <a:prstDash val="solid"/>
                    </a:lnB>
                    <a:solidFill>
                      <a:srgbClr val="F8F6F1"/>
                    </a:solidFill>
                  </a:tcPr>
                </a:tc>
              </a:tr>
              <a:tr h="596900">
                <a:tc>
                  <a:txBody>
                    <a:bodyPr/>
                    <a:lstStyle/>
                    <a:p>
                      <a:r>
                        <a:rPr sz="1875" b="0">
                          <a:solidFill>
                            <a:srgbClr val="1F1F1B"/>
                          </a:solidFill>
                          <a:latin typeface="Arial"/>
                          <a:ea typeface="Arial"/>
                          <a:cs typeface="Arial"/>
                        </a:rPr>
                        <a:t>Administratif</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Atur peran, rute, komunikasi, dan pemulihan</a:t>
                      </a:r>
                    </a:p>
                  </a:txBody>
                  <a:tcPr marL="91440" marR="91440" marT="45720" marB="45720">
                    <a:lnR w="5715">
                      <a:solidFill>
                        <a:srgbClr val="D8D2C5"/>
                      </a:solidFill>
                      <a:prstDash val="solid"/>
                    </a:lnR>
                    <a:lnB w="5715">
                      <a:solidFill>
                        <a:srgbClr val="D8D2C5"/>
                      </a:solidFill>
                      <a:prstDash val="solid"/>
                    </a:lnB>
                    <a:solidFill>
                      <a:srgbClr val="F8F6F1"/>
                    </a:solidFill>
                  </a:tcPr>
                </a:tc>
              </a:tr>
              <a:tr h="596900">
                <a:tc>
                  <a:txBody>
                    <a:bodyPr/>
                    <a:lstStyle/>
                    <a:p>
                      <a:r>
                        <a:rPr sz="1875" b="0">
                          <a:solidFill>
                            <a:srgbClr val="1F1F1B"/>
                          </a:solidFill>
                          <a:latin typeface="Arial"/>
                          <a:ea typeface="Arial"/>
                          <a:cs typeface="Arial"/>
                        </a:rPr>
                        <a:t>APD</a:t>
                      </a:r>
                    </a:p>
                  </a:txBody>
                  <a:tcPr marL="91440" marR="91440" marT="45720" marB="45720">
                    <a:lnL w="5715">
                      <a:solidFill>
                        <a:srgbClr val="D8D2C5"/>
                      </a:solidFill>
                      <a:prstDash val="solid"/>
                    </a:lnL>
                    <a:lnR w="5715">
                      <a:solidFill>
                        <a:srgbClr val="D8D2C5"/>
                      </a:solidFill>
                      <a:prstDash val="solid"/>
                    </a:lnR>
                    <a:lnB w="5715">
                      <a:solidFill>
                        <a:srgbClr val="D8D2C5"/>
                      </a:solidFill>
                      <a:prstDash val="solid"/>
                    </a:lnB>
                    <a:solidFill>
                      <a:srgbClr val="F8F6F1"/>
                    </a:solidFill>
                  </a:tcPr>
                </a:tc>
                <a:tc>
                  <a:txBody>
                    <a:bodyPr/>
                    <a:lstStyle/>
                    <a:p>
                      <a:r>
                        <a:rPr sz="1875" b="0">
                          <a:solidFill>
                            <a:srgbClr val="1F1F1B"/>
                          </a:solidFill>
                          <a:latin typeface="Arial"/>
                          <a:ea typeface="Arial"/>
                          <a:cs typeface="Arial"/>
                        </a:rPr>
                        <a:t>Pilih berdasarkan bahaya dan SOP</a:t>
                      </a:r>
                    </a:p>
                  </a:txBody>
                  <a:tcPr marL="91440" marR="91440" marT="45720" marB="45720">
                    <a:lnR w="5715">
                      <a:solidFill>
                        <a:srgbClr val="D8D2C5"/>
                      </a:solidFill>
                      <a:prstDash val="solid"/>
                    </a:lnR>
                    <a:lnB w="5715">
                      <a:solidFill>
                        <a:srgbClr val="D8D2C5"/>
                      </a:solidFill>
                      <a:prstDash val="solid"/>
                    </a:lnB>
                    <a:solidFill>
                      <a:srgbClr val="F8F6F1"/>
                    </a:solidFill>
                  </a:tcPr>
                </a:tc>
              </a:tr>
            </a:tbl>
          </a:graphicData>
        </a:graphic>
      </p:graphicFrame>
      <p:sp>
        <p:nvSpPr>
          <p:cNvPr id="4" name="">
            <a:extLst xmlns:a="http://schemas.openxmlformats.org/drawingml/2006/main">
              <a:ext uri="{FF2B5EF4-FFF2-40B4-BE49-F238E27FC236}">
                <a16:creationId xmlns:a16="http://schemas.microsoft.com/office/drawing/2014/main" id="{73983F7D-2431-492D-BFF7-F34E629E3133}"/>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OSHA · sumber pada catatan</a:t>
            </a:r>
          </a:p>
        </p:txBody>
      </p:sp>
      <p:sp>
        <p:nvSpPr>
          <p:cNvPr id="5" name="">
            <a:extLst xmlns:a="http://schemas.openxmlformats.org/drawingml/2006/main">
              <a:ext uri="{FF2B5EF4-FFF2-40B4-BE49-F238E27FC236}">
                <a16:creationId xmlns:a16="http://schemas.microsoft.com/office/drawing/2014/main" id="{5B9A3937-69DE-4589-B6DD-A1DBD3624ED8}"/>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B793AAD3-8532-4460-8C0F-141CB7251B8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20 / 26</a:t>
            </a:r>
          </a:p>
        </p:txBody>
      </p:sp>
    </p:spTree>
    <p:extLst>
      <p:ext uri="{BB962C8B-B14F-4D97-AF65-F5344CB8AC3E}">
        <p14:creationId xmlns:p14="http://schemas.microsoft.com/office/powerpoint/2010/main" val="2139136683"/>
      </p:ext>
    </p:extLst>
  </p:cSld>
</p:sld>
</file>

<file path=ppt/slides/slide21.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A29BC3-31F6-4777-87C6-36C326F3A305}"/>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89663AB5-C9EC-4DD8-8001-77EBACBB39D0}"/>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Praktik pemindahan kotak ringan</a:t>
            </a:r>
          </a:p>
        </p:txBody>
      </p:sp>
      <p:sp>
        <p:nvSpPr>
          <p:cNvPr id="3" name="">
            <a:extLst xmlns:a="http://schemas.openxmlformats.org/drawingml/2006/main">
              <a:ext uri="{FF2B5EF4-FFF2-40B4-BE49-F238E27FC236}">
                <a16:creationId xmlns:a16="http://schemas.microsoft.com/office/drawing/2014/main" id="{DB1B7815-2FA2-44C8-8F42-15A8E6D5393F}"/>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Periksa kotak kosong, jalur, dan tempat peletakan.</a:t>
            </a:r>
          </a:p>
        </p:txBody>
      </p:sp>
      <p:sp>
        <p:nvSpPr>
          <p:cNvPr id="4" name="">
            <a:extLst xmlns:a="http://schemas.openxmlformats.org/drawingml/2006/main">
              <a:ext uri="{FF2B5EF4-FFF2-40B4-BE49-F238E27FC236}">
                <a16:creationId xmlns:a16="http://schemas.microsoft.com/office/drawing/2014/main" id="{53AB1AD1-4C5E-4754-B938-A1107223F12A}"/>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Sepakati metode, bantuan, dan aba-aba.</a:t>
            </a:r>
          </a:p>
        </p:txBody>
      </p:sp>
      <p:sp>
        <p:nvSpPr>
          <p:cNvPr id="5" name="">
            <a:extLst xmlns:a="http://schemas.openxmlformats.org/drawingml/2006/main">
              <a:ext uri="{FF2B5EF4-FFF2-40B4-BE49-F238E27FC236}">
                <a16:creationId xmlns:a16="http://schemas.microsoft.com/office/drawing/2014/main" id="{2F5A94FB-1971-4139-9A12-9CAE9DAD05CA}"/>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Lakukan gerak terkendali atau pilih mengamati.</a:t>
            </a:r>
          </a:p>
        </p:txBody>
      </p:sp>
      <p:sp>
        <p:nvSpPr>
          <p:cNvPr id="6" name="">
            <a:extLst xmlns:a="http://schemas.openxmlformats.org/drawingml/2006/main">
              <a:ext uri="{FF2B5EF4-FFF2-40B4-BE49-F238E27FC236}">
                <a16:creationId xmlns:a16="http://schemas.microsoft.com/office/drawing/2014/main" id="{A33996C9-1F68-4E17-BF46-B6CA4573F16A}"/>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DAC47E9A-2961-465D-9D57-182DA631FADF}"/>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21 / 26</a:t>
            </a:r>
          </a:p>
        </p:txBody>
      </p:sp>
    </p:spTree>
    <p:extLst>
      <p:ext uri="{BB962C8B-B14F-4D97-AF65-F5344CB8AC3E}">
        <p14:creationId xmlns:p14="http://schemas.microsoft.com/office/powerpoint/2010/main" val="2029556719"/>
      </p:ext>
    </p:extLst>
  </p:cSld>
</p:sld>
</file>

<file path=ppt/slides/slide22.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40858F-F46B-4198-9FA4-D95BFC86D6C9}"/>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808F7330-1013-4C0E-B966-E541EF69194B}"/>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Rancangan kelompok</a:t>
            </a:r>
          </a:p>
        </p:txBody>
      </p:sp>
      <p:sp>
        <p:nvSpPr>
          <p:cNvPr id="3" name="">
            <a:extLst xmlns:a="http://schemas.openxmlformats.org/drawingml/2006/main">
              <a:ext uri="{FF2B5EF4-FFF2-40B4-BE49-F238E27FC236}">
                <a16:creationId xmlns:a16="http://schemas.microsoft.com/office/drawing/2014/main" id="{F0C5373F-4C94-470F-B9EA-9595166F1681}"/>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Gunakan foto alat dari pertemuan pertama.</a:t>
            </a:r>
          </a:p>
        </p:txBody>
      </p:sp>
      <p:sp>
        <p:nvSpPr>
          <p:cNvPr id="4" name="">
            <a:extLst xmlns:a="http://schemas.openxmlformats.org/drawingml/2006/main">
              <a:ext uri="{FF2B5EF4-FFF2-40B4-BE49-F238E27FC236}">
                <a16:creationId xmlns:a16="http://schemas.microsoft.com/office/drawing/2014/main" id="{A2116BFF-1195-4613-A5EF-9ABC8494DC62}"/>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Tuliskan informasi yang sudah diketahui dan yang masih perlu diverifikasi.</a:t>
            </a:r>
          </a:p>
        </p:txBody>
      </p:sp>
      <p:sp>
        <p:nvSpPr>
          <p:cNvPr id="5" name="">
            <a:extLst xmlns:a="http://schemas.openxmlformats.org/drawingml/2006/main">
              <a:ext uri="{FF2B5EF4-FFF2-40B4-BE49-F238E27FC236}">
                <a16:creationId xmlns:a16="http://schemas.microsoft.com/office/drawing/2014/main" id="{64E2806E-8798-40B0-BE92-AE83BE246FBC}"/>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Usulkan satu perubahan desain serta satu cara memeriksa hasilnya.</a:t>
            </a:r>
          </a:p>
        </p:txBody>
      </p:sp>
      <p:sp>
        <p:nvSpPr>
          <p:cNvPr id="6" name="">
            <a:extLst xmlns:a="http://schemas.openxmlformats.org/drawingml/2006/main">
              <a:ext uri="{FF2B5EF4-FFF2-40B4-BE49-F238E27FC236}">
                <a16:creationId xmlns:a16="http://schemas.microsoft.com/office/drawing/2014/main" id="{27A9832A-F756-47A1-89E4-44025DD07841}"/>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98664BEB-9D52-460A-B612-38CEC01A8852}"/>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22 / 26</a:t>
            </a:r>
          </a:p>
        </p:txBody>
      </p:sp>
    </p:spTree>
    <p:extLst>
      <p:ext uri="{BB962C8B-B14F-4D97-AF65-F5344CB8AC3E}">
        <p14:creationId xmlns:p14="http://schemas.microsoft.com/office/powerpoint/2010/main" val="138896670"/>
      </p:ext>
    </p:extLst>
  </p:cSld>
</p:sld>
</file>

<file path=ppt/slides/slide23.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28E6E3-17A9-408C-9A07-7EDE934948BC}"/>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ED5656CC-C596-407D-8CFB-78368753818A}"/>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Exit ticket</a:t>
            </a:r>
          </a:p>
        </p:txBody>
      </p:sp>
      <p:sp>
        <p:nvSpPr>
          <p:cNvPr id="3" name="">
            <a:extLst xmlns:a="http://schemas.openxmlformats.org/drawingml/2006/main">
              <a:ext uri="{FF2B5EF4-FFF2-40B4-BE49-F238E27FC236}">
                <a16:creationId xmlns:a16="http://schemas.microsoft.com/office/drawing/2014/main" id="{81ACF85F-04DF-43D4-9C13-B5DBD26CE9DF}"/>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Mengapa denyut saja belum cukup untuk menilai beban kerja?</a:t>
            </a:r>
          </a:p>
        </p:txBody>
      </p:sp>
      <p:sp>
        <p:nvSpPr>
          <p:cNvPr id="4" name="">
            <a:extLst xmlns:a="http://schemas.openxmlformats.org/drawingml/2006/main">
              <a:ext uri="{FF2B5EF4-FFF2-40B4-BE49-F238E27FC236}">
                <a16:creationId xmlns:a16="http://schemas.microsoft.com/office/drawing/2014/main" id="{0490B598-1A43-4EE7-B8B3-8976461596AF}"/>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Apa perbedaan kapasitas aerobik dan tuntutan tugas?</a:t>
            </a:r>
          </a:p>
        </p:txBody>
      </p:sp>
      <p:sp>
        <p:nvSpPr>
          <p:cNvPr id="5" name="">
            <a:extLst xmlns:a="http://schemas.openxmlformats.org/drawingml/2006/main">
              <a:ext uri="{FF2B5EF4-FFF2-40B4-BE49-F238E27FC236}">
                <a16:creationId xmlns:a16="http://schemas.microsoft.com/office/drawing/2014/main" id="{13CAF312-9F52-4CD1-9791-D20A64B0A5FF}"/>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Perubahan apa yang paling membantu pada kasus kotak alat Anda?</a:t>
            </a:r>
          </a:p>
        </p:txBody>
      </p:sp>
      <p:sp>
        <p:nvSpPr>
          <p:cNvPr id="6" name="">
            <a:extLst xmlns:a="http://schemas.openxmlformats.org/drawingml/2006/main">
              <a:ext uri="{FF2B5EF4-FFF2-40B4-BE49-F238E27FC236}">
                <a16:creationId xmlns:a16="http://schemas.microsoft.com/office/drawing/2014/main" id="{B090ACF9-516F-4B61-8795-B0C4F3945580}"/>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ADF153EF-388C-4E3A-AF85-94B2EE0D5669}"/>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23 / 26</a:t>
            </a:r>
          </a:p>
        </p:txBody>
      </p:sp>
    </p:spTree>
    <p:extLst>
      <p:ext uri="{BB962C8B-B14F-4D97-AF65-F5344CB8AC3E}">
        <p14:creationId xmlns:p14="http://schemas.microsoft.com/office/powerpoint/2010/main" val="704148402"/>
      </p:ext>
    </p:extLst>
  </p:cSld>
</p:sld>
</file>

<file path=ppt/slides/slide24.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A83AD0-7A7E-4F45-AA62-707FE6C39A99}"/>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F22701A6-1DC0-4DC3-8533-FFE376B900B6}"/>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Tugas penghubung</a:t>
            </a:r>
          </a:p>
        </p:txBody>
      </p:sp>
      <p:sp>
        <p:nvSpPr>
          <p:cNvPr id="3" name="">
            <a:extLst xmlns:a="http://schemas.openxmlformats.org/drawingml/2006/main">
              <a:ext uri="{FF2B5EF4-FFF2-40B4-BE49-F238E27FC236}">
                <a16:creationId xmlns:a16="http://schemas.microsoft.com/office/drawing/2014/main" id="{6A56616A-7EB1-4FA8-90FD-EE3E9A8EA1A7}"/>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Buat profil pekerjaan satu halaman berdasarkan foto alat.</a:t>
            </a:r>
          </a:p>
        </p:txBody>
      </p:sp>
      <p:sp>
        <p:nvSpPr>
          <p:cNvPr id="4" name="">
            <a:extLst xmlns:a="http://schemas.openxmlformats.org/drawingml/2006/main">
              <a:ext uri="{FF2B5EF4-FFF2-40B4-BE49-F238E27FC236}">
                <a16:creationId xmlns:a16="http://schemas.microsoft.com/office/drawing/2014/main" id="{899CE3BB-DF0C-48BC-9DB7-490E2E8A16FE}"/>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Cantumkan tugas, rute, paparan, informasi yang belum diketahui, dan usulan kendali.</a:t>
            </a:r>
          </a:p>
        </p:txBody>
      </p:sp>
      <p:sp>
        <p:nvSpPr>
          <p:cNvPr id="5" name="">
            <a:extLst xmlns:a="http://schemas.openxmlformats.org/drawingml/2006/main">
              <a:ext uri="{FF2B5EF4-FFF2-40B4-BE49-F238E27FC236}">
                <a16:creationId xmlns:a16="http://schemas.microsoft.com/office/drawing/2014/main" id="{C784025B-0015-4636-91C6-A4BE9610C1FC}"/>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Bawa profil ini untuk menyusun JSA pada pertemuan ke-3.</a:t>
            </a:r>
          </a:p>
        </p:txBody>
      </p:sp>
      <p:sp>
        <p:nvSpPr>
          <p:cNvPr id="6" name="">
            <a:extLst xmlns:a="http://schemas.openxmlformats.org/drawingml/2006/main">
              <a:ext uri="{FF2B5EF4-FFF2-40B4-BE49-F238E27FC236}">
                <a16:creationId xmlns:a16="http://schemas.microsoft.com/office/drawing/2014/main" id="{7726F674-CCDD-4DA9-8353-1352C18B4D1C}"/>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7" name="">
            <a:extLst xmlns:a="http://schemas.openxmlformats.org/drawingml/2006/main">
              <a:ext uri="{FF2B5EF4-FFF2-40B4-BE49-F238E27FC236}">
                <a16:creationId xmlns:a16="http://schemas.microsoft.com/office/drawing/2014/main" id="{4DCC0379-72F8-4846-B893-4BD919896244}"/>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24 / 26</a:t>
            </a:r>
          </a:p>
        </p:txBody>
      </p:sp>
    </p:spTree>
    <p:extLst>
      <p:ext uri="{BB962C8B-B14F-4D97-AF65-F5344CB8AC3E}">
        <p14:creationId xmlns:p14="http://schemas.microsoft.com/office/powerpoint/2010/main" val="1999150252"/>
      </p:ext>
    </p:extLst>
  </p:cSld>
</p:sld>
</file>

<file path=ppt/slides/slide25.xml><?xml version="1.0" encoding="utf-8"?>
<p:sld xmlns:p="http://schemas.openxmlformats.org/presentationml/2006/main">
  <p:cSld>
    <p:bg>
      <p:bgPr>
        <a:solidFill xmlns:a="http://schemas.openxmlformats.org/drawingml/2006/main">
          <a:srgbClr val="F8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C51F48-11A0-4BBC-A24D-C64BC2636A47}"/>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2F5D62"/>
                </a:solidFill>
                <a:latin typeface="Arial"/>
                <a:ea typeface="Arial"/>
                <a:cs typeface="Arial"/>
              </a:defRPr>
            </a:defPPr>
            <a:lvl1pPr>
              <a:defRPr sz="1350" b="0">
                <a:solidFill>
                  <a:srgbClr val="2F5D62"/>
                </a:solidFill>
                <a:latin typeface="Arial"/>
                <a:ea typeface="Arial"/>
                <a:cs typeface="Arial"/>
              </a:defRPr>
            </a:lvl1pPr>
            <a:lvl2pPr>
              <a:defRPr sz="1350" b="0">
                <a:solidFill>
                  <a:srgbClr val="2F5D62"/>
                </a:solidFill>
                <a:latin typeface="Arial"/>
                <a:ea typeface="Arial"/>
                <a:cs typeface="Arial"/>
              </a:defRPr>
            </a:lvl2pPr>
            <a:lvl3pPr>
              <a:defRPr sz="1350" b="0">
                <a:solidFill>
                  <a:srgbClr val="2F5D62"/>
                </a:solidFill>
                <a:latin typeface="Arial"/>
                <a:ea typeface="Arial"/>
                <a:cs typeface="Arial"/>
              </a:defRPr>
            </a:lvl3pPr>
            <a:lvl4pPr>
              <a:defRPr sz="1350" b="0">
                <a:solidFill>
                  <a:srgbClr val="2F5D62"/>
                </a:solidFill>
                <a:latin typeface="Arial"/>
                <a:ea typeface="Arial"/>
                <a:cs typeface="Arial"/>
              </a:defRPr>
            </a:lvl4pPr>
            <a:lvl5pPr>
              <a:defRPr sz="1350" b="0">
                <a:solidFill>
                  <a:srgbClr val="2F5D62"/>
                </a:solidFill>
                <a:latin typeface="Arial"/>
                <a:ea typeface="Arial"/>
                <a:cs typeface="Arial"/>
              </a:defRPr>
            </a:lvl5pPr>
            <a:lvl6pPr>
              <a:defRPr sz="1350" b="0">
                <a:solidFill>
                  <a:srgbClr val="2F5D62"/>
                </a:solidFill>
                <a:latin typeface="Arial"/>
                <a:ea typeface="Arial"/>
                <a:cs typeface="Arial"/>
              </a:defRPr>
            </a:lvl6pPr>
            <a:lvl7pPr>
              <a:defRPr sz="1350" b="0">
                <a:solidFill>
                  <a:srgbClr val="2F5D62"/>
                </a:solidFill>
                <a:latin typeface="Arial"/>
                <a:ea typeface="Arial"/>
                <a:cs typeface="Arial"/>
              </a:defRPr>
            </a:lvl7pPr>
            <a:lvl8pPr>
              <a:defRPr sz="1350" b="0">
                <a:solidFill>
                  <a:srgbClr val="2F5D62"/>
                </a:solidFill>
                <a:latin typeface="Arial"/>
                <a:ea typeface="Arial"/>
                <a:cs typeface="Arial"/>
              </a:defRPr>
            </a:lvl8pPr>
            <a:lvl9pPr>
              <a:defRPr sz="1350" b="0">
                <a:solidFill>
                  <a:srgbClr val="2F5D62"/>
                </a:solidFill>
                <a:latin typeface="Arial"/>
                <a:ea typeface="Arial"/>
                <a:cs typeface="Arial"/>
              </a:defRPr>
            </a:lvl9pPr>
          </a:lstStyle>
          <a:p xmlns:a="http://schemas.openxmlformats.org/drawingml/2006/main">
            <a:pPr>
              <a:defRPr sz="1350" b="0">
                <a:solidFill>
                  <a:srgbClr val="2F5D62"/>
                </a:solidFill>
                <a:latin typeface="Arial"/>
                <a:ea typeface="Arial"/>
                <a:cs typeface="Arial"/>
              </a:defRPr>
            </a:pPr>
            <a:r>
              <a:rPr sz="1350" b="0">
                <a:solidFill>
                  <a:srgbClr val="2F5D62"/>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58D73E11-9054-4EDC-B8E0-93787BD221B5}"/>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1F1F1B"/>
                </a:solidFill>
                <a:latin typeface="Georgia"/>
                <a:ea typeface="Georgia"/>
                <a:cs typeface="Georgia"/>
              </a:defRPr>
            </a:defPPr>
            <a:lvl1pPr>
              <a:defRPr sz="3450" b="0">
                <a:solidFill>
                  <a:srgbClr val="1F1F1B"/>
                </a:solidFill>
                <a:latin typeface="Georgia"/>
                <a:ea typeface="Georgia"/>
                <a:cs typeface="Georgia"/>
              </a:defRPr>
            </a:lvl1pPr>
            <a:lvl2pPr>
              <a:defRPr sz="3450" b="0">
                <a:solidFill>
                  <a:srgbClr val="1F1F1B"/>
                </a:solidFill>
                <a:latin typeface="Georgia"/>
                <a:ea typeface="Georgia"/>
                <a:cs typeface="Georgia"/>
              </a:defRPr>
            </a:lvl2pPr>
            <a:lvl3pPr>
              <a:defRPr sz="3450" b="0">
                <a:solidFill>
                  <a:srgbClr val="1F1F1B"/>
                </a:solidFill>
                <a:latin typeface="Georgia"/>
                <a:ea typeface="Georgia"/>
                <a:cs typeface="Georgia"/>
              </a:defRPr>
            </a:lvl3pPr>
            <a:lvl4pPr>
              <a:defRPr sz="3450" b="0">
                <a:solidFill>
                  <a:srgbClr val="1F1F1B"/>
                </a:solidFill>
                <a:latin typeface="Georgia"/>
                <a:ea typeface="Georgia"/>
                <a:cs typeface="Georgia"/>
              </a:defRPr>
            </a:lvl4pPr>
            <a:lvl5pPr>
              <a:defRPr sz="3450" b="0">
                <a:solidFill>
                  <a:srgbClr val="1F1F1B"/>
                </a:solidFill>
                <a:latin typeface="Georgia"/>
                <a:ea typeface="Georgia"/>
                <a:cs typeface="Georgia"/>
              </a:defRPr>
            </a:lvl5pPr>
            <a:lvl6pPr>
              <a:defRPr sz="3450" b="0">
                <a:solidFill>
                  <a:srgbClr val="1F1F1B"/>
                </a:solidFill>
                <a:latin typeface="Georgia"/>
                <a:ea typeface="Georgia"/>
                <a:cs typeface="Georgia"/>
              </a:defRPr>
            </a:lvl6pPr>
            <a:lvl7pPr>
              <a:defRPr sz="3450" b="0">
                <a:solidFill>
                  <a:srgbClr val="1F1F1B"/>
                </a:solidFill>
                <a:latin typeface="Georgia"/>
                <a:ea typeface="Georgia"/>
                <a:cs typeface="Georgia"/>
              </a:defRPr>
            </a:lvl7pPr>
            <a:lvl8pPr>
              <a:defRPr sz="3450" b="0">
                <a:solidFill>
                  <a:srgbClr val="1F1F1B"/>
                </a:solidFill>
                <a:latin typeface="Georgia"/>
                <a:ea typeface="Georgia"/>
                <a:cs typeface="Georgia"/>
              </a:defRPr>
            </a:lvl8pPr>
            <a:lvl9pPr>
              <a:defRPr sz="3450" b="0">
                <a:solidFill>
                  <a:srgbClr val="1F1F1B"/>
                </a:solidFill>
                <a:latin typeface="Georgia"/>
                <a:ea typeface="Georgia"/>
                <a:cs typeface="Georgia"/>
              </a:defRPr>
            </a:lvl9pPr>
          </a:lstStyle>
          <a:p xmlns:a="http://schemas.openxmlformats.org/drawingml/2006/main">
            <a:pPr>
              <a:defRPr sz="3450" b="0">
                <a:solidFill>
                  <a:srgbClr val="1F1F1B"/>
                </a:solidFill>
                <a:latin typeface="Georgia"/>
                <a:ea typeface="Georgia"/>
                <a:cs typeface="Georgia"/>
              </a:defRPr>
            </a:pPr>
            <a:r>
              <a:rPr sz="3450" b="0">
                <a:solidFill>
                  <a:srgbClr val="1F1F1B"/>
                </a:solidFill>
                <a:latin typeface="Georgia"/>
                <a:ea typeface="Georgia"/>
                <a:cs typeface="Georgia"/>
              </a:rPr>
              <a:t>Bacaan utama</a:t>
            </a:r>
          </a:p>
        </p:txBody>
      </p:sp>
      <p:sp>
        <p:nvSpPr>
          <p:cNvPr id="3" name="">
            <a:extLst xmlns:a="http://schemas.openxmlformats.org/drawingml/2006/main">
              <a:ext uri="{FF2B5EF4-FFF2-40B4-BE49-F238E27FC236}">
                <a16:creationId xmlns:a16="http://schemas.microsoft.com/office/drawing/2014/main" id="{AE140C02-09A0-4A9A-874B-13EF30634877}"/>
              </a:ext>
            </a:extLst>
          </p:cNvPr>
          <p:cNvSpPr>
            <a:spLocks xmlns:a="http://schemas.openxmlformats.org/drawingml/2006/main" noGrp="1"/>
          </p:cNvSpPr>
          <p:nvPr/>
        </p:nvSpPr>
        <p:spPr>
          <a:xfrm xmlns:a="http://schemas.openxmlformats.org/drawingml/2006/main">
            <a:off x="762000" y="23336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CDC: intensitas aktivitas dan talk test.</a:t>
            </a:r>
          </a:p>
        </p:txBody>
      </p:sp>
      <p:sp>
        <p:nvSpPr>
          <p:cNvPr id="4" name="">
            <a:extLst xmlns:a="http://schemas.openxmlformats.org/drawingml/2006/main">
              <a:ext uri="{FF2B5EF4-FFF2-40B4-BE49-F238E27FC236}">
                <a16:creationId xmlns:a16="http://schemas.microsoft.com/office/drawing/2014/main" id="{C2B8738F-D6DA-41DE-8A50-0B61A0E88FC8}"/>
              </a:ext>
            </a:extLst>
          </p:cNvPr>
          <p:cNvSpPr>
            <a:spLocks xmlns:a="http://schemas.openxmlformats.org/drawingml/2006/main" noGrp="1"/>
          </p:cNvSpPr>
          <p:nvPr/>
        </p:nvSpPr>
        <p:spPr>
          <a:xfrm xmlns:a="http://schemas.openxmlformats.org/drawingml/2006/main">
            <a:off x="762000" y="3343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NIOSH dan CCOHS: lingkup penilaian angkat.</a:t>
            </a:r>
          </a:p>
        </p:txBody>
      </p:sp>
      <p:sp>
        <p:nvSpPr>
          <p:cNvPr id="5" name="">
            <a:extLst xmlns:a="http://schemas.openxmlformats.org/drawingml/2006/main">
              <a:ext uri="{FF2B5EF4-FFF2-40B4-BE49-F238E27FC236}">
                <a16:creationId xmlns:a16="http://schemas.microsoft.com/office/drawing/2014/main" id="{C14DF7DF-DDDD-4903-BF78-066717E823AF}"/>
              </a:ext>
            </a:extLst>
          </p:cNvPr>
          <p:cNvSpPr>
            <a:spLocks xmlns:a="http://schemas.openxmlformats.org/drawingml/2006/main" noGrp="1"/>
          </p:cNvSpPr>
          <p:nvPr/>
        </p:nvSpPr>
        <p:spPr>
          <a:xfrm xmlns:a="http://schemas.openxmlformats.org/drawingml/2006/main">
            <a:off x="762000" y="435292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F1F1B"/>
                </a:solidFill>
                <a:latin typeface="Arial"/>
                <a:ea typeface="Arial"/>
                <a:cs typeface="Arial"/>
              </a:defRPr>
            </a:defPPr>
            <a:lvl1pPr>
              <a:defRPr sz="2325" b="0">
                <a:solidFill>
                  <a:srgbClr val="1F1F1B"/>
                </a:solidFill>
                <a:latin typeface="Arial"/>
                <a:ea typeface="Arial"/>
                <a:cs typeface="Arial"/>
              </a:defRPr>
            </a:lvl1pPr>
            <a:lvl2pPr>
              <a:defRPr sz="2325" b="0">
                <a:solidFill>
                  <a:srgbClr val="1F1F1B"/>
                </a:solidFill>
                <a:latin typeface="Arial"/>
                <a:ea typeface="Arial"/>
                <a:cs typeface="Arial"/>
              </a:defRPr>
            </a:lvl2pPr>
            <a:lvl3pPr>
              <a:defRPr sz="2325" b="0">
                <a:solidFill>
                  <a:srgbClr val="1F1F1B"/>
                </a:solidFill>
                <a:latin typeface="Arial"/>
                <a:ea typeface="Arial"/>
                <a:cs typeface="Arial"/>
              </a:defRPr>
            </a:lvl3pPr>
            <a:lvl4pPr>
              <a:defRPr sz="2325" b="0">
                <a:solidFill>
                  <a:srgbClr val="1F1F1B"/>
                </a:solidFill>
                <a:latin typeface="Arial"/>
                <a:ea typeface="Arial"/>
                <a:cs typeface="Arial"/>
              </a:defRPr>
            </a:lvl4pPr>
            <a:lvl5pPr>
              <a:defRPr sz="2325" b="0">
                <a:solidFill>
                  <a:srgbClr val="1F1F1B"/>
                </a:solidFill>
                <a:latin typeface="Arial"/>
                <a:ea typeface="Arial"/>
                <a:cs typeface="Arial"/>
              </a:defRPr>
            </a:lvl5pPr>
            <a:lvl6pPr>
              <a:defRPr sz="2325" b="0">
                <a:solidFill>
                  <a:srgbClr val="1F1F1B"/>
                </a:solidFill>
                <a:latin typeface="Arial"/>
                <a:ea typeface="Arial"/>
                <a:cs typeface="Arial"/>
              </a:defRPr>
            </a:lvl6pPr>
            <a:lvl7pPr>
              <a:defRPr sz="2325" b="0">
                <a:solidFill>
                  <a:srgbClr val="1F1F1B"/>
                </a:solidFill>
                <a:latin typeface="Arial"/>
                <a:ea typeface="Arial"/>
                <a:cs typeface="Arial"/>
              </a:defRPr>
            </a:lvl7pPr>
            <a:lvl8pPr>
              <a:defRPr sz="2325" b="0">
                <a:solidFill>
                  <a:srgbClr val="1F1F1B"/>
                </a:solidFill>
                <a:latin typeface="Arial"/>
                <a:ea typeface="Arial"/>
                <a:cs typeface="Arial"/>
              </a:defRPr>
            </a:lvl8pPr>
            <a:lvl9pPr>
              <a:defRPr sz="2325" b="0">
                <a:solidFill>
                  <a:srgbClr val="1F1F1B"/>
                </a:solidFill>
                <a:latin typeface="Arial"/>
                <a:ea typeface="Arial"/>
                <a:cs typeface="Arial"/>
              </a:defRPr>
            </a:lvl9pPr>
          </a:lstStyle>
          <a:p xmlns:a="http://schemas.openxmlformats.org/drawingml/2006/main">
            <a:pPr>
              <a:defRPr sz="2325" b="0">
                <a:solidFill>
                  <a:srgbClr val="1F1F1B"/>
                </a:solidFill>
                <a:latin typeface="Arial"/>
                <a:ea typeface="Arial"/>
                <a:cs typeface="Arial"/>
              </a:defRPr>
            </a:pPr>
            <a:r>
              <a:rPr sz="2325" b="0">
                <a:solidFill>
                  <a:srgbClr val="1F1F1B"/>
                </a:solidFill>
                <a:latin typeface="Arial"/>
                <a:ea typeface="Arial"/>
                <a:cs typeface="Arial"/>
              </a:rPr>
              <a:t>NASA: NASA-TLX. OSHA: hierarki pengendalian.</a:t>
            </a:r>
          </a:p>
        </p:txBody>
      </p:sp>
      <p:sp>
        <p:nvSpPr>
          <p:cNvPr id="6" name="">
            <a:extLst xmlns:a="http://schemas.openxmlformats.org/drawingml/2006/main">
              <a:ext uri="{FF2B5EF4-FFF2-40B4-BE49-F238E27FC236}">
                <a16:creationId xmlns:a16="http://schemas.microsoft.com/office/drawing/2014/main" id="{2D35A332-F3F7-4EB9-81F2-16DBED371AE1}"/>
              </a:ext>
            </a:extLst>
          </p:cNvPr>
          <p:cNvSpPr>
            <a:spLocks xmlns:a="http://schemas.openxmlformats.org/drawingml/2006/main" noGrp="1"/>
          </p:cNvSpPr>
          <p:nvPr/>
        </p:nvSpPr>
        <p:spPr>
          <a:xfrm xmlns:a="http://schemas.openxmlformats.org/drawingml/2006/main">
            <a:off x="762000" y="58959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F625C"/>
                </a:solidFill>
                <a:latin typeface="Arial"/>
                <a:ea typeface="Arial"/>
                <a:cs typeface="Arial"/>
              </a:defRPr>
            </a:defPPr>
            <a:lvl1pPr>
              <a:defRPr sz="1125" b="0">
                <a:solidFill>
                  <a:srgbClr val="5F625C"/>
                </a:solidFill>
                <a:latin typeface="Arial"/>
                <a:ea typeface="Arial"/>
                <a:cs typeface="Arial"/>
              </a:defRPr>
            </a:lvl1pPr>
            <a:lvl2pPr>
              <a:defRPr sz="1125" b="0">
                <a:solidFill>
                  <a:srgbClr val="5F625C"/>
                </a:solidFill>
                <a:latin typeface="Arial"/>
                <a:ea typeface="Arial"/>
                <a:cs typeface="Arial"/>
              </a:defRPr>
            </a:lvl2pPr>
            <a:lvl3pPr>
              <a:defRPr sz="1125" b="0">
                <a:solidFill>
                  <a:srgbClr val="5F625C"/>
                </a:solidFill>
                <a:latin typeface="Arial"/>
                <a:ea typeface="Arial"/>
                <a:cs typeface="Arial"/>
              </a:defRPr>
            </a:lvl3pPr>
            <a:lvl4pPr>
              <a:defRPr sz="1125" b="0">
                <a:solidFill>
                  <a:srgbClr val="5F625C"/>
                </a:solidFill>
                <a:latin typeface="Arial"/>
                <a:ea typeface="Arial"/>
                <a:cs typeface="Arial"/>
              </a:defRPr>
            </a:lvl4pPr>
            <a:lvl5pPr>
              <a:defRPr sz="1125" b="0">
                <a:solidFill>
                  <a:srgbClr val="5F625C"/>
                </a:solidFill>
                <a:latin typeface="Arial"/>
                <a:ea typeface="Arial"/>
                <a:cs typeface="Arial"/>
              </a:defRPr>
            </a:lvl5pPr>
            <a:lvl6pPr>
              <a:defRPr sz="1125" b="0">
                <a:solidFill>
                  <a:srgbClr val="5F625C"/>
                </a:solidFill>
                <a:latin typeface="Arial"/>
                <a:ea typeface="Arial"/>
                <a:cs typeface="Arial"/>
              </a:defRPr>
            </a:lvl6pPr>
            <a:lvl7pPr>
              <a:defRPr sz="1125" b="0">
                <a:solidFill>
                  <a:srgbClr val="5F625C"/>
                </a:solidFill>
                <a:latin typeface="Arial"/>
                <a:ea typeface="Arial"/>
                <a:cs typeface="Arial"/>
              </a:defRPr>
            </a:lvl7pPr>
            <a:lvl8pPr>
              <a:defRPr sz="1125" b="0">
                <a:solidFill>
                  <a:srgbClr val="5F625C"/>
                </a:solidFill>
                <a:latin typeface="Arial"/>
                <a:ea typeface="Arial"/>
                <a:cs typeface="Arial"/>
              </a:defRPr>
            </a:lvl8pPr>
            <a:lvl9pPr>
              <a:defRPr sz="1125" b="0">
                <a:solidFill>
                  <a:srgbClr val="5F625C"/>
                </a:solidFill>
                <a:latin typeface="Arial"/>
                <a:ea typeface="Arial"/>
                <a:cs typeface="Arial"/>
              </a:defRPr>
            </a:lvl9pPr>
          </a:lstStyle>
          <a:p xmlns:a="http://schemas.openxmlformats.org/drawingml/2006/main">
            <a:pPr>
              <a:defRPr sz="1125" b="0">
                <a:solidFill>
                  <a:srgbClr val="5F625C"/>
                </a:solidFill>
                <a:latin typeface="Arial"/>
                <a:ea typeface="Arial"/>
                <a:cs typeface="Arial"/>
              </a:defRPr>
            </a:pPr>
            <a:r>
              <a:rPr sz="1125" b="0">
                <a:solidFill>
                  <a:srgbClr val="5F625C"/>
                </a:solidFill>
                <a:latin typeface="Arial"/>
                <a:ea typeface="Arial"/>
                <a:cs typeface="Arial"/>
              </a:rPr>
              <a:t>CDC · NIOSH · CCOHS · NASA · OSHA · sumber pada catatan</a:t>
            </a:r>
          </a:p>
        </p:txBody>
      </p:sp>
      <p:sp>
        <p:nvSpPr>
          <p:cNvPr id="7" name="">
            <a:extLst xmlns:a="http://schemas.openxmlformats.org/drawingml/2006/main">
              <a:ext uri="{FF2B5EF4-FFF2-40B4-BE49-F238E27FC236}">
                <a16:creationId xmlns:a16="http://schemas.microsoft.com/office/drawing/2014/main" id="{0973A572-1A7F-49F6-9628-89AD7D8E95D1}"/>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S1 Geofisika UGM · 28 Oktober 2026</a:t>
            </a:r>
          </a:p>
        </p:txBody>
      </p:sp>
      <p:sp>
        <p:nvSpPr>
          <p:cNvPr id="8" name="">
            <a:extLst xmlns:a="http://schemas.openxmlformats.org/drawingml/2006/main">
              <a:ext uri="{FF2B5EF4-FFF2-40B4-BE49-F238E27FC236}">
                <a16:creationId xmlns:a16="http://schemas.microsoft.com/office/drawing/2014/main" id="{7611519C-0943-4A44-9B17-B226D39FEBFB}"/>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F625C"/>
                </a:solidFill>
                <a:latin typeface="Arial"/>
                <a:ea typeface="Arial"/>
                <a:cs typeface="Arial"/>
              </a:defRPr>
            </a:defPPr>
            <a:lvl1pPr>
              <a:defRPr sz="1200" b="0">
                <a:solidFill>
                  <a:srgbClr val="5F625C"/>
                </a:solidFill>
                <a:latin typeface="Arial"/>
                <a:ea typeface="Arial"/>
                <a:cs typeface="Arial"/>
              </a:defRPr>
            </a:lvl1pPr>
            <a:lvl2pPr>
              <a:defRPr sz="1200" b="0">
                <a:solidFill>
                  <a:srgbClr val="5F625C"/>
                </a:solidFill>
                <a:latin typeface="Arial"/>
                <a:ea typeface="Arial"/>
                <a:cs typeface="Arial"/>
              </a:defRPr>
            </a:lvl2pPr>
            <a:lvl3pPr>
              <a:defRPr sz="1200" b="0">
                <a:solidFill>
                  <a:srgbClr val="5F625C"/>
                </a:solidFill>
                <a:latin typeface="Arial"/>
                <a:ea typeface="Arial"/>
                <a:cs typeface="Arial"/>
              </a:defRPr>
            </a:lvl3pPr>
            <a:lvl4pPr>
              <a:defRPr sz="1200" b="0">
                <a:solidFill>
                  <a:srgbClr val="5F625C"/>
                </a:solidFill>
                <a:latin typeface="Arial"/>
                <a:ea typeface="Arial"/>
                <a:cs typeface="Arial"/>
              </a:defRPr>
            </a:lvl4pPr>
            <a:lvl5pPr>
              <a:defRPr sz="1200" b="0">
                <a:solidFill>
                  <a:srgbClr val="5F625C"/>
                </a:solidFill>
                <a:latin typeface="Arial"/>
                <a:ea typeface="Arial"/>
                <a:cs typeface="Arial"/>
              </a:defRPr>
            </a:lvl5pPr>
            <a:lvl6pPr>
              <a:defRPr sz="1200" b="0">
                <a:solidFill>
                  <a:srgbClr val="5F625C"/>
                </a:solidFill>
                <a:latin typeface="Arial"/>
                <a:ea typeface="Arial"/>
                <a:cs typeface="Arial"/>
              </a:defRPr>
            </a:lvl6pPr>
            <a:lvl7pPr>
              <a:defRPr sz="1200" b="0">
                <a:solidFill>
                  <a:srgbClr val="5F625C"/>
                </a:solidFill>
                <a:latin typeface="Arial"/>
                <a:ea typeface="Arial"/>
                <a:cs typeface="Arial"/>
              </a:defRPr>
            </a:lvl7pPr>
            <a:lvl8pPr>
              <a:defRPr sz="1200" b="0">
                <a:solidFill>
                  <a:srgbClr val="5F625C"/>
                </a:solidFill>
                <a:latin typeface="Arial"/>
                <a:ea typeface="Arial"/>
                <a:cs typeface="Arial"/>
              </a:defRPr>
            </a:lvl8pPr>
            <a:lvl9pPr>
              <a:defRPr sz="1200" b="0">
                <a:solidFill>
                  <a:srgbClr val="5F625C"/>
                </a:solidFill>
                <a:latin typeface="Arial"/>
                <a:ea typeface="Arial"/>
                <a:cs typeface="Arial"/>
              </a:defRPr>
            </a:lvl9pPr>
          </a:lstStyle>
          <a:p xmlns:a="http://schemas.openxmlformats.org/drawingml/2006/main">
            <a:pPr>
              <a:defRPr sz="1200" b="0">
                <a:solidFill>
                  <a:srgbClr val="5F625C"/>
                </a:solidFill>
                <a:latin typeface="Arial"/>
                <a:ea typeface="Arial"/>
                <a:cs typeface="Arial"/>
              </a:defRPr>
            </a:pPr>
            <a:r>
              <a:rPr sz="1200" b="0">
                <a:solidFill>
                  <a:srgbClr val="5F625C"/>
                </a:solidFill>
                <a:latin typeface="Arial"/>
                <a:ea typeface="Arial"/>
                <a:cs typeface="Arial"/>
              </a:rPr>
              <a:t>25 / 26</a:t>
            </a:r>
          </a:p>
        </p:txBody>
      </p:sp>
    </p:spTree>
    <p:extLst>
      <p:ext uri="{BB962C8B-B14F-4D97-AF65-F5344CB8AC3E}">
        <p14:creationId xmlns:p14="http://schemas.microsoft.com/office/powerpoint/2010/main" val="181268136"/>
      </p:ext>
    </p:extLst>
  </p:cSld>
</p:sld>
</file>

<file path=ppt/slides/slide26.xml><?xml version="1.0" encoding="utf-8"?>
<p:sld xmlns:p="http://schemas.openxmlformats.org/presentationml/2006/main">
  <p:cSld>
    <p:bg>
      <p:bgPr>
        <a:solidFill xmlns:a="http://schemas.openxmlformats.org/drawingml/2006/main">
          <a:srgbClr val="2F5D6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DA7D62-BA40-4D76-B458-00DB5FDEAE14}"/>
              </a:ext>
            </a:extLst>
          </p:cNvPr>
          <p:cNvSpPr>
            <a:spLocks xmlns:a="http://schemas.openxmlformats.org/drawingml/2006/main" noGrp="1"/>
          </p:cNvSpPr>
          <p:nvPr/>
        </p:nvSpPr>
        <p:spPr>
          <a:xfrm xmlns:a="http://schemas.openxmlformats.org/drawingml/2006/main">
            <a:off x="762000" y="2762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FFFFFF"/>
                </a:solidFill>
                <a:latin typeface="Arial"/>
                <a:ea typeface="Arial"/>
                <a:cs typeface="Arial"/>
              </a:defRPr>
            </a:defPPr>
            <a:lvl1pPr>
              <a:defRPr sz="1350" b="0">
                <a:solidFill>
                  <a:srgbClr val="FFFFFF"/>
                </a:solidFill>
                <a:latin typeface="Arial"/>
                <a:ea typeface="Arial"/>
                <a:cs typeface="Arial"/>
              </a:defRPr>
            </a:lvl1pPr>
            <a:lvl2pPr>
              <a:defRPr sz="1350" b="0">
                <a:solidFill>
                  <a:srgbClr val="FFFFFF"/>
                </a:solidFill>
                <a:latin typeface="Arial"/>
                <a:ea typeface="Arial"/>
                <a:cs typeface="Arial"/>
              </a:defRPr>
            </a:lvl2pPr>
            <a:lvl3pPr>
              <a:defRPr sz="1350" b="0">
                <a:solidFill>
                  <a:srgbClr val="FFFFFF"/>
                </a:solidFill>
                <a:latin typeface="Arial"/>
                <a:ea typeface="Arial"/>
                <a:cs typeface="Arial"/>
              </a:defRPr>
            </a:lvl3pPr>
            <a:lvl4pPr>
              <a:defRPr sz="1350" b="0">
                <a:solidFill>
                  <a:srgbClr val="FFFFFF"/>
                </a:solidFill>
                <a:latin typeface="Arial"/>
                <a:ea typeface="Arial"/>
                <a:cs typeface="Arial"/>
              </a:defRPr>
            </a:lvl4pPr>
            <a:lvl5pPr>
              <a:defRPr sz="1350" b="0">
                <a:solidFill>
                  <a:srgbClr val="FFFFFF"/>
                </a:solidFill>
                <a:latin typeface="Arial"/>
                <a:ea typeface="Arial"/>
                <a:cs typeface="Arial"/>
              </a:defRPr>
            </a:lvl5pPr>
            <a:lvl6pPr>
              <a:defRPr sz="1350" b="0">
                <a:solidFill>
                  <a:srgbClr val="FFFFFF"/>
                </a:solidFill>
                <a:latin typeface="Arial"/>
                <a:ea typeface="Arial"/>
                <a:cs typeface="Arial"/>
              </a:defRPr>
            </a:lvl6pPr>
            <a:lvl7pPr>
              <a:defRPr sz="1350" b="0">
                <a:solidFill>
                  <a:srgbClr val="FFFFFF"/>
                </a:solidFill>
                <a:latin typeface="Arial"/>
                <a:ea typeface="Arial"/>
                <a:cs typeface="Arial"/>
              </a:defRPr>
            </a:lvl7pPr>
            <a:lvl8pPr>
              <a:defRPr sz="1350" b="0">
                <a:solidFill>
                  <a:srgbClr val="FFFFFF"/>
                </a:solidFill>
                <a:latin typeface="Arial"/>
                <a:ea typeface="Arial"/>
                <a:cs typeface="Arial"/>
              </a:defRPr>
            </a:lvl8pPr>
            <a:lvl9pPr>
              <a:defRPr sz="1350" b="0">
                <a:solidFill>
                  <a:srgbClr val="FFFFFF"/>
                </a:solidFill>
                <a:latin typeface="Arial"/>
                <a:ea typeface="Arial"/>
                <a:cs typeface="Arial"/>
              </a:defRPr>
            </a:lvl9pPr>
          </a:lstStyle>
          <a:p xmlns:a="http://schemas.openxmlformats.org/drawingml/2006/main">
            <a:pPr>
              <a:defRPr sz="1350" b="0">
                <a:solidFill>
                  <a:srgbClr val="FFFFFF"/>
                </a:solidFill>
                <a:latin typeface="Arial"/>
                <a:ea typeface="Arial"/>
                <a:cs typeface="Arial"/>
              </a:defRPr>
            </a:pPr>
            <a:r>
              <a:rPr sz="1350" b="0">
                <a:solidFill>
                  <a:srgbClr val="FFFFFF"/>
                </a:solidFill>
                <a:latin typeface="Arial"/>
                <a:ea typeface="Arial"/>
                <a:cs typeface="Arial"/>
              </a:rPr>
              <a:t>Pendidikan Jasmani &amp; HSE Geofisika · Pertemuan 2</a:t>
            </a:r>
          </a:p>
        </p:txBody>
      </p:sp>
      <p:sp>
        <p:nvSpPr>
          <p:cNvPr id="2" name="">
            <a:extLst xmlns:a="http://schemas.openxmlformats.org/drawingml/2006/main">
              <a:ext uri="{FF2B5EF4-FFF2-40B4-BE49-F238E27FC236}">
                <a16:creationId xmlns:a16="http://schemas.microsoft.com/office/drawing/2014/main" id="{B70222C7-9DBF-475F-A826-999232027ECF}"/>
              </a:ext>
            </a:extLst>
          </p:cNvPr>
          <p:cNvSpPr>
            <a:spLocks xmlns:a="http://schemas.openxmlformats.org/drawingml/2006/main" noGrp="1"/>
          </p:cNvSpPr>
          <p:nvPr/>
        </p:nvSpPr>
        <p:spPr>
          <a:xfrm xmlns:a="http://schemas.openxmlformats.org/drawingml/2006/main">
            <a:off x="762000" y="87630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FFFFFF"/>
                </a:solidFill>
                <a:latin typeface="Georgia"/>
                <a:ea typeface="Georgia"/>
                <a:cs typeface="Georgia"/>
              </a:defRPr>
            </a:defPPr>
            <a:lvl1pPr>
              <a:defRPr sz="3450" b="0">
                <a:solidFill>
                  <a:srgbClr val="FFFFFF"/>
                </a:solidFill>
                <a:latin typeface="Georgia"/>
                <a:ea typeface="Georgia"/>
                <a:cs typeface="Georgia"/>
              </a:defRPr>
            </a:lvl1pPr>
            <a:lvl2pPr>
              <a:defRPr sz="3450" b="0">
                <a:solidFill>
                  <a:srgbClr val="FFFFFF"/>
                </a:solidFill>
                <a:latin typeface="Georgia"/>
                <a:ea typeface="Georgia"/>
                <a:cs typeface="Georgia"/>
              </a:defRPr>
            </a:lvl2pPr>
            <a:lvl3pPr>
              <a:defRPr sz="3450" b="0">
                <a:solidFill>
                  <a:srgbClr val="FFFFFF"/>
                </a:solidFill>
                <a:latin typeface="Georgia"/>
                <a:ea typeface="Georgia"/>
                <a:cs typeface="Georgia"/>
              </a:defRPr>
            </a:lvl3pPr>
            <a:lvl4pPr>
              <a:defRPr sz="3450" b="0">
                <a:solidFill>
                  <a:srgbClr val="FFFFFF"/>
                </a:solidFill>
                <a:latin typeface="Georgia"/>
                <a:ea typeface="Georgia"/>
                <a:cs typeface="Georgia"/>
              </a:defRPr>
            </a:lvl4pPr>
            <a:lvl5pPr>
              <a:defRPr sz="3450" b="0">
                <a:solidFill>
                  <a:srgbClr val="FFFFFF"/>
                </a:solidFill>
                <a:latin typeface="Georgia"/>
                <a:ea typeface="Georgia"/>
                <a:cs typeface="Georgia"/>
              </a:defRPr>
            </a:lvl5pPr>
            <a:lvl6pPr>
              <a:defRPr sz="3450" b="0">
                <a:solidFill>
                  <a:srgbClr val="FFFFFF"/>
                </a:solidFill>
                <a:latin typeface="Georgia"/>
                <a:ea typeface="Georgia"/>
                <a:cs typeface="Georgia"/>
              </a:defRPr>
            </a:lvl6pPr>
            <a:lvl7pPr>
              <a:defRPr sz="3450" b="0">
                <a:solidFill>
                  <a:srgbClr val="FFFFFF"/>
                </a:solidFill>
                <a:latin typeface="Georgia"/>
                <a:ea typeface="Georgia"/>
                <a:cs typeface="Georgia"/>
              </a:defRPr>
            </a:lvl7pPr>
            <a:lvl8pPr>
              <a:defRPr sz="3450" b="0">
                <a:solidFill>
                  <a:srgbClr val="FFFFFF"/>
                </a:solidFill>
                <a:latin typeface="Georgia"/>
                <a:ea typeface="Georgia"/>
                <a:cs typeface="Georgia"/>
              </a:defRPr>
            </a:lvl8pPr>
            <a:lvl9pPr>
              <a:defRPr sz="3450" b="0">
                <a:solidFill>
                  <a:srgbClr val="FFFFFF"/>
                </a:solidFill>
                <a:latin typeface="Georgia"/>
                <a:ea typeface="Georgia"/>
                <a:cs typeface="Georgia"/>
              </a:defRPr>
            </a:lvl9pPr>
          </a:lstStyle>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Pertemuan berikutnya</a:t>
            </a:r>
          </a:p>
        </p:txBody>
      </p:sp>
      <p:sp>
        <p:nvSpPr>
          <p:cNvPr id="3" name="">
            <a:extLst xmlns:a="http://schemas.openxmlformats.org/drawingml/2006/main">
              <a:ext uri="{FF2B5EF4-FFF2-40B4-BE49-F238E27FC236}">
                <a16:creationId xmlns:a16="http://schemas.microsoft.com/office/drawing/2014/main" id="{CDD25E4C-B7B6-4678-8F8A-56D40A15D674}"/>
              </a:ext>
            </a:extLst>
          </p:cNvPr>
          <p:cNvSpPr>
            <a:spLocks xmlns:a="http://schemas.openxmlformats.org/drawingml/2006/main" noGrp="1"/>
          </p:cNvSpPr>
          <p:nvPr/>
        </p:nvSpPr>
        <p:spPr>
          <a:xfrm xmlns:a="http://schemas.openxmlformats.org/drawingml/2006/main">
            <a:off x="762000" y="2333625"/>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Arial"/>
                <a:ea typeface="Arial"/>
                <a:cs typeface="Arial"/>
              </a:defRPr>
            </a:defPPr>
            <a:lvl1pPr>
              <a:defRPr sz="2325" b="0">
                <a:solidFill>
                  <a:srgbClr val="FFFFFF"/>
                </a:solidFill>
                <a:latin typeface="Arial"/>
                <a:ea typeface="Arial"/>
                <a:cs typeface="Arial"/>
              </a:defRPr>
            </a:lvl1pPr>
            <a:lvl2pPr>
              <a:defRPr sz="2325" b="0">
                <a:solidFill>
                  <a:srgbClr val="FFFFFF"/>
                </a:solidFill>
                <a:latin typeface="Arial"/>
                <a:ea typeface="Arial"/>
                <a:cs typeface="Arial"/>
              </a:defRPr>
            </a:lvl2pPr>
            <a:lvl3pPr>
              <a:defRPr sz="2325" b="0">
                <a:solidFill>
                  <a:srgbClr val="FFFFFF"/>
                </a:solidFill>
                <a:latin typeface="Arial"/>
                <a:ea typeface="Arial"/>
                <a:cs typeface="Arial"/>
              </a:defRPr>
            </a:lvl3pPr>
            <a:lvl4pPr>
              <a:defRPr sz="2325" b="0">
                <a:solidFill>
                  <a:srgbClr val="FFFFFF"/>
                </a:solidFill>
                <a:latin typeface="Arial"/>
                <a:ea typeface="Arial"/>
                <a:cs typeface="Arial"/>
              </a:defRPr>
            </a:lvl4pPr>
            <a:lvl5pPr>
              <a:defRPr sz="2325" b="0">
                <a:solidFill>
                  <a:srgbClr val="FFFFFF"/>
                </a:solidFill>
                <a:latin typeface="Arial"/>
                <a:ea typeface="Arial"/>
                <a:cs typeface="Arial"/>
              </a:defRPr>
            </a:lvl5pPr>
            <a:lvl6pPr>
              <a:defRPr sz="2325" b="0">
                <a:solidFill>
                  <a:srgbClr val="FFFFFF"/>
                </a:solidFill>
                <a:latin typeface="Arial"/>
                <a:ea typeface="Arial"/>
                <a:cs typeface="Arial"/>
              </a:defRPr>
            </a:lvl6pPr>
            <a:lvl7pPr>
              <a:defRPr sz="2325" b="0">
                <a:solidFill>
                  <a:srgbClr val="FFFFFF"/>
                </a:solidFill>
                <a:latin typeface="Arial"/>
                <a:ea typeface="Arial"/>
                <a:cs typeface="Arial"/>
              </a:defRPr>
            </a:lvl7pPr>
            <a:lvl8pPr>
              <a:defRPr sz="2325" b="0">
                <a:solidFill>
                  <a:srgbClr val="FFFFFF"/>
                </a:solidFill>
                <a:latin typeface="Arial"/>
                <a:ea typeface="Arial"/>
                <a:cs typeface="Arial"/>
              </a:defRPr>
            </a:lvl8pPr>
            <a:lvl9pPr>
              <a:defRPr sz="2325" b="0">
                <a:solidFill>
                  <a:srgbClr val="FFFFFF"/>
                </a:solidFill>
                <a:latin typeface="Arial"/>
                <a:ea typeface="Arial"/>
                <a:cs typeface="Arial"/>
              </a:defRPr>
            </a:lvl9pPr>
          </a:lstStyle>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Kelelahan, tidur, dan kerja dalam panas.</a:t>
            </a:r>
          </a:p>
        </p:txBody>
      </p:sp>
      <p:sp>
        <p:nvSpPr>
          <p:cNvPr id="4" name="">
            <a:extLst xmlns:a="http://schemas.openxmlformats.org/drawingml/2006/main">
              <a:ext uri="{FF2B5EF4-FFF2-40B4-BE49-F238E27FC236}">
                <a16:creationId xmlns:a16="http://schemas.microsoft.com/office/drawing/2014/main" id="{31D54943-D56F-4495-859E-164FD2242FD3}"/>
              </a:ext>
            </a:extLst>
          </p:cNvPr>
          <p:cNvSpPr>
            <a:spLocks xmlns:a="http://schemas.openxmlformats.org/drawingml/2006/main" noGrp="1"/>
          </p:cNvSpPr>
          <p:nvPr/>
        </p:nvSpPr>
        <p:spPr>
          <a:xfrm xmlns:a="http://schemas.openxmlformats.org/drawingml/2006/main">
            <a:off x="762000" y="3457575"/>
            <a:ext cx="1057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Arial"/>
                <a:ea typeface="Arial"/>
                <a:cs typeface="Arial"/>
              </a:defRPr>
            </a:defPPr>
            <a:lvl1pPr>
              <a:defRPr sz="2325" b="0">
                <a:solidFill>
                  <a:srgbClr val="FFFFFF"/>
                </a:solidFill>
                <a:latin typeface="Arial"/>
                <a:ea typeface="Arial"/>
                <a:cs typeface="Arial"/>
              </a:defRPr>
            </a:lvl1pPr>
            <a:lvl2pPr>
              <a:defRPr sz="2325" b="0">
                <a:solidFill>
                  <a:srgbClr val="FFFFFF"/>
                </a:solidFill>
                <a:latin typeface="Arial"/>
                <a:ea typeface="Arial"/>
                <a:cs typeface="Arial"/>
              </a:defRPr>
            </a:lvl2pPr>
            <a:lvl3pPr>
              <a:defRPr sz="2325" b="0">
                <a:solidFill>
                  <a:srgbClr val="FFFFFF"/>
                </a:solidFill>
                <a:latin typeface="Arial"/>
                <a:ea typeface="Arial"/>
                <a:cs typeface="Arial"/>
              </a:defRPr>
            </a:lvl3pPr>
            <a:lvl4pPr>
              <a:defRPr sz="2325" b="0">
                <a:solidFill>
                  <a:srgbClr val="FFFFFF"/>
                </a:solidFill>
                <a:latin typeface="Arial"/>
                <a:ea typeface="Arial"/>
                <a:cs typeface="Arial"/>
              </a:defRPr>
            </a:lvl4pPr>
            <a:lvl5pPr>
              <a:defRPr sz="2325" b="0">
                <a:solidFill>
                  <a:srgbClr val="FFFFFF"/>
                </a:solidFill>
                <a:latin typeface="Arial"/>
                <a:ea typeface="Arial"/>
                <a:cs typeface="Arial"/>
              </a:defRPr>
            </a:lvl5pPr>
            <a:lvl6pPr>
              <a:defRPr sz="2325" b="0">
                <a:solidFill>
                  <a:srgbClr val="FFFFFF"/>
                </a:solidFill>
                <a:latin typeface="Arial"/>
                <a:ea typeface="Arial"/>
                <a:cs typeface="Arial"/>
              </a:defRPr>
            </a:lvl6pPr>
            <a:lvl7pPr>
              <a:defRPr sz="2325" b="0">
                <a:solidFill>
                  <a:srgbClr val="FFFFFF"/>
                </a:solidFill>
                <a:latin typeface="Arial"/>
                <a:ea typeface="Arial"/>
                <a:cs typeface="Arial"/>
              </a:defRPr>
            </a:lvl7pPr>
            <a:lvl8pPr>
              <a:defRPr sz="2325" b="0">
                <a:solidFill>
                  <a:srgbClr val="FFFFFF"/>
                </a:solidFill>
                <a:latin typeface="Arial"/>
                <a:ea typeface="Arial"/>
                <a:cs typeface="Arial"/>
              </a:defRPr>
            </a:lvl8pPr>
            <a:lvl9pPr>
              <a:defRPr sz="2325" b="0">
                <a:solidFill>
                  <a:srgbClr val="FFFFFF"/>
                </a:solidFill>
                <a:latin typeface="Arial"/>
                <a:ea typeface="Arial"/>
                <a:cs typeface="Arial"/>
              </a:defRPr>
            </a:lvl9pPr>
          </a:lstStyle>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Profil pekerjaan menjadi JSA dengan kendali, PIC, dan verifikasi.</a:t>
            </a:r>
          </a:p>
        </p:txBody>
      </p:sp>
      <p:sp>
        <p:nvSpPr>
          <p:cNvPr id="5" name="">
            <a:extLst xmlns:a="http://schemas.openxmlformats.org/drawingml/2006/main">
              <a:ext uri="{FF2B5EF4-FFF2-40B4-BE49-F238E27FC236}">
                <a16:creationId xmlns:a16="http://schemas.microsoft.com/office/drawing/2014/main" id="{932EDCD2-180F-42CB-831C-DF20788E4D51}"/>
              </a:ext>
            </a:extLst>
          </p:cNvPr>
          <p:cNvSpPr>
            <a:spLocks xmlns:a="http://schemas.openxmlformats.org/drawingml/2006/main" noGrp="1"/>
          </p:cNvSpPr>
          <p:nvPr/>
        </p:nvSpPr>
        <p:spPr>
          <a:xfrm xmlns:a="http://schemas.openxmlformats.org/drawingml/2006/main">
            <a:off x="762000" y="6343650"/>
            <a:ext cx="876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S1 Geofisika UGM · 28 Oktober 2026</a:t>
            </a:r>
          </a:p>
        </p:txBody>
      </p:sp>
      <p:sp>
        <p:nvSpPr>
          <p:cNvPr id="6" name="">
            <a:extLst xmlns:a="http://schemas.openxmlformats.org/drawingml/2006/main">
              <a:ext uri="{FF2B5EF4-FFF2-40B4-BE49-F238E27FC236}">
                <a16:creationId xmlns:a16="http://schemas.microsoft.com/office/drawing/2014/main" id="{6D28C041-44FB-466E-9461-9A9F94FA36CD}"/>
              </a:ext>
            </a:extLst>
          </p:cNvPr>
          <p:cNvSpPr>
            <a:spLocks xmlns:a="http://schemas.openxmlformats.org/drawingml/2006/main" noGrp="1"/>
          </p:cNvSpPr>
          <p:nvPr/>
        </p:nvSpPr>
        <p:spPr>
          <a:xfrm xmlns:a="http://schemas.openxmlformats.org/drawingml/2006/main">
            <a:off x="10763250" y="6343650"/>
            <a:ext cx="85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26 / 26</a:t>
            </a:r>
          </a:p>
        </p:txBody>
      </p:sp>
    </p:spTree>
    <p:extLst>
      <p:ext uri="{BB962C8B-B14F-4D97-AF65-F5344CB8AC3E}">
        <p14:creationId xmlns:p14="http://schemas.microsoft.com/office/powerpoint/2010/main" val="11892225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2026-10-27T23:06:40.9540000Z</dcterms:created>
  <dcterms:modified xsi:type="dcterms:W3CDTF">2026-10-27T23:06:40.9540000Z</dcterms:modified>
</coreProperties>
</file>